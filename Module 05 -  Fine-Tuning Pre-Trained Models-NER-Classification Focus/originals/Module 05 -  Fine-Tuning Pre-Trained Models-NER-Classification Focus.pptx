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8" r:id="rId3"/>
    <p:sldId id="2147483642" r:id="rId4"/>
    <p:sldId id="302" r:id="rId5"/>
    <p:sldId id="257" r:id="rId6"/>
    <p:sldId id="2147483647" r:id="rId7"/>
    <p:sldId id="2147483644" r:id="rId8"/>
    <p:sldId id="2147483643" r:id="rId9"/>
    <p:sldId id="259" r:id="rId10"/>
    <p:sldId id="260" r:id="rId11"/>
    <p:sldId id="262" r:id="rId12"/>
    <p:sldId id="261" r:id="rId13"/>
    <p:sldId id="263" r:id="rId14"/>
    <p:sldId id="2147483645" r:id="rId15"/>
    <p:sldId id="264" r:id="rId16"/>
    <p:sldId id="265" r:id="rId17"/>
    <p:sldId id="266" r:id="rId18"/>
    <p:sldId id="267"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15" d="100"/>
          <a:sy n="115" d="100"/>
        </p:scale>
        <p:origin x="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FA8744-05EF-4585-8A81-3F8BC80598B1}"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E418F3-C5ED-4523-B246-E27D836F537D}" type="slidenum">
              <a:rPr lang="en-US" smtClean="0"/>
              <a:t>‹#›</a:t>
            </a:fld>
            <a:endParaRPr lang="en-US"/>
          </a:p>
        </p:txBody>
      </p:sp>
    </p:spTree>
    <p:extLst>
      <p:ext uri="{BB962C8B-B14F-4D97-AF65-F5344CB8AC3E}">
        <p14:creationId xmlns:p14="http://schemas.microsoft.com/office/powerpoint/2010/main" val="1834323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Theme:</a:t>
            </a:r>
            <a:r>
              <a:rPr lang="en-US" sz="1200" b="0" i="0" kern="1200" dirty="0">
                <a:solidFill>
                  <a:schemeClr val="tx1"/>
                </a:solidFill>
                <a:effectLst/>
                <a:latin typeface="+mn-lt"/>
                <a:ea typeface="+mn-ea"/>
                <a:cs typeface="+mn-cs"/>
              </a:rPr>
              <a:t> "Specialization over Generalization: Building Efficient AI for the Edge."</a:t>
            </a:r>
            <a:endParaRPr lang="en-US" dirty="0"/>
          </a:p>
        </p:txBody>
      </p:sp>
      <p:sp>
        <p:nvSpPr>
          <p:cNvPr id="4" name="Slide Number Placeholder 3"/>
          <p:cNvSpPr>
            <a:spLocks noGrp="1"/>
          </p:cNvSpPr>
          <p:nvPr>
            <p:ph type="sldNum" sz="quarter" idx="5"/>
          </p:nvPr>
        </p:nvSpPr>
        <p:spPr/>
        <p:txBody>
          <a:bodyPr/>
          <a:lstStyle/>
          <a:p>
            <a:fld id="{A0E418F3-C5ED-4523-B246-E27D836F537D}" type="slidenum">
              <a:rPr lang="en-US" smtClean="0"/>
              <a:t>1</a:t>
            </a:fld>
            <a:endParaRPr lang="en-US"/>
          </a:p>
        </p:txBody>
      </p:sp>
    </p:spTree>
    <p:extLst>
      <p:ext uri="{BB962C8B-B14F-4D97-AF65-F5344CB8AC3E}">
        <p14:creationId xmlns:p14="http://schemas.microsoft.com/office/powerpoint/2010/main" val="514571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208D9-5279-F284-D36A-E5CCD5261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E32005-6FE8-F59D-636B-7CDE8B7372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0B5671-7442-6BCD-BF14-FE1C13E7CD8B}"/>
              </a:ext>
            </a:extLst>
          </p:cNvPr>
          <p:cNvSpPr>
            <a:spLocks noGrp="1"/>
          </p:cNvSpPr>
          <p:nvPr>
            <p:ph type="body" idx="1"/>
          </p:nvPr>
        </p:nvSpPr>
        <p:spPr/>
        <p:txBody>
          <a:bodyPr/>
          <a:lstStyle/>
          <a:p>
            <a:r>
              <a:rPr lang="en-US" dirty="0"/>
              <a:t>Adapted from BRK 150</a:t>
            </a:r>
          </a:p>
        </p:txBody>
      </p:sp>
      <p:sp>
        <p:nvSpPr>
          <p:cNvPr id="4" name="Header Placeholder 3">
            <a:extLst>
              <a:ext uri="{FF2B5EF4-FFF2-40B4-BE49-F238E27FC236}">
                <a16:creationId xmlns:a16="http://schemas.microsoft.com/office/drawing/2014/main" id="{8C873E8F-87F7-8705-8BF2-892C298FA34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138B8933-51C3-BCB8-D27B-56F60FE6CD23}"/>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C503286-F6D9-91EB-2A8D-13DE785B56E8}"/>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12/16/2025 4:40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8DED741E-FBD4-4098-9BBB-77DEA855B08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5264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8DC69-6577-4E73-C4FC-C8EFF23BC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1F62B-90A7-EAC2-4143-673E1636A15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78B259-F743-BE29-87AC-F40246106F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Adapted from BRK 150</a:t>
            </a:r>
          </a:p>
          <a:p>
            <a:pPr>
              <a:buFont typeface="+mj-lt"/>
              <a:buAutoNum type="arabicPeriod"/>
            </a:pPr>
            <a:endParaRPr lang="en-US" dirty="0"/>
          </a:p>
        </p:txBody>
      </p:sp>
      <p:sp>
        <p:nvSpPr>
          <p:cNvPr id="4" name="Header Placeholder 3">
            <a:extLst>
              <a:ext uri="{FF2B5EF4-FFF2-40B4-BE49-F238E27FC236}">
                <a16:creationId xmlns:a16="http://schemas.microsoft.com/office/drawing/2014/main" id="{021F923E-15F8-C0B6-390F-868CBAB3063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26978726-EA96-E6B1-9A67-9E21C8B345B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371807F-D7BF-B058-E195-9298958D9F4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12/16/2025 4:40 PM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3491D1E9-86C4-1FCF-BAC0-1ADBE6E167E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196680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large, generic Swiss Army Knife (The Pre-trained Model) transforming into a precise surgical scalpel (The Fine-Tuned Model).</a:t>
            </a:r>
          </a:p>
          <a:p>
            <a:endParaRPr lang="en-US" dirty="0"/>
          </a:p>
        </p:txBody>
      </p:sp>
      <p:sp>
        <p:nvSpPr>
          <p:cNvPr id="4" name="Slide Number Placeholder 3"/>
          <p:cNvSpPr>
            <a:spLocks noGrp="1"/>
          </p:cNvSpPr>
          <p:nvPr>
            <p:ph type="sldNum" sz="quarter" idx="5"/>
          </p:nvPr>
        </p:nvSpPr>
        <p:spPr/>
        <p:txBody>
          <a:bodyPr/>
          <a:lstStyle/>
          <a:p>
            <a:fld id="{A0E418F3-C5ED-4523-B246-E27D836F537D}" type="slidenum">
              <a:rPr lang="en-US" smtClean="0"/>
              <a:t>5</a:t>
            </a:fld>
            <a:endParaRPr lang="en-US"/>
          </a:p>
        </p:txBody>
      </p:sp>
    </p:spTree>
    <p:extLst>
      <p:ext uri="{BB962C8B-B14F-4D97-AF65-F5344CB8AC3E}">
        <p14:creationId xmlns:p14="http://schemas.microsoft.com/office/powerpoint/2010/main" val="3061556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34D58-B22D-DCC1-2D77-5CEA972FA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B89DA-19AE-BF7A-52AE-BDFB085FB1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2860C1-1A6A-72A7-9E1D-7B12840198AA}"/>
              </a:ext>
            </a:extLst>
          </p:cNvPr>
          <p:cNvSpPr>
            <a:spLocks noGrp="1"/>
          </p:cNvSpPr>
          <p:nvPr>
            <p:ph type="body" idx="1"/>
          </p:nvPr>
        </p:nvSpPr>
        <p:spPr/>
        <p:txBody>
          <a:bodyPr/>
          <a:lstStyle/>
          <a:p>
            <a:r>
              <a:rPr lang="en-US" dirty="0"/>
              <a:t>Adapted from BRK 150 – What is it?</a:t>
            </a:r>
          </a:p>
        </p:txBody>
      </p:sp>
      <p:sp>
        <p:nvSpPr>
          <p:cNvPr id="4" name="Header Placeholder 3">
            <a:extLst>
              <a:ext uri="{FF2B5EF4-FFF2-40B4-BE49-F238E27FC236}">
                <a16:creationId xmlns:a16="http://schemas.microsoft.com/office/drawing/2014/main" id="{7EF2D185-3BCE-75B3-F4A2-C455165CC44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0BDC61C-FB74-B173-40AD-BF3D58C0248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4F309FC-EE02-39C6-0226-75F6E821F7C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12/16/2025 4:40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E0960915-3CC4-22C8-83E4-B426F8E0F20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67114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E418F3-C5ED-4523-B246-E27D836F537D}" type="slidenum">
              <a:rPr lang="en-US" smtClean="0"/>
              <a:t>13</a:t>
            </a:fld>
            <a:endParaRPr lang="en-US"/>
          </a:p>
        </p:txBody>
      </p:sp>
    </p:spTree>
    <p:extLst>
      <p:ext uri="{BB962C8B-B14F-4D97-AF65-F5344CB8AC3E}">
        <p14:creationId xmlns:p14="http://schemas.microsoft.com/office/powerpoint/2010/main" val="81575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Take this image and pass it through an LLM and do a deep research on it.</a:t>
            </a:r>
          </a:p>
        </p:txBody>
      </p:sp>
      <p:sp>
        <p:nvSpPr>
          <p:cNvPr id="4" name="Slide Number Placeholder 3"/>
          <p:cNvSpPr>
            <a:spLocks noGrp="1"/>
          </p:cNvSpPr>
          <p:nvPr>
            <p:ph type="sldNum" sz="quarter" idx="5"/>
          </p:nvPr>
        </p:nvSpPr>
        <p:spPr/>
        <p:txBody>
          <a:bodyPr/>
          <a:lstStyle/>
          <a:p>
            <a:fld id="{A0E418F3-C5ED-4523-B246-E27D836F537D}" type="slidenum">
              <a:rPr lang="en-US" smtClean="0"/>
              <a:t>14</a:t>
            </a:fld>
            <a:endParaRPr lang="en-US"/>
          </a:p>
        </p:txBody>
      </p:sp>
    </p:spTree>
    <p:extLst>
      <p:ext uri="{BB962C8B-B14F-4D97-AF65-F5344CB8AC3E}">
        <p14:creationId xmlns:p14="http://schemas.microsoft.com/office/powerpoint/2010/main" val="2880208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E418F3-C5ED-4523-B246-E27D836F537D}" type="slidenum">
              <a:rPr lang="en-US" smtClean="0"/>
              <a:t>15</a:t>
            </a:fld>
            <a:endParaRPr lang="en-US"/>
          </a:p>
        </p:txBody>
      </p:sp>
    </p:spTree>
    <p:extLst>
      <p:ext uri="{BB962C8B-B14F-4D97-AF65-F5344CB8AC3E}">
        <p14:creationId xmlns:p14="http://schemas.microsoft.com/office/powerpoint/2010/main" val="1228486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Do a quick look up in AI</a:t>
            </a:r>
          </a:p>
        </p:txBody>
      </p:sp>
      <p:sp>
        <p:nvSpPr>
          <p:cNvPr id="4" name="Slide Number Placeholder 3"/>
          <p:cNvSpPr>
            <a:spLocks noGrp="1"/>
          </p:cNvSpPr>
          <p:nvPr>
            <p:ph type="sldNum" sz="quarter" idx="5"/>
          </p:nvPr>
        </p:nvSpPr>
        <p:spPr/>
        <p:txBody>
          <a:bodyPr/>
          <a:lstStyle/>
          <a:p>
            <a:fld id="{A0E418F3-C5ED-4523-B246-E27D836F537D}" type="slidenum">
              <a:rPr lang="en-US" smtClean="0"/>
              <a:t>16</a:t>
            </a:fld>
            <a:endParaRPr lang="en-US"/>
          </a:p>
        </p:txBody>
      </p:sp>
    </p:spTree>
    <p:extLst>
      <p:ext uri="{BB962C8B-B14F-4D97-AF65-F5344CB8AC3E}">
        <p14:creationId xmlns:p14="http://schemas.microsoft.com/office/powerpoint/2010/main" val="2038628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Google </a:t>
            </a:r>
            <a:r>
              <a:rPr lang="en-US" dirty="0" err="1"/>
              <a:t>Colab</a:t>
            </a:r>
            <a:r>
              <a:rPr lang="en-US" dirty="0"/>
              <a:t> Notebook</a:t>
            </a:r>
          </a:p>
        </p:txBody>
      </p:sp>
      <p:sp>
        <p:nvSpPr>
          <p:cNvPr id="4" name="Slide Number Placeholder 3"/>
          <p:cNvSpPr>
            <a:spLocks noGrp="1"/>
          </p:cNvSpPr>
          <p:nvPr>
            <p:ph type="sldNum" sz="quarter" idx="5"/>
          </p:nvPr>
        </p:nvSpPr>
        <p:spPr/>
        <p:txBody>
          <a:bodyPr/>
          <a:lstStyle/>
          <a:p>
            <a:fld id="{A0E418F3-C5ED-4523-B246-E27D836F537D}" type="slidenum">
              <a:rPr lang="en-US" smtClean="0"/>
              <a:t>19</a:t>
            </a:fld>
            <a:endParaRPr lang="en-US"/>
          </a:p>
        </p:txBody>
      </p:sp>
    </p:spTree>
    <p:extLst>
      <p:ext uri="{BB962C8B-B14F-4D97-AF65-F5344CB8AC3E}">
        <p14:creationId xmlns:p14="http://schemas.microsoft.com/office/powerpoint/2010/main" val="3990714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12/16/2025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55188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12/16/2025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00998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12/16/2025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8347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12/16/2025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85999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12/16/2025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40864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12/16/2025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46189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12/16/2025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13632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12/16/2025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60623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12/16/2025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97688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12/16/2025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64143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12/16/2025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106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12/16/2025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25336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hw6-rrYtUy8"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lnkd.in/ga7c2mj3"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hyperlink" Target="https://lnkd.in/g2-c-g_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JfaLQqfXqPA"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lnkd.in/ga7c2mj3"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lnkd.in/g2-c-g_G" TargetMode="Externa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github.com/openai/openai-cookbook/blob/main/examples/Fine_tuning_direct_preference_optimization_guide.ipynb" TargetMode="External"/><Relationship Id="rId5" Type="http://schemas.openxmlformats.org/officeDocument/2006/relationships/hyperlink" Target="https://github.com/openai/openai-cookbook/tree/main/examples/fine-tuned_qa" TargetMode="External"/><Relationship Id="rId4" Type="http://schemas.openxmlformats.org/officeDocument/2006/relationships/hyperlink" Target="https://www.youtube.com/watch?v=JfaLQqfXqPA"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JfaLQqfXqPA" TargetMode="Externa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JfaLQqfXqPA" TargetMode="External"/><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JfaLQqfXqPA" TargetMode="External"/><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www.youtube.com/watch?v=JfaLQqfXqPA"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www.youtube.com/watch?v=JfaLQqfXqPA" TargetMode="External"/><Relationship Id="rId4" Type="http://schemas.openxmlformats.org/officeDocument/2006/relationships/hyperlink" Target="https://arxiv.org/pdf/2106.0968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A71E9917-C4CC-837B-CB78-F3476C20BEB1}"/>
              </a:ext>
            </a:extLst>
          </p:cNvPr>
          <p:cNvSpPr>
            <a:spLocks noGrp="1"/>
          </p:cNvSpPr>
          <p:nvPr>
            <p:ph type="ctrTitle"/>
          </p:nvPr>
        </p:nvSpPr>
        <p:spPr>
          <a:xfrm>
            <a:off x="514117" y="952500"/>
            <a:ext cx="4124557" cy="3524250"/>
          </a:xfrm>
        </p:spPr>
        <p:txBody>
          <a:bodyPr>
            <a:normAutofit/>
          </a:bodyPr>
          <a:lstStyle/>
          <a:p>
            <a:r>
              <a:rPr lang="en-US" sz="5800" b="1"/>
              <a:t>Fine-Tuning Pre-Trained Models</a:t>
            </a:r>
            <a:endParaRPr lang="en-US" sz="5800"/>
          </a:p>
        </p:txBody>
      </p:sp>
      <p:sp>
        <p:nvSpPr>
          <p:cNvPr id="3" name="Subtitle 2">
            <a:extLst>
              <a:ext uri="{FF2B5EF4-FFF2-40B4-BE49-F238E27FC236}">
                <a16:creationId xmlns:a16="http://schemas.microsoft.com/office/drawing/2014/main" id="{7ED8A571-2596-CAF4-F674-84A3D84DF02D}"/>
              </a:ext>
            </a:extLst>
          </p:cNvPr>
          <p:cNvSpPr>
            <a:spLocks noGrp="1"/>
          </p:cNvSpPr>
          <p:nvPr>
            <p:ph type="subTitle" idx="1"/>
          </p:nvPr>
        </p:nvSpPr>
        <p:spPr>
          <a:xfrm>
            <a:off x="514118" y="5374291"/>
            <a:ext cx="4057882" cy="972532"/>
          </a:xfrm>
        </p:spPr>
        <p:txBody>
          <a:bodyPr anchor="t">
            <a:normAutofit/>
          </a:bodyPr>
          <a:lstStyle/>
          <a:p>
            <a:r>
              <a:rPr lang="en-US" b="1" dirty="0"/>
              <a:t>(NER &amp; Classification Focus)</a:t>
            </a:r>
            <a:endParaRPr lang="en-US" dirty="0"/>
          </a:p>
        </p:txBody>
      </p:sp>
      <p:cxnSp>
        <p:nvCxnSpPr>
          <p:cNvPr id="11" name="Straight Connector 10">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2E3FA13-E5F6-C9AA-C35D-A64420D19C5B}"/>
              </a:ext>
            </a:extLst>
          </p:cNvPr>
          <p:cNvPicPr>
            <a:picLocks noChangeAspect="1"/>
          </p:cNvPicPr>
          <p:nvPr/>
        </p:nvPicPr>
        <p:blipFill>
          <a:blip r:embed="rId3"/>
          <a:srcRect l="21354" r="18269" b="2"/>
          <a:stretch>
            <a:fillRect/>
          </a:stretch>
        </p:blipFill>
        <p:spPr>
          <a:xfrm>
            <a:off x="5261956" y="10"/>
            <a:ext cx="6930043" cy="6857990"/>
          </a:xfrm>
          <a:prstGeom prst="rect">
            <a:avLst/>
          </a:prstGeom>
        </p:spPr>
      </p:pic>
    </p:spTree>
    <p:extLst>
      <p:ext uri="{BB962C8B-B14F-4D97-AF65-F5344CB8AC3E}">
        <p14:creationId xmlns:p14="http://schemas.microsoft.com/office/powerpoint/2010/main" val="153714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 name="Rectangle 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6C7ACFE-58B8-A4A8-C71D-9A1826C92B00}"/>
              </a:ext>
            </a:extLst>
          </p:cNvPr>
          <p:cNvSpPr txBox="1"/>
          <p:nvPr/>
        </p:nvSpPr>
        <p:spPr>
          <a:xfrm>
            <a:off x="914401" y="914400"/>
            <a:ext cx="6510068" cy="3559834"/>
          </a:xfrm>
          <a:prstGeom prst="rect">
            <a:avLst/>
          </a:prstGeom>
        </p:spPr>
        <p:txBody>
          <a:bodyPr vert="horz" lIns="91440" tIns="45720" rIns="91440" bIns="45720" rtlCol="0" anchor="t">
            <a:normAutofit/>
          </a:bodyPr>
          <a:lstStyle/>
          <a:p>
            <a:pPr>
              <a:spcBef>
                <a:spcPct val="0"/>
              </a:spcBef>
              <a:spcAft>
                <a:spcPts val="600"/>
              </a:spcAft>
            </a:pPr>
            <a:r>
              <a:rPr lang="en-US" sz="5400" b="1" i="0">
                <a:effectLst/>
                <a:latin typeface="+mj-lt"/>
                <a:ea typeface="+mj-ea"/>
                <a:cs typeface="+mj-cs"/>
              </a:rPr>
              <a:t>The "Why" and "What" of Fine-Tuning </a:t>
            </a:r>
          </a:p>
        </p:txBody>
      </p:sp>
      <p:cxnSp>
        <p:nvCxnSpPr>
          <p:cNvPr id="12" name="Straight Connector 11">
            <a:extLst>
              <a:ext uri="{FF2B5EF4-FFF2-40B4-BE49-F238E27FC236}">
                <a16:creationId xmlns:a16="http://schemas.microsoft.com/office/drawing/2014/main" id="{E029EB34-F8B3-4B6A-AD68-BF354FBA6F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44897" y="5832631"/>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2891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E9475-AF04-CCF3-D0AF-6C488D8E7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575E7-E54B-1DE8-A1CD-F50A8528EE3B}"/>
              </a:ext>
            </a:extLst>
          </p:cNvPr>
          <p:cNvSpPr>
            <a:spLocks noGrp="1"/>
          </p:cNvSpPr>
          <p:nvPr>
            <p:ph type="title"/>
          </p:nvPr>
        </p:nvSpPr>
        <p:spPr>
          <a:xfrm>
            <a:off x="588263" y="457200"/>
            <a:ext cx="11018520" cy="553998"/>
          </a:xfrm>
        </p:spPr>
        <p:txBody>
          <a:bodyPr vert="horz" wrap="square" lIns="0" tIns="0" rIns="0" bIns="0" rtlCol="0" anchor="t">
            <a:noAutofit/>
          </a:bodyPr>
          <a:lstStyle/>
          <a:p>
            <a:r>
              <a:rPr lang="en-US">
                <a:gradFill flip="none" rotWithShape="1">
                  <a:gsLst>
                    <a:gs pos="0">
                      <a:srgbClr val="73262F"/>
                    </a:gs>
                    <a:gs pos="74000">
                      <a:srgbClr val="2A446F"/>
                    </a:gs>
                    <a:gs pos="100000">
                      <a:srgbClr val="000000"/>
                    </a:gs>
                  </a:gsLst>
                  <a:lin ang="0" scaled="1"/>
                  <a:tileRect/>
                </a:gradFill>
                <a:latin typeface="Segoe Sans Text Semibold"/>
              </a:rPr>
              <a:t>Building a foundation model</a:t>
            </a:r>
            <a:endParaRPr lang="en-US"/>
          </a:p>
        </p:txBody>
      </p:sp>
      <p:sp>
        <p:nvSpPr>
          <p:cNvPr id="34" name="Rounded Rectangle 33">
            <a:extLst>
              <a:ext uri="{FF2B5EF4-FFF2-40B4-BE49-F238E27FC236}">
                <a16:creationId xmlns:a16="http://schemas.microsoft.com/office/drawing/2014/main" id="{DDBC33BB-FAB3-72A2-322C-8AC74831828D}"/>
              </a:ext>
            </a:extLst>
          </p:cNvPr>
          <p:cNvSpPr/>
          <p:nvPr/>
        </p:nvSpPr>
        <p:spPr bwMode="auto">
          <a:xfrm>
            <a:off x="747746" y="1777825"/>
            <a:ext cx="2151831" cy="130064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chemeClr val="tx1"/>
                </a:solidFill>
                <a:effectLst/>
                <a:uLnTx/>
                <a:uFillTx/>
                <a:ea typeface="Segoe UI" pitchFamily="34" charset="0"/>
                <a:cs typeface="Segoe UI" pitchFamily="34" charset="0"/>
              </a:rPr>
              <a:t>Pre-training</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chemeClr val="tx1"/>
                </a:solidFill>
                <a:effectLst/>
                <a:uLnTx/>
                <a:uFillTx/>
                <a:ea typeface="Segoe UI" pitchFamily="34" charset="0"/>
                <a:cs typeface="Segoe UI"/>
              </a:rPr>
              <a:t>(un-supervised)</a:t>
            </a:r>
          </a:p>
        </p:txBody>
      </p:sp>
      <p:sp>
        <p:nvSpPr>
          <p:cNvPr id="29" name="Rounded Rectangle 28">
            <a:extLst>
              <a:ext uri="{FF2B5EF4-FFF2-40B4-BE49-F238E27FC236}">
                <a16:creationId xmlns:a16="http://schemas.microsoft.com/office/drawing/2014/main" id="{661F1C41-68B7-F9AD-6C02-0B372CBD3F57}"/>
              </a:ext>
            </a:extLst>
          </p:cNvPr>
          <p:cNvSpPr/>
          <p:nvPr/>
        </p:nvSpPr>
        <p:spPr bwMode="auto">
          <a:xfrm>
            <a:off x="3826614" y="1769060"/>
            <a:ext cx="2164308" cy="1318171"/>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chemeClr val="tx1"/>
                </a:solidFill>
                <a:effectLst/>
                <a:uLnTx/>
                <a:uFillTx/>
                <a:ea typeface="Segoe UI" pitchFamily="34" charset="0"/>
                <a:cs typeface="Segoe UI" pitchFamily="34" charset="0"/>
              </a:rPr>
              <a:t>Instruction tuning (SFT)</a:t>
            </a:r>
          </a:p>
        </p:txBody>
      </p:sp>
      <p:sp>
        <p:nvSpPr>
          <p:cNvPr id="30" name="Rounded Rectangle 29">
            <a:extLst>
              <a:ext uri="{FF2B5EF4-FFF2-40B4-BE49-F238E27FC236}">
                <a16:creationId xmlns:a16="http://schemas.microsoft.com/office/drawing/2014/main" id="{29A237D2-D0D7-3688-5BD8-9398E0444906}"/>
              </a:ext>
            </a:extLst>
          </p:cNvPr>
          <p:cNvSpPr/>
          <p:nvPr/>
        </p:nvSpPr>
        <p:spPr bwMode="auto">
          <a:xfrm>
            <a:off x="6917959" y="1777825"/>
            <a:ext cx="1990467" cy="1300641"/>
          </a:xfrm>
          <a:prstGeom prst="round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chemeClr val="tx1"/>
                </a:solidFill>
                <a:effectLst/>
                <a:uLnTx/>
                <a:uFillTx/>
                <a:ea typeface="Segoe UI" pitchFamily="34" charset="0"/>
                <a:cs typeface="Segoe UI"/>
              </a:rPr>
              <a:t>Alignment tuning (RLHF, DPO)</a:t>
            </a:r>
          </a:p>
        </p:txBody>
      </p:sp>
      <p:sp>
        <p:nvSpPr>
          <p:cNvPr id="7" name="TextBox 6">
            <a:extLst>
              <a:ext uri="{FF2B5EF4-FFF2-40B4-BE49-F238E27FC236}">
                <a16:creationId xmlns:a16="http://schemas.microsoft.com/office/drawing/2014/main" id="{48AF02D5-C07B-E4C9-718A-39BEAB7CEE57}"/>
              </a:ext>
            </a:extLst>
          </p:cNvPr>
          <p:cNvSpPr txBox="1"/>
          <p:nvPr/>
        </p:nvSpPr>
        <p:spPr>
          <a:xfrm>
            <a:off x="9559605" y="3677716"/>
            <a:ext cx="2052255"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gradFill>
                  <a:gsLst>
                    <a:gs pos="80000">
                      <a:srgbClr val="2A446F"/>
                    </a:gs>
                    <a:gs pos="0">
                      <a:srgbClr val="73262F"/>
                    </a:gs>
                  </a:gsLst>
                  <a:path path="circle">
                    <a:fillToRect l="100000" t="100000"/>
                  </a:path>
                </a:gradFill>
                <a:effectLst/>
                <a:uLnTx/>
                <a:uFillTx/>
                <a:latin typeface="+mj-lt"/>
                <a:ea typeface="+mn-ea"/>
                <a:cs typeface="+mn-cs"/>
              </a:rPr>
              <a:t>Generic LLM/SLM</a:t>
            </a:r>
          </a:p>
        </p:txBody>
      </p:sp>
      <p:cxnSp>
        <p:nvCxnSpPr>
          <p:cNvPr id="36" name="Straight Arrow Connector 35">
            <a:extLst>
              <a:ext uri="{FF2B5EF4-FFF2-40B4-BE49-F238E27FC236}">
                <a16:creationId xmlns:a16="http://schemas.microsoft.com/office/drawing/2014/main" id="{00EF7195-F52F-5171-F4E4-379AAD5A6326}"/>
              </a:ext>
              <a:ext uri="{C183D7F6-B498-43B3-948B-1728B52AA6E4}">
                <adec:decorative xmlns:adec="http://schemas.microsoft.com/office/drawing/2017/decorative" val="1"/>
              </a:ext>
            </a:extLst>
          </p:cNvPr>
          <p:cNvCxnSpPr>
            <a:cxnSpLocks/>
            <a:stCxn id="34" idx="3"/>
            <a:endCxn id="29" idx="1"/>
          </p:cNvCxnSpPr>
          <p:nvPr/>
        </p:nvCxnSpPr>
        <p:spPr>
          <a:xfrm>
            <a:off x="2899577" y="2428146"/>
            <a:ext cx="927037" cy="0"/>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78A4FB7-12B1-C964-2804-B63584EB83E6}"/>
              </a:ext>
              <a:ext uri="{C183D7F6-B498-43B3-948B-1728B52AA6E4}">
                <adec:decorative xmlns:adec="http://schemas.microsoft.com/office/drawing/2017/decorative" val="1"/>
              </a:ext>
            </a:extLst>
          </p:cNvPr>
          <p:cNvCxnSpPr>
            <a:cxnSpLocks/>
            <a:stCxn id="29" idx="3"/>
            <a:endCxn id="30" idx="1"/>
          </p:cNvCxnSpPr>
          <p:nvPr/>
        </p:nvCxnSpPr>
        <p:spPr>
          <a:xfrm>
            <a:off x="5990922" y="2428146"/>
            <a:ext cx="927037" cy="0"/>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4294545-0893-353B-5692-7CD600D8F1BD}"/>
              </a:ext>
              <a:ext uri="{C183D7F6-B498-43B3-948B-1728B52AA6E4}">
                <adec:decorative xmlns:adec="http://schemas.microsoft.com/office/drawing/2017/decorative" val="1"/>
              </a:ext>
            </a:extLst>
          </p:cNvPr>
          <p:cNvCxnSpPr>
            <a:cxnSpLocks/>
            <a:stCxn id="30" idx="3"/>
          </p:cNvCxnSpPr>
          <p:nvPr/>
        </p:nvCxnSpPr>
        <p:spPr>
          <a:xfrm>
            <a:off x="8908426" y="2428146"/>
            <a:ext cx="801338" cy="0"/>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0F8F48A-2273-035E-8E99-99FEDB1CA92E}"/>
              </a:ext>
            </a:extLst>
          </p:cNvPr>
          <p:cNvSpPr txBox="1"/>
          <p:nvPr/>
        </p:nvSpPr>
        <p:spPr>
          <a:xfrm>
            <a:off x="540843" y="4509769"/>
            <a:ext cx="2559010" cy="43088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ea typeface="+mn-ea"/>
                <a:cs typeface="+mn-cs"/>
              </a:rPr>
              <a:t>Massive amount of generic, unlabeled data </a:t>
            </a:r>
          </a:p>
        </p:txBody>
      </p:sp>
      <p:sp>
        <p:nvSpPr>
          <p:cNvPr id="58" name="TextBox 57">
            <a:extLst>
              <a:ext uri="{FF2B5EF4-FFF2-40B4-BE49-F238E27FC236}">
                <a16:creationId xmlns:a16="http://schemas.microsoft.com/office/drawing/2014/main" id="{49A039A2-4350-3701-C8E7-22A22EBB10F6}"/>
              </a:ext>
            </a:extLst>
          </p:cNvPr>
          <p:cNvSpPr txBox="1"/>
          <p:nvPr/>
        </p:nvSpPr>
        <p:spPr>
          <a:xfrm>
            <a:off x="3826614" y="4509768"/>
            <a:ext cx="2164308" cy="646331"/>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ea typeface="+mn-ea"/>
                <a:cs typeface="+mn-cs"/>
              </a:rPr>
              <a:t>Instruction-response data,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ea typeface="+mn-ea"/>
                <a:cs typeface="+mn-cs"/>
              </a:rPr>
              <a:t>task-specific data,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ea typeface="+mn-ea"/>
                <a:cs typeface="+mn-cs"/>
              </a:rPr>
              <a:t>other annotated data</a:t>
            </a:r>
          </a:p>
        </p:txBody>
      </p:sp>
      <p:sp>
        <p:nvSpPr>
          <p:cNvPr id="61" name="TextBox 60">
            <a:extLst>
              <a:ext uri="{FF2B5EF4-FFF2-40B4-BE49-F238E27FC236}">
                <a16:creationId xmlns:a16="http://schemas.microsoft.com/office/drawing/2014/main" id="{C59C6CF0-5FB6-4E7E-84D6-BDEB330D3E5E}"/>
              </a:ext>
            </a:extLst>
          </p:cNvPr>
          <p:cNvSpPr txBox="1"/>
          <p:nvPr/>
        </p:nvSpPr>
        <p:spPr>
          <a:xfrm>
            <a:off x="6930523" y="4509768"/>
            <a:ext cx="2052255" cy="646331"/>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ea typeface="+mn-ea"/>
                <a:cs typeface="+mn-cs"/>
              </a:rPr>
              <a:t>Human preference data,</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ea typeface="+mn-ea"/>
                <a:cs typeface="+mn-cs"/>
              </a:rPr>
              <a:t>reward model data, preference score data</a:t>
            </a:r>
          </a:p>
        </p:txBody>
      </p:sp>
      <p:cxnSp>
        <p:nvCxnSpPr>
          <p:cNvPr id="62" name="Straight Arrow Connector 61">
            <a:extLst>
              <a:ext uri="{FF2B5EF4-FFF2-40B4-BE49-F238E27FC236}">
                <a16:creationId xmlns:a16="http://schemas.microsoft.com/office/drawing/2014/main" id="{3BCCA6A3-5A43-44FE-1DA3-BD0BB4EF1BC1}"/>
              </a:ext>
              <a:ext uri="{C183D7F6-B498-43B3-948B-1728B52AA6E4}">
                <adec:decorative xmlns:adec="http://schemas.microsoft.com/office/drawing/2017/decorative" val="1"/>
              </a:ext>
            </a:extLst>
          </p:cNvPr>
          <p:cNvCxnSpPr>
            <a:cxnSpLocks/>
            <a:endCxn id="34" idx="2"/>
          </p:cNvCxnSpPr>
          <p:nvPr/>
        </p:nvCxnSpPr>
        <p:spPr>
          <a:xfrm flipV="1">
            <a:off x="1820348" y="3078466"/>
            <a:ext cx="3314" cy="599250"/>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2A908C9-B622-B9DB-0346-BB7329544A45}"/>
              </a:ext>
              <a:ext uri="{C183D7F6-B498-43B3-948B-1728B52AA6E4}">
                <adec:decorative xmlns:adec="http://schemas.microsoft.com/office/drawing/2017/decorative" val="1"/>
              </a:ext>
            </a:extLst>
          </p:cNvPr>
          <p:cNvCxnSpPr>
            <a:cxnSpLocks/>
            <a:endCxn id="29" idx="2"/>
          </p:cNvCxnSpPr>
          <p:nvPr/>
        </p:nvCxnSpPr>
        <p:spPr>
          <a:xfrm flipH="1" flipV="1">
            <a:off x="4908768" y="3087231"/>
            <a:ext cx="832" cy="568183"/>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6A903CB-A89F-E126-F0DD-70B1E71C08A4}"/>
              </a:ext>
              <a:ext uri="{C183D7F6-B498-43B3-948B-1728B52AA6E4}">
                <adec:decorative xmlns:adec="http://schemas.microsoft.com/office/drawing/2017/decorative" val="1"/>
              </a:ext>
            </a:extLst>
          </p:cNvPr>
          <p:cNvCxnSpPr>
            <a:cxnSpLocks/>
            <a:endCxn id="30" idx="2"/>
          </p:cNvCxnSpPr>
          <p:nvPr/>
        </p:nvCxnSpPr>
        <p:spPr>
          <a:xfrm flipV="1">
            <a:off x="7913192" y="3078466"/>
            <a:ext cx="1" cy="599250"/>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8DF5183-96E0-B49E-67A6-A0971D36ECB6}"/>
              </a:ext>
            </a:extLst>
          </p:cNvPr>
          <p:cNvSpPr txBox="1"/>
          <p:nvPr/>
        </p:nvSpPr>
        <p:spPr>
          <a:xfrm>
            <a:off x="1095021" y="5840387"/>
            <a:ext cx="1389803"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altLang="ja-JP" sz="2000" i="0" u="none" strike="noStrike" kern="1200" cap="none" spc="0" normalizeH="0" baseline="0" noProof="0">
                <a:ln>
                  <a:noFill/>
                </a:ln>
                <a:gradFill>
                  <a:gsLst>
                    <a:gs pos="80000">
                      <a:srgbClr val="2A446F"/>
                    </a:gs>
                    <a:gs pos="0">
                      <a:srgbClr val="73262F"/>
                    </a:gs>
                  </a:gsLst>
                  <a:path path="circle">
                    <a:fillToRect l="100000" t="100000"/>
                  </a:path>
                </a:gradFill>
                <a:effectLst/>
                <a:uLnTx/>
                <a:uFillTx/>
                <a:latin typeface="+mj-lt"/>
                <a:ea typeface="Meiryo UI" panose="020B0604030504040204" pitchFamily="34" charset="-128"/>
                <a:cs typeface="+mn-cs"/>
              </a:rPr>
              <a:t>Pre-training</a:t>
            </a:r>
            <a:endParaRPr kumimoji="0" lang="en-US" sz="2000" i="0" u="none" strike="noStrike" kern="1200" cap="none" spc="0" normalizeH="0" baseline="0" noProof="0">
              <a:ln>
                <a:noFill/>
              </a:ln>
              <a:gradFill>
                <a:gsLst>
                  <a:gs pos="80000">
                    <a:srgbClr val="2A446F"/>
                  </a:gs>
                  <a:gs pos="0">
                    <a:srgbClr val="73262F"/>
                  </a:gs>
                </a:gsLst>
                <a:path path="circle">
                  <a:fillToRect l="100000" t="100000"/>
                </a:path>
              </a:gradFill>
              <a:effectLst/>
              <a:uLnTx/>
              <a:uFillTx/>
              <a:latin typeface="+mj-lt"/>
              <a:ea typeface="Meiryo UI" panose="020B0604030504040204" pitchFamily="34" charset="-128"/>
              <a:cs typeface="+mn-cs"/>
            </a:endParaRPr>
          </a:p>
        </p:txBody>
      </p:sp>
      <p:sp>
        <p:nvSpPr>
          <p:cNvPr id="3" name="TextBox 2">
            <a:extLst>
              <a:ext uri="{FF2B5EF4-FFF2-40B4-BE49-F238E27FC236}">
                <a16:creationId xmlns:a16="http://schemas.microsoft.com/office/drawing/2014/main" id="{ECC780DF-4D73-AF05-0444-35AD47F7322E}"/>
              </a:ext>
            </a:extLst>
          </p:cNvPr>
          <p:cNvSpPr txBox="1"/>
          <p:nvPr/>
        </p:nvSpPr>
        <p:spPr>
          <a:xfrm>
            <a:off x="5668167" y="5840387"/>
            <a:ext cx="1572546"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altLang="ja-JP" sz="2000" i="0" u="none" strike="noStrike" kern="1200" cap="none" spc="0" normalizeH="0" baseline="0" noProof="0">
                <a:ln>
                  <a:noFill/>
                </a:ln>
                <a:gradFill>
                  <a:gsLst>
                    <a:gs pos="80000">
                      <a:srgbClr val="2A446F"/>
                    </a:gs>
                    <a:gs pos="0">
                      <a:srgbClr val="73262F"/>
                    </a:gs>
                  </a:gsLst>
                  <a:path path="circle">
                    <a:fillToRect l="100000" t="100000"/>
                  </a:path>
                </a:gradFill>
                <a:effectLst/>
                <a:uLnTx/>
                <a:uFillTx/>
                <a:latin typeface="+mj-lt"/>
                <a:ea typeface="Meiryo UI" panose="020B0604030504040204" pitchFamily="34" charset="-128"/>
                <a:cs typeface="+mn-cs"/>
              </a:rPr>
              <a:t>Post-training </a:t>
            </a:r>
          </a:p>
        </p:txBody>
      </p:sp>
      <p:sp>
        <p:nvSpPr>
          <p:cNvPr id="5" name="Left Brace 4">
            <a:extLst>
              <a:ext uri="{FF2B5EF4-FFF2-40B4-BE49-F238E27FC236}">
                <a16:creationId xmlns:a16="http://schemas.microsoft.com/office/drawing/2014/main" id="{2DB7EE02-0DEE-D47B-DEA3-7B8E599A5610}"/>
              </a:ext>
              <a:ext uri="{C183D7F6-B498-43B3-948B-1728B52AA6E4}">
                <adec:decorative xmlns:adec="http://schemas.microsoft.com/office/drawing/2017/decorative" val="1"/>
              </a:ext>
            </a:extLst>
          </p:cNvPr>
          <p:cNvSpPr/>
          <p:nvPr/>
        </p:nvSpPr>
        <p:spPr>
          <a:xfrm rot="16200000">
            <a:off x="6288421" y="3997176"/>
            <a:ext cx="332038" cy="3004422"/>
          </a:xfrm>
          <a:prstGeom prst="leftBrace">
            <a:avLst/>
          </a:prstGeom>
          <a:ln w="1270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25" name="Group 24">
            <a:extLst>
              <a:ext uri="{FF2B5EF4-FFF2-40B4-BE49-F238E27FC236}">
                <a16:creationId xmlns:a16="http://schemas.microsoft.com/office/drawing/2014/main" id="{15E5B59D-95E0-3B40-65E8-32D01FC5BDD1}"/>
              </a:ext>
              <a:ext uri="{C183D7F6-B498-43B3-948B-1728B52AA6E4}">
                <adec:decorative xmlns:adec="http://schemas.microsoft.com/office/drawing/2017/decorative" val="1"/>
              </a:ext>
            </a:extLst>
          </p:cNvPr>
          <p:cNvGrpSpPr/>
          <p:nvPr/>
        </p:nvGrpSpPr>
        <p:grpSpPr>
          <a:xfrm>
            <a:off x="9887898" y="1905990"/>
            <a:ext cx="1246948" cy="1100306"/>
            <a:chOff x="10059498" y="2057409"/>
            <a:chExt cx="903748" cy="797467"/>
          </a:xfrm>
          <a:gradFill>
            <a:gsLst>
              <a:gs pos="80000">
                <a:srgbClr val="8DC8E8"/>
              </a:gs>
              <a:gs pos="0">
                <a:srgbClr val="FFB3BB"/>
              </a:gs>
            </a:gsLst>
            <a:path path="circle">
              <a:fillToRect l="100000" t="100000"/>
            </a:path>
          </a:gradFill>
          <a:effectLst>
            <a:glow rad="63500">
              <a:schemeClr val="accent6">
                <a:satMod val="175000"/>
                <a:alpha val="40000"/>
              </a:schemeClr>
            </a:glow>
          </a:effectLst>
        </p:grpSpPr>
        <p:sp>
          <p:nvSpPr>
            <p:cNvPr id="16" name="Freeform: Shape 15">
              <a:extLst>
                <a:ext uri="{FF2B5EF4-FFF2-40B4-BE49-F238E27FC236}">
                  <a16:creationId xmlns:a16="http://schemas.microsoft.com/office/drawing/2014/main" id="{09F41FBA-6EED-F9F8-952C-0FD56947206E}"/>
                </a:ext>
              </a:extLst>
            </p:cNvPr>
            <p:cNvSpPr/>
            <p:nvPr/>
          </p:nvSpPr>
          <p:spPr>
            <a:xfrm>
              <a:off x="10608611" y="2079098"/>
              <a:ext cx="354635" cy="739710"/>
            </a:xfrm>
            <a:custGeom>
              <a:avLst/>
              <a:gdLst>
                <a:gd name="connsiteX0" fmla="*/ 354636 w 354635"/>
                <a:gd name="connsiteY0" fmla="*/ 466137 h 739710"/>
                <a:gd name="connsiteX1" fmla="*/ 317742 w 354635"/>
                <a:gd name="connsiteY1" fmla="*/ 378988 h 739710"/>
                <a:gd name="connsiteX2" fmla="*/ 278123 w 354635"/>
                <a:gd name="connsiteY2" fmla="*/ 219594 h 739710"/>
                <a:gd name="connsiteX3" fmla="*/ 269557 w 354635"/>
                <a:gd name="connsiteY3" fmla="*/ 214917 h 739710"/>
                <a:gd name="connsiteX4" fmla="*/ 204919 w 354635"/>
                <a:gd name="connsiteY4" fmla="*/ 95375 h 739710"/>
                <a:gd name="connsiteX5" fmla="*/ 202314 w 354635"/>
                <a:gd name="connsiteY5" fmla="*/ 94639 h 739710"/>
                <a:gd name="connsiteX6" fmla="*/ 94635 w 354635"/>
                <a:gd name="connsiteY6" fmla="*/ 221 h 739710"/>
                <a:gd name="connsiteX7" fmla="*/ 0 w 354635"/>
                <a:gd name="connsiteY7" fmla="*/ 101377 h 739710"/>
                <a:gd name="connsiteX8" fmla="*/ 0 w 354635"/>
                <a:gd name="connsiteY8" fmla="*/ 663726 h 739710"/>
                <a:gd name="connsiteX9" fmla="*/ 76028 w 354635"/>
                <a:gd name="connsiteY9" fmla="*/ 739710 h 739710"/>
                <a:gd name="connsiteX10" fmla="*/ 148524 w 354635"/>
                <a:gd name="connsiteY10" fmla="*/ 686468 h 739710"/>
                <a:gd name="connsiteX11" fmla="*/ 281123 w 354635"/>
                <a:gd name="connsiteY11" fmla="*/ 601573 h 739710"/>
                <a:gd name="connsiteX12" fmla="*/ 283708 w 354635"/>
                <a:gd name="connsiteY12" fmla="*/ 577595 h 739710"/>
                <a:gd name="connsiteX13" fmla="*/ 283708 w 354635"/>
                <a:gd name="connsiteY13" fmla="*/ 576588 h 739710"/>
                <a:gd name="connsiteX14" fmla="*/ 354636 w 354635"/>
                <a:gd name="connsiteY14" fmla="*/ 466137 h 73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4635" h="739710">
                  <a:moveTo>
                    <a:pt x="354636" y="466137"/>
                  </a:moveTo>
                  <a:cubicBezTo>
                    <a:pt x="354658" y="433287"/>
                    <a:pt x="341344" y="401837"/>
                    <a:pt x="317742" y="378988"/>
                  </a:cubicBezTo>
                  <a:cubicBezTo>
                    <a:pt x="350817" y="324032"/>
                    <a:pt x="333079" y="252670"/>
                    <a:pt x="278123" y="219594"/>
                  </a:cubicBezTo>
                  <a:cubicBezTo>
                    <a:pt x="275336" y="217916"/>
                    <a:pt x="272477" y="216355"/>
                    <a:pt x="269557" y="214917"/>
                  </a:cubicBezTo>
                  <a:cubicBezTo>
                    <a:pt x="284719" y="164057"/>
                    <a:pt x="255779" y="110537"/>
                    <a:pt x="204919" y="95375"/>
                  </a:cubicBezTo>
                  <a:cubicBezTo>
                    <a:pt x="204054" y="95118"/>
                    <a:pt x="203186" y="94872"/>
                    <a:pt x="202314" y="94639"/>
                  </a:cubicBezTo>
                  <a:cubicBezTo>
                    <a:pt x="198652" y="38832"/>
                    <a:pt x="150442" y="-3441"/>
                    <a:pt x="94635" y="221"/>
                  </a:cubicBezTo>
                  <a:cubicBezTo>
                    <a:pt x="41355" y="3717"/>
                    <a:pt x="-57" y="47982"/>
                    <a:pt x="0" y="101377"/>
                  </a:cubicBezTo>
                  <a:lnTo>
                    <a:pt x="0" y="663726"/>
                  </a:lnTo>
                  <a:cubicBezTo>
                    <a:pt x="13" y="705703"/>
                    <a:pt x="34051" y="739722"/>
                    <a:pt x="76028" y="739710"/>
                  </a:cubicBezTo>
                  <a:cubicBezTo>
                    <a:pt x="109228" y="739700"/>
                    <a:pt x="138580" y="718144"/>
                    <a:pt x="148524" y="686468"/>
                  </a:cubicBezTo>
                  <a:cubicBezTo>
                    <a:pt x="208583" y="699641"/>
                    <a:pt x="267950" y="661632"/>
                    <a:pt x="281123" y="601573"/>
                  </a:cubicBezTo>
                  <a:cubicBezTo>
                    <a:pt x="282850" y="593698"/>
                    <a:pt x="283718" y="585658"/>
                    <a:pt x="283708" y="577595"/>
                  </a:cubicBezTo>
                  <a:cubicBezTo>
                    <a:pt x="283708" y="577263"/>
                    <a:pt x="283708" y="576932"/>
                    <a:pt x="283708" y="576588"/>
                  </a:cubicBezTo>
                  <a:cubicBezTo>
                    <a:pt x="326916" y="556809"/>
                    <a:pt x="354626" y="513655"/>
                    <a:pt x="354636" y="466137"/>
                  </a:cubicBezTo>
                  <a:close/>
                </a:path>
              </a:pathLst>
            </a:custGeom>
            <a:grpFill/>
            <a:ln w="11410" cap="flat">
              <a:solidFill>
                <a:srgbClr val="BFBFBF"/>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B7505D5-F34A-9536-769A-E0EAF4AA2DAE}"/>
                </a:ext>
              </a:extLst>
            </p:cNvPr>
            <p:cNvSpPr/>
            <p:nvPr/>
          </p:nvSpPr>
          <p:spPr>
            <a:xfrm>
              <a:off x="10190421" y="2057409"/>
              <a:ext cx="94563" cy="94579"/>
            </a:xfrm>
            <a:custGeom>
              <a:avLst/>
              <a:gdLst>
                <a:gd name="connsiteX0" fmla="*/ 71689 w 94563"/>
                <a:gd name="connsiteY0" fmla="*/ 94580 h 94579"/>
                <a:gd name="connsiteX1" fmla="*/ 55513 w 94563"/>
                <a:gd name="connsiteY1" fmla="*/ 87876 h 94579"/>
                <a:gd name="connsiteX2" fmla="*/ 6985 w 94563"/>
                <a:gd name="connsiteY2" fmla="*/ 39337 h 94579"/>
                <a:gd name="connsiteX3" fmla="*/ 6422 w 94563"/>
                <a:gd name="connsiteY3" fmla="*/ 6985 h 94579"/>
                <a:gd name="connsiteX4" fmla="*/ 38774 w 94563"/>
                <a:gd name="connsiteY4" fmla="*/ 6422 h 94579"/>
                <a:gd name="connsiteX5" fmla="*/ 39337 w 94563"/>
                <a:gd name="connsiteY5" fmla="*/ 6985 h 94579"/>
                <a:gd name="connsiteX6" fmla="*/ 87865 w 94563"/>
                <a:gd name="connsiteY6" fmla="*/ 55524 h 94579"/>
                <a:gd name="connsiteX7" fmla="*/ 87860 w 94563"/>
                <a:gd name="connsiteY7" fmla="*/ 87881 h 94579"/>
                <a:gd name="connsiteX8" fmla="*/ 71689 w 94563"/>
                <a:gd name="connsiteY8" fmla="*/ 94580 h 94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563" h="94579">
                  <a:moveTo>
                    <a:pt x="71689" y="94580"/>
                  </a:moveTo>
                  <a:cubicBezTo>
                    <a:pt x="65619" y="94589"/>
                    <a:pt x="59797" y="92175"/>
                    <a:pt x="55513" y="87876"/>
                  </a:cubicBezTo>
                  <a:lnTo>
                    <a:pt x="6985" y="39337"/>
                  </a:lnTo>
                  <a:cubicBezTo>
                    <a:pt x="-2104" y="30558"/>
                    <a:pt x="-2356" y="16074"/>
                    <a:pt x="6422" y="6985"/>
                  </a:cubicBezTo>
                  <a:cubicBezTo>
                    <a:pt x="15201" y="-2104"/>
                    <a:pt x="29685" y="-2356"/>
                    <a:pt x="38774" y="6422"/>
                  </a:cubicBezTo>
                  <a:cubicBezTo>
                    <a:pt x="38965" y="6606"/>
                    <a:pt x="39153" y="6794"/>
                    <a:pt x="39337" y="6985"/>
                  </a:cubicBezTo>
                  <a:lnTo>
                    <a:pt x="87865" y="55524"/>
                  </a:lnTo>
                  <a:cubicBezTo>
                    <a:pt x="96798" y="64461"/>
                    <a:pt x="96796" y="78947"/>
                    <a:pt x="87860" y="87881"/>
                  </a:cubicBezTo>
                  <a:cubicBezTo>
                    <a:pt x="83570" y="92170"/>
                    <a:pt x="77754" y="94579"/>
                    <a:pt x="71689" y="94580"/>
                  </a:cubicBezTo>
                  <a:close/>
                </a:path>
              </a:pathLst>
            </a:custGeom>
            <a:grpFill/>
            <a:ln w="11410" cap="flat">
              <a:solidFill>
                <a:srgbClr val="BFBFBF"/>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3BFC395-39C5-839B-332C-601524E02896}"/>
                </a:ext>
              </a:extLst>
            </p:cNvPr>
            <p:cNvSpPr/>
            <p:nvPr/>
          </p:nvSpPr>
          <p:spPr>
            <a:xfrm>
              <a:off x="10088674" y="2229516"/>
              <a:ext cx="117373" cy="76041"/>
            </a:xfrm>
            <a:custGeom>
              <a:avLst/>
              <a:gdLst>
                <a:gd name="connsiteX0" fmla="*/ 94478 w 117373"/>
                <a:gd name="connsiteY0" fmla="*/ 76042 h 76041"/>
                <a:gd name="connsiteX1" fmla="*/ 85566 w 117373"/>
                <a:gd name="connsiteY1" fmla="*/ 74234 h 76041"/>
                <a:gd name="connsiteX2" fmla="*/ 13827 w 117373"/>
                <a:gd name="connsiteY2" fmla="*/ 43896 h 76041"/>
                <a:gd name="connsiteX3" fmla="*/ 1876 w 117373"/>
                <a:gd name="connsiteY3" fmla="*/ 13827 h 76041"/>
                <a:gd name="connsiteX4" fmla="*/ 31650 w 117373"/>
                <a:gd name="connsiteY4" fmla="*/ 1751 h 76041"/>
                <a:gd name="connsiteX5" fmla="*/ 103401 w 117373"/>
                <a:gd name="connsiteY5" fmla="*/ 32090 h 76041"/>
                <a:gd name="connsiteX6" fmla="*/ 115560 w 117373"/>
                <a:gd name="connsiteY6" fmla="*/ 62075 h 76041"/>
                <a:gd name="connsiteX7" fmla="*/ 94478 w 117373"/>
                <a:gd name="connsiteY7" fmla="*/ 76042 h 76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373" h="76041">
                  <a:moveTo>
                    <a:pt x="94478" y="76042"/>
                  </a:moveTo>
                  <a:cubicBezTo>
                    <a:pt x="91416" y="76044"/>
                    <a:pt x="88385" y="75429"/>
                    <a:pt x="85566" y="74234"/>
                  </a:cubicBezTo>
                  <a:lnTo>
                    <a:pt x="13827" y="43896"/>
                  </a:lnTo>
                  <a:cubicBezTo>
                    <a:pt x="2223" y="38893"/>
                    <a:pt x="-3127" y="25430"/>
                    <a:pt x="1876" y="13827"/>
                  </a:cubicBezTo>
                  <a:cubicBezTo>
                    <a:pt x="6829" y="2338"/>
                    <a:pt x="20093" y="-3042"/>
                    <a:pt x="31650" y="1751"/>
                  </a:cubicBezTo>
                  <a:lnTo>
                    <a:pt x="103401" y="32090"/>
                  </a:lnTo>
                  <a:cubicBezTo>
                    <a:pt x="115039" y="37012"/>
                    <a:pt x="120483" y="50437"/>
                    <a:pt x="115560" y="62075"/>
                  </a:cubicBezTo>
                  <a:cubicBezTo>
                    <a:pt x="111977" y="70544"/>
                    <a:pt x="103673" y="76046"/>
                    <a:pt x="94478" y="76042"/>
                  </a:cubicBezTo>
                  <a:close/>
                </a:path>
              </a:pathLst>
            </a:custGeom>
            <a:grpFill/>
            <a:ln w="11410" cap="flat">
              <a:solidFill>
                <a:srgbClr val="BFBFBF"/>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0697C39-0E79-80CA-6590-92D587DE3290}"/>
                </a:ext>
              </a:extLst>
            </p:cNvPr>
            <p:cNvSpPr/>
            <p:nvPr/>
          </p:nvSpPr>
          <p:spPr>
            <a:xfrm>
              <a:off x="10059498" y="2429863"/>
              <a:ext cx="109113" cy="45759"/>
            </a:xfrm>
            <a:custGeom>
              <a:avLst/>
              <a:gdLst>
                <a:gd name="connsiteX0" fmla="*/ 86234 w 109113"/>
                <a:gd name="connsiteY0" fmla="*/ 45759 h 45759"/>
                <a:gd name="connsiteX1" fmla="*/ 22880 w 109113"/>
                <a:gd name="connsiteY1" fmla="*/ 45759 h 45759"/>
                <a:gd name="connsiteX2" fmla="*/ 0 w 109113"/>
                <a:gd name="connsiteY2" fmla="*/ 22880 h 45759"/>
                <a:gd name="connsiteX3" fmla="*/ 22880 w 109113"/>
                <a:gd name="connsiteY3" fmla="*/ 0 h 45759"/>
                <a:gd name="connsiteX4" fmla="*/ 86234 w 109113"/>
                <a:gd name="connsiteY4" fmla="*/ 0 h 45759"/>
                <a:gd name="connsiteX5" fmla="*/ 109113 w 109113"/>
                <a:gd name="connsiteY5" fmla="*/ 22880 h 45759"/>
                <a:gd name="connsiteX6" fmla="*/ 86234 w 109113"/>
                <a:gd name="connsiteY6" fmla="*/ 45759 h 4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113" h="45759">
                  <a:moveTo>
                    <a:pt x="86234" y="45759"/>
                  </a:moveTo>
                  <a:lnTo>
                    <a:pt x="22880" y="45759"/>
                  </a:lnTo>
                  <a:cubicBezTo>
                    <a:pt x="10244" y="45759"/>
                    <a:pt x="0" y="35516"/>
                    <a:pt x="0" y="22880"/>
                  </a:cubicBezTo>
                  <a:cubicBezTo>
                    <a:pt x="0" y="10243"/>
                    <a:pt x="10244" y="0"/>
                    <a:pt x="22880" y="0"/>
                  </a:cubicBezTo>
                  <a:lnTo>
                    <a:pt x="86234" y="0"/>
                  </a:lnTo>
                  <a:cubicBezTo>
                    <a:pt x="98870" y="0"/>
                    <a:pt x="109113" y="10243"/>
                    <a:pt x="109113" y="22880"/>
                  </a:cubicBezTo>
                  <a:cubicBezTo>
                    <a:pt x="109113" y="35516"/>
                    <a:pt x="98870" y="45759"/>
                    <a:pt x="86234" y="45759"/>
                  </a:cubicBezTo>
                  <a:close/>
                </a:path>
              </a:pathLst>
            </a:custGeom>
            <a:grpFill/>
            <a:ln w="11410" cap="flat">
              <a:solidFill>
                <a:srgbClr val="BFBFBF"/>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BC692A-C052-16B4-CE01-3C22B8E25A20}"/>
                </a:ext>
              </a:extLst>
            </p:cNvPr>
            <p:cNvSpPr/>
            <p:nvPr/>
          </p:nvSpPr>
          <p:spPr>
            <a:xfrm>
              <a:off x="10070975" y="2609795"/>
              <a:ext cx="106514" cy="73506"/>
            </a:xfrm>
            <a:custGeom>
              <a:avLst/>
              <a:gdLst>
                <a:gd name="connsiteX0" fmla="*/ 22912 w 106514"/>
                <a:gd name="connsiteY0" fmla="*/ 73507 h 73506"/>
                <a:gd name="connsiteX1" fmla="*/ 0 w 106514"/>
                <a:gd name="connsiteY1" fmla="*/ 50659 h 73506"/>
                <a:gd name="connsiteX2" fmla="*/ 13394 w 106514"/>
                <a:gd name="connsiteY2" fmla="*/ 29807 h 73506"/>
                <a:gd name="connsiteX3" fmla="*/ 74116 w 106514"/>
                <a:gd name="connsiteY3" fmla="*/ 2077 h 73506"/>
                <a:gd name="connsiteX4" fmla="*/ 104438 w 106514"/>
                <a:gd name="connsiteY4" fmla="*/ 13373 h 73506"/>
                <a:gd name="connsiteX5" fmla="*/ 93141 w 106514"/>
                <a:gd name="connsiteY5" fmla="*/ 43695 h 73506"/>
                <a:gd name="connsiteX6" fmla="*/ 32407 w 106514"/>
                <a:gd name="connsiteY6" fmla="*/ 71436 h 73506"/>
                <a:gd name="connsiteX7" fmla="*/ 22912 w 106514"/>
                <a:gd name="connsiteY7" fmla="*/ 73507 h 7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514" h="73506">
                  <a:moveTo>
                    <a:pt x="22912" y="73507"/>
                  </a:moveTo>
                  <a:cubicBezTo>
                    <a:pt x="10276" y="73524"/>
                    <a:pt x="18" y="63296"/>
                    <a:pt x="0" y="50659"/>
                  </a:cubicBezTo>
                  <a:cubicBezTo>
                    <a:pt x="-12" y="41682"/>
                    <a:pt x="5225" y="33528"/>
                    <a:pt x="13394" y="29807"/>
                  </a:cubicBezTo>
                  <a:lnTo>
                    <a:pt x="74116" y="2077"/>
                  </a:lnTo>
                  <a:cubicBezTo>
                    <a:pt x="85609" y="-3177"/>
                    <a:pt x="99185" y="1881"/>
                    <a:pt x="104438" y="13373"/>
                  </a:cubicBezTo>
                  <a:cubicBezTo>
                    <a:pt x="109691" y="24866"/>
                    <a:pt x="104633" y="38442"/>
                    <a:pt x="93141" y="43695"/>
                  </a:cubicBezTo>
                  <a:lnTo>
                    <a:pt x="32407" y="71436"/>
                  </a:lnTo>
                  <a:cubicBezTo>
                    <a:pt x="29427" y="72799"/>
                    <a:pt x="26188" y="73505"/>
                    <a:pt x="22912" y="73507"/>
                  </a:cubicBezTo>
                  <a:close/>
                </a:path>
              </a:pathLst>
            </a:custGeom>
            <a:grpFill/>
            <a:ln w="11410" cap="flat">
              <a:solidFill>
                <a:srgbClr val="BFBFBF"/>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140BAFC-8558-072D-8A99-2D5319D31CC9}"/>
                </a:ext>
              </a:extLst>
            </p:cNvPr>
            <p:cNvSpPr/>
            <p:nvPr/>
          </p:nvSpPr>
          <p:spPr>
            <a:xfrm>
              <a:off x="10183579" y="2761180"/>
              <a:ext cx="93685" cy="93696"/>
            </a:xfrm>
            <a:custGeom>
              <a:avLst/>
              <a:gdLst>
                <a:gd name="connsiteX0" fmla="*/ 22887 w 93685"/>
                <a:gd name="connsiteY0" fmla="*/ 93697 h 93696"/>
                <a:gd name="connsiteX1" fmla="*/ 0 w 93685"/>
                <a:gd name="connsiteY1" fmla="*/ 70824 h 93696"/>
                <a:gd name="connsiteX2" fmla="*/ 6711 w 93685"/>
                <a:gd name="connsiteY2" fmla="*/ 54629 h 93696"/>
                <a:gd name="connsiteX3" fmla="*/ 55250 w 93685"/>
                <a:gd name="connsiteY3" fmla="*/ 6102 h 93696"/>
                <a:gd name="connsiteX4" fmla="*/ 87584 w 93685"/>
                <a:gd name="connsiteY4" fmla="*/ 7325 h 93696"/>
                <a:gd name="connsiteX5" fmla="*/ 87556 w 93685"/>
                <a:gd name="connsiteY5" fmla="*/ 38465 h 93696"/>
                <a:gd name="connsiteX6" fmla="*/ 39063 w 93685"/>
                <a:gd name="connsiteY6" fmla="*/ 87004 h 93696"/>
                <a:gd name="connsiteX7" fmla="*/ 22887 w 93685"/>
                <a:gd name="connsiteY7" fmla="*/ 93697 h 93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685" h="93696">
                  <a:moveTo>
                    <a:pt x="22887" y="93697"/>
                  </a:moveTo>
                  <a:cubicBezTo>
                    <a:pt x="10250" y="93700"/>
                    <a:pt x="3" y="83459"/>
                    <a:pt x="0" y="70824"/>
                  </a:cubicBezTo>
                  <a:cubicBezTo>
                    <a:pt x="-1" y="64749"/>
                    <a:pt x="2413" y="58923"/>
                    <a:pt x="6711" y="54629"/>
                  </a:cubicBezTo>
                  <a:lnTo>
                    <a:pt x="55250" y="6102"/>
                  </a:lnTo>
                  <a:cubicBezTo>
                    <a:pt x="64516" y="-2490"/>
                    <a:pt x="78992" y="-1942"/>
                    <a:pt x="87584" y="7325"/>
                  </a:cubicBezTo>
                  <a:cubicBezTo>
                    <a:pt x="95730" y="16110"/>
                    <a:pt x="95717" y="29693"/>
                    <a:pt x="87556" y="38465"/>
                  </a:cubicBezTo>
                  <a:lnTo>
                    <a:pt x="39063" y="87004"/>
                  </a:lnTo>
                  <a:cubicBezTo>
                    <a:pt x="34775" y="91298"/>
                    <a:pt x="28954" y="93706"/>
                    <a:pt x="22887" y="93697"/>
                  </a:cubicBezTo>
                  <a:close/>
                </a:path>
              </a:pathLst>
            </a:custGeom>
            <a:grpFill/>
            <a:ln w="11410" cap="flat">
              <a:solidFill>
                <a:srgbClr val="BFBFB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58376ED-AF4F-3E4A-CEA0-EB6A1AC19788}"/>
                </a:ext>
              </a:extLst>
            </p:cNvPr>
            <p:cNvSpPr/>
            <p:nvPr/>
          </p:nvSpPr>
          <p:spPr>
            <a:xfrm>
              <a:off x="10393988" y="2335454"/>
              <a:ext cx="59365" cy="59367"/>
            </a:xfrm>
            <a:custGeom>
              <a:avLst/>
              <a:gdLst>
                <a:gd name="connsiteX0" fmla="*/ 21141 w 59365"/>
                <a:gd name="connsiteY0" fmla="*/ 1266 h 59367"/>
                <a:gd name="connsiteX1" fmla="*/ 1263 w 59365"/>
                <a:gd name="connsiteY1" fmla="*/ 38227 h 59367"/>
                <a:gd name="connsiteX2" fmla="*/ 38224 w 59365"/>
                <a:gd name="connsiteY2" fmla="*/ 58104 h 59367"/>
                <a:gd name="connsiteX3" fmla="*/ 58103 w 59365"/>
                <a:gd name="connsiteY3" fmla="*/ 21149 h 59367"/>
                <a:gd name="connsiteX4" fmla="*/ 21168 w 59365"/>
                <a:gd name="connsiteY4" fmla="*/ 1258 h 59367"/>
                <a:gd name="connsiteX5" fmla="*/ 21141 w 59365"/>
                <a:gd name="connsiteY5" fmla="*/ 1266 h 5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5" h="59367">
                  <a:moveTo>
                    <a:pt x="21141" y="1266"/>
                  </a:moveTo>
                  <a:cubicBezTo>
                    <a:pt x="5446" y="5984"/>
                    <a:pt x="-3453" y="22532"/>
                    <a:pt x="1263" y="38227"/>
                  </a:cubicBezTo>
                  <a:cubicBezTo>
                    <a:pt x="5981" y="53923"/>
                    <a:pt x="22529" y="62822"/>
                    <a:pt x="38224" y="58104"/>
                  </a:cubicBezTo>
                  <a:cubicBezTo>
                    <a:pt x="53918" y="53387"/>
                    <a:pt x="62818" y="36843"/>
                    <a:pt x="58103" y="21149"/>
                  </a:cubicBezTo>
                  <a:cubicBezTo>
                    <a:pt x="53397" y="5457"/>
                    <a:pt x="36860" y="-3448"/>
                    <a:pt x="21168" y="1258"/>
                  </a:cubicBezTo>
                  <a:cubicBezTo>
                    <a:pt x="21160" y="1261"/>
                    <a:pt x="21150" y="1264"/>
                    <a:pt x="21141" y="1266"/>
                  </a:cubicBezTo>
                  <a:close/>
                </a:path>
              </a:pathLst>
            </a:custGeom>
            <a:grpFill/>
            <a:ln w="11410" cap="flat">
              <a:solidFill>
                <a:srgbClr val="BFBFB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64C371-73CC-028E-AEDD-8577079B0534}"/>
                </a:ext>
              </a:extLst>
            </p:cNvPr>
            <p:cNvSpPr/>
            <p:nvPr/>
          </p:nvSpPr>
          <p:spPr>
            <a:xfrm>
              <a:off x="10349967" y="2506400"/>
              <a:ext cx="59365" cy="59367"/>
            </a:xfrm>
            <a:custGeom>
              <a:avLst/>
              <a:gdLst>
                <a:gd name="connsiteX0" fmla="*/ 21141 w 59365"/>
                <a:gd name="connsiteY0" fmla="*/ 1266 h 59367"/>
                <a:gd name="connsiteX1" fmla="*/ 1263 w 59365"/>
                <a:gd name="connsiteY1" fmla="*/ 38227 h 59367"/>
                <a:gd name="connsiteX2" fmla="*/ 38224 w 59365"/>
                <a:gd name="connsiteY2" fmla="*/ 58104 h 59367"/>
                <a:gd name="connsiteX3" fmla="*/ 58103 w 59365"/>
                <a:gd name="connsiteY3" fmla="*/ 21149 h 59367"/>
                <a:gd name="connsiteX4" fmla="*/ 21168 w 59365"/>
                <a:gd name="connsiteY4" fmla="*/ 1258 h 59367"/>
                <a:gd name="connsiteX5" fmla="*/ 21141 w 59365"/>
                <a:gd name="connsiteY5" fmla="*/ 1266 h 5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5" h="59367">
                  <a:moveTo>
                    <a:pt x="21141" y="1266"/>
                  </a:moveTo>
                  <a:cubicBezTo>
                    <a:pt x="5446" y="5984"/>
                    <a:pt x="-3453" y="22532"/>
                    <a:pt x="1263" y="38227"/>
                  </a:cubicBezTo>
                  <a:cubicBezTo>
                    <a:pt x="5981" y="53923"/>
                    <a:pt x="22529" y="62822"/>
                    <a:pt x="38224" y="58104"/>
                  </a:cubicBezTo>
                  <a:cubicBezTo>
                    <a:pt x="53918" y="53387"/>
                    <a:pt x="62818" y="36843"/>
                    <a:pt x="58103" y="21149"/>
                  </a:cubicBezTo>
                  <a:cubicBezTo>
                    <a:pt x="53397" y="5457"/>
                    <a:pt x="36860" y="-3448"/>
                    <a:pt x="21168" y="1258"/>
                  </a:cubicBezTo>
                  <a:cubicBezTo>
                    <a:pt x="21160" y="1261"/>
                    <a:pt x="21150" y="1264"/>
                    <a:pt x="21141" y="1266"/>
                  </a:cubicBezTo>
                  <a:close/>
                </a:path>
              </a:pathLst>
            </a:custGeom>
            <a:grpFill/>
            <a:ln w="11410" cap="flat">
              <a:solidFill>
                <a:srgbClr val="BFBFB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0C7B229-F2E8-A417-8589-F51E49DB6608}"/>
                </a:ext>
              </a:extLst>
            </p:cNvPr>
            <p:cNvSpPr/>
            <p:nvPr/>
          </p:nvSpPr>
          <p:spPr>
            <a:xfrm>
              <a:off x="10208220" y="2079140"/>
              <a:ext cx="354631" cy="739533"/>
            </a:xfrm>
            <a:custGeom>
              <a:avLst/>
              <a:gdLst>
                <a:gd name="connsiteX0" fmla="*/ 253309 w 354631"/>
                <a:gd name="connsiteY0" fmla="*/ 0 h 739533"/>
                <a:gd name="connsiteX1" fmla="*/ 152329 w 354631"/>
                <a:gd name="connsiteY1" fmla="*/ 94585 h 739533"/>
                <a:gd name="connsiteX2" fmla="*/ 84332 w 354631"/>
                <a:gd name="connsiteY2" fmla="*/ 212248 h 739533"/>
                <a:gd name="connsiteX3" fmla="*/ 85074 w 354631"/>
                <a:gd name="connsiteY3" fmla="*/ 214875 h 739533"/>
                <a:gd name="connsiteX4" fmla="*/ 32203 w 354631"/>
                <a:gd name="connsiteY4" fmla="*/ 370341 h 739533"/>
                <a:gd name="connsiteX5" fmla="*/ 36901 w 354631"/>
                <a:gd name="connsiteY5" fmla="*/ 378945 h 739533"/>
                <a:gd name="connsiteX6" fmla="*/ 34233 w 354631"/>
                <a:gd name="connsiteY6" fmla="*/ 550609 h 739533"/>
                <a:gd name="connsiteX7" fmla="*/ 70980 w 354631"/>
                <a:gd name="connsiteY7" fmla="*/ 576546 h 739533"/>
                <a:gd name="connsiteX8" fmla="*/ 70980 w 354631"/>
                <a:gd name="connsiteY8" fmla="*/ 577553 h 739533"/>
                <a:gd name="connsiteX9" fmla="*/ 182210 w 354631"/>
                <a:gd name="connsiteY9" fmla="*/ 689010 h 739533"/>
                <a:gd name="connsiteX10" fmla="*/ 206177 w 354631"/>
                <a:gd name="connsiteY10" fmla="*/ 686426 h 739533"/>
                <a:gd name="connsiteX11" fmla="*/ 301544 w 354631"/>
                <a:gd name="connsiteY11" fmla="*/ 735979 h 739533"/>
                <a:gd name="connsiteX12" fmla="*/ 354632 w 354631"/>
                <a:gd name="connsiteY12" fmla="*/ 663683 h 739533"/>
                <a:gd name="connsiteX13" fmla="*/ 354632 w 354631"/>
                <a:gd name="connsiteY13" fmla="*/ 101334 h 739533"/>
                <a:gd name="connsiteX14" fmla="*/ 253320 w 354631"/>
                <a:gd name="connsiteY14" fmla="*/ 0 h 739533"/>
                <a:gd name="connsiteX15" fmla="*/ 253309 w 354631"/>
                <a:gd name="connsiteY15" fmla="*/ 0 h 739533"/>
                <a:gd name="connsiteX16" fmla="*/ 250186 w 354631"/>
                <a:gd name="connsiteY16" fmla="*/ 488139 h 739533"/>
                <a:gd name="connsiteX17" fmla="*/ 240805 w 354631"/>
                <a:gd name="connsiteY17" fmla="*/ 505619 h 739533"/>
                <a:gd name="connsiteX18" fmla="*/ 221357 w 354631"/>
                <a:gd name="connsiteY18" fmla="*/ 505035 h 739533"/>
                <a:gd name="connsiteX19" fmla="*/ 208304 w 354631"/>
                <a:gd name="connsiteY19" fmla="*/ 515468 h 739533"/>
                <a:gd name="connsiteX20" fmla="*/ 205044 w 354631"/>
                <a:gd name="connsiteY20" fmla="*/ 534664 h 739533"/>
                <a:gd name="connsiteX21" fmla="*/ 186145 w 354631"/>
                <a:gd name="connsiteY21" fmla="*/ 540384 h 739533"/>
                <a:gd name="connsiteX22" fmla="*/ 172807 w 354631"/>
                <a:gd name="connsiteY22" fmla="*/ 526302 h 739533"/>
                <a:gd name="connsiteX23" fmla="*/ 156242 w 354631"/>
                <a:gd name="connsiteY23" fmla="*/ 524643 h 739533"/>
                <a:gd name="connsiteX24" fmla="*/ 140226 w 354631"/>
                <a:gd name="connsiteY24" fmla="*/ 535763 h 739533"/>
                <a:gd name="connsiteX25" fmla="*/ 122872 w 354631"/>
                <a:gd name="connsiteY25" fmla="*/ 526428 h 739533"/>
                <a:gd name="connsiteX26" fmla="*/ 123318 w 354631"/>
                <a:gd name="connsiteY26" fmla="*/ 506980 h 739533"/>
                <a:gd name="connsiteX27" fmla="*/ 112896 w 354631"/>
                <a:gd name="connsiteY27" fmla="*/ 493961 h 739533"/>
                <a:gd name="connsiteX28" fmla="*/ 93689 w 354631"/>
                <a:gd name="connsiteY28" fmla="*/ 490621 h 739533"/>
                <a:gd name="connsiteX29" fmla="*/ 87969 w 354631"/>
                <a:gd name="connsiteY29" fmla="*/ 471722 h 739533"/>
                <a:gd name="connsiteX30" fmla="*/ 102211 w 354631"/>
                <a:gd name="connsiteY30" fmla="*/ 458509 h 739533"/>
                <a:gd name="connsiteX31" fmla="*/ 103721 w 354631"/>
                <a:gd name="connsiteY31" fmla="*/ 441853 h 739533"/>
                <a:gd name="connsiteX32" fmla="*/ 92567 w 354631"/>
                <a:gd name="connsiteY32" fmla="*/ 425849 h 739533"/>
                <a:gd name="connsiteX33" fmla="*/ 101948 w 354631"/>
                <a:gd name="connsiteY33" fmla="*/ 408403 h 739533"/>
                <a:gd name="connsiteX34" fmla="*/ 121487 w 354631"/>
                <a:gd name="connsiteY34" fmla="*/ 408963 h 739533"/>
                <a:gd name="connsiteX35" fmla="*/ 134403 w 354631"/>
                <a:gd name="connsiteY35" fmla="*/ 398450 h 739533"/>
                <a:gd name="connsiteX36" fmla="*/ 137663 w 354631"/>
                <a:gd name="connsiteY36" fmla="*/ 379254 h 739533"/>
                <a:gd name="connsiteX37" fmla="*/ 156562 w 354631"/>
                <a:gd name="connsiteY37" fmla="*/ 373534 h 739533"/>
                <a:gd name="connsiteX38" fmla="*/ 169924 w 354631"/>
                <a:gd name="connsiteY38" fmla="*/ 387731 h 739533"/>
                <a:gd name="connsiteX39" fmla="*/ 186615 w 354631"/>
                <a:gd name="connsiteY39" fmla="*/ 389355 h 739533"/>
                <a:gd name="connsiteX40" fmla="*/ 202527 w 354631"/>
                <a:gd name="connsiteY40" fmla="*/ 378144 h 739533"/>
                <a:gd name="connsiteX41" fmla="*/ 219973 w 354631"/>
                <a:gd name="connsiteY41" fmla="*/ 387537 h 739533"/>
                <a:gd name="connsiteX42" fmla="*/ 219390 w 354631"/>
                <a:gd name="connsiteY42" fmla="*/ 406984 h 739533"/>
                <a:gd name="connsiteX43" fmla="*/ 229937 w 354631"/>
                <a:gd name="connsiteY43" fmla="*/ 420014 h 739533"/>
                <a:gd name="connsiteX44" fmla="*/ 249133 w 354631"/>
                <a:gd name="connsiteY44" fmla="*/ 423263 h 739533"/>
                <a:gd name="connsiteX45" fmla="*/ 254853 w 354631"/>
                <a:gd name="connsiteY45" fmla="*/ 442162 h 739533"/>
                <a:gd name="connsiteX46" fmla="*/ 240611 w 354631"/>
                <a:gd name="connsiteY46" fmla="*/ 455592 h 739533"/>
                <a:gd name="connsiteX47" fmla="*/ 238952 w 354631"/>
                <a:gd name="connsiteY47" fmla="*/ 472157 h 739533"/>
                <a:gd name="connsiteX48" fmla="*/ 294000 w 354631"/>
                <a:gd name="connsiteY48" fmla="*/ 317170 h 739533"/>
                <a:gd name="connsiteX49" fmla="*/ 284620 w 354631"/>
                <a:gd name="connsiteY49" fmla="*/ 334616 h 739533"/>
                <a:gd name="connsiteX50" fmla="*/ 265172 w 354631"/>
                <a:gd name="connsiteY50" fmla="*/ 334032 h 739533"/>
                <a:gd name="connsiteX51" fmla="*/ 252245 w 354631"/>
                <a:gd name="connsiteY51" fmla="*/ 344626 h 739533"/>
                <a:gd name="connsiteX52" fmla="*/ 248905 w 354631"/>
                <a:gd name="connsiteY52" fmla="*/ 363845 h 739533"/>
                <a:gd name="connsiteX53" fmla="*/ 230006 w 354631"/>
                <a:gd name="connsiteY53" fmla="*/ 369565 h 739533"/>
                <a:gd name="connsiteX54" fmla="*/ 216644 w 354631"/>
                <a:gd name="connsiteY54" fmla="*/ 355368 h 739533"/>
                <a:gd name="connsiteX55" fmla="*/ 200068 w 354631"/>
                <a:gd name="connsiteY55" fmla="*/ 353709 h 739533"/>
                <a:gd name="connsiteX56" fmla="*/ 184155 w 354631"/>
                <a:gd name="connsiteY56" fmla="*/ 364920 h 739533"/>
                <a:gd name="connsiteX57" fmla="*/ 166709 w 354631"/>
                <a:gd name="connsiteY57" fmla="*/ 355528 h 739533"/>
                <a:gd name="connsiteX58" fmla="*/ 167430 w 354631"/>
                <a:gd name="connsiteY58" fmla="*/ 335863 h 739533"/>
                <a:gd name="connsiteX59" fmla="*/ 156917 w 354631"/>
                <a:gd name="connsiteY59" fmla="*/ 322947 h 739533"/>
                <a:gd name="connsiteX60" fmla="*/ 137732 w 354631"/>
                <a:gd name="connsiteY60" fmla="*/ 319698 h 739533"/>
                <a:gd name="connsiteX61" fmla="*/ 132012 w 354631"/>
                <a:gd name="connsiteY61" fmla="*/ 300800 h 739533"/>
                <a:gd name="connsiteX62" fmla="*/ 146209 w 354631"/>
                <a:gd name="connsiteY62" fmla="*/ 287426 h 739533"/>
                <a:gd name="connsiteX63" fmla="*/ 147833 w 354631"/>
                <a:gd name="connsiteY63" fmla="*/ 270861 h 739533"/>
                <a:gd name="connsiteX64" fmla="*/ 136451 w 354631"/>
                <a:gd name="connsiteY64" fmla="*/ 254914 h 739533"/>
                <a:gd name="connsiteX65" fmla="*/ 145980 w 354631"/>
                <a:gd name="connsiteY65" fmla="*/ 237388 h 739533"/>
                <a:gd name="connsiteX66" fmla="*/ 165428 w 354631"/>
                <a:gd name="connsiteY66" fmla="*/ 237972 h 739533"/>
                <a:gd name="connsiteX67" fmla="*/ 178446 w 354631"/>
                <a:gd name="connsiteY67" fmla="*/ 227550 h 739533"/>
                <a:gd name="connsiteX68" fmla="*/ 181787 w 354631"/>
                <a:gd name="connsiteY68" fmla="*/ 208331 h 739533"/>
                <a:gd name="connsiteX69" fmla="*/ 200686 w 354631"/>
                <a:gd name="connsiteY69" fmla="*/ 202611 h 739533"/>
                <a:gd name="connsiteX70" fmla="*/ 214024 w 354631"/>
                <a:gd name="connsiteY70" fmla="*/ 216694 h 739533"/>
                <a:gd name="connsiteX71" fmla="*/ 230589 w 354631"/>
                <a:gd name="connsiteY71" fmla="*/ 218353 h 739533"/>
                <a:gd name="connsiteX72" fmla="*/ 246514 w 354631"/>
                <a:gd name="connsiteY72" fmla="*/ 207187 h 739533"/>
                <a:gd name="connsiteX73" fmla="*/ 263959 w 354631"/>
                <a:gd name="connsiteY73" fmla="*/ 216568 h 739533"/>
                <a:gd name="connsiteX74" fmla="*/ 263364 w 354631"/>
                <a:gd name="connsiteY74" fmla="*/ 236119 h 739533"/>
                <a:gd name="connsiteX75" fmla="*/ 273878 w 354631"/>
                <a:gd name="connsiteY75" fmla="*/ 249034 h 739533"/>
                <a:gd name="connsiteX76" fmla="*/ 293074 w 354631"/>
                <a:gd name="connsiteY76" fmla="*/ 252283 h 739533"/>
                <a:gd name="connsiteX77" fmla="*/ 298794 w 354631"/>
                <a:gd name="connsiteY77" fmla="*/ 271193 h 739533"/>
                <a:gd name="connsiteX78" fmla="*/ 284597 w 354631"/>
                <a:gd name="connsiteY78" fmla="*/ 284555 h 739533"/>
                <a:gd name="connsiteX79" fmla="*/ 282789 w 354631"/>
                <a:gd name="connsiteY79" fmla="*/ 301337 h 73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54631" h="739533">
                  <a:moveTo>
                    <a:pt x="253309" y="0"/>
                  </a:moveTo>
                  <a:cubicBezTo>
                    <a:pt x="199996" y="23"/>
                    <a:pt x="155836" y="41387"/>
                    <a:pt x="152329" y="94585"/>
                  </a:cubicBezTo>
                  <a:cubicBezTo>
                    <a:pt x="101060" y="108300"/>
                    <a:pt x="70617" y="160979"/>
                    <a:pt x="84332" y="212248"/>
                  </a:cubicBezTo>
                  <a:cubicBezTo>
                    <a:pt x="84566" y="213127"/>
                    <a:pt x="84815" y="214003"/>
                    <a:pt x="85074" y="214875"/>
                  </a:cubicBezTo>
                  <a:cubicBezTo>
                    <a:pt x="27543" y="243206"/>
                    <a:pt x="3872" y="312810"/>
                    <a:pt x="32203" y="370341"/>
                  </a:cubicBezTo>
                  <a:cubicBezTo>
                    <a:pt x="33648" y="373274"/>
                    <a:pt x="35215" y="376145"/>
                    <a:pt x="36901" y="378945"/>
                  </a:cubicBezTo>
                  <a:cubicBezTo>
                    <a:pt x="-11239" y="425613"/>
                    <a:pt x="-12433" y="502469"/>
                    <a:pt x="34233" y="550609"/>
                  </a:cubicBezTo>
                  <a:cubicBezTo>
                    <a:pt x="44760" y="561468"/>
                    <a:pt x="57223" y="570265"/>
                    <a:pt x="70980" y="576546"/>
                  </a:cubicBezTo>
                  <a:cubicBezTo>
                    <a:pt x="70980" y="576889"/>
                    <a:pt x="70980" y="577221"/>
                    <a:pt x="70980" y="577553"/>
                  </a:cubicBezTo>
                  <a:cubicBezTo>
                    <a:pt x="70918" y="639046"/>
                    <a:pt x="120718" y="688947"/>
                    <a:pt x="182210" y="689010"/>
                  </a:cubicBezTo>
                  <a:cubicBezTo>
                    <a:pt x="190270" y="689019"/>
                    <a:pt x="198305" y="688152"/>
                    <a:pt x="206177" y="686426"/>
                  </a:cubicBezTo>
                  <a:cubicBezTo>
                    <a:pt x="218828" y="726444"/>
                    <a:pt x="261526" y="748630"/>
                    <a:pt x="301544" y="735979"/>
                  </a:cubicBezTo>
                  <a:cubicBezTo>
                    <a:pt x="333090" y="726005"/>
                    <a:pt x="354560" y="696768"/>
                    <a:pt x="354632" y="663683"/>
                  </a:cubicBezTo>
                  <a:lnTo>
                    <a:pt x="354632" y="101334"/>
                  </a:lnTo>
                  <a:cubicBezTo>
                    <a:pt x="354639" y="45375"/>
                    <a:pt x="309279" y="7"/>
                    <a:pt x="253320" y="0"/>
                  </a:cubicBezTo>
                  <a:cubicBezTo>
                    <a:pt x="253317" y="0"/>
                    <a:pt x="253312" y="0"/>
                    <a:pt x="253309" y="0"/>
                  </a:cubicBezTo>
                  <a:close/>
                  <a:moveTo>
                    <a:pt x="250186" y="488139"/>
                  </a:moveTo>
                  <a:lnTo>
                    <a:pt x="240805" y="505619"/>
                  </a:lnTo>
                  <a:lnTo>
                    <a:pt x="221357" y="505035"/>
                  </a:lnTo>
                  <a:cubicBezTo>
                    <a:pt x="217447" y="509031"/>
                    <a:pt x="213063" y="512535"/>
                    <a:pt x="208304" y="515468"/>
                  </a:cubicBezTo>
                  <a:lnTo>
                    <a:pt x="205044" y="534664"/>
                  </a:lnTo>
                  <a:lnTo>
                    <a:pt x="186145" y="540384"/>
                  </a:lnTo>
                  <a:lnTo>
                    <a:pt x="172807" y="526302"/>
                  </a:lnTo>
                  <a:cubicBezTo>
                    <a:pt x="167238" y="526421"/>
                    <a:pt x="161676" y="525864"/>
                    <a:pt x="156242" y="524643"/>
                  </a:cubicBezTo>
                  <a:lnTo>
                    <a:pt x="140226" y="535763"/>
                  </a:lnTo>
                  <a:lnTo>
                    <a:pt x="122872" y="526428"/>
                  </a:lnTo>
                  <a:lnTo>
                    <a:pt x="123318" y="506980"/>
                  </a:lnTo>
                  <a:cubicBezTo>
                    <a:pt x="119330" y="503079"/>
                    <a:pt x="115830" y="498707"/>
                    <a:pt x="112896" y="493961"/>
                  </a:cubicBezTo>
                  <a:lnTo>
                    <a:pt x="93689" y="490621"/>
                  </a:lnTo>
                  <a:lnTo>
                    <a:pt x="87969" y="471722"/>
                  </a:lnTo>
                  <a:lnTo>
                    <a:pt x="102211" y="458509"/>
                  </a:lnTo>
                  <a:cubicBezTo>
                    <a:pt x="102037" y="452916"/>
                    <a:pt x="102544" y="447323"/>
                    <a:pt x="103721" y="441853"/>
                  </a:cubicBezTo>
                  <a:lnTo>
                    <a:pt x="92567" y="425849"/>
                  </a:lnTo>
                  <a:lnTo>
                    <a:pt x="101948" y="408403"/>
                  </a:lnTo>
                  <a:lnTo>
                    <a:pt x="121487" y="408963"/>
                  </a:lnTo>
                  <a:cubicBezTo>
                    <a:pt x="125351" y="404948"/>
                    <a:pt x="129687" y="401418"/>
                    <a:pt x="134403" y="398450"/>
                  </a:cubicBezTo>
                  <a:lnTo>
                    <a:pt x="137663" y="379254"/>
                  </a:lnTo>
                  <a:lnTo>
                    <a:pt x="156562" y="373534"/>
                  </a:lnTo>
                  <a:lnTo>
                    <a:pt x="169924" y="387731"/>
                  </a:lnTo>
                  <a:cubicBezTo>
                    <a:pt x="175533" y="387589"/>
                    <a:pt x="181138" y="388135"/>
                    <a:pt x="186615" y="389355"/>
                  </a:cubicBezTo>
                  <a:lnTo>
                    <a:pt x="202527" y="378144"/>
                  </a:lnTo>
                  <a:lnTo>
                    <a:pt x="219973" y="387537"/>
                  </a:lnTo>
                  <a:lnTo>
                    <a:pt x="219390" y="406984"/>
                  </a:lnTo>
                  <a:cubicBezTo>
                    <a:pt x="223429" y="410876"/>
                    <a:pt x="226972" y="415253"/>
                    <a:pt x="229937" y="420014"/>
                  </a:cubicBezTo>
                  <a:lnTo>
                    <a:pt x="249133" y="423263"/>
                  </a:lnTo>
                  <a:lnTo>
                    <a:pt x="254853" y="442162"/>
                  </a:lnTo>
                  <a:lnTo>
                    <a:pt x="240611" y="455592"/>
                  </a:lnTo>
                  <a:cubicBezTo>
                    <a:pt x="240735" y="461161"/>
                    <a:pt x="240178" y="466723"/>
                    <a:pt x="238952" y="472157"/>
                  </a:cubicBezTo>
                  <a:close/>
                  <a:moveTo>
                    <a:pt x="294000" y="317170"/>
                  </a:moveTo>
                  <a:lnTo>
                    <a:pt x="284620" y="334616"/>
                  </a:lnTo>
                  <a:lnTo>
                    <a:pt x="265172" y="334032"/>
                  </a:lnTo>
                  <a:cubicBezTo>
                    <a:pt x="261310" y="338076"/>
                    <a:pt x="256970" y="341634"/>
                    <a:pt x="252245" y="344626"/>
                  </a:cubicBezTo>
                  <a:lnTo>
                    <a:pt x="248905" y="363845"/>
                  </a:lnTo>
                  <a:lnTo>
                    <a:pt x="230006" y="369565"/>
                  </a:lnTo>
                  <a:lnTo>
                    <a:pt x="216644" y="355368"/>
                  </a:lnTo>
                  <a:cubicBezTo>
                    <a:pt x="211072" y="355492"/>
                    <a:pt x="205505" y="354935"/>
                    <a:pt x="200068" y="353709"/>
                  </a:cubicBezTo>
                  <a:lnTo>
                    <a:pt x="184155" y="364920"/>
                  </a:lnTo>
                  <a:lnTo>
                    <a:pt x="166709" y="355528"/>
                  </a:lnTo>
                  <a:lnTo>
                    <a:pt x="167430" y="335863"/>
                  </a:lnTo>
                  <a:cubicBezTo>
                    <a:pt x="163412" y="332002"/>
                    <a:pt x="159882" y="327664"/>
                    <a:pt x="156917" y="322947"/>
                  </a:cubicBezTo>
                  <a:lnTo>
                    <a:pt x="137732" y="319698"/>
                  </a:lnTo>
                  <a:lnTo>
                    <a:pt x="132012" y="300800"/>
                  </a:lnTo>
                  <a:lnTo>
                    <a:pt x="146209" y="287426"/>
                  </a:lnTo>
                  <a:cubicBezTo>
                    <a:pt x="146084" y="281860"/>
                    <a:pt x="146630" y="276298"/>
                    <a:pt x="147833" y="270861"/>
                  </a:cubicBezTo>
                  <a:lnTo>
                    <a:pt x="136451" y="254914"/>
                  </a:lnTo>
                  <a:lnTo>
                    <a:pt x="145980" y="237388"/>
                  </a:lnTo>
                  <a:lnTo>
                    <a:pt x="165428" y="237972"/>
                  </a:lnTo>
                  <a:cubicBezTo>
                    <a:pt x="169327" y="233980"/>
                    <a:pt x="173698" y="230480"/>
                    <a:pt x="178446" y="227550"/>
                  </a:cubicBezTo>
                  <a:lnTo>
                    <a:pt x="181787" y="208331"/>
                  </a:lnTo>
                  <a:lnTo>
                    <a:pt x="200686" y="202611"/>
                  </a:lnTo>
                  <a:lnTo>
                    <a:pt x="214024" y="216694"/>
                  </a:lnTo>
                  <a:cubicBezTo>
                    <a:pt x="219593" y="216576"/>
                    <a:pt x="225155" y="217133"/>
                    <a:pt x="230589" y="218353"/>
                  </a:cubicBezTo>
                  <a:lnTo>
                    <a:pt x="246514" y="207187"/>
                  </a:lnTo>
                  <a:lnTo>
                    <a:pt x="263959" y="216568"/>
                  </a:lnTo>
                  <a:lnTo>
                    <a:pt x="263364" y="236119"/>
                  </a:lnTo>
                  <a:cubicBezTo>
                    <a:pt x="267382" y="239980"/>
                    <a:pt x="270913" y="244316"/>
                    <a:pt x="273878" y="249034"/>
                  </a:cubicBezTo>
                  <a:lnTo>
                    <a:pt x="293074" y="252283"/>
                  </a:lnTo>
                  <a:lnTo>
                    <a:pt x="298794" y="271193"/>
                  </a:lnTo>
                  <a:lnTo>
                    <a:pt x="284597" y="284555"/>
                  </a:lnTo>
                  <a:cubicBezTo>
                    <a:pt x="284688" y="290202"/>
                    <a:pt x="284082" y="295839"/>
                    <a:pt x="282789" y="301337"/>
                  </a:cubicBezTo>
                  <a:close/>
                </a:path>
              </a:pathLst>
            </a:custGeom>
            <a:grpFill/>
            <a:ln w="11410" cap="flat">
              <a:solidFill>
                <a:srgbClr val="BFBFBF"/>
              </a:solidFill>
              <a:prstDash val="solid"/>
              <a:miter/>
            </a:ln>
          </p:spPr>
          <p:txBody>
            <a:bodyPr rtlCol="0" anchor="ctr"/>
            <a:lstStyle/>
            <a:p>
              <a:endParaRPr lang="en-US"/>
            </a:p>
          </p:txBody>
        </p:sp>
      </p:grpSp>
      <p:sp>
        <p:nvSpPr>
          <p:cNvPr id="10" name="Graphic 10">
            <a:extLst>
              <a:ext uri="{FF2B5EF4-FFF2-40B4-BE49-F238E27FC236}">
                <a16:creationId xmlns:a16="http://schemas.microsoft.com/office/drawing/2014/main" id="{7D9952C7-2B88-435F-BA60-87CF3B683276}"/>
              </a:ext>
              <a:ext uri="{C183D7F6-B498-43B3-948B-1728B52AA6E4}">
                <adec:decorative xmlns:adec="http://schemas.microsoft.com/office/drawing/2017/decorative" val="1"/>
              </a:ext>
            </a:extLst>
          </p:cNvPr>
          <p:cNvSpPr/>
          <p:nvPr/>
        </p:nvSpPr>
        <p:spPr>
          <a:xfrm>
            <a:off x="4661808" y="3750691"/>
            <a:ext cx="493920" cy="617400"/>
          </a:xfrm>
          <a:custGeom>
            <a:avLst/>
            <a:gdLst>
              <a:gd name="connsiteX0" fmla="*/ 76200 w 152400"/>
              <a:gd name="connsiteY0" fmla="*/ 57150 h 190500"/>
              <a:gd name="connsiteX1" fmla="*/ 76200 w 152400"/>
              <a:gd name="connsiteY1" fmla="*/ 0 h 190500"/>
              <a:gd name="connsiteX2" fmla="*/ 19050 w 152400"/>
              <a:gd name="connsiteY2" fmla="*/ 0 h 190500"/>
              <a:gd name="connsiteX3" fmla="*/ 0 w 152400"/>
              <a:gd name="connsiteY3" fmla="*/ 19050 h 190500"/>
              <a:gd name="connsiteX4" fmla="*/ 0 w 152400"/>
              <a:gd name="connsiteY4" fmla="*/ 171450 h 190500"/>
              <a:gd name="connsiteX5" fmla="*/ 19050 w 152400"/>
              <a:gd name="connsiteY5" fmla="*/ 190500 h 190500"/>
              <a:gd name="connsiteX6" fmla="*/ 133350 w 152400"/>
              <a:gd name="connsiteY6" fmla="*/ 190500 h 190500"/>
              <a:gd name="connsiteX7" fmla="*/ 152400 w 152400"/>
              <a:gd name="connsiteY7" fmla="*/ 171450 h 190500"/>
              <a:gd name="connsiteX8" fmla="*/ 152400 w 152400"/>
              <a:gd name="connsiteY8" fmla="*/ 76200 h 190500"/>
              <a:gd name="connsiteX9" fmla="*/ 95250 w 152400"/>
              <a:gd name="connsiteY9" fmla="*/ 76200 h 190500"/>
              <a:gd name="connsiteX10" fmla="*/ 76200 w 152400"/>
              <a:gd name="connsiteY10" fmla="*/ 57150 h 190500"/>
              <a:gd name="connsiteX11" fmla="*/ 40481 w 152400"/>
              <a:gd name="connsiteY11" fmla="*/ 90488 h 190500"/>
              <a:gd name="connsiteX12" fmla="*/ 111919 w 152400"/>
              <a:gd name="connsiteY12" fmla="*/ 90488 h 190500"/>
              <a:gd name="connsiteX13" fmla="*/ 119063 w 152400"/>
              <a:gd name="connsiteY13" fmla="*/ 97631 h 190500"/>
              <a:gd name="connsiteX14" fmla="*/ 111919 w 152400"/>
              <a:gd name="connsiteY14" fmla="*/ 104775 h 190500"/>
              <a:gd name="connsiteX15" fmla="*/ 40481 w 152400"/>
              <a:gd name="connsiteY15" fmla="*/ 104775 h 190500"/>
              <a:gd name="connsiteX16" fmla="*/ 33338 w 152400"/>
              <a:gd name="connsiteY16" fmla="*/ 97631 h 190500"/>
              <a:gd name="connsiteX17" fmla="*/ 40481 w 152400"/>
              <a:gd name="connsiteY17" fmla="*/ 90488 h 190500"/>
              <a:gd name="connsiteX18" fmla="*/ 40481 w 152400"/>
              <a:gd name="connsiteY18" fmla="*/ 116681 h 190500"/>
              <a:gd name="connsiteX19" fmla="*/ 111919 w 152400"/>
              <a:gd name="connsiteY19" fmla="*/ 116681 h 190500"/>
              <a:gd name="connsiteX20" fmla="*/ 119063 w 152400"/>
              <a:gd name="connsiteY20" fmla="*/ 123825 h 190500"/>
              <a:gd name="connsiteX21" fmla="*/ 111919 w 152400"/>
              <a:gd name="connsiteY21" fmla="*/ 130969 h 190500"/>
              <a:gd name="connsiteX22" fmla="*/ 40481 w 152400"/>
              <a:gd name="connsiteY22" fmla="*/ 130969 h 190500"/>
              <a:gd name="connsiteX23" fmla="*/ 33338 w 152400"/>
              <a:gd name="connsiteY23" fmla="*/ 123825 h 190500"/>
              <a:gd name="connsiteX24" fmla="*/ 40481 w 152400"/>
              <a:gd name="connsiteY24" fmla="*/ 116681 h 190500"/>
              <a:gd name="connsiteX25" fmla="*/ 40481 w 152400"/>
              <a:gd name="connsiteY25" fmla="*/ 142875 h 190500"/>
              <a:gd name="connsiteX26" fmla="*/ 111919 w 152400"/>
              <a:gd name="connsiteY26" fmla="*/ 142875 h 190500"/>
              <a:gd name="connsiteX27" fmla="*/ 119063 w 152400"/>
              <a:gd name="connsiteY27" fmla="*/ 150019 h 190500"/>
              <a:gd name="connsiteX28" fmla="*/ 111919 w 152400"/>
              <a:gd name="connsiteY28" fmla="*/ 157163 h 190500"/>
              <a:gd name="connsiteX29" fmla="*/ 40481 w 152400"/>
              <a:gd name="connsiteY29" fmla="*/ 157163 h 190500"/>
              <a:gd name="connsiteX30" fmla="*/ 33338 w 152400"/>
              <a:gd name="connsiteY30" fmla="*/ 150019 h 190500"/>
              <a:gd name="connsiteX31" fmla="*/ 40481 w 152400"/>
              <a:gd name="connsiteY31" fmla="*/ 142875 h 190500"/>
              <a:gd name="connsiteX32" fmla="*/ 90488 w 152400"/>
              <a:gd name="connsiteY32" fmla="*/ 57150 h 190500"/>
              <a:gd name="connsiteX33" fmla="*/ 90488 w 152400"/>
              <a:gd name="connsiteY33" fmla="*/ 4763 h 190500"/>
              <a:gd name="connsiteX34" fmla="*/ 147638 w 152400"/>
              <a:gd name="connsiteY34" fmla="*/ 61913 h 190500"/>
              <a:gd name="connsiteX35" fmla="*/ 95250 w 152400"/>
              <a:gd name="connsiteY35" fmla="*/ 61913 h 190500"/>
              <a:gd name="connsiteX36" fmla="*/ 90488 w 152400"/>
              <a:gd name="connsiteY36" fmla="*/ 571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2400" h="190500">
                <a:moveTo>
                  <a:pt x="76200" y="57150"/>
                </a:moveTo>
                <a:lnTo>
                  <a:pt x="76200" y="0"/>
                </a:lnTo>
                <a:lnTo>
                  <a:pt x="19050" y="0"/>
                </a:lnTo>
                <a:cubicBezTo>
                  <a:pt x="8573" y="0"/>
                  <a:pt x="0" y="8573"/>
                  <a:pt x="0" y="19050"/>
                </a:cubicBezTo>
                <a:lnTo>
                  <a:pt x="0" y="171450"/>
                </a:lnTo>
                <a:cubicBezTo>
                  <a:pt x="0" y="181928"/>
                  <a:pt x="8573" y="190500"/>
                  <a:pt x="19050" y="190500"/>
                </a:cubicBezTo>
                <a:lnTo>
                  <a:pt x="133350" y="190500"/>
                </a:lnTo>
                <a:cubicBezTo>
                  <a:pt x="143828" y="190500"/>
                  <a:pt x="152400" y="181928"/>
                  <a:pt x="152400" y="171450"/>
                </a:cubicBezTo>
                <a:lnTo>
                  <a:pt x="152400" y="76200"/>
                </a:lnTo>
                <a:lnTo>
                  <a:pt x="95250" y="76200"/>
                </a:lnTo>
                <a:cubicBezTo>
                  <a:pt x="84773" y="76200"/>
                  <a:pt x="76200" y="67628"/>
                  <a:pt x="76200" y="57150"/>
                </a:cubicBezTo>
                <a:close/>
                <a:moveTo>
                  <a:pt x="40481" y="90488"/>
                </a:moveTo>
                <a:lnTo>
                  <a:pt x="111919" y="90488"/>
                </a:lnTo>
                <a:cubicBezTo>
                  <a:pt x="115824" y="90488"/>
                  <a:pt x="119063" y="93726"/>
                  <a:pt x="119063" y="97631"/>
                </a:cubicBezTo>
                <a:cubicBezTo>
                  <a:pt x="119063" y="101537"/>
                  <a:pt x="115824" y="104775"/>
                  <a:pt x="111919" y="104775"/>
                </a:cubicBezTo>
                <a:lnTo>
                  <a:pt x="40481" y="104775"/>
                </a:lnTo>
                <a:cubicBezTo>
                  <a:pt x="36576" y="104775"/>
                  <a:pt x="33338" y="101537"/>
                  <a:pt x="33338" y="97631"/>
                </a:cubicBezTo>
                <a:cubicBezTo>
                  <a:pt x="33338" y="93726"/>
                  <a:pt x="36576" y="90488"/>
                  <a:pt x="40481" y="90488"/>
                </a:cubicBezTo>
                <a:close/>
                <a:moveTo>
                  <a:pt x="40481" y="116681"/>
                </a:moveTo>
                <a:lnTo>
                  <a:pt x="111919" y="116681"/>
                </a:lnTo>
                <a:cubicBezTo>
                  <a:pt x="115824" y="116681"/>
                  <a:pt x="119063" y="119920"/>
                  <a:pt x="119063" y="123825"/>
                </a:cubicBezTo>
                <a:cubicBezTo>
                  <a:pt x="119063" y="127730"/>
                  <a:pt x="115824" y="130969"/>
                  <a:pt x="111919" y="130969"/>
                </a:cubicBezTo>
                <a:lnTo>
                  <a:pt x="40481" y="130969"/>
                </a:lnTo>
                <a:cubicBezTo>
                  <a:pt x="36576" y="130969"/>
                  <a:pt x="33338" y="127730"/>
                  <a:pt x="33338" y="123825"/>
                </a:cubicBezTo>
                <a:cubicBezTo>
                  <a:pt x="33338" y="119920"/>
                  <a:pt x="36576" y="116681"/>
                  <a:pt x="40481" y="116681"/>
                </a:cubicBezTo>
                <a:close/>
                <a:moveTo>
                  <a:pt x="40481" y="142875"/>
                </a:moveTo>
                <a:lnTo>
                  <a:pt x="111919" y="142875"/>
                </a:lnTo>
                <a:cubicBezTo>
                  <a:pt x="115824" y="142875"/>
                  <a:pt x="119063" y="146114"/>
                  <a:pt x="119063" y="150019"/>
                </a:cubicBezTo>
                <a:cubicBezTo>
                  <a:pt x="119063" y="153924"/>
                  <a:pt x="115824" y="157163"/>
                  <a:pt x="111919" y="157163"/>
                </a:cubicBezTo>
                <a:lnTo>
                  <a:pt x="40481" y="157163"/>
                </a:lnTo>
                <a:cubicBezTo>
                  <a:pt x="36576" y="157163"/>
                  <a:pt x="33338" y="153924"/>
                  <a:pt x="33338" y="150019"/>
                </a:cubicBezTo>
                <a:cubicBezTo>
                  <a:pt x="33338" y="146114"/>
                  <a:pt x="36576" y="142875"/>
                  <a:pt x="40481" y="142875"/>
                </a:cubicBezTo>
                <a:close/>
                <a:moveTo>
                  <a:pt x="90488" y="57150"/>
                </a:moveTo>
                <a:lnTo>
                  <a:pt x="90488" y="4763"/>
                </a:lnTo>
                <a:lnTo>
                  <a:pt x="147638" y="61913"/>
                </a:lnTo>
                <a:lnTo>
                  <a:pt x="95250" y="61913"/>
                </a:lnTo>
                <a:cubicBezTo>
                  <a:pt x="92583" y="61913"/>
                  <a:pt x="90488" y="59817"/>
                  <a:pt x="90488" y="57150"/>
                </a:cubicBezTo>
                <a:close/>
              </a:path>
            </a:pathLst>
          </a:custGeom>
          <a:solidFill>
            <a:schemeClr val="tx1"/>
          </a:solidFill>
          <a:ln w="9525" cap="flat">
            <a:noFill/>
            <a:prstDash val="solid"/>
            <a:miter/>
          </a:ln>
        </p:spPr>
        <p:txBody>
          <a:bodyPr rtlCol="0" anchor="ctr"/>
          <a:lstStyle/>
          <a:p>
            <a:endParaRPr lang="en-US"/>
          </a:p>
        </p:txBody>
      </p:sp>
      <p:sp>
        <p:nvSpPr>
          <p:cNvPr id="13" name="Graphic 11">
            <a:extLst>
              <a:ext uri="{FF2B5EF4-FFF2-40B4-BE49-F238E27FC236}">
                <a16:creationId xmlns:a16="http://schemas.microsoft.com/office/drawing/2014/main" id="{DF61A734-B9D8-5F7C-CB19-520E95A314E7}"/>
              </a:ext>
              <a:ext uri="{C183D7F6-B498-43B3-948B-1728B52AA6E4}">
                <adec:decorative xmlns:adec="http://schemas.microsoft.com/office/drawing/2017/decorative" val="1"/>
              </a:ext>
            </a:extLst>
          </p:cNvPr>
          <p:cNvSpPr/>
          <p:nvPr/>
        </p:nvSpPr>
        <p:spPr>
          <a:xfrm>
            <a:off x="1573875" y="3785207"/>
            <a:ext cx="492946" cy="616182"/>
          </a:xfrm>
          <a:custGeom>
            <a:avLst/>
            <a:gdLst>
              <a:gd name="connsiteX0" fmla="*/ 76200 w 152400"/>
              <a:gd name="connsiteY0" fmla="*/ 76200 h 190500"/>
              <a:gd name="connsiteX1" fmla="*/ 152400 w 152400"/>
              <a:gd name="connsiteY1" fmla="*/ 38100 h 190500"/>
              <a:gd name="connsiteX2" fmla="*/ 76200 w 152400"/>
              <a:gd name="connsiteY2" fmla="*/ 0 h 190500"/>
              <a:gd name="connsiteX3" fmla="*/ 0 w 152400"/>
              <a:gd name="connsiteY3" fmla="*/ 38100 h 190500"/>
              <a:gd name="connsiteX4" fmla="*/ 76200 w 152400"/>
              <a:gd name="connsiteY4" fmla="*/ 76200 h 190500"/>
              <a:gd name="connsiteX5" fmla="*/ 136493 w 152400"/>
              <a:gd name="connsiteY5" fmla="*/ 77819 h 190500"/>
              <a:gd name="connsiteX6" fmla="*/ 152400 w 152400"/>
              <a:gd name="connsiteY6" fmla="*/ 67151 h 190500"/>
              <a:gd name="connsiteX7" fmla="*/ 152400 w 152400"/>
              <a:gd name="connsiteY7" fmla="*/ 152400 h 190500"/>
              <a:gd name="connsiteX8" fmla="*/ 76200 w 152400"/>
              <a:gd name="connsiteY8" fmla="*/ 190500 h 190500"/>
              <a:gd name="connsiteX9" fmla="*/ 0 w 152400"/>
              <a:gd name="connsiteY9" fmla="*/ 152400 h 190500"/>
              <a:gd name="connsiteX10" fmla="*/ 0 w 152400"/>
              <a:gd name="connsiteY10" fmla="*/ 67151 h 190500"/>
              <a:gd name="connsiteX11" fmla="*/ 15907 w 152400"/>
              <a:gd name="connsiteY11" fmla="*/ 77819 h 190500"/>
              <a:gd name="connsiteX12" fmla="*/ 76200 w 152400"/>
              <a:gd name="connsiteY12" fmla="*/ 90488 h 190500"/>
              <a:gd name="connsiteX13" fmla="*/ 136493 w 152400"/>
              <a:gd name="connsiteY13" fmla="*/ 7781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400" h="190500">
                <a:moveTo>
                  <a:pt x="76200" y="76200"/>
                </a:moveTo>
                <a:cubicBezTo>
                  <a:pt x="118301" y="76200"/>
                  <a:pt x="152400" y="59150"/>
                  <a:pt x="152400" y="38100"/>
                </a:cubicBezTo>
                <a:cubicBezTo>
                  <a:pt x="152400" y="17050"/>
                  <a:pt x="118301" y="0"/>
                  <a:pt x="76200" y="0"/>
                </a:cubicBezTo>
                <a:cubicBezTo>
                  <a:pt x="34100" y="0"/>
                  <a:pt x="0" y="17050"/>
                  <a:pt x="0" y="38100"/>
                </a:cubicBezTo>
                <a:cubicBezTo>
                  <a:pt x="0" y="59150"/>
                  <a:pt x="34100" y="76200"/>
                  <a:pt x="76200" y="76200"/>
                </a:cubicBezTo>
                <a:close/>
                <a:moveTo>
                  <a:pt x="136493" y="77819"/>
                </a:moveTo>
                <a:cubicBezTo>
                  <a:pt x="142208" y="74962"/>
                  <a:pt x="147638" y="71438"/>
                  <a:pt x="152400" y="67151"/>
                </a:cubicBezTo>
                <a:lnTo>
                  <a:pt x="152400" y="152400"/>
                </a:lnTo>
                <a:cubicBezTo>
                  <a:pt x="152400" y="173450"/>
                  <a:pt x="118301" y="190500"/>
                  <a:pt x="76200" y="190500"/>
                </a:cubicBezTo>
                <a:cubicBezTo>
                  <a:pt x="34100" y="190500"/>
                  <a:pt x="0" y="173450"/>
                  <a:pt x="0" y="152400"/>
                </a:cubicBezTo>
                <a:lnTo>
                  <a:pt x="0" y="67151"/>
                </a:lnTo>
                <a:cubicBezTo>
                  <a:pt x="4858" y="71342"/>
                  <a:pt x="10192" y="74962"/>
                  <a:pt x="15907" y="77819"/>
                </a:cubicBezTo>
                <a:cubicBezTo>
                  <a:pt x="32099" y="85916"/>
                  <a:pt x="53435" y="90488"/>
                  <a:pt x="76200" y="90488"/>
                </a:cubicBezTo>
                <a:cubicBezTo>
                  <a:pt x="98965" y="90488"/>
                  <a:pt x="120301" y="85916"/>
                  <a:pt x="136493" y="77819"/>
                </a:cubicBezTo>
                <a:close/>
              </a:path>
            </a:pathLst>
          </a:custGeom>
          <a:solidFill>
            <a:schemeClr val="tx1"/>
          </a:solidFill>
          <a:ln w="9525" cap="flat">
            <a:noFill/>
            <a:prstDash val="solid"/>
            <a:miter/>
          </a:ln>
        </p:spPr>
        <p:txBody>
          <a:bodyPr rtlCol="0" anchor="ctr"/>
          <a:lstStyle/>
          <a:p>
            <a:endParaRPr lang="en-US"/>
          </a:p>
        </p:txBody>
      </p:sp>
      <p:sp>
        <p:nvSpPr>
          <p:cNvPr id="14" name="Graphic 34">
            <a:extLst>
              <a:ext uri="{FF2B5EF4-FFF2-40B4-BE49-F238E27FC236}">
                <a16:creationId xmlns:a16="http://schemas.microsoft.com/office/drawing/2014/main" id="{E5CB0D43-CCAC-09C4-835C-47CB35BE526B}"/>
              </a:ext>
              <a:ext uri="{C183D7F6-B498-43B3-948B-1728B52AA6E4}">
                <adec:decorative xmlns:adec="http://schemas.microsoft.com/office/drawing/2017/decorative" val="1"/>
              </a:ext>
            </a:extLst>
          </p:cNvPr>
          <p:cNvSpPr/>
          <p:nvPr/>
        </p:nvSpPr>
        <p:spPr>
          <a:xfrm>
            <a:off x="7666232" y="3790518"/>
            <a:ext cx="493920" cy="617400"/>
          </a:xfrm>
          <a:custGeom>
            <a:avLst/>
            <a:gdLst>
              <a:gd name="connsiteX0" fmla="*/ 130969 w 152400"/>
              <a:gd name="connsiteY0" fmla="*/ 114300 h 190500"/>
              <a:gd name="connsiteX1" fmla="*/ 152400 w 152400"/>
              <a:gd name="connsiteY1" fmla="*/ 135731 h 190500"/>
              <a:gd name="connsiteX2" fmla="*/ 152400 w 152400"/>
              <a:gd name="connsiteY2" fmla="*/ 135731 h 190500"/>
              <a:gd name="connsiteX3" fmla="*/ 152400 w 152400"/>
              <a:gd name="connsiteY3" fmla="*/ 144494 h 190500"/>
              <a:gd name="connsiteX4" fmla="*/ 147542 w 152400"/>
              <a:gd name="connsiteY4" fmla="*/ 159734 h 190500"/>
              <a:gd name="connsiteX5" fmla="*/ 76200 w 152400"/>
              <a:gd name="connsiteY5" fmla="*/ 190500 h 190500"/>
              <a:gd name="connsiteX6" fmla="*/ 4858 w 152400"/>
              <a:gd name="connsiteY6" fmla="*/ 159639 h 190500"/>
              <a:gd name="connsiteX7" fmla="*/ 0 w 152400"/>
              <a:gd name="connsiteY7" fmla="*/ 144399 h 190500"/>
              <a:gd name="connsiteX8" fmla="*/ 0 w 152400"/>
              <a:gd name="connsiteY8" fmla="*/ 135636 h 190500"/>
              <a:gd name="connsiteX9" fmla="*/ 21431 w 152400"/>
              <a:gd name="connsiteY9" fmla="*/ 114205 h 190500"/>
              <a:gd name="connsiteX10" fmla="*/ 130969 w 152400"/>
              <a:gd name="connsiteY10" fmla="*/ 114205 h 190500"/>
              <a:gd name="connsiteX11" fmla="*/ 76200 w 152400"/>
              <a:gd name="connsiteY11" fmla="*/ 0 h 190500"/>
              <a:gd name="connsiteX12" fmla="*/ 123825 w 152400"/>
              <a:gd name="connsiteY12" fmla="*/ 47625 h 190500"/>
              <a:gd name="connsiteX13" fmla="*/ 76200 w 152400"/>
              <a:gd name="connsiteY13" fmla="*/ 95250 h 190500"/>
              <a:gd name="connsiteX14" fmla="*/ 76200 w 152400"/>
              <a:gd name="connsiteY14" fmla="*/ 95250 h 190500"/>
              <a:gd name="connsiteX15" fmla="*/ 28575 w 152400"/>
              <a:gd name="connsiteY15" fmla="*/ 47625 h 190500"/>
              <a:gd name="connsiteX16" fmla="*/ 76200 w 152400"/>
              <a:gd name="connsiteY16"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0" h="190500">
                <a:moveTo>
                  <a:pt x="130969" y="114300"/>
                </a:moveTo>
                <a:cubicBezTo>
                  <a:pt x="142780" y="114300"/>
                  <a:pt x="152400" y="123920"/>
                  <a:pt x="152400" y="135731"/>
                </a:cubicBezTo>
                <a:lnTo>
                  <a:pt x="152400" y="135731"/>
                </a:lnTo>
                <a:lnTo>
                  <a:pt x="152400" y="144494"/>
                </a:lnTo>
                <a:cubicBezTo>
                  <a:pt x="152400" y="149924"/>
                  <a:pt x="150686" y="155258"/>
                  <a:pt x="147542" y="159734"/>
                </a:cubicBezTo>
                <a:cubicBezTo>
                  <a:pt x="132779" y="180308"/>
                  <a:pt x="108776" y="190500"/>
                  <a:pt x="76200" y="190500"/>
                </a:cubicBezTo>
                <a:cubicBezTo>
                  <a:pt x="43625" y="190500"/>
                  <a:pt x="19526" y="180308"/>
                  <a:pt x="4858" y="159639"/>
                </a:cubicBezTo>
                <a:cubicBezTo>
                  <a:pt x="1715" y="155162"/>
                  <a:pt x="0" y="149924"/>
                  <a:pt x="0" y="144399"/>
                </a:cubicBezTo>
                <a:lnTo>
                  <a:pt x="0" y="135636"/>
                </a:lnTo>
                <a:cubicBezTo>
                  <a:pt x="0" y="123825"/>
                  <a:pt x="9620" y="114205"/>
                  <a:pt x="21431" y="114205"/>
                </a:cubicBezTo>
                <a:lnTo>
                  <a:pt x="130969" y="114205"/>
                </a:lnTo>
                <a:close/>
                <a:moveTo>
                  <a:pt x="76200" y="0"/>
                </a:moveTo>
                <a:cubicBezTo>
                  <a:pt x="102489" y="0"/>
                  <a:pt x="123825" y="21336"/>
                  <a:pt x="123825" y="47625"/>
                </a:cubicBezTo>
                <a:cubicBezTo>
                  <a:pt x="123825" y="73914"/>
                  <a:pt x="102489" y="95250"/>
                  <a:pt x="76200" y="95250"/>
                </a:cubicBezTo>
                <a:lnTo>
                  <a:pt x="76200" y="95250"/>
                </a:lnTo>
                <a:cubicBezTo>
                  <a:pt x="49911" y="95250"/>
                  <a:pt x="28575" y="73914"/>
                  <a:pt x="28575" y="47625"/>
                </a:cubicBezTo>
                <a:cubicBezTo>
                  <a:pt x="28575" y="21336"/>
                  <a:pt x="49911" y="0"/>
                  <a:pt x="76200" y="0"/>
                </a:cubicBezTo>
                <a:close/>
              </a:path>
            </a:pathLst>
          </a:custGeom>
          <a:solidFill>
            <a:schemeClr val="tx1"/>
          </a:solidFill>
          <a:ln w="9525" cap="flat">
            <a:noFill/>
            <a:prstDash val="solid"/>
            <a:miter/>
          </a:ln>
        </p:spPr>
        <p:txBody>
          <a:bodyPr rtlCol="0" anchor="ctr"/>
          <a:lstStyle/>
          <a:p>
            <a:endParaRPr lang="en-US"/>
          </a:p>
        </p:txBody>
      </p:sp>
      <p:sp>
        <p:nvSpPr>
          <p:cNvPr id="6" name="TextBox 5">
            <a:extLst>
              <a:ext uri="{FF2B5EF4-FFF2-40B4-BE49-F238E27FC236}">
                <a16:creationId xmlns:a16="http://schemas.microsoft.com/office/drawing/2014/main" id="{A82AE2A0-C9DF-9DF7-C9E6-A3FCA9957BE5}"/>
              </a:ext>
            </a:extLst>
          </p:cNvPr>
          <p:cNvSpPr txBox="1"/>
          <p:nvPr/>
        </p:nvSpPr>
        <p:spPr>
          <a:xfrm>
            <a:off x="7527875" y="6582936"/>
            <a:ext cx="4664125" cy="230832"/>
          </a:xfrm>
          <a:prstGeom prst="rect">
            <a:avLst/>
          </a:prstGeom>
          <a:noFill/>
        </p:spPr>
        <p:txBody>
          <a:bodyPr wrap="square" rtlCol="0">
            <a:spAutoFit/>
          </a:bodyPr>
          <a:lstStyle/>
          <a:p>
            <a:pPr algn="r"/>
            <a:r>
              <a:rPr lang="en-US" sz="900" dirty="0"/>
              <a:t>Watch BRK 150: Microsoft Build: </a:t>
            </a:r>
            <a:r>
              <a:rPr lang="en-US" sz="900" dirty="0">
                <a:solidFill>
                  <a:schemeClr val="tx1">
                    <a:lumMod val="65000"/>
                    <a:lumOff val="35000"/>
                  </a:schemeClr>
                </a:solidFill>
                <a:hlinkClick r:id="rId3">
                  <a:extLst>
                    <a:ext uri="{A12FA001-AC4F-418D-AE19-62706E023703}">
                      <ahyp:hlinkClr xmlns:ahyp="http://schemas.microsoft.com/office/drawing/2018/hyperlinkcolor" val="tx"/>
                    </a:ext>
                  </a:extLst>
                </a:hlinkClick>
              </a:rPr>
              <a:t>https://www.youtube.com/watch?v=hw6-rrYtUy8</a:t>
            </a:r>
            <a:endParaRPr lang="en-US" sz="900" dirty="0">
              <a:solidFill>
                <a:schemeClr val="tx1">
                  <a:lumMod val="65000"/>
                  <a:lumOff val="35000"/>
                </a:schemeClr>
              </a:solidFill>
            </a:endParaRPr>
          </a:p>
        </p:txBody>
      </p:sp>
    </p:spTree>
    <p:extLst>
      <p:ext uri="{BB962C8B-B14F-4D97-AF65-F5344CB8AC3E}">
        <p14:creationId xmlns:p14="http://schemas.microsoft.com/office/powerpoint/2010/main" val="1212780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FEC40-8243-3A54-98A4-A229960F532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F89E072-5EEC-72C1-35DE-C0839370CB14}"/>
              </a:ext>
              <a:ext uri="{C183D7F6-B498-43B3-948B-1728B52AA6E4}">
                <adec:decorative xmlns:adec="http://schemas.microsoft.com/office/drawing/2017/decorative" val="1"/>
              </a:ext>
            </a:extLst>
          </p:cNvPr>
          <p:cNvSpPr/>
          <p:nvPr/>
        </p:nvSpPr>
        <p:spPr bwMode="auto">
          <a:xfrm>
            <a:off x="524254" y="2581154"/>
            <a:ext cx="2703577" cy="3067291"/>
          </a:xfrm>
          <a:prstGeom prst="roundRect">
            <a:avLst>
              <a:gd name="adj" fmla="val 5108"/>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0" numCol="1" spcCol="0" rtlCol="0" fromWordArt="0" anchor="t" anchorCtr="0" forceAA="0" compatLnSpc="1">
            <a:prstTxWarp prst="textNoShape">
              <a:avLst/>
            </a:prstTxWarp>
            <a:noAutofit/>
          </a:bodyPr>
          <a:lstStyle/>
          <a:p>
            <a:pPr marL="457183" lvl="1" defTabSz="914367"/>
            <a:r>
              <a:rPr lang="en-US" dirty="0">
                <a:solidFill>
                  <a:schemeClr val="tx1"/>
                </a:solidFill>
              </a:rPr>
              <a:t>Domain-specific customization </a:t>
            </a:r>
          </a:p>
          <a:p>
            <a:pPr algn="ctr" defTabSz="2320060" fontAlgn="base">
              <a:spcBef>
                <a:spcPct val="0"/>
              </a:spcBef>
              <a:spcAft>
                <a:spcPct val="0"/>
              </a:spcAft>
            </a:pPr>
            <a:endParaRPr lang="en-US" dirty="0">
              <a:solidFill>
                <a:schemeClr val="tx1"/>
              </a:solidFill>
              <a:cs typeface="Segoe UI" panose="020B0502040204020203" pitchFamily="34" charset="0"/>
            </a:endParaRPr>
          </a:p>
          <a:p>
            <a:pPr marL="457183" lvl="1" defTabSz="914367"/>
            <a:r>
              <a:rPr lang="en-US" dirty="0">
                <a:solidFill>
                  <a:schemeClr val="tx1"/>
                </a:solidFill>
              </a:rPr>
              <a:t>Task-specific optimization</a:t>
            </a:r>
          </a:p>
        </p:txBody>
      </p:sp>
      <p:sp>
        <p:nvSpPr>
          <p:cNvPr id="8" name="Rectangle: Rounded Corners 7">
            <a:extLst>
              <a:ext uri="{FF2B5EF4-FFF2-40B4-BE49-F238E27FC236}">
                <a16:creationId xmlns:a16="http://schemas.microsoft.com/office/drawing/2014/main" id="{505E0C8A-89C3-AB44-B2A9-A4A9BE2E05B1}"/>
              </a:ext>
              <a:ext uri="{C183D7F6-B498-43B3-948B-1728B52AA6E4}">
                <adec:decorative xmlns:adec="http://schemas.microsoft.com/office/drawing/2017/decorative" val="1"/>
              </a:ext>
            </a:extLst>
          </p:cNvPr>
          <p:cNvSpPr/>
          <p:nvPr/>
        </p:nvSpPr>
        <p:spPr bwMode="auto">
          <a:xfrm>
            <a:off x="3347552" y="2581154"/>
            <a:ext cx="2703577" cy="3067291"/>
          </a:xfrm>
          <a:prstGeom prst="roundRect">
            <a:avLst>
              <a:gd name="adj" fmla="val 5108"/>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0" numCol="1" spcCol="0" rtlCol="0" fromWordArt="0" anchor="t" anchorCtr="0" forceAA="0" compatLnSpc="1">
            <a:prstTxWarp prst="textNoShape">
              <a:avLst/>
            </a:prstTxWarp>
            <a:noAutofit/>
          </a:bodyPr>
          <a:lstStyle/>
          <a:p>
            <a:pPr marL="457183" lvl="1" defTabSz="914367"/>
            <a:r>
              <a:rPr lang="en-US">
                <a:solidFill>
                  <a:schemeClr val="tx1"/>
                </a:solidFill>
              </a:rPr>
              <a:t>Reduced token consumption</a:t>
            </a:r>
          </a:p>
          <a:p>
            <a:pPr algn="ctr" defTabSz="2320060" fontAlgn="base">
              <a:spcBef>
                <a:spcPct val="0"/>
              </a:spcBef>
              <a:spcAft>
                <a:spcPct val="0"/>
              </a:spcAft>
            </a:pPr>
            <a:endParaRPr lang="en-US">
              <a:solidFill>
                <a:schemeClr val="tx1"/>
              </a:solidFill>
              <a:cs typeface="Segoe UI" panose="020B0502040204020203" pitchFamily="34" charset="0"/>
            </a:endParaRPr>
          </a:p>
          <a:p>
            <a:pPr marL="457183" lvl="1" defTabSz="914367"/>
            <a:r>
              <a:rPr lang="en-US">
                <a:solidFill>
                  <a:schemeClr val="tx1"/>
                </a:solidFill>
              </a:rPr>
              <a:t>Efficient resource utilization </a:t>
            </a:r>
          </a:p>
        </p:txBody>
      </p:sp>
      <p:sp>
        <p:nvSpPr>
          <p:cNvPr id="10" name="Rectangle: Rounded Corners 9">
            <a:extLst>
              <a:ext uri="{FF2B5EF4-FFF2-40B4-BE49-F238E27FC236}">
                <a16:creationId xmlns:a16="http://schemas.microsoft.com/office/drawing/2014/main" id="{0D2A2B21-9BD7-6B31-7353-F74F9FE904C6}"/>
              </a:ext>
              <a:ext uri="{C183D7F6-B498-43B3-948B-1728B52AA6E4}">
                <adec:decorative xmlns:adec="http://schemas.microsoft.com/office/drawing/2017/decorative" val="1"/>
              </a:ext>
            </a:extLst>
          </p:cNvPr>
          <p:cNvSpPr/>
          <p:nvPr/>
        </p:nvSpPr>
        <p:spPr bwMode="auto">
          <a:xfrm>
            <a:off x="6170848" y="2581154"/>
            <a:ext cx="2703577" cy="3067291"/>
          </a:xfrm>
          <a:prstGeom prst="roundRect">
            <a:avLst>
              <a:gd name="adj" fmla="val 5108"/>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0" numCol="1" spcCol="0" rtlCol="0" fromWordArt="0" anchor="t" anchorCtr="0" forceAA="0" compatLnSpc="1">
            <a:prstTxWarp prst="textNoShape">
              <a:avLst/>
            </a:prstTxWarp>
            <a:noAutofit/>
          </a:bodyPr>
          <a:lstStyle/>
          <a:p>
            <a:pPr marL="457183" lvl="1" defTabSz="914367"/>
            <a:r>
              <a:rPr lang="en-US">
                <a:solidFill>
                  <a:schemeClr val="tx1"/>
                </a:solidFill>
              </a:rPr>
              <a:t>Smaller, faster models </a:t>
            </a:r>
          </a:p>
          <a:p>
            <a:pPr algn="ctr" defTabSz="2320060" fontAlgn="base">
              <a:spcBef>
                <a:spcPct val="0"/>
              </a:spcBef>
              <a:spcAft>
                <a:spcPct val="0"/>
              </a:spcAft>
            </a:pPr>
            <a:endParaRPr lang="en-US">
              <a:solidFill>
                <a:schemeClr val="tx1"/>
              </a:solidFill>
              <a:cs typeface="Segoe UI" panose="020B0502040204020203" pitchFamily="34" charset="0"/>
            </a:endParaRPr>
          </a:p>
          <a:p>
            <a:pPr marL="457183" lvl="1" defTabSz="914367"/>
            <a:r>
              <a:rPr lang="en-US">
                <a:solidFill>
                  <a:schemeClr val="tx1"/>
                </a:solidFill>
              </a:rPr>
              <a:t>Fewer tokens – faster responses</a:t>
            </a:r>
          </a:p>
        </p:txBody>
      </p:sp>
      <p:sp>
        <p:nvSpPr>
          <p:cNvPr id="13" name="Rectangle: Rounded Corners 12">
            <a:extLst>
              <a:ext uri="{FF2B5EF4-FFF2-40B4-BE49-F238E27FC236}">
                <a16:creationId xmlns:a16="http://schemas.microsoft.com/office/drawing/2014/main" id="{7489809D-8230-B577-A9B4-28FACA139A08}"/>
              </a:ext>
              <a:ext uri="{C183D7F6-B498-43B3-948B-1728B52AA6E4}">
                <adec:decorative xmlns:adec="http://schemas.microsoft.com/office/drawing/2017/decorative" val="1"/>
              </a:ext>
            </a:extLst>
          </p:cNvPr>
          <p:cNvSpPr/>
          <p:nvPr/>
        </p:nvSpPr>
        <p:spPr bwMode="auto">
          <a:xfrm>
            <a:off x="8994145" y="2581154"/>
            <a:ext cx="2703577" cy="3067291"/>
          </a:xfrm>
          <a:prstGeom prst="roundRect">
            <a:avLst>
              <a:gd name="adj" fmla="val 5108"/>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731520" rIns="182880" bIns="0" numCol="1" spcCol="0" rtlCol="0" fromWordArt="0" anchor="t" anchorCtr="0" forceAA="0" compatLnSpc="1">
            <a:prstTxWarp prst="textNoShape">
              <a:avLst/>
            </a:prstTxWarp>
            <a:noAutofit/>
          </a:bodyPr>
          <a:lstStyle/>
          <a:p>
            <a:pPr marL="457183" lvl="1" defTabSz="914367"/>
            <a:r>
              <a:rPr lang="en-US">
                <a:solidFill>
                  <a:schemeClr val="tx1"/>
                </a:solidFill>
              </a:rPr>
              <a:t>Reduce bias and improve fairness</a:t>
            </a:r>
          </a:p>
          <a:p>
            <a:pPr algn="ctr" defTabSz="2320060" fontAlgn="base">
              <a:spcBef>
                <a:spcPct val="0"/>
              </a:spcBef>
              <a:spcAft>
                <a:spcPct val="0"/>
              </a:spcAft>
            </a:pPr>
            <a:endParaRPr lang="en-US">
              <a:solidFill>
                <a:schemeClr val="tx1"/>
              </a:solidFill>
              <a:cs typeface="Segoe UI" panose="020B0502040204020203" pitchFamily="34" charset="0"/>
            </a:endParaRPr>
          </a:p>
          <a:p>
            <a:pPr marL="457183" lvl="1" defTabSz="914367"/>
            <a:r>
              <a:rPr lang="en-US">
                <a:solidFill>
                  <a:schemeClr val="tx1"/>
                </a:solidFill>
              </a:rPr>
              <a:t>Avoid hallucinations</a:t>
            </a:r>
          </a:p>
        </p:txBody>
      </p:sp>
      <p:sp>
        <p:nvSpPr>
          <p:cNvPr id="2" name="Title 1">
            <a:extLst>
              <a:ext uri="{FF2B5EF4-FFF2-40B4-BE49-F238E27FC236}">
                <a16:creationId xmlns:a16="http://schemas.microsoft.com/office/drawing/2014/main" id="{FA796619-A13B-679D-3A34-28E4D3C6112C}"/>
              </a:ext>
            </a:extLst>
          </p:cNvPr>
          <p:cNvSpPr>
            <a:spLocks noGrp="1"/>
          </p:cNvSpPr>
          <p:nvPr>
            <p:ph type="title"/>
          </p:nvPr>
        </p:nvSpPr>
        <p:spPr>
          <a:xfrm>
            <a:off x="588263" y="457200"/>
            <a:ext cx="11018520" cy="553998"/>
          </a:xfrm>
        </p:spPr>
        <p:txBody>
          <a:bodyPr>
            <a:normAutofit fontScale="90000"/>
          </a:bodyPr>
          <a:lstStyle/>
          <a:p>
            <a:r>
              <a:rPr lang="en-US">
                <a:gradFill flip="none" rotWithShape="1">
                  <a:gsLst>
                    <a:gs pos="0">
                      <a:srgbClr val="73262F"/>
                    </a:gs>
                    <a:gs pos="74000">
                      <a:srgbClr val="2A446F"/>
                    </a:gs>
                    <a:gs pos="100000">
                      <a:srgbClr val="000000"/>
                    </a:gs>
                  </a:gsLst>
                  <a:lin ang="0" scaled="1"/>
                  <a:tileRect/>
                </a:gradFill>
                <a:latin typeface="Segoe Sans Text Semibold"/>
              </a:rPr>
              <a:t>Why fine-tune?</a:t>
            </a:r>
            <a:endParaRPr lang="en-US"/>
          </a:p>
        </p:txBody>
      </p:sp>
      <p:sp>
        <p:nvSpPr>
          <p:cNvPr id="5" name="Rectangle: Rounded Corners 4">
            <a:extLst>
              <a:ext uri="{FF2B5EF4-FFF2-40B4-BE49-F238E27FC236}">
                <a16:creationId xmlns:a16="http://schemas.microsoft.com/office/drawing/2014/main" id="{5A3BB522-0053-2910-2202-140E1BF8049F}"/>
              </a:ext>
              <a:ext uri="{C183D7F6-B498-43B3-948B-1728B52AA6E4}">
                <adec:decorative xmlns:adec="http://schemas.microsoft.com/office/drawing/2017/decorative" val="1"/>
              </a:ext>
            </a:extLst>
          </p:cNvPr>
          <p:cNvSpPr/>
          <p:nvPr/>
        </p:nvSpPr>
        <p:spPr bwMode="auto">
          <a:xfrm>
            <a:off x="524256" y="1791458"/>
            <a:ext cx="2703576" cy="1225296"/>
          </a:xfrm>
          <a:prstGeom prst="roundRect">
            <a:avLst>
              <a:gd name="adj" fmla="val 12888"/>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cs typeface="Segoe UI Variable Display"/>
              </a:rPr>
              <a:t>Enhance</a:t>
            </a:r>
            <a:r>
              <a:rPr kumimoji="0" lang="en-US" b="1" dirty="0">
                <a:cs typeface="Segoe UI Variable Display"/>
              </a:rPr>
              <a:t> performance and accuracy</a:t>
            </a:r>
            <a:endParaRPr lang="en-US" b="1" dirty="0">
              <a:cs typeface="Segoe UI Variable Display"/>
            </a:endParaRPr>
          </a:p>
        </p:txBody>
      </p:sp>
      <p:sp>
        <p:nvSpPr>
          <p:cNvPr id="7" name="Rectangle: Rounded Corners 6">
            <a:extLst>
              <a:ext uri="{FF2B5EF4-FFF2-40B4-BE49-F238E27FC236}">
                <a16:creationId xmlns:a16="http://schemas.microsoft.com/office/drawing/2014/main" id="{AB4CD47F-55D3-4663-EB8E-FC26BE51F1F1}"/>
              </a:ext>
              <a:ext uri="{C183D7F6-B498-43B3-948B-1728B52AA6E4}">
                <adec:decorative xmlns:adec="http://schemas.microsoft.com/office/drawing/2017/decorative" val="1"/>
              </a:ext>
            </a:extLst>
          </p:cNvPr>
          <p:cNvSpPr/>
          <p:nvPr/>
        </p:nvSpPr>
        <p:spPr bwMode="auto">
          <a:xfrm>
            <a:off x="3347553" y="1791458"/>
            <a:ext cx="2703576" cy="1225296"/>
          </a:xfrm>
          <a:prstGeom prst="roundRect">
            <a:avLst>
              <a:gd name="adj" fmla="val 12888"/>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cs typeface="Segoe UI Variable Display"/>
              </a:rPr>
              <a:t>Cost reduction </a:t>
            </a:r>
            <a:br>
              <a:rPr lang="en-US" b="1">
                <a:cs typeface="Segoe UI Variable Display"/>
              </a:rPr>
            </a:br>
            <a:r>
              <a:rPr lang="en-US" b="1">
                <a:cs typeface="Segoe UI Variable Display"/>
              </a:rPr>
              <a:t>and efficiency </a:t>
            </a:r>
          </a:p>
        </p:txBody>
      </p:sp>
      <p:sp>
        <p:nvSpPr>
          <p:cNvPr id="9" name="Rectangle: Rounded Corners 8">
            <a:extLst>
              <a:ext uri="{FF2B5EF4-FFF2-40B4-BE49-F238E27FC236}">
                <a16:creationId xmlns:a16="http://schemas.microsoft.com/office/drawing/2014/main" id="{21B81D6F-5380-8210-52BA-34D5AE44EF10}"/>
              </a:ext>
              <a:ext uri="{C183D7F6-B498-43B3-948B-1728B52AA6E4}">
                <adec:decorative xmlns:adec="http://schemas.microsoft.com/office/drawing/2017/decorative" val="1"/>
              </a:ext>
            </a:extLst>
          </p:cNvPr>
          <p:cNvSpPr/>
          <p:nvPr/>
        </p:nvSpPr>
        <p:spPr bwMode="auto">
          <a:xfrm>
            <a:off x="6170850" y="1791458"/>
            <a:ext cx="2703576" cy="1225296"/>
          </a:xfrm>
          <a:prstGeom prst="roundRect">
            <a:avLst>
              <a:gd name="adj" fmla="val 12888"/>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cs typeface="Segoe Sans Display Semibold"/>
              </a:rPr>
              <a:t>Lower latency</a:t>
            </a:r>
          </a:p>
        </p:txBody>
      </p:sp>
      <p:sp>
        <p:nvSpPr>
          <p:cNvPr id="12" name="Rectangle: Rounded Corners 11">
            <a:extLst>
              <a:ext uri="{FF2B5EF4-FFF2-40B4-BE49-F238E27FC236}">
                <a16:creationId xmlns:a16="http://schemas.microsoft.com/office/drawing/2014/main" id="{26D70DB2-C6DF-67C1-6295-80EC651B49F0}"/>
              </a:ext>
              <a:ext uri="{C183D7F6-B498-43B3-948B-1728B52AA6E4}">
                <adec:decorative xmlns:adec="http://schemas.microsoft.com/office/drawing/2017/decorative" val="1"/>
              </a:ext>
            </a:extLst>
          </p:cNvPr>
          <p:cNvSpPr/>
          <p:nvPr/>
        </p:nvSpPr>
        <p:spPr bwMode="auto">
          <a:xfrm>
            <a:off x="8994147" y="1791458"/>
            <a:ext cx="2703576" cy="1225296"/>
          </a:xfrm>
          <a:prstGeom prst="roundRect">
            <a:avLst>
              <a:gd name="adj" fmla="val 12888"/>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t>Risk mitigation</a:t>
            </a:r>
          </a:p>
        </p:txBody>
      </p:sp>
      <p:sp>
        <p:nvSpPr>
          <p:cNvPr id="36" name="Graphic 10">
            <a:extLst>
              <a:ext uri="{FF2B5EF4-FFF2-40B4-BE49-F238E27FC236}">
                <a16:creationId xmlns:a16="http://schemas.microsoft.com/office/drawing/2014/main" id="{76E4EB7B-4920-68CC-245D-61530D10E0FF}"/>
              </a:ext>
              <a:ext uri="{C183D7F6-B498-43B3-948B-1728B52AA6E4}">
                <adec:decorative xmlns:adec="http://schemas.microsoft.com/office/drawing/2017/decorative" val="1"/>
              </a:ext>
            </a:extLst>
          </p:cNvPr>
          <p:cNvSpPr/>
          <p:nvPr/>
        </p:nvSpPr>
        <p:spPr>
          <a:xfrm>
            <a:off x="721882" y="4201840"/>
            <a:ext cx="267206" cy="281902"/>
          </a:xfrm>
          <a:custGeom>
            <a:avLst/>
            <a:gdLst>
              <a:gd name="connsiteX0" fmla="*/ 85725 w 171450"/>
              <a:gd name="connsiteY0" fmla="*/ 0 h 180879"/>
              <a:gd name="connsiteX1" fmla="*/ 171450 w 171450"/>
              <a:gd name="connsiteY1" fmla="*/ 85725 h 180879"/>
              <a:gd name="connsiteX2" fmla="*/ 125063 w 171450"/>
              <a:gd name="connsiteY2" fmla="*/ 161925 h 180879"/>
              <a:gd name="connsiteX3" fmla="*/ 142875 w 171450"/>
              <a:gd name="connsiteY3" fmla="*/ 161925 h 180879"/>
              <a:gd name="connsiteX4" fmla="*/ 152400 w 171450"/>
              <a:gd name="connsiteY4" fmla="*/ 171450 h 180879"/>
              <a:gd name="connsiteX5" fmla="*/ 144018 w 171450"/>
              <a:gd name="connsiteY5" fmla="*/ 180880 h 180879"/>
              <a:gd name="connsiteX6" fmla="*/ 142875 w 171450"/>
              <a:gd name="connsiteY6" fmla="*/ 180880 h 180879"/>
              <a:gd name="connsiteX7" fmla="*/ 104775 w 171450"/>
              <a:gd name="connsiteY7" fmla="*/ 180880 h 180879"/>
              <a:gd name="connsiteX8" fmla="*/ 95345 w 171450"/>
              <a:gd name="connsiteY8" fmla="*/ 172498 h 180879"/>
              <a:gd name="connsiteX9" fmla="*/ 95345 w 171450"/>
              <a:gd name="connsiteY9" fmla="*/ 171355 h 180879"/>
              <a:gd name="connsiteX10" fmla="*/ 95345 w 171450"/>
              <a:gd name="connsiteY10" fmla="*/ 133255 h 180879"/>
              <a:gd name="connsiteX11" fmla="*/ 104870 w 171450"/>
              <a:gd name="connsiteY11" fmla="*/ 123730 h 180879"/>
              <a:gd name="connsiteX12" fmla="*/ 114300 w 171450"/>
              <a:gd name="connsiteY12" fmla="*/ 132112 h 180879"/>
              <a:gd name="connsiteX13" fmla="*/ 114300 w 171450"/>
              <a:gd name="connsiteY13" fmla="*/ 133255 h 180879"/>
              <a:gd name="connsiteX14" fmla="*/ 114300 w 171450"/>
              <a:gd name="connsiteY14" fmla="*/ 145923 h 180879"/>
              <a:gd name="connsiteX15" fmla="*/ 152400 w 171450"/>
              <a:gd name="connsiteY15" fmla="*/ 85630 h 180879"/>
              <a:gd name="connsiteX16" fmla="*/ 85725 w 171450"/>
              <a:gd name="connsiteY16" fmla="*/ 18955 h 180879"/>
              <a:gd name="connsiteX17" fmla="*/ 19050 w 171450"/>
              <a:gd name="connsiteY17" fmla="*/ 85630 h 180879"/>
              <a:gd name="connsiteX18" fmla="*/ 9525 w 171450"/>
              <a:gd name="connsiteY18" fmla="*/ 95155 h 180879"/>
              <a:gd name="connsiteX19" fmla="*/ 0 w 171450"/>
              <a:gd name="connsiteY19" fmla="*/ 85630 h 180879"/>
              <a:gd name="connsiteX20" fmla="*/ 85725 w 171450"/>
              <a:gd name="connsiteY20" fmla="*/ 0 h 180879"/>
              <a:gd name="connsiteX21" fmla="*/ 85725 w 171450"/>
              <a:gd name="connsiteY21" fmla="*/ 57150 h 180879"/>
              <a:gd name="connsiteX22" fmla="*/ 114300 w 171450"/>
              <a:gd name="connsiteY22" fmla="*/ 85725 h 180879"/>
              <a:gd name="connsiteX23" fmla="*/ 85725 w 171450"/>
              <a:gd name="connsiteY23" fmla="*/ 114300 h 180879"/>
              <a:gd name="connsiteX24" fmla="*/ 57150 w 171450"/>
              <a:gd name="connsiteY24" fmla="*/ 85725 h 180879"/>
              <a:gd name="connsiteX25" fmla="*/ 85725 w 171450"/>
              <a:gd name="connsiteY25" fmla="*/ 57150 h 180879"/>
              <a:gd name="connsiteX26" fmla="*/ 85725 w 171450"/>
              <a:gd name="connsiteY26" fmla="*/ 76200 h 180879"/>
              <a:gd name="connsiteX27" fmla="*/ 76200 w 171450"/>
              <a:gd name="connsiteY27" fmla="*/ 85725 h 180879"/>
              <a:gd name="connsiteX28" fmla="*/ 85725 w 171450"/>
              <a:gd name="connsiteY28" fmla="*/ 95250 h 180879"/>
              <a:gd name="connsiteX29" fmla="*/ 95250 w 171450"/>
              <a:gd name="connsiteY29" fmla="*/ 85725 h 180879"/>
              <a:gd name="connsiteX30" fmla="*/ 85725 w 171450"/>
              <a:gd name="connsiteY30" fmla="*/ 76200 h 18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450" h="180879">
                <a:moveTo>
                  <a:pt x="85725" y="0"/>
                </a:moveTo>
                <a:cubicBezTo>
                  <a:pt x="133064" y="0"/>
                  <a:pt x="171450" y="38386"/>
                  <a:pt x="171450" y="85725"/>
                </a:cubicBezTo>
                <a:cubicBezTo>
                  <a:pt x="171450" y="117824"/>
                  <a:pt x="153543" y="147257"/>
                  <a:pt x="125063" y="161925"/>
                </a:cubicBezTo>
                <a:lnTo>
                  <a:pt x="142875" y="161925"/>
                </a:lnTo>
                <a:cubicBezTo>
                  <a:pt x="148114" y="161925"/>
                  <a:pt x="152400" y="166211"/>
                  <a:pt x="152400" y="171450"/>
                </a:cubicBezTo>
                <a:cubicBezTo>
                  <a:pt x="152400" y="176308"/>
                  <a:pt x="148781" y="180308"/>
                  <a:pt x="144018" y="180880"/>
                </a:cubicBezTo>
                <a:lnTo>
                  <a:pt x="142875" y="180880"/>
                </a:lnTo>
                <a:cubicBezTo>
                  <a:pt x="142875" y="180880"/>
                  <a:pt x="104775" y="180880"/>
                  <a:pt x="104775" y="180880"/>
                </a:cubicBezTo>
                <a:cubicBezTo>
                  <a:pt x="99917" y="180880"/>
                  <a:pt x="95917" y="177260"/>
                  <a:pt x="95345" y="172498"/>
                </a:cubicBezTo>
                <a:lnTo>
                  <a:pt x="95345" y="171355"/>
                </a:lnTo>
                <a:cubicBezTo>
                  <a:pt x="95345" y="171355"/>
                  <a:pt x="95345" y="133255"/>
                  <a:pt x="95345" y="133255"/>
                </a:cubicBezTo>
                <a:cubicBezTo>
                  <a:pt x="95345" y="128016"/>
                  <a:pt x="99632" y="123730"/>
                  <a:pt x="104870" y="123730"/>
                </a:cubicBezTo>
                <a:cubicBezTo>
                  <a:pt x="109728" y="123730"/>
                  <a:pt x="113728" y="127349"/>
                  <a:pt x="114300" y="132112"/>
                </a:cubicBezTo>
                <a:lnTo>
                  <a:pt x="114300" y="133255"/>
                </a:lnTo>
                <a:cubicBezTo>
                  <a:pt x="114300" y="133255"/>
                  <a:pt x="114300" y="145923"/>
                  <a:pt x="114300" y="145923"/>
                </a:cubicBezTo>
                <a:cubicBezTo>
                  <a:pt x="137541" y="134874"/>
                  <a:pt x="152400" y="111443"/>
                  <a:pt x="152400" y="85630"/>
                </a:cubicBezTo>
                <a:cubicBezTo>
                  <a:pt x="152400" y="48768"/>
                  <a:pt x="122587" y="18955"/>
                  <a:pt x="85725" y="18955"/>
                </a:cubicBezTo>
                <a:cubicBezTo>
                  <a:pt x="48863" y="18955"/>
                  <a:pt x="19050" y="48768"/>
                  <a:pt x="19050" y="85630"/>
                </a:cubicBezTo>
                <a:cubicBezTo>
                  <a:pt x="19050" y="90869"/>
                  <a:pt x="14764" y="95155"/>
                  <a:pt x="9525" y="95155"/>
                </a:cubicBezTo>
                <a:cubicBezTo>
                  <a:pt x="4286" y="95155"/>
                  <a:pt x="0" y="90869"/>
                  <a:pt x="0" y="85630"/>
                </a:cubicBezTo>
                <a:cubicBezTo>
                  <a:pt x="0" y="38386"/>
                  <a:pt x="38386" y="0"/>
                  <a:pt x="85725" y="0"/>
                </a:cubicBezTo>
                <a:close/>
                <a:moveTo>
                  <a:pt x="85725" y="57150"/>
                </a:moveTo>
                <a:cubicBezTo>
                  <a:pt x="101537" y="57150"/>
                  <a:pt x="114300" y="69914"/>
                  <a:pt x="114300" y="85725"/>
                </a:cubicBezTo>
                <a:cubicBezTo>
                  <a:pt x="114300" y="101537"/>
                  <a:pt x="101537" y="114300"/>
                  <a:pt x="85725" y="114300"/>
                </a:cubicBezTo>
                <a:cubicBezTo>
                  <a:pt x="69914" y="114300"/>
                  <a:pt x="57150" y="101537"/>
                  <a:pt x="57150" y="85725"/>
                </a:cubicBezTo>
                <a:cubicBezTo>
                  <a:pt x="57150" y="69914"/>
                  <a:pt x="69914" y="57150"/>
                  <a:pt x="85725" y="57150"/>
                </a:cubicBezTo>
                <a:close/>
                <a:moveTo>
                  <a:pt x="85725" y="76200"/>
                </a:moveTo>
                <a:cubicBezTo>
                  <a:pt x="80486" y="76200"/>
                  <a:pt x="76200" y="80486"/>
                  <a:pt x="76200" y="85725"/>
                </a:cubicBezTo>
                <a:cubicBezTo>
                  <a:pt x="76200" y="90964"/>
                  <a:pt x="80486" y="95250"/>
                  <a:pt x="85725" y="95250"/>
                </a:cubicBezTo>
                <a:cubicBezTo>
                  <a:pt x="90964" y="95250"/>
                  <a:pt x="95250" y="90964"/>
                  <a:pt x="95250" y="85725"/>
                </a:cubicBezTo>
                <a:cubicBezTo>
                  <a:pt x="95250" y="80486"/>
                  <a:pt x="90964" y="76200"/>
                  <a:pt x="85725" y="76200"/>
                </a:cubicBezTo>
                <a:close/>
              </a:path>
            </a:pathLst>
          </a:custGeom>
          <a:solidFill>
            <a:schemeClr val="tx1"/>
          </a:solidFill>
          <a:ln w="12700" cap="rnd">
            <a:noFill/>
          </a:ln>
        </p:spPr>
        <p:txBody>
          <a:bodyPr wrap="none" lIns="0" tIns="0" rIns="0" bIns="45720" rtlCol="0" anchor="ctr" anchorCtr="0">
            <a:noAutofit/>
          </a:bodyPr>
          <a:lstStyle/>
          <a:p>
            <a:pPr algn="ctr" defTabSz="914437" fontAlgn="base">
              <a:spcBef>
                <a:spcPts val="1200"/>
              </a:spcBef>
              <a:spcAft>
                <a:spcPct val="0"/>
              </a:spcAft>
              <a:tabLst>
                <a:tab pos="1487158" algn="l"/>
              </a:tabLst>
            </a:pPr>
            <a:endParaRPr lang="en-US"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endParaRPr>
          </a:p>
        </p:txBody>
      </p:sp>
      <p:sp>
        <p:nvSpPr>
          <p:cNvPr id="38" name="Graphic 16">
            <a:extLst>
              <a:ext uri="{FF2B5EF4-FFF2-40B4-BE49-F238E27FC236}">
                <a16:creationId xmlns:a16="http://schemas.microsoft.com/office/drawing/2014/main" id="{4C54A850-ABA1-7A0D-FBA0-1BF441C01CA6}"/>
              </a:ext>
              <a:ext uri="{C183D7F6-B498-43B3-948B-1728B52AA6E4}">
                <adec:decorative xmlns:adec="http://schemas.microsoft.com/office/drawing/2017/decorative" val="1"/>
              </a:ext>
            </a:extLst>
          </p:cNvPr>
          <p:cNvSpPr/>
          <p:nvPr/>
        </p:nvSpPr>
        <p:spPr>
          <a:xfrm>
            <a:off x="3534297" y="3424054"/>
            <a:ext cx="321144" cy="256914"/>
          </a:xfrm>
          <a:custGeom>
            <a:avLst/>
            <a:gdLst>
              <a:gd name="connsiteX0" fmla="*/ 19050 w 190500"/>
              <a:gd name="connsiteY0" fmla="*/ 0 h 152400"/>
              <a:gd name="connsiteX1" fmla="*/ 0 w 190500"/>
              <a:gd name="connsiteY1" fmla="*/ 19050 h 152400"/>
              <a:gd name="connsiteX2" fmla="*/ 0 w 190500"/>
              <a:gd name="connsiteY2" fmla="*/ 85725 h 152400"/>
              <a:gd name="connsiteX3" fmla="*/ 19050 w 190500"/>
              <a:gd name="connsiteY3" fmla="*/ 104775 h 152400"/>
              <a:gd name="connsiteX4" fmla="*/ 123825 w 190500"/>
              <a:gd name="connsiteY4" fmla="*/ 104775 h 152400"/>
              <a:gd name="connsiteX5" fmla="*/ 142875 w 190500"/>
              <a:gd name="connsiteY5" fmla="*/ 85725 h 152400"/>
              <a:gd name="connsiteX6" fmla="*/ 142875 w 190500"/>
              <a:gd name="connsiteY6" fmla="*/ 19050 h 152400"/>
              <a:gd name="connsiteX7" fmla="*/ 123825 w 190500"/>
              <a:gd name="connsiteY7" fmla="*/ 0 h 152400"/>
              <a:gd name="connsiteX8" fmla="*/ 19050 w 190500"/>
              <a:gd name="connsiteY8" fmla="*/ 0 h 152400"/>
              <a:gd name="connsiteX9" fmla="*/ 42863 w 190500"/>
              <a:gd name="connsiteY9" fmla="*/ 128588 h 152400"/>
              <a:gd name="connsiteX10" fmla="*/ 24384 w 190500"/>
              <a:gd name="connsiteY10" fmla="*/ 114300 h 152400"/>
              <a:gd name="connsiteX11" fmla="*/ 128588 w 190500"/>
              <a:gd name="connsiteY11" fmla="*/ 114300 h 152400"/>
              <a:gd name="connsiteX12" fmla="*/ 152400 w 190500"/>
              <a:gd name="connsiteY12" fmla="*/ 90488 h 152400"/>
              <a:gd name="connsiteX13" fmla="*/ 152400 w 190500"/>
              <a:gd name="connsiteY13" fmla="*/ 24384 h 152400"/>
              <a:gd name="connsiteX14" fmla="*/ 166688 w 190500"/>
              <a:gd name="connsiteY14" fmla="*/ 42863 h 152400"/>
              <a:gd name="connsiteX15" fmla="*/ 166688 w 190500"/>
              <a:gd name="connsiteY15" fmla="*/ 90488 h 152400"/>
              <a:gd name="connsiteX16" fmla="*/ 128588 w 190500"/>
              <a:gd name="connsiteY16" fmla="*/ 128588 h 152400"/>
              <a:gd name="connsiteX17" fmla="*/ 42863 w 190500"/>
              <a:gd name="connsiteY17" fmla="*/ 128588 h 152400"/>
              <a:gd name="connsiteX18" fmla="*/ 66675 w 190500"/>
              <a:gd name="connsiteY18" fmla="*/ 152400 h 152400"/>
              <a:gd name="connsiteX19" fmla="*/ 48197 w 190500"/>
              <a:gd name="connsiteY19" fmla="*/ 138113 h 152400"/>
              <a:gd name="connsiteX20" fmla="*/ 135731 w 190500"/>
              <a:gd name="connsiteY20" fmla="*/ 138113 h 152400"/>
              <a:gd name="connsiteX21" fmla="*/ 176213 w 190500"/>
              <a:gd name="connsiteY21" fmla="*/ 97631 h 152400"/>
              <a:gd name="connsiteX22" fmla="*/ 176213 w 190500"/>
              <a:gd name="connsiteY22" fmla="*/ 48197 h 152400"/>
              <a:gd name="connsiteX23" fmla="*/ 190500 w 190500"/>
              <a:gd name="connsiteY23" fmla="*/ 66675 h 152400"/>
              <a:gd name="connsiteX24" fmla="*/ 190500 w 190500"/>
              <a:gd name="connsiteY24" fmla="*/ 97631 h 152400"/>
              <a:gd name="connsiteX25" fmla="*/ 135731 w 190500"/>
              <a:gd name="connsiteY25" fmla="*/ 152400 h 152400"/>
              <a:gd name="connsiteX26" fmla="*/ 66675 w 190500"/>
              <a:gd name="connsiteY26" fmla="*/ 1524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0500" h="152400">
                <a:moveTo>
                  <a:pt x="19050" y="0"/>
                </a:moveTo>
                <a:cubicBezTo>
                  <a:pt x="8573" y="0"/>
                  <a:pt x="0" y="8573"/>
                  <a:pt x="0" y="19050"/>
                </a:cubicBezTo>
                <a:lnTo>
                  <a:pt x="0" y="85725"/>
                </a:lnTo>
                <a:cubicBezTo>
                  <a:pt x="0" y="96203"/>
                  <a:pt x="8573" y="104775"/>
                  <a:pt x="19050" y="104775"/>
                </a:cubicBezTo>
                <a:lnTo>
                  <a:pt x="123825" y="104775"/>
                </a:lnTo>
                <a:cubicBezTo>
                  <a:pt x="134303" y="104775"/>
                  <a:pt x="142875" y="96203"/>
                  <a:pt x="142875" y="85725"/>
                </a:cubicBezTo>
                <a:lnTo>
                  <a:pt x="142875" y="19050"/>
                </a:lnTo>
                <a:cubicBezTo>
                  <a:pt x="142875" y="8573"/>
                  <a:pt x="134303" y="0"/>
                  <a:pt x="123825" y="0"/>
                </a:cubicBezTo>
                <a:lnTo>
                  <a:pt x="19050" y="0"/>
                </a:lnTo>
                <a:close/>
                <a:moveTo>
                  <a:pt x="42863" y="128588"/>
                </a:moveTo>
                <a:cubicBezTo>
                  <a:pt x="34195" y="128588"/>
                  <a:pt x="26575" y="122682"/>
                  <a:pt x="24384" y="114300"/>
                </a:cubicBezTo>
                <a:lnTo>
                  <a:pt x="128588" y="114300"/>
                </a:lnTo>
                <a:cubicBezTo>
                  <a:pt x="141732" y="114300"/>
                  <a:pt x="152400" y="103632"/>
                  <a:pt x="152400" y="90488"/>
                </a:cubicBezTo>
                <a:lnTo>
                  <a:pt x="152400" y="24384"/>
                </a:lnTo>
                <a:cubicBezTo>
                  <a:pt x="160782" y="26575"/>
                  <a:pt x="166688" y="34100"/>
                  <a:pt x="166688" y="42863"/>
                </a:cubicBezTo>
                <a:lnTo>
                  <a:pt x="166688" y="90488"/>
                </a:lnTo>
                <a:cubicBezTo>
                  <a:pt x="166688" y="111538"/>
                  <a:pt x="149638" y="128588"/>
                  <a:pt x="128588" y="128588"/>
                </a:cubicBezTo>
                <a:lnTo>
                  <a:pt x="42863" y="128588"/>
                </a:lnTo>
                <a:close/>
                <a:moveTo>
                  <a:pt x="66675" y="152400"/>
                </a:moveTo>
                <a:cubicBezTo>
                  <a:pt x="58007" y="152400"/>
                  <a:pt x="50387" y="146495"/>
                  <a:pt x="48197" y="138113"/>
                </a:cubicBezTo>
                <a:lnTo>
                  <a:pt x="135731" y="138113"/>
                </a:lnTo>
                <a:cubicBezTo>
                  <a:pt x="158115" y="138113"/>
                  <a:pt x="176213" y="120015"/>
                  <a:pt x="176213" y="97631"/>
                </a:cubicBezTo>
                <a:lnTo>
                  <a:pt x="176213" y="48197"/>
                </a:lnTo>
                <a:cubicBezTo>
                  <a:pt x="184594" y="50387"/>
                  <a:pt x="190500" y="57912"/>
                  <a:pt x="190500" y="66675"/>
                </a:cubicBezTo>
                <a:lnTo>
                  <a:pt x="190500" y="97631"/>
                </a:lnTo>
                <a:cubicBezTo>
                  <a:pt x="190500" y="127921"/>
                  <a:pt x="166021" y="152400"/>
                  <a:pt x="135731" y="152400"/>
                </a:cubicBezTo>
                <a:lnTo>
                  <a:pt x="66675" y="152400"/>
                </a:lnTo>
                <a:close/>
              </a:path>
            </a:pathLst>
          </a:custGeom>
          <a:solidFill>
            <a:schemeClr val="tx1"/>
          </a:solidFill>
          <a:ln w="12700" cap="rnd">
            <a:noFill/>
          </a:ln>
        </p:spPr>
        <p:txBody>
          <a:bodyPr wrap="none" lIns="0" tIns="0" rIns="0" bIns="45720" rtlCol="0" anchor="ctr" anchorCtr="0">
            <a:noAutofit/>
          </a:bodyPr>
          <a:lstStyle/>
          <a:p>
            <a:pPr algn="ctr" defTabSz="914437" fontAlgn="base">
              <a:spcBef>
                <a:spcPts val="1200"/>
              </a:spcBef>
              <a:spcAft>
                <a:spcPct val="0"/>
              </a:spcAft>
              <a:tabLst>
                <a:tab pos="1487158" algn="l"/>
              </a:tabLst>
            </a:pPr>
            <a:endParaRPr lang="en-US"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endParaRPr>
          </a:p>
        </p:txBody>
      </p:sp>
      <p:sp>
        <p:nvSpPr>
          <p:cNvPr id="40" name="Graphic 20">
            <a:extLst>
              <a:ext uri="{FF2B5EF4-FFF2-40B4-BE49-F238E27FC236}">
                <a16:creationId xmlns:a16="http://schemas.microsoft.com/office/drawing/2014/main" id="{DA7DB4C7-1FE8-8AD6-2D6D-70108DE745F4}"/>
              </a:ext>
              <a:ext uri="{C183D7F6-B498-43B3-948B-1728B52AA6E4}">
                <adec:decorative xmlns:adec="http://schemas.microsoft.com/office/drawing/2017/decorative" val="1"/>
              </a:ext>
            </a:extLst>
          </p:cNvPr>
          <p:cNvSpPr/>
          <p:nvPr/>
        </p:nvSpPr>
        <p:spPr>
          <a:xfrm>
            <a:off x="6379436" y="3404063"/>
            <a:ext cx="296896" cy="296896"/>
          </a:xfrm>
          <a:custGeom>
            <a:avLst/>
            <a:gdLst>
              <a:gd name="connsiteX0" fmla="*/ 126206 w 190500"/>
              <a:gd name="connsiteY0" fmla="*/ 109538 h 190500"/>
              <a:gd name="connsiteX1" fmla="*/ 88106 w 190500"/>
              <a:gd name="connsiteY1" fmla="*/ 109538 h 190500"/>
              <a:gd name="connsiteX2" fmla="*/ 80963 w 190500"/>
              <a:gd name="connsiteY2" fmla="*/ 102394 h 190500"/>
              <a:gd name="connsiteX3" fmla="*/ 80963 w 190500"/>
              <a:gd name="connsiteY3" fmla="*/ 45244 h 190500"/>
              <a:gd name="connsiteX4" fmla="*/ 88106 w 190500"/>
              <a:gd name="connsiteY4" fmla="*/ 38100 h 190500"/>
              <a:gd name="connsiteX5" fmla="*/ 95250 w 190500"/>
              <a:gd name="connsiteY5" fmla="*/ 45244 h 190500"/>
              <a:gd name="connsiteX6" fmla="*/ 95250 w 190500"/>
              <a:gd name="connsiteY6" fmla="*/ 95250 h 190500"/>
              <a:gd name="connsiteX7" fmla="*/ 126206 w 190500"/>
              <a:gd name="connsiteY7" fmla="*/ 95250 h 190500"/>
              <a:gd name="connsiteX8" fmla="*/ 133350 w 190500"/>
              <a:gd name="connsiteY8" fmla="*/ 102394 h 190500"/>
              <a:gd name="connsiteX9" fmla="*/ 126206 w 190500"/>
              <a:gd name="connsiteY9" fmla="*/ 109538 h 190500"/>
              <a:gd name="connsiteX10" fmla="*/ 95250 w 190500"/>
              <a:gd name="connsiteY10" fmla="*/ 0 h 190500"/>
              <a:gd name="connsiteX11" fmla="*/ 0 w 190500"/>
              <a:gd name="connsiteY11" fmla="*/ 95250 h 190500"/>
              <a:gd name="connsiteX12" fmla="*/ 95250 w 190500"/>
              <a:gd name="connsiteY12" fmla="*/ 190500 h 190500"/>
              <a:gd name="connsiteX13" fmla="*/ 190500 w 190500"/>
              <a:gd name="connsiteY13" fmla="*/ 95250 h 190500"/>
              <a:gd name="connsiteX14" fmla="*/ 95250 w 190500"/>
              <a:gd name="connsiteY14"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126206" y="109538"/>
                </a:moveTo>
                <a:lnTo>
                  <a:pt x="88106" y="109538"/>
                </a:lnTo>
                <a:cubicBezTo>
                  <a:pt x="84201" y="109538"/>
                  <a:pt x="80963" y="106299"/>
                  <a:pt x="80963" y="102394"/>
                </a:cubicBezTo>
                <a:lnTo>
                  <a:pt x="80963" y="45244"/>
                </a:lnTo>
                <a:cubicBezTo>
                  <a:pt x="80963" y="41339"/>
                  <a:pt x="84201" y="38100"/>
                  <a:pt x="88106" y="38100"/>
                </a:cubicBezTo>
                <a:cubicBezTo>
                  <a:pt x="92012" y="38100"/>
                  <a:pt x="95250" y="41339"/>
                  <a:pt x="95250" y="45244"/>
                </a:cubicBezTo>
                <a:lnTo>
                  <a:pt x="95250" y="95250"/>
                </a:lnTo>
                <a:lnTo>
                  <a:pt x="126206" y="95250"/>
                </a:lnTo>
                <a:cubicBezTo>
                  <a:pt x="130112" y="95250"/>
                  <a:pt x="133350" y="98489"/>
                  <a:pt x="133350" y="102394"/>
                </a:cubicBezTo>
                <a:cubicBezTo>
                  <a:pt x="133350" y="106299"/>
                  <a:pt x="130112" y="109538"/>
                  <a:pt x="126206" y="109538"/>
                </a:cubicBezTo>
                <a:close/>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path>
            </a:pathLst>
          </a:custGeom>
          <a:solidFill>
            <a:schemeClr val="tx1"/>
          </a:solidFill>
          <a:ln w="12700" cap="rnd">
            <a:noFill/>
          </a:ln>
        </p:spPr>
        <p:txBody>
          <a:bodyPr wrap="none" lIns="0" tIns="0" rIns="0" bIns="45720" rtlCol="0" anchor="ctr" anchorCtr="0">
            <a:noAutofit/>
          </a:bodyPr>
          <a:lstStyle/>
          <a:p>
            <a:pPr algn="ctr" defTabSz="914437" fontAlgn="base">
              <a:spcBef>
                <a:spcPts val="1200"/>
              </a:spcBef>
              <a:spcAft>
                <a:spcPct val="0"/>
              </a:spcAft>
              <a:tabLst>
                <a:tab pos="1487158" algn="l"/>
              </a:tabLst>
            </a:pPr>
            <a:endParaRPr lang="en-US"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endParaRPr>
          </a:p>
        </p:txBody>
      </p:sp>
      <p:sp>
        <p:nvSpPr>
          <p:cNvPr id="39" name="Graphic 24">
            <a:extLst>
              <a:ext uri="{FF2B5EF4-FFF2-40B4-BE49-F238E27FC236}">
                <a16:creationId xmlns:a16="http://schemas.microsoft.com/office/drawing/2014/main" id="{0B153DA8-ED25-29A2-AC3E-482863D25D77}"/>
              </a:ext>
              <a:ext uri="{C183D7F6-B498-43B3-948B-1728B52AA6E4}">
                <adec:decorative xmlns:adec="http://schemas.microsoft.com/office/drawing/2017/decorative" val="1"/>
              </a:ext>
            </a:extLst>
          </p:cNvPr>
          <p:cNvSpPr/>
          <p:nvPr/>
        </p:nvSpPr>
        <p:spPr>
          <a:xfrm>
            <a:off x="3546421" y="4197795"/>
            <a:ext cx="296896" cy="289992"/>
          </a:xfrm>
          <a:custGeom>
            <a:avLst/>
            <a:gdLst>
              <a:gd name="connsiteX0" fmla="*/ 108680 w 190500"/>
              <a:gd name="connsiteY0" fmla="*/ 2643 h 186070"/>
              <a:gd name="connsiteX1" fmla="*/ 81820 w 190500"/>
              <a:gd name="connsiteY1" fmla="*/ 2643 h 186070"/>
              <a:gd name="connsiteX2" fmla="*/ 10382 w 190500"/>
              <a:gd name="connsiteY2" fmla="*/ 31599 h 186070"/>
              <a:gd name="connsiteX3" fmla="*/ 0 w 190500"/>
              <a:gd name="connsiteY3" fmla="*/ 47125 h 186070"/>
              <a:gd name="connsiteX4" fmla="*/ 0 w 190500"/>
              <a:gd name="connsiteY4" fmla="*/ 139041 h 186070"/>
              <a:gd name="connsiteX5" fmla="*/ 10382 w 190500"/>
              <a:gd name="connsiteY5" fmla="*/ 154472 h 186070"/>
              <a:gd name="connsiteX6" fmla="*/ 81820 w 190500"/>
              <a:gd name="connsiteY6" fmla="*/ 183428 h 186070"/>
              <a:gd name="connsiteX7" fmla="*/ 108680 w 190500"/>
              <a:gd name="connsiteY7" fmla="*/ 183428 h 186070"/>
              <a:gd name="connsiteX8" fmla="*/ 180118 w 190500"/>
              <a:gd name="connsiteY8" fmla="*/ 154472 h 186070"/>
              <a:gd name="connsiteX9" fmla="*/ 190500 w 190500"/>
              <a:gd name="connsiteY9" fmla="*/ 139041 h 186070"/>
              <a:gd name="connsiteX10" fmla="*/ 190500 w 190500"/>
              <a:gd name="connsiteY10" fmla="*/ 47125 h 186070"/>
              <a:gd name="connsiteX11" fmla="*/ 180118 w 190500"/>
              <a:gd name="connsiteY11" fmla="*/ 31694 h 186070"/>
              <a:gd name="connsiteX12" fmla="*/ 108680 w 190500"/>
              <a:gd name="connsiteY12" fmla="*/ 2738 h 186070"/>
              <a:gd name="connsiteX13" fmla="*/ 108680 w 190500"/>
              <a:gd name="connsiteY13" fmla="*/ 2738 h 186070"/>
              <a:gd name="connsiteX14" fmla="*/ 38576 w 190500"/>
              <a:gd name="connsiteY14" fmla="*/ 54840 h 186070"/>
              <a:gd name="connsiteX15" fmla="*/ 47816 w 190500"/>
              <a:gd name="connsiteY15" fmla="*/ 50744 h 186070"/>
              <a:gd name="connsiteX16" fmla="*/ 95250 w 190500"/>
              <a:gd name="connsiteY16" fmla="*/ 68747 h 186070"/>
              <a:gd name="connsiteX17" fmla="*/ 142685 w 190500"/>
              <a:gd name="connsiteY17" fmla="*/ 50744 h 186070"/>
              <a:gd name="connsiteX18" fmla="*/ 152019 w 190500"/>
              <a:gd name="connsiteY18" fmla="*/ 54650 h 186070"/>
              <a:gd name="connsiteX19" fmla="*/ 148114 w 190500"/>
              <a:gd name="connsiteY19" fmla="*/ 63984 h 186070"/>
              <a:gd name="connsiteX20" fmla="*/ 147828 w 190500"/>
              <a:gd name="connsiteY20" fmla="*/ 64079 h 186070"/>
              <a:gd name="connsiteX21" fmla="*/ 102394 w 190500"/>
              <a:gd name="connsiteY21" fmla="*/ 81320 h 186070"/>
              <a:gd name="connsiteX22" fmla="*/ 102394 w 190500"/>
              <a:gd name="connsiteY22" fmla="*/ 133612 h 186070"/>
              <a:gd name="connsiteX23" fmla="*/ 95250 w 190500"/>
              <a:gd name="connsiteY23" fmla="*/ 140756 h 186070"/>
              <a:gd name="connsiteX24" fmla="*/ 88106 w 190500"/>
              <a:gd name="connsiteY24" fmla="*/ 133612 h 186070"/>
              <a:gd name="connsiteX25" fmla="*/ 88106 w 190500"/>
              <a:gd name="connsiteY25" fmla="*/ 81320 h 186070"/>
              <a:gd name="connsiteX26" fmla="*/ 42672 w 190500"/>
              <a:gd name="connsiteY26" fmla="*/ 64079 h 186070"/>
              <a:gd name="connsiteX27" fmla="*/ 38576 w 190500"/>
              <a:gd name="connsiteY27" fmla="*/ 54840 h 186070"/>
              <a:gd name="connsiteX28" fmla="*/ 38576 w 190500"/>
              <a:gd name="connsiteY28" fmla="*/ 54840 h 18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0500" h="186070">
                <a:moveTo>
                  <a:pt x="108680" y="2643"/>
                </a:moveTo>
                <a:cubicBezTo>
                  <a:pt x="100108" y="-881"/>
                  <a:pt x="90488" y="-881"/>
                  <a:pt x="81820" y="2643"/>
                </a:cubicBezTo>
                <a:lnTo>
                  <a:pt x="10382" y="31599"/>
                </a:lnTo>
                <a:cubicBezTo>
                  <a:pt x="4096" y="34171"/>
                  <a:pt x="0" y="40267"/>
                  <a:pt x="0" y="47125"/>
                </a:cubicBezTo>
                <a:lnTo>
                  <a:pt x="0" y="139041"/>
                </a:lnTo>
                <a:cubicBezTo>
                  <a:pt x="0" y="145804"/>
                  <a:pt x="4096" y="151900"/>
                  <a:pt x="10382" y="154472"/>
                </a:cubicBezTo>
                <a:lnTo>
                  <a:pt x="81820" y="183428"/>
                </a:lnTo>
                <a:cubicBezTo>
                  <a:pt x="90392" y="186952"/>
                  <a:pt x="100013" y="186952"/>
                  <a:pt x="108680" y="183428"/>
                </a:cubicBezTo>
                <a:lnTo>
                  <a:pt x="180118" y="154472"/>
                </a:lnTo>
                <a:cubicBezTo>
                  <a:pt x="186404" y="151900"/>
                  <a:pt x="190500" y="145804"/>
                  <a:pt x="190500" y="139041"/>
                </a:cubicBezTo>
                <a:lnTo>
                  <a:pt x="190500" y="47125"/>
                </a:lnTo>
                <a:cubicBezTo>
                  <a:pt x="190500" y="40362"/>
                  <a:pt x="186404" y="34266"/>
                  <a:pt x="180118" y="31694"/>
                </a:cubicBezTo>
                <a:lnTo>
                  <a:pt x="108680" y="2738"/>
                </a:lnTo>
                <a:lnTo>
                  <a:pt x="108680" y="2738"/>
                </a:lnTo>
                <a:close/>
                <a:moveTo>
                  <a:pt x="38576" y="54840"/>
                </a:moveTo>
                <a:cubicBezTo>
                  <a:pt x="40005" y="51125"/>
                  <a:pt x="44101" y="49316"/>
                  <a:pt x="47816" y="50744"/>
                </a:cubicBezTo>
                <a:lnTo>
                  <a:pt x="95250" y="68747"/>
                </a:lnTo>
                <a:lnTo>
                  <a:pt x="142685" y="50744"/>
                </a:lnTo>
                <a:cubicBezTo>
                  <a:pt x="146304" y="49220"/>
                  <a:pt x="150495" y="51030"/>
                  <a:pt x="152019" y="54650"/>
                </a:cubicBezTo>
                <a:cubicBezTo>
                  <a:pt x="153543" y="58269"/>
                  <a:pt x="151733" y="62460"/>
                  <a:pt x="148114" y="63984"/>
                </a:cubicBezTo>
                <a:cubicBezTo>
                  <a:pt x="148019" y="63984"/>
                  <a:pt x="147923" y="63984"/>
                  <a:pt x="147828" y="64079"/>
                </a:cubicBezTo>
                <a:lnTo>
                  <a:pt x="102394" y="81320"/>
                </a:lnTo>
                <a:lnTo>
                  <a:pt x="102394" y="133612"/>
                </a:lnTo>
                <a:cubicBezTo>
                  <a:pt x="102394" y="137517"/>
                  <a:pt x="99155" y="140756"/>
                  <a:pt x="95250" y="140756"/>
                </a:cubicBezTo>
                <a:cubicBezTo>
                  <a:pt x="91345" y="140756"/>
                  <a:pt x="88106" y="137517"/>
                  <a:pt x="88106" y="133612"/>
                </a:cubicBezTo>
                <a:lnTo>
                  <a:pt x="88106" y="81320"/>
                </a:lnTo>
                <a:lnTo>
                  <a:pt x="42672" y="64079"/>
                </a:lnTo>
                <a:cubicBezTo>
                  <a:pt x="38957" y="62651"/>
                  <a:pt x="37148" y="58555"/>
                  <a:pt x="38576" y="54840"/>
                </a:cubicBezTo>
                <a:lnTo>
                  <a:pt x="38576" y="54840"/>
                </a:lnTo>
                <a:close/>
              </a:path>
            </a:pathLst>
          </a:custGeom>
          <a:solidFill>
            <a:schemeClr val="tx1"/>
          </a:solidFill>
          <a:ln w="12700" cap="rnd">
            <a:noFill/>
          </a:ln>
        </p:spPr>
        <p:txBody>
          <a:bodyPr wrap="none" lIns="0" tIns="0" rIns="0" bIns="45720" rtlCol="0" anchor="ctr" anchorCtr="0">
            <a:noAutofit/>
          </a:bodyPr>
          <a:lstStyle/>
          <a:p>
            <a:pPr algn="ctr" defTabSz="914437" fontAlgn="base">
              <a:spcBef>
                <a:spcPts val="1200"/>
              </a:spcBef>
              <a:spcAft>
                <a:spcPct val="0"/>
              </a:spcAft>
              <a:tabLst>
                <a:tab pos="1487158" algn="l"/>
              </a:tabLst>
            </a:pPr>
            <a:endParaRPr lang="en-US"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endParaRPr>
          </a:p>
        </p:txBody>
      </p:sp>
      <p:sp>
        <p:nvSpPr>
          <p:cNvPr id="42" name="Graphic 28">
            <a:extLst>
              <a:ext uri="{FF2B5EF4-FFF2-40B4-BE49-F238E27FC236}">
                <a16:creationId xmlns:a16="http://schemas.microsoft.com/office/drawing/2014/main" id="{B4F18092-F57E-B3D4-1EF8-65201FB38BE5}"/>
              </a:ext>
              <a:ext uri="{C183D7F6-B498-43B3-948B-1728B52AA6E4}">
                <adec:decorative xmlns:adec="http://schemas.microsoft.com/office/drawing/2017/decorative" val="1"/>
              </a:ext>
            </a:extLst>
          </p:cNvPr>
          <p:cNvSpPr/>
          <p:nvPr/>
        </p:nvSpPr>
        <p:spPr>
          <a:xfrm>
            <a:off x="9201442" y="3404063"/>
            <a:ext cx="244938" cy="296896"/>
          </a:xfrm>
          <a:custGeom>
            <a:avLst/>
            <a:gdLst>
              <a:gd name="connsiteX0" fmla="*/ 0 w 157162"/>
              <a:gd name="connsiteY0" fmla="*/ 23813 h 190500"/>
              <a:gd name="connsiteX1" fmla="*/ 23813 w 157162"/>
              <a:gd name="connsiteY1" fmla="*/ 0 h 190500"/>
              <a:gd name="connsiteX2" fmla="*/ 133350 w 157162"/>
              <a:gd name="connsiteY2" fmla="*/ 0 h 190500"/>
              <a:gd name="connsiteX3" fmla="*/ 157163 w 157162"/>
              <a:gd name="connsiteY3" fmla="*/ 23813 h 190500"/>
              <a:gd name="connsiteX4" fmla="*/ 157163 w 157162"/>
              <a:gd name="connsiteY4" fmla="*/ 159544 h 190500"/>
              <a:gd name="connsiteX5" fmla="*/ 150019 w 157162"/>
              <a:gd name="connsiteY5" fmla="*/ 166688 h 190500"/>
              <a:gd name="connsiteX6" fmla="*/ 14288 w 157162"/>
              <a:gd name="connsiteY6" fmla="*/ 166688 h 190500"/>
              <a:gd name="connsiteX7" fmla="*/ 23813 w 157162"/>
              <a:gd name="connsiteY7" fmla="*/ 176213 h 190500"/>
              <a:gd name="connsiteX8" fmla="*/ 150019 w 157162"/>
              <a:gd name="connsiteY8" fmla="*/ 176213 h 190500"/>
              <a:gd name="connsiteX9" fmla="*/ 157163 w 157162"/>
              <a:gd name="connsiteY9" fmla="*/ 183356 h 190500"/>
              <a:gd name="connsiteX10" fmla="*/ 150019 w 157162"/>
              <a:gd name="connsiteY10" fmla="*/ 190500 h 190500"/>
              <a:gd name="connsiteX11" fmla="*/ 23813 w 157162"/>
              <a:gd name="connsiteY11" fmla="*/ 190500 h 190500"/>
              <a:gd name="connsiteX12" fmla="*/ 0 w 157162"/>
              <a:gd name="connsiteY12" fmla="*/ 166688 h 190500"/>
              <a:gd name="connsiteX13" fmla="*/ 0 w 157162"/>
              <a:gd name="connsiteY13" fmla="*/ 23813 h 190500"/>
              <a:gd name="connsiteX14" fmla="*/ 62294 w 157162"/>
              <a:gd name="connsiteY14" fmla="*/ 62960 h 190500"/>
              <a:gd name="connsiteX15" fmla="*/ 38862 w 157162"/>
              <a:gd name="connsiteY15" fmla="*/ 66389 h 190500"/>
              <a:gd name="connsiteX16" fmla="*/ 33338 w 157162"/>
              <a:gd name="connsiteY16" fmla="*/ 73724 h 190500"/>
              <a:gd name="connsiteX17" fmla="*/ 35243 w 157162"/>
              <a:gd name="connsiteY17" fmla="*/ 77438 h 190500"/>
              <a:gd name="connsiteX18" fmla="*/ 52197 w 157162"/>
              <a:gd name="connsiteY18" fmla="*/ 93917 h 190500"/>
              <a:gd name="connsiteX19" fmla="*/ 48197 w 157162"/>
              <a:gd name="connsiteY19" fmla="*/ 117253 h 190500"/>
              <a:gd name="connsiteX20" fmla="*/ 53435 w 157162"/>
              <a:gd name="connsiteY20" fmla="*/ 124682 h 190500"/>
              <a:gd name="connsiteX21" fmla="*/ 57531 w 157162"/>
              <a:gd name="connsiteY21" fmla="*/ 124016 h 190500"/>
              <a:gd name="connsiteX22" fmla="*/ 78486 w 157162"/>
              <a:gd name="connsiteY22" fmla="*/ 112967 h 190500"/>
              <a:gd name="connsiteX23" fmla="*/ 99441 w 157162"/>
              <a:gd name="connsiteY23" fmla="*/ 124016 h 190500"/>
              <a:gd name="connsiteX24" fmla="*/ 108204 w 157162"/>
              <a:gd name="connsiteY24" fmla="*/ 121349 h 190500"/>
              <a:gd name="connsiteX25" fmla="*/ 108871 w 157162"/>
              <a:gd name="connsiteY25" fmla="*/ 117253 h 190500"/>
              <a:gd name="connsiteX26" fmla="*/ 104870 w 157162"/>
              <a:gd name="connsiteY26" fmla="*/ 93917 h 190500"/>
              <a:gd name="connsiteX27" fmla="*/ 121825 w 157162"/>
              <a:gd name="connsiteY27" fmla="*/ 77343 h 190500"/>
              <a:gd name="connsiteX28" fmla="*/ 121920 w 157162"/>
              <a:gd name="connsiteY28" fmla="*/ 68199 h 190500"/>
              <a:gd name="connsiteX29" fmla="*/ 118205 w 157162"/>
              <a:gd name="connsiteY29" fmla="*/ 66294 h 190500"/>
              <a:gd name="connsiteX30" fmla="*/ 94774 w 157162"/>
              <a:gd name="connsiteY30" fmla="*/ 62865 h 190500"/>
              <a:gd name="connsiteX31" fmla="*/ 84296 w 157162"/>
              <a:gd name="connsiteY31" fmla="*/ 41624 h 190500"/>
              <a:gd name="connsiteX32" fmla="*/ 75629 w 157162"/>
              <a:gd name="connsiteY32" fmla="*/ 38672 h 190500"/>
              <a:gd name="connsiteX33" fmla="*/ 72676 w 157162"/>
              <a:gd name="connsiteY33" fmla="*/ 41624 h 190500"/>
              <a:gd name="connsiteX34" fmla="*/ 62198 w 157162"/>
              <a:gd name="connsiteY34" fmla="*/ 6286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7162" h="190500">
                <a:moveTo>
                  <a:pt x="0" y="23813"/>
                </a:moveTo>
                <a:cubicBezTo>
                  <a:pt x="0" y="10668"/>
                  <a:pt x="10668" y="0"/>
                  <a:pt x="23813" y="0"/>
                </a:cubicBezTo>
                <a:lnTo>
                  <a:pt x="133350" y="0"/>
                </a:lnTo>
                <a:cubicBezTo>
                  <a:pt x="146495" y="0"/>
                  <a:pt x="157163" y="10668"/>
                  <a:pt x="157163" y="23813"/>
                </a:cubicBezTo>
                <a:lnTo>
                  <a:pt x="157163" y="159544"/>
                </a:lnTo>
                <a:cubicBezTo>
                  <a:pt x="157163" y="163449"/>
                  <a:pt x="153924" y="166688"/>
                  <a:pt x="150019" y="166688"/>
                </a:cubicBezTo>
                <a:lnTo>
                  <a:pt x="14288" y="166688"/>
                </a:lnTo>
                <a:cubicBezTo>
                  <a:pt x="14288" y="171926"/>
                  <a:pt x="18574" y="176213"/>
                  <a:pt x="23813" y="176213"/>
                </a:cubicBezTo>
                <a:lnTo>
                  <a:pt x="150019" y="176213"/>
                </a:lnTo>
                <a:cubicBezTo>
                  <a:pt x="153924" y="176213"/>
                  <a:pt x="157163" y="179451"/>
                  <a:pt x="157163" y="183356"/>
                </a:cubicBezTo>
                <a:cubicBezTo>
                  <a:pt x="157163" y="187262"/>
                  <a:pt x="153924" y="190500"/>
                  <a:pt x="150019" y="190500"/>
                </a:cubicBezTo>
                <a:lnTo>
                  <a:pt x="23813" y="190500"/>
                </a:lnTo>
                <a:cubicBezTo>
                  <a:pt x="10668" y="190500"/>
                  <a:pt x="0" y="179832"/>
                  <a:pt x="0" y="166688"/>
                </a:cubicBezTo>
                <a:lnTo>
                  <a:pt x="0" y="23813"/>
                </a:lnTo>
                <a:close/>
                <a:moveTo>
                  <a:pt x="62294" y="62960"/>
                </a:moveTo>
                <a:lnTo>
                  <a:pt x="38862" y="66389"/>
                </a:lnTo>
                <a:cubicBezTo>
                  <a:pt x="35338" y="66866"/>
                  <a:pt x="32861" y="70199"/>
                  <a:pt x="33338" y="73724"/>
                </a:cubicBezTo>
                <a:cubicBezTo>
                  <a:pt x="33528" y="75152"/>
                  <a:pt x="34195" y="76486"/>
                  <a:pt x="35243" y="77438"/>
                </a:cubicBezTo>
                <a:lnTo>
                  <a:pt x="52197" y="93917"/>
                </a:lnTo>
                <a:lnTo>
                  <a:pt x="48197" y="117253"/>
                </a:lnTo>
                <a:cubicBezTo>
                  <a:pt x="47625" y="120777"/>
                  <a:pt x="49911" y="124111"/>
                  <a:pt x="53435" y="124682"/>
                </a:cubicBezTo>
                <a:cubicBezTo>
                  <a:pt x="54864" y="124968"/>
                  <a:pt x="56293" y="124682"/>
                  <a:pt x="57531" y="124016"/>
                </a:cubicBezTo>
                <a:lnTo>
                  <a:pt x="78486" y="112967"/>
                </a:lnTo>
                <a:lnTo>
                  <a:pt x="99441" y="124016"/>
                </a:lnTo>
                <a:cubicBezTo>
                  <a:pt x="102584" y="125730"/>
                  <a:pt x="106490" y="124492"/>
                  <a:pt x="108204" y="121349"/>
                </a:cubicBezTo>
                <a:cubicBezTo>
                  <a:pt x="108871" y="120110"/>
                  <a:pt x="109061" y="118682"/>
                  <a:pt x="108871" y="117253"/>
                </a:cubicBezTo>
                <a:lnTo>
                  <a:pt x="104870" y="93917"/>
                </a:lnTo>
                <a:lnTo>
                  <a:pt x="121825" y="77343"/>
                </a:lnTo>
                <a:cubicBezTo>
                  <a:pt x="124397" y="74867"/>
                  <a:pt x="124397" y="70771"/>
                  <a:pt x="121920" y="68199"/>
                </a:cubicBezTo>
                <a:cubicBezTo>
                  <a:pt x="120968" y="67151"/>
                  <a:pt x="119634" y="66485"/>
                  <a:pt x="118205" y="66294"/>
                </a:cubicBezTo>
                <a:lnTo>
                  <a:pt x="94774" y="62865"/>
                </a:lnTo>
                <a:lnTo>
                  <a:pt x="84296" y="41624"/>
                </a:lnTo>
                <a:cubicBezTo>
                  <a:pt x="82677" y="38386"/>
                  <a:pt x="78867" y="37148"/>
                  <a:pt x="75629" y="38672"/>
                </a:cubicBezTo>
                <a:cubicBezTo>
                  <a:pt x="74390" y="39338"/>
                  <a:pt x="73343" y="40291"/>
                  <a:pt x="72676" y="41624"/>
                </a:cubicBezTo>
                <a:cubicBezTo>
                  <a:pt x="72676" y="41624"/>
                  <a:pt x="62198" y="62865"/>
                  <a:pt x="62198" y="62865"/>
                </a:cubicBezTo>
                <a:close/>
              </a:path>
            </a:pathLst>
          </a:custGeom>
          <a:solidFill>
            <a:schemeClr val="tx1"/>
          </a:solidFill>
          <a:ln w="12700" cap="rnd">
            <a:noFill/>
          </a:ln>
        </p:spPr>
        <p:txBody>
          <a:bodyPr wrap="none" lIns="0" tIns="0" rIns="0" bIns="45720" rtlCol="0" anchor="ctr" anchorCtr="0">
            <a:noAutofit/>
          </a:bodyPr>
          <a:lstStyle/>
          <a:p>
            <a:pPr algn="ctr" defTabSz="914437" fontAlgn="base">
              <a:spcBef>
                <a:spcPts val="1200"/>
              </a:spcBef>
              <a:spcAft>
                <a:spcPct val="0"/>
              </a:spcAft>
              <a:tabLst>
                <a:tab pos="1487158" algn="l"/>
              </a:tabLst>
            </a:pPr>
            <a:endParaRPr lang="en-US"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endParaRPr>
          </a:p>
        </p:txBody>
      </p:sp>
      <p:sp>
        <p:nvSpPr>
          <p:cNvPr id="43" name="Graphic 30">
            <a:extLst>
              <a:ext uri="{FF2B5EF4-FFF2-40B4-BE49-F238E27FC236}">
                <a16:creationId xmlns:a16="http://schemas.microsoft.com/office/drawing/2014/main" id="{AC97AD9C-0C31-85AB-A8BF-3C1DF0316720}"/>
              </a:ext>
              <a:ext uri="{C183D7F6-B498-43B3-948B-1728B52AA6E4}">
                <adec:decorative xmlns:adec="http://schemas.microsoft.com/office/drawing/2017/decorative" val="1"/>
              </a:ext>
            </a:extLst>
          </p:cNvPr>
          <p:cNvSpPr/>
          <p:nvPr/>
        </p:nvSpPr>
        <p:spPr>
          <a:xfrm>
            <a:off x="9203359" y="4221645"/>
            <a:ext cx="311590" cy="311740"/>
          </a:xfrm>
          <a:custGeom>
            <a:avLst/>
            <a:gdLst>
              <a:gd name="connsiteX0" fmla="*/ 142875 w 199929"/>
              <a:gd name="connsiteY0" fmla="*/ 0 h 200025"/>
              <a:gd name="connsiteX1" fmla="*/ 171450 w 199929"/>
              <a:gd name="connsiteY1" fmla="*/ 28575 h 200025"/>
              <a:gd name="connsiteX2" fmla="*/ 171450 w 199929"/>
              <a:gd name="connsiteY2" fmla="*/ 103823 h 200025"/>
              <a:gd name="connsiteX3" fmla="*/ 168974 w 199929"/>
              <a:gd name="connsiteY3" fmla="*/ 98870 h 200025"/>
              <a:gd name="connsiteX4" fmla="*/ 126397 w 199929"/>
              <a:gd name="connsiteY4" fmla="*/ 98870 h 200025"/>
              <a:gd name="connsiteX5" fmla="*/ 90107 w 199929"/>
              <a:gd name="connsiteY5" fmla="*/ 171450 h 200025"/>
              <a:gd name="connsiteX6" fmla="*/ 28575 w 199929"/>
              <a:gd name="connsiteY6" fmla="*/ 171450 h 200025"/>
              <a:gd name="connsiteX7" fmla="*/ 0 w 199929"/>
              <a:gd name="connsiteY7" fmla="*/ 142875 h 200025"/>
              <a:gd name="connsiteX8" fmla="*/ 0 w 199929"/>
              <a:gd name="connsiteY8" fmla="*/ 28575 h 200025"/>
              <a:gd name="connsiteX9" fmla="*/ 28575 w 199929"/>
              <a:gd name="connsiteY9" fmla="*/ 0 h 200025"/>
              <a:gd name="connsiteX10" fmla="*/ 142875 w 199929"/>
              <a:gd name="connsiteY10" fmla="*/ 0 h 200025"/>
              <a:gd name="connsiteX11" fmla="*/ 128302 w 199929"/>
              <a:gd name="connsiteY11" fmla="*/ 47339 h 200025"/>
              <a:gd name="connsiteX12" fmla="*/ 66675 w 199929"/>
              <a:gd name="connsiteY12" fmla="*/ 108966 h 200025"/>
              <a:gd name="connsiteX13" fmla="*/ 43148 w 199929"/>
              <a:gd name="connsiteY13" fmla="*/ 85439 h 200025"/>
              <a:gd name="connsiteX14" fmla="*/ 33052 w 199929"/>
              <a:gd name="connsiteY14" fmla="*/ 85820 h 200025"/>
              <a:gd name="connsiteX15" fmla="*/ 33052 w 199929"/>
              <a:gd name="connsiteY15" fmla="*/ 95536 h 200025"/>
              <a:gd name="connsiteX16" fmla="*/ 61627 w 199929"/>
              <a:gd name="connsiteY16" fmla="*/ 124111 h 200025"/>
              <a:gd name="connsiteX17" fmla="*/ 71723 w 199929"/>
              <a:gd name="connsiteY17" fmla="*/ 124111 h 200025"/>
              <a:gd name="connsiteX18" fmla="*/ 138398 w 199929"/>
              <a:gd name="connsiteY18" fmla="*/ 57436 h 200025"/>
              <a:gd name="connsiteX19" fmla="*/ 138017 w 199929"/>
              <a:gd name="connsiteY19" fmla="*/ 47339 h 200025"/>
              <a:gd name="connsiteX20" fmla="*/ 128302 w 199929"/>
              <a:gd name="connsiteY20" fmla="*/ 47339 h 200025"/>
              <a:gd name="connsiteX21" fmla="*/ 134874 w 199929"/>
              <a:gd name="connsiteY21" fmla="*/ 103156 h 200025"/>
              <a:gd name="connsiteX22" fmla="*/ 96774 w 199929"/>
              <a:gd name="connsiteY22" fmla="*/ 179356 h 200025"/>
              <a:gd name="connsiteX23" fmla="*/ 103156 w 199929"/>
              <a:gd name="connsiteY23" fmla="*/ 198501 h 200025"/>
              <a:gd name="connsiteX24" fmla="*/ 109538 w 199929"/>
              <a:gd name="connsiteY24" fmla="*/ 200025 h 200025"/>
              <a:gd name="connsiteX25" fmla="*/ 185642 w 199929"/>
              <a:gd name="connsiteY25" fmla="*/ 200025 h 200025"/>
              <a:gd name="connsiteX26" fmla="*/ 199930 w 199929"/>
              <a:gd name="connsiteY26" fmla="*/ 185738 h 200025"/>
              <a:gd name="connsiteX27" fmla="*/ 198406 w 199929"/>
              <a:gd name="connsiteY27" fmla="*/ 179356 h 200025"/>
              <a:gd name="connsiteX28" fmla="*/ 160306 w 199929"/>
              <a:gd name="connsiteY28" fmla="*/ 103156 h 200025"/>
              <a:gd name="connsiteX29" fmla="*/ 134684 w 199929"/>
              <a:gd name="connsiteY29" fmla="*/ 103156 h 200025"/>
              <a:gd name="connsiteX30" fmla="*/ 152400 w 199929"/>
              <a:gd name="connsiteY30" fmla="*/ 128588 h 200025"/>
              <a:gd name="connsiteX31" fmla="*/ 152400 w 199929"/>
              <a:gd name="connsiteY31" fmla="*/ 157163 h 200025"/>
              <a:gd name="connsiteX32" fmla="*/ 147638 w 199929"/>
              <a:gd name="connsiteY32" fmla="*/ 161925 h 200025"/>
              <a:gd name="connsiteX33" fmla="*/ 142875 w 199929"/>
              <a:gd name="connsiteY33" fmla="*/ 157163 h 200025"/>
              <a:gd name="connsiteX34" fmla="*/ 142875 w 199929"/>
              <a:gd name="connsiteY34" fmla="*/ 128588 h 200025"/>
              <a:gd name="connsiteX35" fmla="*/ 147638 w 199929"/>
              <a:gd name="connsiteY35" fmla="*/ 123825 h 200025"/>
              <a:gd name="connsiteX36" fmla="*/ 152400 w 199929"/>
              <a:gd name="connsiteY36" fmla="*/ 128588 h 200025"/>
              <a:gd name="connsiteX37" fmla="*/ 147638 w 199929"/>
              <a:gd name="connsiteY37" fmla="*/ 180975 h 200025"/>
              <a:gd name="connsiteX38" fmla="*/ 142875 w 199929"/>
              <a:gd name="connsiteY38" fmla="*/ 176213 h 200025"/>
              <a:gd name="connsiteX39" fmla="*/ 147638 w 199929"/>
              <a:gd name="connsiteY39" fmla="*/ 171450 h 200025"/>
              <a:gd name="connsiteX40" fmla="*/ 152400 w 199929"/>
              <a:gd name="connsiteY40" fmla="*/ 176213 h 200025"/>
              <a:gd name="connsiteX41" fmla="*/ 147638 w 199929"/>
              <a:gd name="connsiteY41" fmla="*/ 180975 h 200025"/>
              <a:gd name="connsiteX42" fmla="*/ 147638 w 199929"/>
              <a:gd name="connsiteY42" fmla="*/ 180975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9929" h="200025">
                <a:moveTo>
                  <a:pt x="142875" y="0"/>
                </a:moveTo>
                <a:cubicBezTo>
                  <a:pt x="158687" y="0"/>
                  <a:pt x="171450" y="12764"/>
                  <a:pt x="171450" y="28575"/>
                </a:cubicBezTo>
                <a:lnTo>
                  <a:pt x="171450" y="103823"/>
                </a:lnTo>
                <a:lnTo>
                  <a:pt x="168974" y="98870"/>
                </a:lnTo>
                <a:cubicBezTo>
                  <a:pt x="160211" y="81344"/>
                  <a:pt x="135160" y="81344"/>
                  <a:pt x="126397" y="98870"/>
                </a:cubicBezTo>
                <a:lnTo>
                  <a:pt x="90107" y="171450"/>
                </a:lnTo>
                <a:lnTo>
                  <a:pt x="28575" y="171450"/>
                </a:lnTo>
                <a:cubicBezTo>
                  <a:pt x="12764" y="171450"/>
                  <a:pt x="0" y="158687"/>
                  <a:pt x="0" y="142875"/>
                </a:cubicBezTo>
                <a:lnTo>
                  <a:pt x="0" y="28575"/>
                </a:lnTo>
                <a:cubicBezTo>
                  <a:pt x="0" y="12764"/>
                  <a:pt x="12764" y="0"/>
                  <a:pt x="28575" y="0"/>
                </a:cubicBezTo>
                <a:lnTo>
                  <a:pt x="142875" y="0"/>
                </a:lnTo>
                <a:close/>
                <a:moveTo>
                  <a:pt x="128302" y="47339"/>
                </a:moveTo>
                <a:lnTo>
                  <a:pt x="66675" y="108966"/>
                </a:lnTo>
                <a:lnTo>
                  <a:pt x="43148" y="85439"/>
                </a:lnTo>
                <a:cubicBezTo>
                  <a:pt x="40291" y="82772"/>
                  <a:pt x="35719" y="82868"/>
                  <a:pt x="33052" y="85820"/>
                </a:cubicBezTo>
                <a:cubicBezTo>
                  <a:pt x="30480" y="88583"/>
                  <a:pt x="30480" y="92774"/>
                  <a:pt x="33052" y="95536"/>
                </a:cubicBezTo>
                <a:lnTo>
                  <a:pt x="61627" y="124111"/>
                </a:lnTo>
                <a:cubicBezTo>
                  <a:pt x="64389" y="126873"/>
                  <a:pt x="68961" y="126873"/>
                  <a:pt x="71723" y="124111"/>
                </a:cubicBezTo>
                <a:lnTo>
                  <a:pt x="138398" y="57436"/>
                </a:lnTo>
                <a:cubicBezTo>
                  <a:pt x="141065" y="54578"/>
                  <a:pt x="140970" y="50006"/>
                  <a:pt x="138017" y="47339"/>
                </a:cubicBezTo>
                <a:cubicBezTo>
                  <a:pt x="135255" y="44768"/>
                  <a:pt x="131064" y="44768"/>
                  <a:pt x="128302" y="47339"/>
                </a:cubicBezTo>
                <a:close/>
                <a:moveTo>
                  <a:pt x="134874" y="103156"/>
                </a:moveTo>
                <a:lnTo>
                  <a:pt x="96774" y="179356"/>
                </a:lnTo>
                <a:cubicBezTo>
                  <a:pt x="93250" y="186404"/>
                  <a:pt x="96107" y="194977"/>
                  <a:pt x="103156" y="198501"/>
                </a:cubicBezTo>
                <a:cubicBezTo>
                  <a:pt x="105156" y="199454"/>
                  <a:pt x="107347" y="200025"/>
                  <a:pt x="109538" y="200025"/>
                </a:cubicBezTo>
                <a:lnTo>
                  <a:pt x="185642" y="200025"/>
                </a:lnTo>
                <a:cubicBezTo>
                  <a:pt x="193548" y="200025"/>
                  <a:pt x="199930" y="193643"/>
                  <a:pt x="199930" y="185738"/>
                </a:cubicBezTo>
                <a:cubicBezTo>
                  <a:pt x="199930" y="183547"/>
                  <a:pt x="199454" y="181356"/>
                  <a:pt x="198406" y="179356"/>
                </a:cubicBezTo>
                <a:lnTo>
                  <a:pt x="160306" y="103156"/>
                </a:lnTo>
                <a:cubicBezTo>
                  <a:pt x="155067" y="92583"/>
                  <a:pt x="140018" y="92583"/>
                  <a:pt x="134684" y="103156"/>
                </a:cubicBezTo>
                <a:close/>
                <a:moveTo>
                  <a:pt x="152400" y="128588"/>
                </a:moveTo>
                <a:lnTo>
                  <a:pt x="152400" y="157163"/>
                </a:lnTo>
                <a:cubicBezTo>
                  <a:pt x="152400" y="159830"/>
                  <a:pt x="150305" y="161925"/>
                  <a:pt x="147638" y="161925"/>
                </a:cubicBezTo>
                <a:cubicBezTo>
                  <a:pt x="144971" y="161925"/>
                  <a:pt x="142875" y="159830"/>
                  <a:pt x="142875" y="157163"/>
                </a:cubicBezTo>
                <a:lnTo>
                  <a:pt x="142875" y="128588"/>
                </a:lnTo>
                <a:cubicBezTo>
                  <a:pt x="142875" y="125921"/>
                  <a:pt x="144971" y="123825"/>
                  <a:pt x="147638" y="123825"/>
                </a:cubicBezTo>
                <a:cubicBezTo>
                  <a:pt x="150305" y="123825"/>
                  <a:pt x="152400" y="125921"/>
                  <a:pt x="152400" y="128588"/>
                </a:cubicBezTo>
                <a:close/>
                <a:moveTo>
                  <a:pt x="147638" y="180975"/>
                </a:moveTo>
                <a:cubicBezTo>
                  <a:pt x="144971" y="180975"/>
                  <a:pt x="142875" y="178880"/>
                  <a:pt x="142875" y="176213"/>
                </a:cubicBezTo>
                <a:cubicBezTo>
                  <a:pt x="142875" y="173546"/>
                  <a:pt x="144971" y="171450"/>
                  <a:pt x="147638" y="171450"/>
                </a:cubicBezTo>
                <a:cubicBezTo>
                  <a:pt x="150305" y="171450"/>
                  <a:pt x="152400" y="173546"/>
                  <a:pt x="152400" y="176213"/>
                </a:cubicBezTo>
                <a:cubicBezTo>
                  <a:pt x="152400" y="178880"/>
                  <a:pt x="150305" y="180975"/>
                  <a:pt x="147638" y="180975"/>
                </a:cubicBezTo>
                <a:lnTo>
                  <a:pt x="147638" y="180975"/>
                </a:lnTo>
                <a:close/>
              </a:path>
            </a:pathLst>
          </a:custGeom>
          <a:solidFill>
            <a:schemeClr val="tx1"/>
          </a:solidFill>
          <a:ln w="12700" cap="rnd">
            <a:noFill/>
          </a:ln>
        </p:spPr>
        <p:txBody>
          <a:bodyPr wrap="none" lIns="0" tIns="0" rIns="0" bIns="45720" rtlCol="0" anchor="ctr" anchorCtr="0">
            <a:noAutofit/>
          </a:bodyPr>
          <a:lstStyle/>
          <a:p>
            <a:pPr algn="ctr" defTabSz="914437" fontAlgn="base">
              <a:spcBef>
                <a:spcPts val="1200"/>
              </a:spcBef>
              <a:spcAft>
                <a:spcPct val="0"/>
              </a:spcAft>
              <a:tabLst>
                <a:tab pos="1487158" algn="l"/>
              </a:tabLst>
            </a:pPr>
            <a:endParaRPr lang="en-US"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endParaRPr>
          </a:p>
        </p:txBody>
      </p:sp>
      <p:sp>
        <p:nvSpPr>
          <p:cNvPr id="41" name="Graphic 32">
            <a:extLst>
              <a:ext uri="{FF2B5EF4-FFF2-40B4-BE49-F238E27FC236}">
                <a16:creationId xmlns:a16="http://schemas.microsoft.com/office/drawing/2014/main" id="{A3608848-60A6-8A22-CB43-D7615A172753}"/>
              </a:ext>
              <a:ext uri="{C183D7F6-B498-43B3-948B-1728B52AA6E4}">
                <adec:decorative xmlns:adec="http://schemas.microsoft.com/office/drawing/2017/decorative" val="1"/>
              </a:ext>
            </a:extLst>
          </p:cNvPr>
          <p:cNvSpPr/>
          <p:nvPr/>
        </p:nvSpPr>
        <p:spPr>
          <a:xfrm rot="18900000">
            <a:off x="6379436" y="4194343"/>
            <a:ext cx="296896" cy="296896"/>
          </a:xfrm>
          <a:custGeom>
            <a:avLst/>
            <a:gdLst>
              <a:gd name="connsiteX0" fmla="*/ 88106 w 190500"/>
              <a:gd name="connsiteY0" fmla="*/ 111919 h 190500"/>
              <a:gd name="connsiteX1" fmla="*/ 88773 w 190500"/>
              <a:gd name="connsiteY1" fmla="*/ 121253 h 190500"/>
              <a:gd name="connsiteX2" fmla="*/ 88106 w 190500"/>
              <a:gd name="connsiteY2" fmla="*/ 122015 h 190500"/>
              <a:gd name="connsiteX3" fmla="*/ 69342 w 190500"/>
              <a:gd name="connsiteY3" fmla="*/ 140780 h 190500"/>
              <a:gd name="connsiteX4" fmla="*/ 60008 w 190500"/>
              <a:gd name="connsiteY4" fmla="*/ 141446 h 190500"/>
              <a:gd name="connsiteX5" fmla="*/ 59245 w 190500"/>
              <a:gd name="connsiteY5" fmla="*/ 140780 h 190500"/>
              <a:gd name="connsiteX6" fmla="*/ 40481 w 190500"/>
              <a:gd name="connsiteY6" fmla="*/ 122015 h 190500"/>
              <a:gd name="connsiteX7" fmla="*/ 40481 w 190500"/>
              <a:gd name="connsiteY7" fmla="*/ 111919 h 190500"/>
              <a:gd name="connsiteX8" fmla="*/ 49816 w 190500"/>
              <a:gd name="connsiteY8" fmla="*/ 111252 h 190500"/>
              <a:gd name="connsiteX9" fmla="*/ 50673 w 190500"/>
              <a:gd name="connsiteY9" fmla="*/ 111919 h 190500"/>
              <a:gd name="connsiteX10" fmla="*/ 57245 w 190500"/>
              <a:gd name="connsiteY10" fmla="*/ 118491 h 190500"/>
              <a:gd name="connsiteX11" fmla="*/ 57245 w 190500"/>
              <a:gd name="connsiteY11" fmla="*/ 54769 h 190500"/>
              <a:gd name="connsiteX12" fmla="*/ 63437 w 190500"/>
              <a:gd name="connsiteY12" fmla="*/ 47720 h 190500"/>
              <a:gd name="connsiteX13" fmla="*/ 64389 w 190500"/>
              <a:gd name="connsiteY13" fmla="*/ 47720 h 190500"/>
              <a:gd name="connsiteX14" fmla="*/ 71438 w 190500"/>
              <a:gd name="connsiteY14" fmla="*/ 53816 h 190500"/>
              <a:gd name="connsiteX15" fmla="*/ 71438 w 190500"/>
              <a:gd name="connsiteY15" fmla="*/ 54769 h 190500"/>
              <a:gd name="connsiteX16" fmla="*/ 71438 w 190500"/>
              <a:gd name="connsiteY16" fmla="*/ 118491 h 190500"/>
              <a:gd name="connsiteX17" fmla="*/ 78010 w 190500"/>
              <a:gd name="connsiteY17" fmla="*/ 111919 h 190500"/>
              <a:gd name="connsiteX18" fmla="*/ 87344 w 190500"/>
              <a:gd name="connsiteY18" fmla="*/ 111252 h 190500"/>
              <a:gd name="connsiteX19" fmla="*/ 88202 w 190500"/>
              <a:gd name="connsiteY19" fmla="*/ 111919 h 190500"/>
              <a:gd name="connsiteX20" fmla="*/ 0 w 190500"/>
              <a:gd name="connsiteY20" fmla="*/ 95250 h 190500"/>
              <a:gd name="connsiteX21" fmla="*/ 95250 w 190500"/>
              <a:gd name="connsiteY21" fmla="*/ 190500 h 190500"/>
              <a:gd name="connsiteX22" fmla="*/ 190500 w 190500"/>
              <a:gd name="connsiteY22" fmla="*/ 95250 h 190500"/>
              <a:gd name="connsiteX23" fmla="*/ 95250 w 190500"/>
              <a:gd name="connsiteY23" fmla="*/ 0 h 190500"/>
              <a:gd name="connsiteX24" fmla="*/ 0 w 190500"/>
              <a:gd name="connsiteY24" fmla="*/ 95250 h 190500"/>
              <a:gd name="connsiteX25" fmla="*/ 149257 w 190500"/>
              <a:gd name="connsiteY25" fmla="*/ 111252 h 190500"/>
              <a:gd name="connsiteX26" fmla="*/ 150019 w 190500"/>
              <a:gd name="connsiteY26" fmla="*/ 111919 h 190500"/>
              <a:gd name="connsiteX27" fmla="*/ 150686 w 190500"/>
              <a:gd name="connsiteY27" fmla="*/ 121253 h 190500"/>
              <a:gd name="connsiteX28" fmla="*/ 150019 w 190500"/>
              <a:gd name="connsiteY28" fmla="*/ 122015 h 190500"/>
              <a:gd name="connsiteX29" fmla="*/ 131255 w 190500"/>
              <a:gd name="connsiteY29" fmla="*/ 140780 h 190500"/>
              <a:gd name="connsiteX30" fmla="*/ 121920 w 190500"/>
              <a:gd name="connsiteY30" fmla="*/ 141446 h 190500"/>
              <a:gd name="connsiteX31" fmla="*/ 121158 w 190500"/>
              <a:gd name="connsiteY31" fmla="*/ 140780 h 190500"/>
              <a:gd name="connsiteX32" fmla="*/ 102394 w 190500"/>
              <a:gd name="connsiteY32" fmla="*/ 122015 h 190500"/>
              <a:gd name="connsiteX33" fmla="*/ 102394 w 190500"/>
              <a:gd name="connsiteY33" fmla="*/ 111919 h 190500"/>
              <a:gd name="connsiteX34" fmla="*/ 111824 w 190500"/>
              <a:gd name="connsiteY34" fmla="*/ 111252 h 190500"/>
              <a:gd name="connsiteX35" fmla="*/ 112586 w 190500"/>
              <a:gd name="connsiteY35" fmla="*/ 111919 h 190500"/>
              <a:gd name="connsiteX36" fmla="*/ 119158 w 190500"/>
              <a:gd name="connsiteY36" fmla="*/ 118491 h 190500"/>
              <a:gd name="connsiteX37" fmla="*/ 119158 w 190500"/>
              <a:gd name="connsiteY37" fmla="*/ 54769 h 190500"/>
              <a:gd name="connsiteX38" fmla="*/ 125349 w 190500"/>
              <a:gd name="connsiteY38" fmla="*/ 47720 h 190500"/>
              <a:gd name="connsiteX39" fmla="*/ 126302 w 190500"/>
              <a:gd name="connsiteY39" fmla="*/ 47720 h 190500"/>
              <a:gd name="connsiteX40" fmla="*/ 133350 w 190500"/>
              <a:gd name="connsiteY40" fmla="*/ 53816 h 190500"/>
              <a:gd name="connsiteX41" fmla="*/ 133350 w 190500"/>
              <a:gd name="connsiteY41" fmla="*/ 54769 h 190500"/>
              <a:gd name="connsiteX42" fmla="*/ 133350 w 190500"/>
              <a:gd name="connsiteY42" fmla="*/ 118491 h 190500"/>
              <a:gd name="connsiteX43" fmla="*/ 139922 w 190500"/>
              <a:gd name="connsiteY43" fmla="*/ 111919 h 190500"/>
              <a:gd name="connsiteX44" fmla="*/ 149257 w 190500"/>
              <a:gd name="connsiteY44" fmla="*/ 111252 h 190500"/>
              <a:gd name="connsiteX45" fmla="*/ 149257 w 190500"/>
              <a:gd name="connsiteY45" fmla="*/ 111252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500" h="190500">
                <a:moveTo>
                  <a:pt x="88106" y="111919"/>
                </a:moveTo>
                <a:cubicBezTo>
                  <a:pt x="90583" y="114395"/>
                  <a:pt x="90869" y="118396"/>
                  <a:pt x="88773" y="121253"/>
                </a:cubicBezTo>
                <a:lnTo>
                  <a:pt x="88106" y="122015"/>
                </a:lnTo>
                <a:lnTo>
                  <a:pt x="69342" y="140780"/>
                </a:lnTo>
                <a:cubicBezTo>
                  <a:pt x="66866" y="143256"/>
                  <a:pt x="62865" y="143542"/>
                  <a:pt x="60008" y="141446"/>
                </a:cubicBezTo>
                <a:lnTo>
                  <a:pt x="59245" y="140780"/>
                </a:lnTo>
                <a:lnTo>
                  <a:pt x="40481" y="122015"/>
                </a:lnTo>
                <a:cubicBezTo>
                  <a:pt x="37719" y="119253"/>
                  <a:pt x="37719" y="114681"/>
                  <a:pt x="40481" y="111919"/>
                </a:cubicBezTo>
                <a:cubicBezTo>
                  <a:pt x="42958" y="109442"/>
                  <a:pt x="46958" y="109157"/>
                  <a:pt x="49816" y="111252"/>
                </a:cubicBezTo>
                <a:lnTo>
                  <a:pt x="50673" y="111919"/>
                </a:lnTo>
                <a:lnTo>
                  <a:pt x="57245" y="118491"/>
                </a:lnTo>
                <a:lnTo>
                  <a:pt x="57245" y="54769"/>
                </a:lnTo>
                <a:cubicBezTo>
                  <a:pt x="57245" y="51245"/>
                  <a:pt x="59912" y="48197"/>
                  <a:pt x="63437" y="47720"/>
                </a:cubicBezTo>
                <a:lnTo>
                  <a:pt x="64389" y="47720"/>
                </a:lnTo>
                <a:cubicBezTo>
                  <a:pt x="67913" y="47720"/>
                  <a:pt x="70961" y="50292"/>
                  <a:pt x="71438" y="53816"/>
                </a:cubicBezTo>
                <a:lnTo>
                  <a:pt x="71438" y="54769"/>
                </a:lnTo>
                <a:cubicBezTo>
                  <a:pt x="71438" y="54769"/>
                  <a:pt x="71438" y="118491"/>
                  <a:pt x="71438" y="118491"/>
                </a:cubicBezTo>
                <a:lnTo>
                  <a:pt x="78010" y="111919"/>
                </a:lnTo>
                <a:cubicBezTo>
                  <a:pt x="80486" y="109442"/>
                  <a:pt x="84487" y="109157"/>
                  <a:pt x="87344" y="111252"/>
                </a:cubicBezTo>
                <a:cubicBezTo>
                  <a:pt x="87344" y="111252"/>
                  <a:pt x="88202" y="111919"/>
                  <a:pt x="88202" y="111919"/>
                </a:cubicBezTo>
                <a:close/>
                <a:moveTo>
                  <a:pt x="0" y="95250"/>
                </a:moveTo>
                <a:cubicBezTo>
                  <a:pt x="0" y="147828"/>
                  <a:pt x="42672" y="190500"/>
                  <a:pt x="95250" y="190500"/>
                </a:cubicBezTo>
                <a:cubicBezTo>
                  <a:pt x="147828" y="190500"/>
                  <a:pt x="190500" y="147828"/>
                  <a:pt x="190500" y="95250"/>
                </a:cubicBezTo>
                <a:cubicBezTo>
                  <a:pt x="190500" y="42672"/>
                  <a:pt x="147828" y="0"/>
                  <a:pt x="95250" y="0"/>
                </a:cubicBezTo>
                <a:cubicBezTo>
                  <a:pt x="42672" y="0"/>
                  <a:pt x="0" y="42672"/>
                  <a:pt x="0" y="95250"/>
                </a:cubicBezTo>
                <a:close/>
                <a:moveTo>
                  <a:pt x="149257" y="111252"/>
                </a:moveTo>
                <a:lnTo>
                  <a:pt x="150019" y="111919"/>
                </a:lnTo>
                <a:cubicBezTo>
                  <a:pt x="152495" y="114395"/>
                  <a:pt x="152781" y="118396"/>
                  <a:pt x="150686" y="121253"/>
                </a:cubicBezTo>
                <a:lnTo>
                  <a:pt x="150019" y="122015"/>
                </a:lnTo>
                <a:lnTo>
                  <a:pt x="131255" y="140780"/>
                </a:lnTo>
                <a:cubicBezTo>
                  <a:pt x="128778" y="143256"/>
                  <a:pt x="124778" y="143542"/>
                  <a:pt x="121920" y="141446"/>
                </a:cubicBezTo>
                <a:lnTo>
                  <a:pt x="121158" y="140780"/>
                </a:lnTo>
                <a:lnTo>
                  <a:pt x="102394" y="122015"/>
                </a:lnTo>
                <a:cubicBezTo>
                  <a:pt x="99632" y="119253"/>
                  <a:pt x="99536" y="114681"/>
                  <a:pt x="102394" y="111919"/>
                </a:cubicBezTo>
                <a:cubicBezTo>
                  <a:pt x="104870" y="109347"/>
                  <a:pt x="108966" y="109061"/>
                  <a:pt x="111824" y="111252"/>
                </a:cubicBezTo>
                <a:lnTo>
                  <a:pt x="112586" y="111919"/>
                </a:lnTo>
                <a:lnTo>
                  <a:pt x="119158" y="118491"/>
                </a:lnTo>
                <a:lnTo>
                  <a:pt x="119158" y="54769"/>
                </a:lnTo>
                <a:cubicBezTo>
                  <a:pt x="119158" y="51245"/>
                  <a:pt x="121825" y="48197"/>
                  <a:pt x="125349" y="47720"/>
                </a:cubicBezTo>
                <a:lnTo>
                  <a:pt x="126302" y="47720"/>
                </a:lnTo>
                <a:cubicBezTo>
                  <a:pt x="129826" y="47720"/>
                  <a:pt x="132874" y="50292"/>
                  <a:pt x="133350" y="53816"/>
                </a:cubicBezTo>
                <a:lnTo>
                  <a:pt x="133350" y="54769"/>
                </a:lnTo>
                <a:cubicBezTo>
                  <a:pt x="133350" y="54769"/>
                  <a:pt x="133350" y="118491"/>
                  <a:pt x="133350" y="118491"/>
                </a:cubicBezTo>
                <a:lnTo>
                  <a:pt x="139922" y="111919"/>
                </a:lnTo>
                <a:cubicBezTo>
                  <a:pt x="142399" y="109442"/>
                  <a:pt x="146399" y="109157"/>
                  <a:pt x="149257" y="111252"/>
                </a:cubicBezTo>
                <a:lnTo>
                  <a:pt x="149257" y="111252"/>
                </a:lnTo>
                <a:close/>
              </a:path>
            </a:pathLst>
          </a:custGeom>
          <a:solidFill>
            <a:schemeClr val="tx1"/>
          </a:solidFill>
          <a:ln w="12700" cap="rnd">
            <a:noFill/>
          </a:ln>
        </p:spPr>
        <p:txBody>
          <a:bodyPr wrap="none" lIns="0" tIns="0" rIns="0" bIns="45720" rtlCol="0" anchor="ctr" anchorCtr="0">
            <a:noAutofit/>
          </a:bodyPr>
          <a:lstStyle/>
          <a:p>
            <a:pPr algn="ctr" defTabSz="914437" fontAlgn="base">
              <a:spcBef>
                <a:spcPts val="1200"/>
              </a:spcBef>
              <a:spcAft>
                <a:spcPct val="0"/>
              </a:spcAft>
              <a:tabLst>
                <a:tab pos="1487158" algn="l"/>
              </a:tabLst>
            </a:pPr>
            <a:endParaRPr lang="en-US"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endParaRPr>
          </a:p>
        </p:txBody>
      </p:sp>
      <p:sp>
        <p:nvSpPr>
          <p:cNvPr id="37" name="Graphic 34">
            <a:extLst>
              <a:ext uri="{FF2B5EF4-FFF2-40B4-BE49-F238E27FC236}">
                <a16:creationId xmlns:a16="http://schemas.microsoft.com/office/drawing/2014/main" id="{948DA3F5-0165-5437-DE56-B4648EC7202E}"/>
              </a:ext>
              <a:ext uri="{C183D7F6-B498-43B3-948B-1728B52AA6E4}">
                <adec:decorative xmlns:adec="http://schemas.microsoft.com/office/drawing/2017/decorative" val="1"/>
              </a:ext>
            </a:extLst>
          </p:cNvPr>
          <p:cNvSpPr/>
          <p:nvPr/>
        </p:nvSpPr>
        <p:spPr>
          <a:xfrm>
            <a:off x="701248" y="3398943"/>
            <a:ext cx="308474" cy="307136"/>
          </a:xfrm>
          <a:custGeom>
            <a:avLst/>
            <a:gdLst>
              <a:gd name="connsiteX0" fmla="*/ 113657 w 197929"/>
              <a:gd name="connsiteY0" fmla="*/ 29337 h 197072"/>
              <a:gd name="connsiteX1" fmla="*/ 161854 w 197929"/>
              <a:gd name="connsiteY1" fmla="*/ 77534 h 197072"/>
              <a:gd name="connsiteX2" fmla="*/ 152710 w 197929"/>
              <a:gd name="connsiteY2" fmla="*/ 86678 h 197072"/>
              <a:gd name="connsiteX3" fmla="*/ 85844 w 197929"/>
              <a:gd name="connsiteY3" fmla="*/ 143256 h 197072"/>
              <a:gd name="connsiteX4" fmla="*/ 85844 w 197929"/>
              <a:gd name="connsiteY4" fmla="*/ 153543 h 197072"/>
              <a:gd name="connsiteX5" fmla="*/ 67175 w 197929"/>
              <a:gd name="connsiteY5" fmla="*/ 172212 h 197072"/>
              <a:gd name="connsiteX6" fmla="*/ 57650 w 197929"/>
              <a:gd name="connsiteY6" fmla="*/ 177737 h 197072"/>
              <a:gd name="connsiteX7" fmla="*/ 8977 w 197929"/>
              <a:gd name="connsiteY7" fmla="*/ 191072 h 197072"/>
              <a:gd name="connsiteX8" fmla="*/ 214 w 197929"/>
              <a:gd name="connsiteY8" fmla="*/ 186023 h 197072"/>
              <a:gd name="connsiteX9" fmla="*/ 214 w 197929"/>
              <a:gd name="connsiteY9" fmla="*/ 182309 h 197072"/>
              <a:gd name="connsiteX10" fmla="*/ 13454 w 197929"/>
              <a:gd name="connsiteY10" fmla="*/ 133541 h 197072"/>
              <a:gd name="connsiteX11" fmla="*/ 18979 w 197929"/>
              <a:gd name="connsiteY11" fmla="*/ 124016 h 197072"/>
              <a:gd name="connsiteX12" fmla="*/ 113657 w 197929"/>
              <a:gd name="connsiteY12" fmla="*/ 29337 h 197072"/>
              <a:gd name="connsiteX13" fmla="*/ 181189 w 197929"/>
              <a:gd name="connsiteY13" fmla="*/ 10001 h 197072"/>
              <a:gd name="connsiteX14" fmla="*/ 181189 w 197929"/>
              <a:gd name="connsiteY14" fmla="*/ 58198 h 197072"/>
              <a:gd name="connsiteX15" fmla="*/ 171950 w 197929"/>
              <a:gd name="connsiteY15" fmla="*/ 67437 h 197072"/>
              <a:gd name="connsiteX16" fmla="*/ 123754 w 197929"/>
              <a:gd name="connsiteY16" fmla="*/ 19241 h 197072"/>
              <a:gd name="connsiteX17" fmla="*/ 132993 w 197929"/>
              <a:gd name="connsiteY17" fmla="*/ 10001 h 197072"/>
              <a:gd name="connsiteX18" fmla="*/ 181189 w 197929"/>
              <a:gd name="connsiteY18" fmla="*/ 10001 h 197072"/>
              <a:gd name="connsiteX19" fmla="*/ 181189 w 197929"/>
              <a:gd name="connsiteY19" fmla="*/ 10001 h 197072"/>
              <a:gd name="connsiteX20" fmla="*/ 116896 w 197929"/>
              <a:gd name="connsiteY20" fmla="*/ 114776 h 197072"/>
              <a:gd name="connsiteX21" fmla="*/ 103846 w 197929"/>
              <a:gd name="connsiteY21" fmla="*/ 138398 h 197072"/>
              <a:gd name="connsiteX22" fmla="*/ 103084 w 197929"/>
              <a:gd name="connsiteY22" fmla="*/ 138589 h 197072"/>
              <a:gd name="connsiteX23" fmla="*/ 97560 w 197929"/>
              <a:gd name="connsiteY23" fmla="*/ 139922 h 197072"/>
              <a:gd name="connsiteX24" fmla="*/ 97560 w 197929"/>
              <a:gd name="connsiteY24" fmla="*/ 157163 h 197072"/>
              <a:gd name="connsiteX25" fmla="*/ 102703 w 197929"/>
              <a:gd name="connsiteY25" fmla="*/ 158401 h 197072"/>
              <a:gd name="connsiteX26" fmla="*/ 116800 w 197929"/>
              <a:gd name="connsiteY26" fmla="*/ 181356 h 197072"/>
              <a:gd name="connsiteX27" fmla="*/ 116515 w 197929"/>
              <a:gd name="connsiteY27" fmla="*/ 182309 h 197072"/>
              <a:gd name="connsiteX28" fmla="*/ 114705 w 197929"/>
              <a:gd name="connsiteY28" fmla="*/ 188309 h 197072"/>
              <a:gd name="connsiteX29" fmla="*/ 128802 w 197929"/>
              <a:gd name="connsiteY29" fmla="*/ 197072 h 197072"/>
              <a:gd name="connsiteX30" fmla="*/ 133469 w 197929"/>
              <a:gd name="connsiteY30" fmla="*/ 192119 h 197072"/>
              <a:gd name="connsiteX31" fmla="*/ 160425 w 197929"/>
              <a:gd name="connsiteY31" fmla="*/ 191453 h 197072"/>
              <a:gd name="connsiteX32" fmla="*/ 161092 w 197929"/>
              <a:gd name="connsiteY32" fmla="*/ 192119 h 197072"/>
              <a:gd name="connsiteX33" fmla="*/ 165854 w 197929"/>
              <a:gd name="connsiteY33" fmla="*/ 197072 h 197072"/>
              <a:gd name="connsiteX34" fmla="*/ 179951 w 197929"/>
              <a:gd name="connsiteY34" fmla="*/ 188405 h 197072"/>
              <a:gd name="connsiteX35" fmla="*/ 178046 w 197929"/>
              <a:gd name="connsiteY35" fmla="*/ 181832 h 197072"/>
              <a:gd name="connsiteX36" fmla="*/ 191095 w 197929"/>
              <a:gd name="connsiteY36" fmla="*/ 158210 h 197072"/>
              <a:gd name="connsiteX37" fmla="*/ 191762 w 197929"/>
              <a:gd name="connsiteY37" fmla="*/ 158020 h 197072"/>
              <a:gd name="connsiteX38" fmla="*/ 197287 w 197929"/>
              <a:gd name="connsiteY38" fmla="*/ 156686 h 197072"/>
              <a:gd name="connsiteX39" fmla="*/ 197287 w 197929"/>
              <a:gd name="connsiteY39" fmla="*/ 139446 h 197072"/>
              <a:gd name="connsiteX40" fmla="*/ 192143 w 197929"/>
              <a:gd name="connsiteY40" fmla="*/ 138208 h 197072"/>
              <a:gd name="connsiteX41" fmla="*/ 178046 w 197929"/>
              <a:gd name="connsiteY41" fmla="*/ 115253 h 197072"/>
              <a:gd name="connsiteX42" fmla="*/ 178332 w 197929"/>
              <a:gd name="connsiteY42" fmla="*/ 114300 h 197072"/>
              <a:gd name="connsiteX43" fmla="*/ 180142 w 197929"/>
              <a:gd name="connsiteY43" fmla="*/ 108299 h 197072"/>
              <a:gd name="connsiteX44" fmla="*/ 166045 w 197929"/>
              <a:gd name="connsiteY44" fmla="*/ 99536 h 197072"/>
              <a:gd name="connsiteX45" fmla="*/ 161377 w 197929"/>
              <a:gd name="connsiteY45" fmla="*/ 104489 h 197072"/>
              <a:gd name="connsiteX46" fmla="*/ 134422 w 197929"/>
              <a:gd name="connsiteY46" fmla="*/ 105156 h 197072"/>
              <a:gd name="connsiteX47" fmla="*/ 133755 w 197929"/>
              <a:gd name="connsiteY47" fmla="*/ 104489 h 197072"/>
              <a:gd name="connsiteX48" fmla="*/ 128992 w 197929"/>
              <a:gd name="connsiteY48" fmla="*/ 99536 h 197072"/>
              <a:gd name="connsiteX49" fmla="*/ 114895 w 197929"/>
              <a:gd name="connsiteY49" fmla="*/ 108204 h 197072"/>
              <a:gd name="connsiteX50" fmla="*/ 116800 w 197929"/>
              <a:gd name="connsiteY50" fmla="*/ 114776 h 197072"/>
              <a:gd name="connsiteX51" fmla="*/ 147566 w 197929"/>
              <a:gd name="connsiteY51" fmla="*/ 162687 h 197072"/>
              <a:gd name="connsiteX52" fmla="*/ 133755 w 197929"/>
              <a:gd name="connsiteY52" fmla="*/ 148400 h 197072"/>
              <a:gd name="connsiteX53" fmla="*/ 147566 w 197929"/>
              <a:gd name="connsiteY53" fmla="*/ 134112 h 197072"/>
              <a:gd name="connsiteX54" fmla="*/ 161377 w 197929"/>
              <a:gd name="connsiteY54" fmla="*/ 148400 h 197072"/>
              <a:gd name="connsiteX55" fmla="*/ 147566 w 197929"/>
              <a:gd name="connsiteY55" fmla="*/ 162687 h 19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97929" h="197072">
                <a:moveTo>
                  <a:pt x="113657" y="29337"/>
                </a:moveTo>
                <a:lnTo>
                  <a:pt x="161854" y="77534"/>
                </a:lnTo>
                <a:lnTo>
                  <a:pt x="152710" y="86678"/>
                </a:lnTo>
                <a:cubicBezTo>
                  <a:pt x="118610" y="83820"/>
                  <a:pt x="88702" y="109157"/>
                  <a:pt x="85844" y="143256"/>
                </a:cubicBezTo>
                <a:cubicBezTo>
                  <a:pt x="85558" y="146685"/>
                  <a:pt x="85558" y="150114"/>
                  <a:pt x="85844" y="153543"/>
                </a:cubicBezTo>
                <a:lnTo>
                  <a:pt x="67175" y="172212"/>
                </a:lnTo>
                <a:cubicBezTo>
                  <a:pt x="64508" y="174879"/>
                  <a:pt x="61270" y="176784"/>
                  <a:pt x="57650" y="177737"/>
                </a:cubicBezTo>
                <a:lnTo>
                  <a:pt x="8977" y="191072"/>
                </a:lnTo>
                <a:cubicBezTo>
                  <a:pt x="5167" y="192119"/>
                  <a:pt x="1262" y="189833"/>
                  <a:pt x="214" y="186023"/>
                </a:cubicBezTo>
                <a:cubicBezTo>
                  <a:pt x="-71" y="184785"/>
                  <a:pt x="-71" y="183547"/>
                  <a:pt x="214" y="182309"/>
                </a:cubicBezTo>
                <a:lnTo>
                  <a:pt x="13454" y="133541"/>
                </a:lnTo>
                <a:cubicBezTo>
                  <a:pt x="14407" y="129921"/>
                  <a:pt x="16312" y="126683"/>
                  <a:pt x="18979" y="124016"/>
                </a:cubicBezTo>
                <a:lnTo>
                  <a:pt x="113657" y="29337"/>
                </a:lnTo>
                <a:close/>
                <a:moveTo>
                  <a:pt x="181189" y="10001"/>
                </a:moveTo>
                <a:cubicBezTo>
                  <a:pt x="194524" y="23336"/>
                  <a:pt x="194524" y="44863"/>
                  <a:pt x="181189" y="58198"/>
                </a:cubicBezTo>
                <a:lnTo>
                  <a:pt x="171950" y="67437"/>
                </a:lnTo>
                <a:lnTo>
                  <a:pt x="123754" y="19241"/>
                </a:lnTo>
                <a:lnTo>
                  <a:pt x="132993" y="10001"/>
                </a:lnTo>
                <a:cubicBezTo>
                  <a:pt x="146328" y="-3334"/>
                  <a:pt x="167854" y="-3334"/>
                  <a:pt x="181189" y="10001"/>
                </a:cubicBezTo>
                <a:cubicBezTo>
                  <a:pt x="181189" y="10001"/>
                  <a:pt x="181189" y="10001"/>
                  <a:pt x="181189" y="10001"/>
                </a:cubicBezTo>
                <a:close/>
                <a:moveTo>
                  <a:pt x="116896" y="114776"/>
                </a:moveTo>
                <a:cubicBezTo>
                  <a:pt x="119848" y="124873"/>
                  <a:pt x="114038" y="135446"/>
                  <a:pt x="103846" y="138398"/>
                </a:cubicBezTo>
                <a:cubicBezTo>
                  <a:pt x="103656" y="138398"/>
                  <a:pt x="103370" y="138494"/>
                  <a:pt x="103084" y="138589"/>
                </a:cubicBezTo>
                <a:lnTo>
                  <a:pt x="97560" y="139922"/>
                </a:lnTo>
                <a:cubicBezTo>
                  <a:pt x="96703" y="145637"/>
                  <a:pt x="96703" y="151448"/>
                  <a:pt x="97560" y="157163"/>
                </a:cubicBezTo>
                <a:lnTo>
                  <a:pt x="102703" y="158401"/>
                </a:lnTo>
                <a:cubicBezTo>
                  <a:pt x="112895" y="160877"/>
                  <a:pt x="119182" y="171164"/>
                  <a:pt x="116800" y="181356"/>
                </a:cubicBezTo>
                <a:cubicBezTo>
                  <a:pt x="116800" y="181642"/>
                  <a:pt x="116610" y="182023"/>
                  <a:pt x="116515" y="182309"/>
                </a:cubicBezTo>
                <a:lnTo>
                  <a:pt x="114705" y="188309"/>
                </a:lnTo>
                <a:cubicBezTo>
                  <a:pt x="118896" y="192024"/>
                  <a:pt x="123658" y="194977"/>
                  <a:pt x="128802" y="197072"/>
                </a:cubicBezTo>
                <a:lnTo>
                  <a:pt x="133469" y="192119"/>
                </a:lnTo>
                <a:cubicBezTo>
                  <a:pt x="140708" y="184499"/>
                  <a:pt x="152805" y="184214"/>
                  <a:pt x="160425" y="191453"/>
                </a:cubicBezTo>
                <a:cubicBezTo>
                  <a:pt x="160615" y="191643"/>
                  <a:pt x="160901" y="191929"/>
                  <a:pt x="161092" y="192119"/>
                </a:cubicBezTo>
                <a:lnTo>
                  <a:pt x="165854" y="197072"/>
                </a:lnTo>
                <a:cubicBezTo>
                  <a:pt x="170998" y="194977"/>
                  <a:pt x="175760" y="192024"/>
                  <a:pt x="179951" y="188405"/>
                </a:cubicBezTo>
                <a:lnTo>
                  <a:pt x="178046" y="181832"/>
                </a:lnTo>
                <a:cubicBezTo>
                  <a:pt x="175093" y="171736"/>
                  <a:pt x="180999" y="161163"/>
                  <a:pt x="191095" y="158210"/>
                </a:cubicBezTo>
                <a:cubicBezTo>
                  <a:pt x="191286" y="158210"/>
                  <a:pt x="191572" y="158115"/>
                  <a:pt x="191762" y="158020"/>
                </a:cubicBezTo>
                <a:lnTo>
                  <a:pt x="197287" y="156686"/>
                </a:lnTo>
                <a:cubicBezTo>
                  <a:pt x="198144" y="150971"/>
                  <a:pt x="198144" y="145161"/>
                  <a:pt x="197287" y="139446"/>
                </a:cubicBezTo>
                <a:lnTo>
                  <a:pt x="192143" y="138208"/>
                </a:lnTo>
                <a:cubicBezTo>
                  <a:pt x="181951" y="135731"/>
                  <a:pt x="175665" y="125444"/>
                  <a:pt x="178046" y="115253"/>
                </a:cubicBezTo>
                <a:cubicBezTo>
                  <a:pt x="178046" y="114967"/>
                  <a:pt x="178237" y="114586"/>
                  <a:pt x="178332" y="114300"/>
                </a:cubicBezTo>
                <a:lnTo>
                  <a:pt x="180142" y="108299"/>
                </a:lnTo>
                <a:cubicBezTo>
                  <a:pt x="175951" y="104584"/>
                  <a:pt x="171188" y="101632"/>
                  <a:pt x="166045" y="99536"/>
                </a:cubicBezTo>
                <a:lnTo>
                  <a:pt x="161377" y="104489"/>
                </a:lnTo>
                <a:cubicBezTo>
                  <a:pt x="154138" y="112109"/>
                  <a:pt x="142042" y="112395"/>
                  <a:pt x="134422" y="105156"/>
                </a:cubicBezTo>
                <a:cubicBezTo>
                  <a:pt x="134231" y="104966"/>
                  <a:pt x="133945" y="104680"/>
                  <a:pt x="133755" y="104489"/>
                </a:cubicBezTo>
                <a:lnTo>
                  <a:pt x="128992" y="99536"/>
                </a:lnTo>
                <a:cubicBezTo>
                  <a:pt x="123849" y="101632"/>
                  <a:pt x="119086" y="104584"/>
                  <a:pt x="114895" y="108204"/>
                </a:cubicBezTo>
                <a:cubicBezTo>
                  <a:pt x="114895" y="108204"/>
                  <a:pt x="116800" y="114776"/>
                  <a:pt x="116800" y="114776"/>
                </a:cubicBezTo>
                <a:close/>
                <a:moveTo>
                  <a:pt x="147566" y="162687"/>
                </a:moveTo>
                <a:cubicBezTo>
                  <a:pt x="139946" y="162687"/>
                  <a:pt x="133755" y="156305"/>
                  <a:pt x="133755" y="148400"/>
                </a:cubicBezTo>
                <a:cubicBezTo>
                  <a:pt x="133755" y="140494"/>
                  <a:pt x="139946" y="134112"/>
                  <a:pt x="147566" y="134112"/>
                </a:cubicBezTo>
                <a:cubicBezTo>
                  <a:pt x="155186" y="134112"/>
                  <a:pt x="161377" y="140494"/>
                  <a:pt x="161377" y="148400"/>
                </a:cubicBezTo>
                <a:cubicBezTo>
                  <a:pt x="161377" y="156305"/>
                  <a:pt x="155186" y="162687"/>
                  <a:pt x="147566" y="162687"/>
                </a:cubicBezTo>
                <a:close/>
              </a:path>
            </a:pathLst>
          </a:custGeom>
          <a:solidFill>
            <a:schemeClr val="tx1"/>
          </a:solidFill>
          <a:ln w="12700" cap="rnd">
            <a:noFill/>
          </a:ln>
        </p:spPr>
        <p:txBody>
          <a:bodyPr wrap="none" lIns="0" tIns="0" rIns="0" bIns="45720" rtlCol="0" anchor="ctr" anchorCtr="0">
            <a:noAutofit/>
          </a:bodyPr>
          <a:lstStyle/>
          <a:p>
            <a:pPr algn="ctr" defTabSz="914437" fontAlgn="base">
              <a:spcBef>
                <a:spcPts val="1200"/>
              </a:spcBef>
              <a:spcAft>
                <a:spcPct val="0"/>
              </a:spcAft>
              <a:tabLst>
                <a:tab pos="1487158" algn="l"/>
              </a:tabLst>
            </a:pPr>
            <a:endParaRPr lang="en-US" sz="1600" b="1">
              <a:ln w="3175">
                <a:noFill/>
              </a:ln>
              <a:gradFill>
                <a:gsLst>
                  <a:gs pos="3670">
                    <a:prstClr val="black"/>
                  </a:gs>
                  <a:gs pos="25688">
                    <a:prstClr val="black"/>
                  </a:gs>
                </a:gsLst>
                <a:path path="circle">
                  <a:fillToRect l="100000" t="100000"/>
                </a:path>
              </a:gradFill>
              <a:latin typeface="Segoe UI Variable Display Semib" pitchFamily="2" charset="0"/>
              <a:cs typeface="Segoe UI" pitchFamily="34" charset="0"/>
            </a:endParaRPr>
          </a:p>
        </p:txBody>
      </p:sp>
      <p:sp>
        <p:nvSpPr>
          <p:cNvPr id="3" name="TextBox 2">
            <a:extLst>
              <a:ext uri="{FF2B5EF4-FFF2-40B4-BE49-F238E27FC236}">
                <a16:creationId xmlns:a16="http://schemas.microsoft.com/office/drawing/2014/main" id="{7314528B-24DC-1538-B0A4-8B1234E551F8}"/>
              </a:ext>
            </a:extLst>
          </p:cNvPr>
          <p:cNvSpPr txBox="1"/>
          <p:nvPr/>
        </p:nvSpPr>
        <p:spPr>
          <a:xfrm>
            <a:off x="2927351" y="6553200"/>
            <a:ext cx="5651499" cy="276999"/>
          </a:xfrm>
          <a:prstGeom prst="rect">
            <a:avLst/>
          </a:prstGeom>
          <a:noFill/>
        </p:spPr>
        <p:txBody>
          <a:bodyPr wrap="square" rtlCol="0">
            <a:spAutoFit/>
          </a:bodyPr>
          <a:lstStyle/>
          <a:p>
            <a:pPr algn="ctr"/>
            <a:r>
              <a:rPr lang="en-US" sz="1200" dirty="0"/>
              <a:t>BRK 150 deck: </a:t>
            </a:r>
            <a:r>
              <a:rPr lang="en-US" sz="1200" dirty="0">
                <a:solidFill>
                  <a:schemeClr val="tx1">
                    <a:lumMod val="65000"/>
                    <a:lumOff val="35000"/>
                  </a:schemeClr>
                </a:solidFill>
                <a:hlinkClick r:id="rId3">
                  <a:extLst>
                    <a:ext uri="{A12FA001-AC4F-418D-AE19-62706E023703}">
                      <ahyp:hlinkClr xmlns:ahyp="http://schemas.microsoft.com/office/drawing/2018/hyperlinkcolor" val="tx"/>
                    </a:ext>
                  </a:extLst>
                </a:hlinkClick>
              </a:rPr>
              <a:t>https://lnkd.in/ga7c2mj3</a:t>
            </a:r>
            <a:r>
              <a:rPr lang="en-US" sz="1200" dirty="0">
                <a:solidFill>
                  <a:schemeClr val="tx1">
                    <a:lumMod val="65000"/>
                    <a:lumOff val="35000"/>
                  </a:schemeClr>
                </a:solidFill>
              </a:rPr>
              <a:t>    </a:t>
            </a:r>
            <a:r>
              <a:rPr lang="en-US" sz="1200" dirty="0"/>
              <a:t>&amp; Code: </a:t>
            </a:r>
            <a:r>
              <a:rPr lang="en-US" sz="1200" dirty="0">
                <a:solidFill>
                  <a:schemeClr val="tx1">
                    <a:lumMod val="65000"/>
                    <a:lumOff val="35000"/>
                  </a:schemeClr>
                </a:solidFill>
                <a:hlinkClick r:id="rId4">
                  <a:extLst>
                    <a:ext uri="{A12FA001-AC4F-418D-AE19-62706E023703}">
                      <ahyp:hlinkClr xmlns:ahyp="http://schemas.microsoft.com/office/drawing/2018/hyperlinkcolor" val="tx"/>
                    </a:ext>
                  </a:extLst>
                </a:hlinkClick>
              </a:rPr>
              <a:t>https://lnkd.in/g2-c-g_G</a:t>
            </a:r>
            <a:endParaRPr lang="en-US" sz="1200" dirty="0">
              <a:solidFill>
                <a:schemeClr val="tx1">
                  <a:lumMod val="65000"/>
                  <a:lumOff val="35000"/>
                </a:schemeClr>
              </a:solidFill>
            </a:endParaRPr>
          </a:p>
        </p:txBody>
      </p:sp>
    </p:spTree>
    <p:extLst>
      <p:ext uri="{BB962C8B-B14F-4D97-AF65-F5344CB8AC3E}">
        <p14:creationId xmlns:p14="http://schemas.microsoft.com/office/powerpoint/2010/main" val="1590652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43AC7C-17C5-C815-3B25-F7DE72AD0205}"/>
              </a:ext>
            </a:extLst>
          </p:cNvPr>
          <p:cNvSpPr>
            <a:spLocks noGrp="1"/>
          </p:cNvSpPr>
          <p:nvPr>
            <p:ph type="title"/>
          </p:nvPr>
        </p:nvSpPr>
        <p:spPr>
          <a:xfrm>
            <a:off x="7537528" y="1032764"/>
            <a:ext cx="4308672" cy="3224045"/>
          </a:xfrm>
        </p:spPr>
        <p:txBody>
          <a:bodyPr vert="horz" lIns="91440" tIns="45720" rIns="91440" bIns="45720" rtlCol="0" anchor="b">
            <a:normAutofit/>
          </a:bodyPr>
          <a:lstStyle/>
          <a:p>
            <a:pPr>
              <a:lnSpc>
                <a:spcPct val="90000"/>
              </a:lnSpc>
            </a:pPr>
            <a:r>
              <a:rPr lang="en-US" sz="3200" b="1" kern="1200">
                <a:solidFill>
                  <a:schemeClr val="tx1"/>
                </a:solidFill>
                <a:latin typeface="+mj-lt"/>
                <a:ea typeface="+mj-ea"/>
                <a:cs typeface="+mj-cs"/>
              </a:rPr>
              <a:t>Fine-Tuning Pre-Trained Models</a:t>
            </a:r>
            <a:br>
              <a:rPr lang="en-US" sz="3200" b="1" kern="1200">
                <a:solidFill>
                  <a:schemeClr val="tx1"/>
                </a:solidFill>
                <a:latin typeface="+mj-lt"/>
                <a:ea typeface="+mj-ea"/>
                <a:cs typeface="+mj-cs"/>
              </a:rPr>
            </a:br>
            <a:r>
              <a:rPr lang="en-US" sz="3200" b="1" kern="1200">
                <a:solidFill>
                  <a:schemeClr val="tx1"/>
                </a:solidFill>
                <a:latin typeface="+mj-lt"/>
                <a:ea typeface="+mj-ea"/>
                <a:cs typeface="+mj-cs"/>
              </a:rPr>
              <a:t>Turning Generalists into Specialists (NER &amp; Classification)</a:t>
            </a:r>
            <a:br>
              <a:rPr lang="en-US" sz="3200" b="1" kern="1200">
                <a:solidFill>
                  <a:schemeClr val="tx1"/>
                </a:solidFill>
                <a:latin typeface="+mj-lt"/>
                <a:ea typeface="+mj-ea"/>
                <a:cs typeface="+mj-cs"/>
              </a:rPr>
            </a:br>
            <a:endParaRPr lang="en-US" sz="3200" b="1" kern="1200">
              <a:solidFill>
                <a:schemeClr val="tx1"/>
              </a:solidFill>
              <a:latin typeface="+mj-lt"/>
              <a:ea typeface="+mj-ea"/>
              <a:cs typeface="+mj-cs"/>
            </a:endParaRPr>
          </a:p>
        </p:txBody>
      </p:sp>
      <p:pic>
        <p:nvPicPr>
          <p:cNvPr id="5" name="Content Placeholder 4" descr="Diagram illustrating transition from a Swiss Army knife representing a general-purpose pre-trained model to a scalpel symbolizing a fine-tuned domain-specific model, emphasizing specialized performance and higher relevance with less data. Key components include pre-trained weights, training and domain adaptation, output quality evaluation, and deployment, with visual elements like coins, gears, and labeled blocks highlighting constraints, guardrails, and adaptation tools.">
            <a:extLst>
              <a:ext uri="{FF2B5EF4-FFF2-40B4-BE49-F238E27FC236}">
                <a16:creationId xmlns:a16="http://schemas.microsoft.com/office/drawing/2014/main" id="{EA50F353-C4A4-5E5B-36EE-912105B7E4DD}"/>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 b="1056"/>
          <a:stretch>
            <a:fillRect/>
          </a:stretch>
        </p:blipFill>
        <p:spPr>
          <a:xfrm>
            <a:off x="20" y="10"/>
            <a:ext cx="6931132" cy="6857990"/>
          </a:xfrm>
          <a:prstGeom prst="rect">
            <a:avLst/>
          </a:prstGeom>
        </p:spPr>
      </p:pic>
      <p:cxnSp>
        <p:nvCxnSpPr>
          <p:cNvPr id="14" name="Straight Connector 13">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888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69E58-D964-2B3D-9B9E-78E715AB3BDC}"/>
              </a:ext>
            </a:extLst>
          </p:cNvPr>
          <p:cNvSpPr>
            <a:spLocks noGrp="1"/>
          </p:cNvSpPr>
          <p:nvPr>
            <p:ph type="title"/>
          </p:nvPr>
        </p:nvSpPr>
        <p:spPr/>
        <p:txBody>
          <a:bodyPr/>
          <a:lstStyle/>
          <a:p>
            <a:r>
              <a:rPr lang="en-US" dirty="0"/>
              <a:t>The limits of Prompt Engineering</a:t>
            </a:r>
          </a:p>
        </p:txBody>
      </p:sp>
      <p:sp>
        <p:nvSpPr>
          <p:cNvPr id="3" name="Content Placeholder 2">
            <a:extLst>
              <a:ext uri="{FF2B5EF4-FFF2-40B4-BE49-F238E27FC236}">
                <a16:creationId xmlns:a16="http://schemas.microsoft.com/office/drawing/2014/main" id="{D0E45D4B-5BCD-4186-33AE-C8DECD159802}"/>
              </a:ext>
            </a:extLst>
          </p:cNvPr>
          <p:cNvSpPr>
            <a:spLocks noGrp="1"/>
          </p:cNvSpPr>
          <p:nvPr>
            <p:ph idx="1"/>
          </p:nvPr>
        </p:nvSpPr>
        <p:spPr/>
        <p:txBody>
          <a:bodyPr/>
          <a:lstStyle/>
          <a:p>
            <a:r>
              <a:rPr lang="en-US" b="1" dirty="0"/>
              <a:t>The Problem:</a:t>
            </a:r>
            <a:endParaRPr lang="en-US" dirty="0"/>
          </a:p>
          <a:p>
            <a:pPr lvl="1"/>
            <a:r>
              <a:rPr lang="en-US" b="1" dirty="0"/>
              <a:t>Cost:</a:t>
            </a:r>
            <a:r>
              <a:rPr lang="en-US" dirty="0"/>
              <a:t> Sending long prompts to GPT-* is expensive at scale.</a:t>
            </a:r>
          </a:p>
          <a:p>
            <a:pPr lvl="1"/>
            <a:r>
              <a:rPr lang="en-US" b="1" dirty="0"/>
              <a:t>Latency:</a:t>
            </a:r>
            <a:r>
              <a:rPr lang="en-US" dirty="0"/>
              <a:t> Large models are slow. A robot needs to react in milliseconds.</a:t>
            </a:r>
          </a:p>
          <a:p>
            <a:pPr lvl="1"/>
            <a:r>
              <a:rPr lang="en-US" b="1" dirty="0"/>
              <a:t>Privacy:</a:t>
            </a:r>
            <a:r>
              <a:rPr lang="en-US" dirty="0"/>
              <a:t> You can't send sensitive data to a public API.</a:t>
            </a:r>
          </a:p>
          <a:p>
            <a:pPr lvl="1"/>
            <a:r>
              <a:rPr lang="en-US" b="1" dirty="0"/>
              <a:t>Formatting:</a:t>
            </a:r>
            <a:r>
              <a:rPr lang="en-US" dirty="0"/>
              <a:t> Prompts sometimes fail to follow strict JSON schemas.</a:t>
            </a:r>
          </a:p>
          <a:p>
            <a:r>
              <a:rPr lang="en-US" b="1" dirty="0"/>
              <a:t>The Solution:</a:t>
            </a:r>
            <a:r>
              <a:rPr lang="en-US" dirty="0"/>
              <a:t> Fine-Tuning. Teaching a smaller, faster model to do </a:t>
            </a:r>
            <a:r>
              <a:rPr lang="en-US" i="1" dirty="0"/>
              <a:t>one thing</a:t>
            </a:r>
            <a:r>
              <a:rPr lang="en-US" dirty="0"/>
              <a:t> perfectly.</a:t>
            </a:r>
          </a:p>
        </p:txBody>
      </p:sp>
    </p:spTree>
    <p:extLst>
      <p:ext uri="{BB962C8B-B14F-4D97-AF65-F5344CB8AC3E}">
        <p14:creationId xmlns:p14="http://schemas.microsoft.com/office/powerpoint/2010/main" val="2626579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CDBAA4D9-7A8D-CE7B-3756-485ACF18AF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548533" cy="6219811"/>
          </a:xfrm>
          <a:prstGeom prst="rect">
            <a:avLst/>
          </a:prstGeom>
          <a:solidFill>
            <a:schemeClr val="bg1">
              <a:lumMod val="9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Photograph comparison showing two woodworking processes labeled &quot;Prompting&quot; and &quot;Fine-tuning.&quot; &quot;Prompting&quot; features hand tools like a hammer and pliers with notes on low entry barrier and ease of quick changes, while &quot;Fine-tuning&quot; shows a CNC machine carving wood, highlighting higher investment and specialized tools for efficiency.">
            <a:extLst>
              <a:ext uri="{FF2B5EF4-FFF2-40B4-BE49-F238E27FC236}">
                <a16:creationId xmlns:a16="http://schemas.microsoft.com/office/drawing/2014/main" id="{DD3AD414-B749-0D06-5FD5-CF41509346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44" r="3291"/>
          <a:stretch>
            <a:fillRect/>
          </a:stretch>
        </p:blipFill>
        <p:spPr bwMode="auto">
          <a:xfrm>
            <a:off x="20" y="14"/>
            <a:ext cx="11548513" cy="6219811"/>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2059" name="Straight Connector 2058">
            <a:extLst>
              <a:ext uri="{FF2B5EF4-FFF2-40B4-BE49-F238E27FC236}">
                <a16:creationId xmlns:a16="http://schemas.microsoft.com/office/drawing/2014/main" id="{9AE2764D-E1C7-4C0E-A5A4-12411550AB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211766"/>
            <a:ext cx="11548533"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843611A-7480-AE7C-A06F-71E7B98CC0F3}"/>
              </a:ext>
            </a:extLst>
          </p:cNvPr>
          <p:cNvSpPr txBox="1"/>
          <p:nvPr/>
        </p:nvSpPr>
        <p:spPr>
          <a:xfrm>
            <a:off x="3207698" y="6526775"/>
            <a:ext cx="5133136" cy="276999"/>
          </a:xfrm>
          <a:prstGeom prst="rect">
            <a:avLst/>
          </a:prstGeom>
          <a:noFill/>
        </p:spPr>
        <p:txBody>
          <a:bodyPr wrap="none" rtlCol="0">
            <a:spAutoFit/>
          </a:bodyPr>
          <a:lstStyle/>
          <a:p>
            <a:r>
              <a:rPr lang="en-US" sz="1200" dirty="0"/>
              <a:t>Image Credit: </a:t>
            </a:r>
            <a:r>
              <a:rPr lang="en-US" sz="1200" b="1" dirty="0">
                <a:solidFill>
                  <a:schemeClr val="tx1">
                    <a:lumMod val="65000"/>
                    <a:lumOff val="35000"/>
                  </a:schemeClr>
                </a:solidFill>
              </a:rPr>
              <a:t>YT OpenAI: </a:t>
            </a:r>
            <a:r>
              <a:rPr lang="en-US" sz="1200" b="1" dirty="0">
                <a:solidFill>
                  <a:schemeClr val="tx1">
                    <a:lumMod val="65000"/>
                    <a:lumOff val="35000"/>
                  </a:schemeClr>
                </a:solidFill>
                <a:hlinkClick r:id="rId3">
                  <a:extLst>
                    <a:ext uri="{A12FA001-AC4F-418D-AE19-62706E023703}">
                      <ahyp:hlinkClr xmlns:ahyp="http://schemas.microsoft.com/office/drawing/2018/hyperlinkcolor" val="tx"/>
                    </a:ext>
                  </a:extLst>
                </a:hlinkClick>
              </a:rPr>
              <a:t>https://www.youtube.com/watch?v=JfaLQqfXqPA</a:t>
            </a:r>
            <a:endParaRPr lang="en-US" sz="1200" b="1" dirty="0">
              <a:solidFill>
                <a:schemeClr val="tx1">
                  <a:lumMod val="65000"/>
                  <a:lumOff val="35000"/>
                </a:schemeClr>
              </a:solidFill>
            </a:endParaRPr>
          </a:p>
        </p:txBody>
      </p:sp>
    </p:spTree>
    <p:extLst>
      <p:ext uri="{BB962C8B-B14F-4D97-AF65-F5344CB8AC3E}">
        <p14:creationId xmlns:p14="http://schemas.microsoft.com/office/powerpoint/2010/main" val="17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1A9B4-6ECB-E3F3-848B-B3F2CFBE3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C42F8-13E1-DA51-8F79-6BEB84A081E6}"/>
              </a:ext>
            </a:extLst>
          </p:cNvPr>
          <p:cNvSpPr>
            <a:spLocks noGrp="1"/>
          </p:cNvSpPr>
          <p:nvPr>
            <p:ph type="title"/>
          </p:nvPr>
        </p:nvSpPr>
        <p:spPr>
          <a:xfrm>
            <a:off x="588263" y="457200"/>
            <a:ext cx="11018520" cy="553998"/>
          </a:xfrm>
        </p:spPr>
        <p:txBody>
          <a:bodyPr vert="horz" wrap="square" lIns="0" tIns="0" rIns="0" bIns="0" rtlCol="0" anchor="t">
            <a:noAutofit/>
          </a:bodyPr>
          <a:lstStyle/>
          <a:p>
            <a:r>
              <a:rPr lang="en-US" b="1" i="1">
                <a:gradFill flip="none" rotWithShape="1">
                  <a:gsLst>
                    <a:gs pos="0">
                      <a:srgbClr val="73262F"/>
                    </a:gs>
                    <a:gs pos="74000">
                      <a:srgbClr val="2A446F"/>
                    </a:gs>
                    <a:gs pos="100000">
                      <a:srgbClr val="000000"/>
                    </a:gs>
                  </a:gsLst>
                  <a:lin ang="0" scaled="1"/>
                  <a:tileRect/>
                </a:gradFill>
                <a:latin typeface="Segoe Sans Text Semibold"/>
              </a:rPr>
              <a:t>Fine-tuning</a:t>
            </a:r>
            <a:r>
              <a:rPr lang="en-US">
                <a:gradFill flip="none" rotWithShape="1">
                  <a:gsLst>
                    <a:gs pos="0">
                      <a:srgbClr val="73262F"/>
                    </a:gs>
                    <a:gs pos="74000">
                      <a:srgbClr val="2A446F"/>
                    </a:gs>
                    <a:gs pos="100000">
                      <a:srgbClr val="000000"/>
                    </a:gs>
                  </a:gsLst>
                  <a:lin ang="0" scaled="1"/>
                  <a:tileRect/>
                </a:gradFill>
                <a:latin typeface="Segoe Sans Text Semibold"/>
              </a:rPr>
              <a:t> a foundation model</a:t>
            </a:r>
            <a:endParaRPr lang="en-US"/>
          </a:p>
        </p:txBody>
      </p:sp>
      <p:sp>
        <p:nvSpPr>
          <p:cNvPr id="49" name="TextBox 48">
            <a:extLst>
              <a:ext uri="{FF2B5EF4-FFF2-40B4-BE49-F238E27FC236}">
                <a16:creationId xmlns:a16="http://schemas.microsoft.com/office/drawing/2014/main" id="{5FA4D181-3647-A7BA-AF2D-EE081D7FA9E3}"/>
              </a:ext>
            </a:extLst>
          </p:cNvPr>
          <p:cNvSpPr txBox="1"/>
          <p:nvPr/>
        </p:nvSpPr>
        <p:spPr>
          <a:xfrm>
            <a:off x="792127" y="3677716"/>
            <a:ext cx="2052255"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80000">
                      <a:srgbClr val="2A446F"/>
                    </a:gs>
                    <a:gs pos="0">
                      <a:srgbClr val="73262F"/>
                    </a:gs>
                  </a:gsLst>
                  <a:path path="circle">
                    <a:fillToRect l="100000" t="100000"/>
                  </a:path>
                </a:gradFill>
                <a:effectLst/>
                <a:uLnTx/>
                <a:uFillTx/>
                <a:latin typeface="+mj-lt"/>
                <a:ea typeface="+mn-ea"/>
                <a:cs typeface="+mn-cs"/>
              </a:rPr>
              <a:t>Generic LLM/SLM</a:t>
            </a:r>
          </a:p>
        </p:txBody>
      </p:sp>
      <p:sp>
        <p:nvSpPr>
          <p:cNvPr id="50" name="TextBox 49">
            <a:extLst>
              <a:ext uri="{FF2B5EF4-FFF2-40B4-BE49-F238E27FC236}">
                <a16:creationId xmlns:a16="http://schemas.microsoft.com/office/drawing/2014/main" id="{03767628-4CCE-626F-A3DA-05F89F7DE6BE}"/>
              </a:ext>
            </a:extLst>
          </p:cNvPr>
          <p:cNvSpPr txBox="1"/>
          <p:nvPr/>
        </p:nvSpPr>
        <p:spPr>
          <a:xfrm>
            <a:off x="655683" y="4099218"/>
            <a:ext cx="2325144" cy="199285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dirty="0">
                <a:ln>
                  <a:noFill/>
                </a:ln>
                <a:effectLst/>
                <a:uLnTx/>
                <a:uFillTx/>
                <a:ea typeface="+mn-ea"/>
                <a:cs typeface="+mn-cs"/>
              </a:rPr>
              <a:t>Language capability</a:t>
            </a:r>
          </a:p>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dirty="0">
                <a:ln>
                  <a:noFill/>
                </a:ln>
                <a:effectLst/>
                <a:uLnTx/>
                <a:uFillTx/>
                <a:ea typeface="+mn-ea"/>
                <a:cs typeface="+mn-cs"/>
              </a:rPr>
              <a:t>Reasoning capability</a:t>
            </a:r>
          </a:p>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dirty="0">
                <a:ln>
                  <a:noFill/>
                </a:ln>
                <a:effectLst/>
                <a:uLnTx/>
                <a:uFillTx/>
                <a:ea typeface="+mn-ea"/>
                <a:cs typeface="+mn-cs"/>
              </a:rPr>
              <a:t>World knowledge</a:t>
            </a:r>
          </a:p>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dirty="0">
                <a:ln>
                  <a:noFill/>
                </a:ln>
                <a:effectLst/>
                <a:uLnTx/>
                <a:uFillTx/>
                <a:ea typeface="+mn-ea"/>
                <a:cs typeface="+mn-cs"/>
              </a:rPr>
              <a:t>Chat </a:t>
            </a:r>
          </a:p>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dirty="0">
                <a:ln>
                  <a:noFill/>
                </a:ln>
                <a:effectLst/>
                <a:uLnTx/>
                <a:uFillTx/>
                <a:ea typeface="+mn-ea"/>
                <a:cs typeface="+mn-cs"/>
              </a:rPr>
              <a:t>Instruction-following </a:t>
            </a:r>
          </a:p>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dirty="0">
                <a:ln>
                  <a:noFill/>
                </a:ln>
                <a:effectLst/>
                <a:uLnTx/>
                <a:uFillTx/>
                <a:ea typeface="+mn-ea"/>
                <a:cs typeface="+mn-cs"/>
              </a:rPr>
              <a:t>Coding</a:t>
            </a:r>
          </a:p>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dirty="0">
                <a:ln>
                  <a:noFill/>
                </a:ln>
                <a:effectLst/>
                <a:uLnTx/>
                <a:uFillTx/>
                <a:ea typeface="+mn-ea"/>
                <a:cs typeface="+mn-cs"/>
              </a:rPr>
              <a:t>etc.</a:t>
            </a:r>
          </a:p>
          <a:p>
            <a:pPr marL="0" marR="0" lvl="0" indent="0" algn="ctr" defTabSz="914367" rtl="0" eaLnBrk="1" fontAlgn="auto" latinLnBrk="0" hangingPunct="1">
              <a:lnSpc>
                <a:spcPct val="100000"/>
              </a:lnSpc>
              <a:spcBef>
                <a:spcPts val="0"/>
              </a:spcBef>
              <a:spcAft>
                <a:spcPts val="300"/>
              </a:spcAft>
              <a:buClrTx/>
              <a:buSzTx/>
              <a:buFontTx/>
              <a:buNone/>
              <a:tabLst/>
              <a:defRPr/>
            </a:pPr>
            <a:endParaRPr kumimoji="0" lang="en-US" sz="1400" b="0" i="0" u="none" strike="noStrike" kern="1200" cap="none" spc="0" normalizeH="0" baseline="0" noProof="0" dirty="0">
              <a:ln>
                <a:noFill/>
              </a:ln>
              <a:effectLst/>
              <a:uLnTx/>
              <a:uFillTx/>
              <a:ea typeface="+mn-ea"/>
              <a:cs typeface="+mn-cs"/>
            </a:endParaRPr>
          </a:p>
        </p:txBody>
      </p:sp>
      <p:sp>
        <p:nvSpPr>
          <p:cNvPr id="28" name="Rounded Rectangle 28">
            <a:extLst>
              <a:ext uri="{FF2B5EF4-FFF2-40B4-BE49-F238E27FC236}">
                <a16:creationId xmlns:a16="http://schemas.microsoft.com/office/drawing/2014/main" id="{48C7F7F1-927E-69AF-72B1-D80C5216019E}"/>
              </a:ext>
            </a:extLst>
          </p:cNvPr>
          <p:cNvSpPr/>
          <p:nvPr/>
        </p:nvSpPr>
        <p:spPr bwMode="auto">
          <a:xfrm>
            <a:off x="3826614" y="1769060"/>
            <a:ext cx="2164308" cy="1318171"/>
          </a:xfrm>
          <a:prstGeom prst="round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chemeClr val="tx1"/>
                </a:solidFill>
                <a:effectLst/>
                <a:uLnTx/>
                <a:uFillTx/>
                <a:ea typeface="Segoe UI" pitchFamily="34" charset="0"/>
                <a:cs typeface="Segoe UI" pitchFamily="34" charset="0"/>
              </a:rPr>
              <a:t>Instruction tuning (SFT)</a:t>
            </a:r>
          </a:p>
        </p:txBody>
      </p:sp>
      <p:sp>
        <p:nvSpPr>
          <p:cNvPr id="41" name="TextBox 40">
            <a:extLst>
              <a:ext uri="{FF2B5EF4-FFF2-40B4-BE49-F238E27FC236}">
                <a16:creationId xmlns:a16="http://schemas.microsoft.com/office/drawing/2014/main" id="{7CA5B82A-583A-97DB-D462-151997841D44}"/>
              </a:ext>
            </a:extLst>
          </p:cNvPr>
          <p:cNvSpPr txBox="1"/>
          <p:nvPr/>
        </p:nvSpPr>
        <p:spPr>
          <a:xfrm>
            <a:off x="3826614" y="4509768"/>
            <a:ext cx="2164308" cy="646331"/>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ea typeface="+mn-ea"/>
                <a:cs typeface="+mn-cs"/>
              </a:rPr>
              <a:t>Instruction-response data,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ea typeface="+mn-ea"/>
                <a:cs typeface="+mn-cs"/>
              </a:rPr>
              <a:t>task-specific data,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ea typeface="+mn-ea"/>
                <a:cs typeface="+mn-cs"/>
              </a:rPr>
              <a:t>other annotated data</a:t>
            </a:r>
          </a:p>
        </p:txBody>
      </p:sp>
      <p:sp>
        <p:nvSpPr>
          <p:cNvPr id="31" name="Rounded Rectangle 29">
            <a:extLst>
              <a:ext uri="{FF2B5EF4-FFF2-40B4-BE49-F238E27FC236}">
                <a16:creationId xmlns:a16="http://schemas.microsoft.com/office/drawing/2014/main" id="{2E86AFEF-333D-40E0-E62D-A7DBCF396CAE}"/>
              </a:ext>
            </a:extLst>
          </p:cNvPr>
          <p:cNvSpPr/>
          <p:nvPr/>
        </p:nvSpPr>
        <p:spPr bwMode="auto">
          <a:xfrm>
            <a:off x="6917959" y="1777825"/>
            <a:ext cx="1990467" cy="1300641"/>
          </a:xfrm>
          <a:prstGeom prst="round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chemeClr val="tx1"/>
                </a:solidFill>
                <a:effectLst/>
                <a:uLnTx/>
                <a:uFillTx/>
                <a:ea typeface="Segoe UI" pitchFamily="34" charset="0"/>
                <a:cs typeface="Segoe UI"/>
              </a:rPr>
              <a:t>Alignment tuning (RLHF, DPO)</a:t>
            </a:r>
          </a:p>
        </p:txBody>
      </p:sp>
      <p:cxnSp>
        <p:nvCxnSpPr>
          <p:cNvPr id="33" name="Straight Arrow Connector 32">
            <a:extLst>
              <a:ext uri="{FF2B5EF4-FFF2-40B4-BE49-F238E27FC236}">
                <a16:creationId xmlns:a16="http://schemas.microsoft.com/office/drawing/2014/main" id="{6BB4B031-6C53-0607-AA16-61816082DBE0}"/>
              </a:ext>
              <a:ext uri="{C183D7F6-B498-43B3-948B-1728B52AA6E4}">
                <adec:decorative xmlns:adec="http://schemas.microsoft.com/office/drawing/2017/decorative" val="1"/>
              </a:ext>
            </a:extLst>
          </p:cNvPr>
          <p:cNvCxnSpPr>
            <a:cxnSpLocks/>
            <a:endCxn id="28" idx="1"/>
          </p:cNvCxnSpPr>
          <p:nvPr/>
        </p:nvCxnSpPr>
        <p:spPr>
          <a:xfrm>
            <a:off x="2453833" y="2428146"/>
            <a:ext cx="1372781" cy="0"/>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85D68D4-4D24-2EC7-0286-7E3BD0620A07}"/>
              </a:ext>
              <a:ext uri="{C183D7F6-B498-43B3-948B-1728B52AA6E4}">
                <adec:decorative xmlns:adec="http://schemas.microsoft.com/office/drawing/2017/decorative" val="1"/>
              </a:ext>
            </a:extLst>
          </p:cNvPr>
          <p:cNvCxnSpPr>
            <a:cxnSpLocks/>
            <a:stCxn id="28" idx="3"/>
            <a:endCxn id="31" idx="1"/>
          </p:cNvCxnSpPr>
          <p:nvPr/>
        </p:nvCxnSpPr>
        <p:spPr>
          <a:xfrm>
            <a:off x="5990922" y="2428146"/>
            <a:ext cx="927037" cy="0"/>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C44EEE7-EDB2-066E-EB1E-36528B5F2A6C}"/>
              </a:ext>
              <a:ext uri="{C183D7F6-B498-43B3-948B-1728B52AA6E4}">
                <adec:decorative xmlns:adec="http://schemas.microsoft.com/office/drawing/2017/decorative" val="1"/>
              </a:ext>
            </a:extLst>
          </p:cNvPr>
          <p:cNvCxnSpPr>
            <a:cxnSpLocks/>
            <a:stCxn id="31" idx="3"/>
          </p:cNvCxnSpPr>
          <p:nvPr/>
        </p:nvCxnSpPr>
        <p:spPr>
          <a:xfrm>
            <a:off x="8908426" y="2428146"/>
            <a:ext cx="801338" cy="0"/>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BE7E0EE-6827-B670-5EAB-A65951A2312C}"/>
              </a:ext>
            </a:extLst>
          </p:cNvPr>
          <p:cNvSpPr txBox="1"/>
          <p:nvPr/>
        </p:nvSpPr>
        <p:spPr>
          <a:xfrm>
            <a:off x="6930523" y="4509768"/>
            <a:ext cx="2052255" cy="646331"/>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ea typeface="+mn-ea"/>
                <a:cs typeface="+mn-cs"/>
              </a:rPr>
              <a:t>Human preference data,</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ea typeface="+mn-ea"/>
                <a:cs typeface="+mn-cs"/>
              </a:rPr>
              <a:t>reward model data, preference score data</a:t>
            </a:r>
          </a:p>
        </p:txBody>
      </p:sp>
      <p:cxnSp>
        <p:nvCxnSpPr>
          <p:cNvPr id="44" name="Straight Arrow Connector 43">
            <a:extLst>
              <a:ext uri="{FF2B5EF4-FFF2-40B4-BE49-F238E27FC236}">
                <a16:creationId xmlns:a16="http://schemas.microsoft.com/office/drawing/2014/main" id="{B581EF96-A958-1174-B4B2-CE070976D3E8}"/>
              </a:ext>
              <a:ext uri="{C183D7F6-B498-43B3-948B-1728B52AA6E4}">
                <adec:decorative xmlns:adec="http://schemas.microsoft.com/office/drawing/2017/decorative" val="1"/>
              </a:ext>
            </a:extLst>
          </p:cNvPr>
          <p:cNvCxnSpPr>
            <a:cxnSpLocks/>
            <a:endCxn id="28" idx="2"/>
          </p:cNvCxnSpPr>
          <p:nvPr/>
        </p:nvCxnSpPr>
        <p:spPr>
          <a:xfrm flipH="1" flipV="1">
            <a:off x="4908768" y="3087231"/>
            <a:ext cx="832" cy="568183"/>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C4BD74D-29D9-FFC3-D27C-2BA941541CC4}"/>
              </a:ext>
              <a:ext uri="{C183D7F6-B498-43B3-948B-1728B52AA6E4}">
                <adec:decorative xmlns:adec="http://schemas.microsoft.com/office/drawing/2017/decorative" val="1"/>
              </a:ext>
            </a:extLst>
          </p:cNvPr>
          <p:cNvCxnSpPr>
            <a:cxnSpLocks/>
            <a:endCxn id="31" idx="2"/>
          </p:cNvCxnSpPr>
          <p:nvPr/>
        </p:nvCxnSpPr>
        <p:spPr>
          <a:xfrm flipV="1">
            <a:off x="7913192" y="3078466"/>
            <a:ext cx="1" cy="599250"/>
          </a:xfrm>
          <a:prstGeom prst="straightConnector1">
            <a:avLst/>
          </a:prstGeom>
          <a:ln w="12700">
            <a:solidFill>
              <a:schemeClr val="bg1">
                <a:lumMod val="75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F2BCA27-B99B-EE46-57B9-0829D6CB9CAB}"/>
              </a:ext>
            </a:extLst>
          </p:cNvPr>
          <p:cNvSpPr txBox="1"/>
          <p:nvPr/>
        </p:nvSpPr>
        <p:spPr>
          <a:xfrm>
            <a:off x="5777172" y="5840387"/>
            <a:ext cx="1354538"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altLang="ja-JP" sz="2000" i="0" u="none" strike="noStrike" kern="1200" cap="none" spc="0" normalizeH="0" baseline="0" noProof="0">
                <a:ln>
                  <a:noFill/>
                </a:ln>
                <a:gradFill>
                  <a:gsLst>
                    <a:gs pos="80000">
                      <a:srgbClr val="2A446F"/>
                    </a:gs>
                    <a:gs pos="0">
                      <a:srgbClr val="73262F"/>
                    </a:gs>
                  </a:gsLst>
                  <a:path path="circle">
                    <a:fillToRect l="100000" t="100000"/>
                  </a:path>
                </a:gradFill>
                <a:effectLst/>
                <a:uLnTx/>
                <a:uFillTx/>
                <a:latin typeface="+mj-lt"/>
                <a:ea typeface="Meiryo UI" panose="020B0604030504040204" pitchFamily="34" charset="-128"/>
                <a:cs typeface="+mn-cs"/>
              </a:rPr>
              <a:t>fine-tuning </a:t>
            </a:r>
          </a:p>
        </p:txBody>
      </p:sp>
      <p:sp>
        <p:nvSpPr>
          <p:cNvPr id="48" name="Left Brace 47">
            <a:extLst>
              <a:ext uri="{FF2B5EF4-FFF2-40B4-BE49-F238E27FC236}">
                <a16:creationId xmlns:a16="http://schemas.microsoft.com/office/drawing/2014/main" id="{78A2497E-B306-AE58-3C11-4112629DAC9A}"/>
              </a:ext>
              <a:ext uri="{C183D7F6-B498-43B3-948B-1728B52AA6E4}">
                <adec:decorative xmlns:adec="http://schemas.microsoft.com/office/drawing/2017/decorative" val="1"/>
              </a:ext>
            </a:extLst>
          </p:cNvPr>
          <p:cNvSpPr/>
          <p:nvPr/>
        </p:nvSpPr>
        <p:spPr>
          <a:xfrm rot="16200000">
            <a:off x="6288421" y="3997176"/>
            <a:ext cx="332038" cy="3004422"/>
          </a:xfrm>
          <a:prstGeom prst="leftBrace">
            <a:avLst/>
          </a:prstGeom>
          <a:ln w="1270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51" name="Group 50">
            <a:extLst>
              <a:ext uri="{FF2B5EF4-FFF2-40B4-BE49-F238E27FC236}">
                <a16:creationId xmlns:a16="http://schemas.microsoft.com/office/drawing/2014/main" id="{0E38B3EA-7482-A538-82DD-FDD8560DBDF6}"/>
              </a:ext>
              <a:ext uri="{C183D7F6-B498-43B3-948B-1728B52AA6E4}">
                <adec:decorative xmlns:adec="http://schemas.microsoft.com/office/drawing/2017/decorative" val="1"/>
              </a:ext>
            </a:extLst>
          </p:cNvPr>
          <p:cNvGrpSpPr/>
          <p:nvPr/>
        </p:nvGrpSpPr>
        <p:grpSpPr>
          <a:xfrm>
            <a:off x="1120420" y="1905990"/>
            <a:ext cx="1246948" cy="1100306"/>
            <a:chOff x="10059498" y="2057409"/>
            <a:chExt cx="903748" cy="797467"/>
          </a:xfrm>
          <a:gradFill>
            <a:gsLst>
              <a:gs pos="80000">
                <a:srgbClr val="8DC8E8"/>
              </a:gs>
              <a:gs pos="0">
                <a:srgbClr val="FFB3BB"/>
              </a:gs>
            </a:gsLst>
            <a:path path="circle">
              <a:fillToRect l="100000" t="100000"/>
            </a:path>
          </a:gradFill>
        </p:grpSpPr>
        <p:sp>
          <p:nvSpPr>
            <p:cNvPr id="52" name="Freeform: Shape 51">
              <a:extLst>
                <a:ext uri="{FF2B5EF4-FFF2-40B4-BE49-F238E27FC236}">
                  <a16:creationId xmlns:a16="http://schemas.microsoft.com/office/drawing/2014/main" id="{0762F959-F264-1942-00E8-1240B179A00C}"/>
                </a:ext>
              </a:extLst>
            </p:cNvPr>
            <p:cNvSpPr/>
            <p:nvPr/>
          </p:nvSpPr>
          <p:spPr>
            <a:xfrm>
              <a:off x="10608611" y="2079098"/>
              <a:ext cx="354635" cy="739710"/>
            </a:xfrm>
            <a:custGeom>
              <a:avLst/>
              <a:gdLst>
                <a:gd name="connsiteX0" fmla="*/ 354636 w 354635"/>
                <a:gd name="connsiteY0" fmla="*/ 466137 h 739710"/>
                <a:gd name="connsiteX1" fmla="*/ 317742 w 354635"/>
                <a:gd name="connsiteY1" fmla="*/ 378988 h 739710"/>
                <a:gd name="connsiteX2" fmla="*/ 278123 w 354635"/>
                <a:gd name="connsiteY2" fmla="*/ 219594 h 739710"/>
                <a:gd name="connsiteX3" fmla="*/ 269557 w 354635"/>
                <a:gd name="connsiteY3" fmla="*/ 214917 h 739710"/>
                <a:gd name="connsiteX4" fmla="*/ 204919 w 354635"/>
                <a:gd name="connsiteY4" fmla="*/ 95375 h 739710"/>
                <a:gd name="connsiteX5" fmla="*/ 202314 w 354635"/>
                <a:gd name="connsiteY5" fmla="*/ 94639 h 739710"/>
                <a:gd name="connsiteX6" fmla="*/ 94635 w 354635"/>
                <a:gd name="connsiteY6" fmla="*/ 221 h 739710"/>
                <a:gd name="connsiteX7" fmla="*/ 0 w 354635"/>
                <a:gd name="connsiteY7" fmla="*/ 101377 h 739710"/>
                <a:gd name="connsiteX8" fmla="*/ 0 w 354635"/>
                <a:gd name="connsiteY8" fmla="*/ 663726 h 739710"/>
                <a:gd name="connsiteX9" fmla="*/ 76028 w 354635"/>
                <a:gd name="connsiteY9" fmla="*/ 739710 h 739710"/>
                <a:gd name="connsiteX10" fmla="*/ 148524 w 354635"/>
                <a:gd name="connsiteY10" fmla="*/ 686468 h 739710"/>
                <a:gd name="connsiteX11" fmla="*/ 281123 w 354635"/>
                <a:gd name="connsiteY11" fmla="*/ 601573 h 739710"/>
                <a:gd name="connsiteX12" fmla="*/ 283708 w 354635"/>
                <a:gd name="connsiteY12" fmla="*/ 577595 h 739710"/>
                <a:gd name="connsiteX13" fmla="*/ 283708 w 354635"/>
                <a:gd name="connsiteY13" fmla="*/ 576588 h 739710"/>
                <a:gd name="connsiteX14" fmla="*/ 354636 w 354635"/>
                <a:gd name="connsiteY14" fmla="*/ 466137 h 73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4635" h="739710">
                  <a:moveTo>
                    <a:pt x="354636" y="466137"/>
                  </a:moveTo>
                  <a:cubicBezTo>
                    <a:pt x="354658" y="433287"/>
                    <a:pt x="341344" y="401837"/>
                    <a:pt x="317742" y="378988"/>
                  </a:cubicBezTo>
                  <a:cubicBezTo>
                    <a:pt x="350817" y="324032"/>
                    <a:pt x="333079" y="252670"/>
                    <a:pt x="278123" y="219594"/>
                  </a:cubicBezTo>
                  <a:cubicBezTo>
                    <a:pt x="275336" y="217916"/>
                    <a:pt x="272477" y="216355"/>
                    <a:pt x="269557" y="214917"/>
                  </a:cubicBezTo>
                  <a:cubicBezTo>
                    <a:pt x="284719" y="164057"/>
                    <a:pt x="255779" y="110537"/>
                    <a:pt x="204919" y="95375"/>
                  </a:cubicBezTo>
                  <a:cubicBezTo>
                    <a:pt x="204054" y="95118"/>
                    <a:pt x="203186" y="94872"/>
                    <a:pt x="202314" y="94639"/>
                  </a:cubicBezTo>
                  <a:cubicBezTo>
                    <a:pt x="198652" y="38832"/>
                    <a:pt x="150442" y="-3441"/>
                    <a:pt x="94635" y="221"/>
                  </a:cubicBezTo>
                  <a:cubicBezTo>
                    <a:pt x="41355" y="3717"/>
                    <a:pt x="-57" y="47982"/>
                    <a:pt x="0" y="101377"/>
                  </a:cubicBezTo>
                  <a:lnTo>
                    <a:pt x="0" y="663726"/>
                  </a:lnTo>
                  <a:cubicBezTo>
                    <a:pt x="13" y="705703"/>
                    <a:pt x="34051" y="739722"/>
                    <a:pt x="76028" y="739710"/>
                  </a:cubicBezTo>
                  <a:cubicBezTo>
                    <a:pt x="109228" y="739700"/>
                    <a:pt x="138580" y="718144"/>
                    <a:pt x="148524" y="686468"/>
                  </a:cubicBezTo>
                  <a:cubicBezTo>
                    <a:pt x="208583" y="699641"/>
                    <a:pt x="267950" y="661632"/>
                    <a:pt x="281123" y="601573"/>
                  </a:cubicBezTo>
                  <a:cubicBezTo>
                    <a:pt x="282850" y="593698"/>
                    <a:pt x="283718" y="585658"/>
                    <a:pt x="283708" y="577595"/>
                  </a:cubicBezTo>
                  <a:cubicBezTo>
                    <a:pt x="283708" y="577263"/>
                    <a:pt x="283708" y="576932"/>
                    <a:pt x="283708" y="576588"/>
                  </a:cubicBezTo>
                  <a:cubicBezTo>
                    <a:pt x="326916" y="556809"/>
                    <a:pt x="354626" y="513655"/>
                    <a:pt x="354636" y="466137"/>
                  </a:cubicBezTo>
                  <a:close/>
                </a:path>
              </a:pathLst>
            </a:custGeom>
            <a:grpFill/>
            <a:ln w="11410" cap="flat">
              <a:solidFill>
                <a:srgbClr val="BFBFBF"/>
              </a:solid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9C4DBB3-D835-3B3F-34CD-1A1C4D5E6989}"/>
                </a:ext>
              </a:extLst>
            </p:cNvPr>
            <p:cNvSpPr/>
            <p:nvPr/>
          </p:nvSpPr>
          <p:spPr>
            <a:xfrm>
              <a:off x="10190421" y="2057409"/>
              <a:ext cx="94563" cy="94579"/>
            </a:xfrm>
            <a:custGeom>
              <a:avLst/>
              <a:gdLst>
                <a:gd name="connsiteX0" fmla="*/ 71689 w 94563"/>
                <a:gd name="connsiteY0" fmla="*/ 94580 h 94579"/>
                <a:gd name="connsiteX1" fmla="*/ 55513 w 94563"/>
                <a:gd name="connsiteY1" fmla="*/ 87876 h 94579"/>
                <a:gd name="connsiteX2" fmla="*/ 6985 w 94563"/>
                <a:gd name="connsiteY2" fmla="*/ 39337 h 94579"/>
                <a:gd name="connsiteX3" fmla="*/ 6422 w 94563"/>
                <a:gd name="connsiteY3" fmla="*/ 6985 h 94579"/>
                <a:gd name="connsiteX4" fmla="*/ 38774 w 94563"/>
                <a:gd name="connsiteY4" fmla="*/ 6422 h 94579"/>
                <a:gd name="connsiteX5" fmla="*/ 39337 w 94563"/>
                <a:gd name="connsiteY5" fmla="*/ 6985 h 94579"/>
                <a:gd name="connsiteX6" fmla="*/ 87865 w 94563"/>
                <a:gd name="connsiteY6" fmla="*/ 55524 h 94579"/>
                <a:gd name="connsiteX7" fmla="*/ 87860 w 94563"/>
                <a:gd name="connsiteY7" fmla="*/ 87881 h 94579"/>
                <a:gd name="connsiteX8" fmla="*/ 71689 w 94563"/>
                <a:gd name="connsiteY8" fmla="*/ 94580 h 94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563" h="94579">
                  <a:moveTo>
                    <a:pt x="71689" y="94580"/>
                  </a:moveTo>
                  <a:cubicBezTo>
                    <a:pt x="65619" y="94589"/>
                    <a:pt x="59797" y="92175"/>
                    <a:pt x="55513" y="87876"/>
                  </a:cubicBezTo>
                  <a:lnTo>
                    <a:pt x="6985" y="39337"/>
                  </a:lnTo>
                  <a:cubicBezTo>
                    <a:pt x="-2104" y="30558"/>
                    <a:pt x="-2356" y="16074"/>
                    <a:pt x="6422" y="6985"/>
                  </a:cubicBezTo>
                  <a:cubicBezTo>
                    <a:pt x="15201" y="-2104"/>
                    <a:pt x="29685" y="-2356"/>
                    <a:pt x="38774" y="6422"/>
                  </a:cubicBezTo>
                  <a:cubicBezTo>
                    <a:pt x="38965" y="6606"/>
                    <a:pt x="39153" y="6794"/>
                    <a:pt x="39337" y="6985"/>
                  </a:cubicBezTo>
                  <a:lnTo>
                    <a:pt x="87865" y="55524"/>
                  </a:lnTo>
                  <a:cubicBezTo>
                    <a:pt x="96798" y="64461"/>
                    <a:pt x="96796" y="78947"/>
                    <a:pt x="87860" y="87881"/>
                  </a:cubicBezTo>
                  <a:cubicBezTo>
                    <a:pt x="83570" y="92170"/>
                    <a:pt x="77754" y="94579"/>
                    <a:pt x="71689" y="94580"/>
                  </a:cubicBezTo>
                  <a:close/>
                </a:path>
              </a:pathLst>
            </a:custGeom>
            <a:grpFill/>
            <a:ln w="11410" cap="flat">
              <a:solidFill>
                <a:srgbClr val="BFBFBF"/>
              </a:solid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1990701-5916-5161-C599-F88CC5DFE960}"/>
                </a:ext>
              </a:extLst>
            </p:cNvPr>
            <p:cNvSpPr/>
            <p:nvPr/>
          </p:nvSpPr>
          <p:spPr>
            <a:xfrm>
              <a:off x="10088674" y="2229516"/>
              <a:ext cx="117373" cy="76041"/>
            </a:xfrm>
            <a:custGeom>
              <a:avLst/>
              <a:gdLst>
                <a:gd name="connsiteX0" fmla="*/ 94478 w 117373"/>
                <a:gd name="connsiteY0" fmla="*/ 76042 h 76041"/>
                <a:gd name="connsiteX1" fmla="*/ 85566 w 117373"/>
                <a:gd name="connsiteY1" fmla="*/ 74234 h 76041"/>
                <a:gd name="connsiteX2" fmla="*/ 13827 w 117373"/>
                <a:gd name="connsiteY2" fmla="*/ 43896 h 76041"/>
                <a:gd name="connsiteX3" fmla="*/ 1876 w 117373"/>
                <a:gd name="connsiteY3" fmla="*/ 13827 h 76041"/>
                <a:gd name="connsiteX4" fmla="*/ 31650 w 117373"/>
                <a:gd name="connsiteY4" fmla="*/ 1751 h 76041"/>
                <a:gd name="connsiteX5" fmla="*/ 103401 w 117373"/>
                <a:gd name="connsiteY5" fmla="*/ 32090 h 76041"/>
                <a:gd name="connsiteX6" fmla="*/ 115560 w 117373"/>
                <a:gd name="connsiteY6" fmla="*/ 62075 h 76041"/>
                <a:gd name="connsiteX7" fmla="*/ 94478 w 117373"/>
                <a:gd name="connsiteY7" fmla="*/ 76042 h 76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373" h="76041">
                  <a:moveTo>
                    <a:pt x="94478" y="76042"/>
                  </a:moveTo>
                  <a:cubicBezTo>
                    <a:pt x="91416" y="76044"/>
                    <a:pt x="88385" y="75429"/>
                    <a:pt x="85566" y="74234"/>
                  </a:cubicBezTo>
                  <a:lnTo>
                    <a:pt x="13827" y="43896"/>
                  </a:lnTo>
                  <a:cubicBezTo>
                    <a:pt x="2223" y="38893"/>
                    <a:pt x="-3127" y="25430"/>
                    <a:pt x="1876" y="13827"/>
                  </a:cubicBezTo>
                  <a:cubicBezTo>
                    <a:pt x="6829" y="2338"/>
                    <a:pt x="20093" y="-3042"/>
                    <a:pt x="31650" y="1751"/>
                  </a:cubicBezTo>
                  <a:lnTo>
                    <a:pt x="103401" y="32090"/>
                  </a:lnTo>
                  <a:cubicBezTo>
                    <a:pt x="115039" y="37012"/>
                    <a:pt x="120483" y="50437"/>
                    <a:pt x="115560" y="62075"/>
                  </a:cubicBezTo>
                  <a:cubicBezTo>
                    <a:pt x="111977" y="70544"/>
                    <a:pt x="103673" y="76046"/>
                    <a:pt x="94478" y="76042"/>
                  </a:cubicBezTo>
                  <a:close/>
                </a:path>
              </a:pathLst>
            </a:custGeom>
            <a:grpFill/>
            <a:ln w="11410" cap="flat">
              <a:solidFill>
                <a:srgbClr val="BFBFBF"/>
              </a:solid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54B0B983-0E6B-5EA1-E581-0F58CBF804AD}"/>
                </a:ext>
              </a:extLst>
            </p:cNvPr>
            <p:cNvSpPr/>
            <p:nvPr/>
          </p:nvSpPr>
          <p:spPr>
            <a:xfrm>
              <a:off x="10059498" y="2429863"/>
              <a:ext cx="109113" cy="45759"/>
            </a:xfrm>
            <a:custGeom>
              <a:avLst/>
              <a:gdLst>
                <a:gd name="connsiteX0" fmla="*/ 86234 w 109113"/>
                <a:gd name="connsiteY0" fmla="*/ 45759 h 45759"/>
                <a:gd name="connsiteX1" fmla="*/ 22880 w 109113"/>
                <a:gd name="connsiteY1" fmla="*/ 45759 h 45759"/>
                <a:gd name="connsiteX2" fmla="*/ 0 w 109113"/>
                <a:gd name="connsiteY2" fmla="*/ 22880 h 45759"/>
                <a:gd name="connsiteX3" fmla="*/ 22880 w 109113"/>
                <a:gd name="connsiteY3" fmla="*/ 0 h 45759"/>
                <a:gd name="connsiteX4" fmla="*/ 86234 w 109113"/>
                <a:gd name="connsiteY4" fmla="*/ 0 h 45759"/>
                <a:gd name="connsiteX5" fmla="*/ 109113 w 109113"/>
                <a:gd name="connsiteY5" fmla="*/ 22880 h 45759"/>
                <a:gd name="connsiteX6" fmla="*/ 86234 w 109113"/>
                <a:gd name="connsiteY6" fmla="*/ 45759 h 4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113" h="45759">
                  <a:moveTo>
                    <a:pt x="86234" y="45759"/>
                  </a:moveTo>
                  <a:lnTo>
                    <a:pt x="22880" y="45759"/>
                  </a:lnTo>
                  <a:cubicBezTo>
                    <a:pt x="10244" y="45759"/>
                    <a:pt x="0" y="35516"/>
                    <a:pt x="0" y="22880"/>
                  </a:cubicBezTo>
                  <a:cubicBezTo>
                    <a:pt x="0" y="10243"/>
                    <a:pt x="10244" y="0"/>
                    <a:pt x="22880" y="0"/>
                  </a:cubicBezTo>
                  <a:lnTo>
                    <a:pt x="86234" y="0"/>
                  </a:lnTo>
                  <a:cubicBezTo>
                    <a:pt x="98870" y="0"/>
                    <a:pt x="109113" y="10243"/>
                    <a:pt x="109113" y="22880"/>
                  </a:cubicBezTo>
                  <a:cubicBezTo>
                    <a:pt x="109113" y="35516"/>
                    <a:pt x="98870" y="45759"/>
                    <a:pt x="86234" y="45759"/>
                  </a:cubicBezTo>
                  <a:close/>
                </a:path>
              </a:pathLst>
            </a:custGeom>
            <a:grpFill/>
            <a:ln w="11410" cap="flat">
              <a:solidFill>
                <a:srgbClr val="BFBFBF"/>
              </a:solid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6DD1F40-97D7-4792-0F0E-5C730756B660}"/>
                </a:ext>
              </a:extLst>
            </p:cNvPr>
            <p:cNvSpPr/>
            <p:nvPr/>
          </p:nvSpPr>
          <p:spPr>
            <a:xfrm>
              <a:off x="10070975" y="2609795"/>
              <a:ext cx="106514" cy="73506"/>
            </a:xfrm>
            <a:custGeom>
              <a:avLst/>
              <a:gdLst>
                <a:gd name="connsiteX0" fmla="*/ 22912 w 106514"/>
                <a:gd name="connsiteY0" fmla="*/ 73507 h 73506"/>
                <a:gd name="connsiteX1" fmla="*/ 0 w 106514"/>
                <a:gd name="connsiteY1" fmla="*/ 50659 h 73506"/>
                <a:gd name="connsiteX2" fmla="*/ 13394 w 106514"/>
                <a:gd name="connsiteY2" fmla="*/ 29807 h 73506"/>
                <a:gd name="connsiteX3" fmla="*/ 74116 w 106514"/>
                <a:gd name="connsiteY3" fmla="*/ 2077 h 73506"/>
                <a:gd name="connsiteX4" fmla="*/ 104438 w 106514"/>
                <a:gd name="connsiteY4" fmla="*/ 13373 h 73506"/>
                <a:gd name="connsiteX5" fmla="*/ 93141 w 106514"/>
                <a:gd name="connsiteY5" fmla="*/ 43695 h 73506"/>
                <a:gd name="connsiteX6" fmla="*/ 32407 w 106514"/>
                <a:gd name="connsiteY6" fmla="*/ 71436 h 73506"/>
                <a:gd name="connsiteX7" fmla="*/ 22912 w 106514"/>
                <a:gd name="connsiteY7" fmla="*/ 73507 h 7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514" h="73506">
                  <a:moveTo>
                    <a:pt x="22912" y="73507"/>
                  </a:moveTo>
                  <a:cubicBezTo>
                    <a:pt x="10276" y="73524"/>
                    <a:pt x="18" y="63296"/>
                    <a:pt x="0" y="50659"/>
                  </a:cubicBezTo>
                  <a:cubicBezTo>
                    <a:pt x="-12" y="41682"/>
                    <a:pt x="5225" y="33528"/>
                    <a:pt x="13394" y="29807"/>
                  </a:cubicBezTo>
                  <a:lnTo>
                    <a:pt x="74116" y="2077"/>
                  </a:lnTo>
                  <a:cubicBezTo>
                    <a:pt x="85609" y="-3177"/>
                    <a:pt x="99185" y="1881"/>
                    <a:pt x="104438" y="13373"/>
                  </a:cubicBezTo>
                  <a:cubicBezTo>
                    <a:pt x="109691" y="24866"/>
                    <a:pt x="104633" y="38442"/>
                    <a:pt x="93141" y="43695"/>
                  </a:cubicBezTo>
                  <a:lnTo>
                    <a:pt x="32407" y="71436"/>
                  </a:lnTo>
                  <a:cubicBezTo>
                    <a:pt x="29427" y="72799"/>
                    <a:pt x="26188" y="73505"/>
                    <a:pt x="22912" y="73507"/>
                  </a:cubicBezTo>
                  <a:close/>
                </a:path>
              </a:pathLst>
            </a:custGeom>
            <a:grpFill/>
            <a:ln w="11410" cap="flat">
              <a:solidFill>
                <a:srgbClr val="BFBFBF"/>
              </a:solid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9249BCD9-3BD9-73A3-477B-3E3DD96ECCCE}"/>
                </a:ext>
              </a:extLst>
            </p:cNvPr>
            <p:cNvSpPr/>
            <p:nvPr/>
          </p:nvSpPr>
          <p:spPr>
            <a:xfrm>
              <a:off x="10183579" y="2761180"/>
              <a:ext cx="93685" cy="93696"/>
            </a:xfrm>
            <a:custGeom>
              <a:avLst/>
              <a:gdLst>
                <a:gd name="connsiteX0" fmla="*/ 22887 w 93685"/>
                <a:gd name="connsiteY0" fmla="*/ 93697 h 93696"/>
                <a:gd name="connsiteX1" fmla="*/ 0 w 93685"/>
                <a:gd name="connsiteY1" fmla="*/ 70824 h 93696"/>
                <a:gd name="connsiteX2" fmla="*/ 6711 w 93685"/>
                <a:gd name="connsiteY2" fmla="*/ 54629 h 93696"/>
                <a:gd name="connsiteX3" fmla="*/ 55250 w 93685"/>
                <a:gd name="connsiteY3" fmla="*/ 6102 h 93696"/>
                <a:gd name="connsiteX4" fmla="*/ 87584 w 93685"/>
                <a:gd name="connsiteY4" fmla="*/ 7325 h 93696"/>
                <a:gd name="connsiteX5" fmla="*/ 87556 w 93685"/>
                <a:gd name="connsiteY5" fmla="*/ 38465 h 93696"/>
                <a:gd name="connsiteX6" fmla="*/ 39063 w 93685"/>
                <a:gd name="connsiteY6" fmla="*/ 87004 h 93696"/>
                <a:gd name="connsiteX7" fmla="*/ 22887 w 93685"/>
                <a:gd name="connsiteY7" fmla="*/ 93697 h 93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685" h="93696">
                  <a:moveTo>
                    <a:pt x="22887" y="93697"/>
                  </a:moveTo>
                  <a:cubicBezTo>
                    <a:pt x="10250" y="93700"/>
                    <a:pt x="3" y="83459"/>
                    <a:pt x="0" y="70824"/>
                  </a:cubicBezTo>
                  <a:cubicBezTo>
                    <a:pt x="-1" y="64749"/>
                    <a:pt x="2413" y="58923"/>
                    <a:pt x="6711" y="54629"/>
                  </a:cubicBezTo>
                  <a:lnTo>
                    <a:pt x="55250" y="6102"/>
                  </a:lnTo>
                  <a:cubicBezTo>
                    <a:pt x="64516" y="-2490"/>
                    <a:pt x="78992" y="-1942"/>
                    <a:pt x="87584" y="7325"/>
                  </a:cubicBezTo>
                  <a:cubicBezTo>
                    <a:pt x="95730" y="16110"/>
                    <a:pt x="95717" y="29693"/>
                    <a:pt x="87556" y="38465"/>
                  </a:cubicBezTo>
                  <a:lnTo>
                    <a:pt x="39063" y="87004"/>
                  </a:lnTo>
                  <a:cubicBezTo>
                    <a:pt x="34775" y="91298"/>
                    <a:pt x="28954" y="93706"/>
                    <a:pt x="22887" y="93697"/>
                  </a:cubicBezTo>
                  <a:close/>
                </a:path>
              </a:pathLst>
            </a:custGeom>
            <a:grpFill/>
            <a:ln w="11410" cap="flat">
              <a:solidFill>
                <a:srgbClr val="BFBFBF"/>
              </a:solid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2CA74513-EF28-11E8-6A8F-554FEC8CC193}"/>
                </a:ext>
              </a:extLst>
            </p:cNvPr>
            <p:cNvSpPr/>
            <p:nvPr/>
          </p:nvSpPr>
          <p:spPr>
            <a:xfrm>
              <a:off x="10393988" y="2335454"/>
              <a:ext cx="59365" cy="59367"/>
            </a:xfrm>
            <a:custGeom>
              <a:avLst/>
              <a:gdLst>
                <a:gd name="connsiteX0" fmla="*/ 21141 w 59365"/>
                <a:gd name="connsiteY0" fmla="*/ 1266 h 59367"/>
                <a:gd name="connsiteX1" fmla="*/ 1263 w 59365"/>
                <a:gd name="connsiteY1" fmla="*/ 38227 h 59367"/>
                <a:gd name="connsiteX2" fmla="*/ 38224 w 59365"/>
                <a:gd name="connsiteY2" fmla="*/ 58104 h 59367"/>
                <a:gd name="connsiteX3" fmla="*/ 58103 w 59365"/>
                <a:gd name="connsiteY3" fmla="*/ 21149 h 59367"/>
                <a:gd name="connsiteX4" fmla="*/ 21168 w 59365"/>
                <a:gd name="connsiteY4" fmla="*/ 1258 h 59367"/>
                <a:gd name="connsiteX5" fmla="*/ 21141 w 59365"/>
                <a:gd name="connsiteY5" fmla="*/ 1266 h 5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5" h="59367">
                  <a:moveTo>
                    <a:pt x="21141" y="1266"/>
                  </a:moveTo>
                  <a:cubicBezTo>
                    <a:pt x="5446" y="5984"/>
                    <a:pt x="-3453" y="22532"/>
                    <a:pt x="1263" y="38227"/>
                  </a:cubicBezTo>
                  <a:cubicBezTo>
                    <a:pt x="5981" y="53923"/>
                    <a:pt x="22529" y="62822"/>
                    <a:pt x="38224" y="58104"/>
                  </a:cubicBezTo>
                  <a:cubicBezTo>
                    <a:pt x="53918" y="53387"/>
                    <a:pt x="62818" y="36843"/>
                    <a:pt x="58103" y="21149"/>
                  </a:cubicBezTo>
                  <a:cubicBezTo>
                    <a:pt x="53397" y="5457"/>
                    <a:pt x="36860" y="-3448"/>
                    <a:pt x="21168" y="1258"/>
                  </a:cubicBezTo>
                  <a:cubicBezTo>
                    <a:pt x="21160" y="1261"/>
                    <a:pt x="21150" y="1264"/>
                    <a:pt x="21141" y="1266"/>
                  </a:cubicBezTo>
                  <a:close/>
                </a:path>
              </a:pathLst>
            </a:custGeom>
            <a:grpFill/>
            <a:ln w="11410" cap="flat">
              <a:solidFill>
                <a:srgbClr val="BFBFBF"/>
              </a:solid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C38CFA61-27EE-D4A4-7F4B-1AD85B3CB73C}"/>
                </a:ext>
              </a:extLst>
            </p:cNvPr>
            <p:cNvSpPr/>
            <p:nvPr/>
          </p:nvSpPr>
          <p:spPr>
            <a:xfrm>
              <a:off x="10349967" y="2506400"/>
              <a:ext cx="59365" cy="59367"/>
            </a:xfrm>
            <a:custGeom>
              <a:avLst/>
              <a:gdLst>
                <a:gd name="connsiteX0" fmla="*/ 21141 w 59365"/>
                <a:gd name="connsiteY0" fmla="*/ 1266 h 59367"/>
                <a:gd name="connsiteX1" fmla="*/ 1263 w 59365"/>
                <a:gd name="connsiteY1" fmla="*/ 38227 h 59367"/>
                <a:gd name="connsiteX2" fmla="*/ 38224 w 59365"/>
                <a:gd name="connsiteY2" fmla="*/ 58104 h 59367"/>
                <a:gd name="connsiteX3" fmla="*/ 58103 w 59365"/>
                <a:gd name="connsiteY3" fmla="*/ 21149 h 59367"/>
                <a:gd name="connsiteX4" fmla="*/ 21168 w 59365"/>
                <a:gd name="connsiteY4" fmla="*/ 1258 h 59367"/>
                <a:gd name="connsiteX5" fmla="*/ 21141 w 59365"/>
                <a:gd name="connsiteY5" fmla="*/ 1266 h 5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5" h="59367">
                  <a:moveTo>
                    <a:pt x="21141" y="1266"/>
                  </a:moveTo>
                  <a:cubicBezTo>
                    <a:pt x="5446" y="5984"/>
                    <a:pt x="-3453" y="22532"/>
                    <a:pt x="1263" y="38227"/>
                  </a:cubicBezTo>
                  <a:cubicBezTo>
                    <a:pt x="5981" y="53923"/>
                    <a:pt x="22529" y="62822"/>
                    <a:pt x="38224" y="58104"/>
                  </a:cubicBezTo>
                  <a:cubicBezTo>
                    <a:pt x="53918" y="53387"/>
                    <a:pt x="62818" y="36843"/>
                    <a:pt x="58103" y="21149"/>
                  </a:cubicBezTo>
                  <a:cubicBezTo>
                    <a:pt x="53397" y="5457"/>
                    <a:pt x="36860" y="-3448"/>
                    <a:pt x="21168" y="1258"/>
                  </a:cubicBezTo>
                  <a:cubicBezTo>
                    <a:pt x="21160" y="1261"/>
                    <a:pt x="21150" y="1264"/>
                    <a:pt x="21141" y="1266"/>
                  </a:cubicBezTo>
                  <a:close/>
                </a:path>
              </a:pathLst>
            </a:custGeom>
            <a:grpFill/>
            <a:ln w="11410" cap="flat">
              <a:solidFill>
                <a:srgbClr val="BFBFBF"/>
              </a:solid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9B25457B-2F6B-3702-BA4E-A347AF0AEAE4}"/>
                </a:ext>
              </a:extLst>
            </p:cNvPr>
            <p:cNvSpPr/>
            <p:nvPr/>
          </p:nvSpPr>
          <p:spPr>
            <a:xfrm>
              <a:off x="10208220" y="2079140"/>
              <a:ext cx="354631" cy="739533"/>
            </a:xfrm>
            <a:custGeom>
              <a:avLst/>
              <a:gdLst>
                <a:gd name="connsiteX0" fmla="*/ 253309 w 354631"/>
                <a:gd name="connsiteY0" fmla="*/ 0 h 739533"/>
                <a:gd name="connsiteX1" fmla="*/ 152329 w 354631"/>
                <a:gd name="connsiteY1" fmla="*/ 94585 h 739533"/>
                <a:gd name="connsiteX2" fmla="*/ 84332 w 354631"/>
                <a:gd name="connsiteY2" fmla="*/ 212248 h 739533"/>
                <a:gd name="connsiteX3" fmla="*/ 85074 w 354631"/>
                <a:gd name="connsiteY3" fmla="*/ 214875 h 739533"/>
                <a:gd name="connsiteX4" fmla="*/ 32203 w 354631"/>
                <a:gd name="connsiteY4" fmla="*/ 370341 h 739533"/>
                <a:gd name="connsiteX5" fmla="*/ 36901 w 354631"/>
                <a:gd name="connsiteY5" fmla="*/ 378945 h 739533"/>
                <a:gd name="connsiteX6" fmla="*/ 34233 w 354631"/>
                <a:gd name="connsiteY6" fmla="*/ 550609 h 739533"/>
                <a:gd name="connsiteX7" fmla="*/ 70980 w 354631"/>
                <a:gd name="connsiteY7" fmla="*/ 576546 h 739533"/>
                <a:gd name="connsiteX8" fmla="*/ 70980 w 354631"/>
                <a:gd name="connsiteY8" fmla="*/ 577553 h 739533"/>
                <a:gd name="connsiteX9" fmla="*/ 182210 w 354631"/>
                <a:gd name="connsiteY9" fmla="*/ 689010 h 739533"/>
                <a:gd name="connsiteX10" fmla="*/ 206177 w 354631"/>
                <a:gd name="connsiteY10" fmla="*/ 686426 h 739533"/>
                <a:gd name="connsiteX11" fmla="*/ 301544 w 354631"/>
                <a:gd name="connsiteY11" fmla="*/ 735979 h 739533"/>
                <a:gd name="connsiteX12" fmla="*/ 354632 w 354631"/>
                <a:gd name="connsiteY12" fmla="*/ 663683 h 739533"/>
                <a:gd name="connsiteX13" fmla="*/ 354632 w 354631"/>
                <a:gd name="connsiteY13" fmla="*/ 101334 h 739533"/>
                <a:gd name="connsiteX14" fmla="*/ 253320 w 354631"/>
                <a:gd name="connsiteY14" fmla="*/ 0 h 739533"/>
                <a:gd name="connsiteX15" fmla="*/ 253309 w 354631"/>
                <a:gd name="connsiteY15" fmla="*/ 0 h 739533"/>
                <a:gd name="connsiteX16" fmla="*/ 250186 w 354631"/>
                <a:gd name="connsiteY16" fmla="*/ 488139 h 739533"/>
                <a:gd name="connsiteX17" fmla="*/ 240805 w 354631"/>
                <a:gd name="connsiteY17" fmla="*/ 505619 h 739533"/>
                <a:gd name="connsiteX18" fmla="*/ 221357 w 354631"/>
                <a:gd name="connsiteY18" fmla="*/ 505035 h 739533"/>
                <a:gd name="connsiteX19" fmla="*/ 208304 w 354631"/>
                <a:gd name="connsiteY19" fmla="*/ 515468 h 739533"/>
                <a:gd name="connsiteX20" fmla="*/ 205044 w 354631"/>
                <a:gd name="connsiteY20" fmla="*/ 534664 h 739533"/>
                <a:gd name="connsiteX21" fmla="*/ 186145 w 354631"/>
                <a:gd name="connsiteY21" fmla="*/ 540384 h 739533"/>
                <a:gd name="connsiteX22" fmla="*/ 172807 w 354631"/>
                <a:gd name="connsiteY22" fmla="*/ 526302 h 739533"/>
                <a:gd name="connsiteX23" fmla="*/ 156242 w 354631"/>
                <a:gd name="connsiteY23" fmla="*/ 524643 h 739533"/>
                <a:gd name="connsiteX24" fmla="*/ 140226 w 354631"/>
                <a:gd name="connsiteY24" fmla="*/ 535763 h 739533"/>
                <a:gd name="connsiteX25" fmla="*/ 122872 w 354631"/>
                <a:gd name="connsiteY25" fmla="*/ 526428 h 739533"/>
                <a:gd name="connsiteX26" fmla="*/ 123318 w 354631"/>
                <a:gd name="connsiteY26" fmla="*/ 506980 h 739533"/>
                <a:gd name="connsiteX27" fmla="*/ 112896 w 354631"/>
                <a:gd name="connsiteY27" fmla="*/ 493961 h 739533"/>
                <a:gd name="connsiteX28" fmla="*/ 93689 w 354631"/>
                <a:gd name="connsiteY28" fmla="*/ 490621 h 739533"/>
                <a:gd name="connsiteX29" fmla="*/ 87969 w 354631"/>
                <a:gd name="connsiteY29" fmla="*/ 471722 h 739533"/>
                <a:gd name="connsiteX30" fmla="*/ 102211 w 354631"/>
                <a:gd name="connsiteY30" fmla="*/ 458509 h 739533"/>
                <a:gd name="connsiteX31" fmla="*/ 103721 w 354631"/>
                <a:gd name="connsiteY31" fmla="*/ 441853 h 739533"/>
                <a:gd name="connsiteX32" fmla="*/ 92567 w 354631"/>
                <a:gd name="connsiteY32" fmla="*/ 425849 h 739533"/>
                <a:gd name="connsiteX33" fmla="*/ 101948 w 354631"/>
                <a:gd name="connsiteY33" fmla="*/ 408403 h 739533"/>
                <a:gd name="connsiteX34" fmla="*/ 121487 w 354631"/>
                <a:gd name="connsiteY34" fmla="*/ 408963 h 739533"/>
                <a:gd name="connsiteX35" fmla="*/ 134403 w 354631"/>
                <a:gd name="connsiteY35" fmla="*/ 398450 h 739533"/>
                <a:gd name="connsiteX36" fmla="*/ 137663 w 354631"/>
                <a:gd name="connsiteY36" fmla="*/ 379254 h 739533"/>
                <a:gd name="connsiteX37" fmla="*/ 156562 w 354631"/>
                <a:gd name="connsiteY37" fmla="*/ 373534 h 739533"/>
                <a:gd name="connsiteX38" fmla="*/ 169924 w 354631"/>
                <a:gd name="connsiteY38" fmla="*/ 387731 h 739533"/>
                <a:gd name="connsiteX39" fmla="*/ 186615 w 354631"/>
                <a:gd name="connsiteY39" fmla="*/ 389355 h 739533"/>
                <a:gd name="connsiteX40" fmla="*/ 202527 w 354631"/>
                <a:gd name="connsiteY40" fmla="*/ 378144 h 739533"/>
                <a:gd name="connsiteX41" fmla="*/ 219973 w 354631"/>
                <a:gd name="connsiteY41" fmla="*/ 387537 h 739533"/>
                <a:gd name="connsiteX42" fmla="*/ 219390 w 354631"/>
                <a:gd name="connsiteY42" fmla="*/ 406984 h 739533"/>
                <a:gd name="connsiteX43" fmla="*/ 229937 w 354631"/>
                <a:gd name="connsiteY43" fmla="*/ 420014 h 739533"/>
                <a:gd name="connsiteX44" fmla="*/ 249133 w 354631"/>
                <a:gd name="connsiteY44" fmla="*/ 423263 h 739533"/>
                <a:gd name="connsiteX45" fmla="*/ 254853 w 354631"/>
                <a:gd name="connsiteY45" fmla="*/ 442162 h 739533"/>
                <a:gd name="connsiteX46" fmla="*/ 240611 w 354631"/>
                <a:gd name="connsiteY46" fmla="*/ 455592 h 739533"/>
                <a:gd name="connsiteX47" fmla="*/ 238952 w 354631"/>
                <a:gd name="connsiteY47" fmla="*/ 472157 h 739533"/>
                <a:gd name="connsiteX48" fmla="*/ 294000 w 354631"/>
                <a:gd name="connsiteY48" fmla="*/ 317170 h 739533"/>
                <a:gd name="connsiteX49" fmla="*/ 284620 w 354631"/>
                <a:gd name="connsiteY49" fmla="*/ 334616 h 739533"/>
                <a:gd name="connsiteX50" fmla="*/ 265172 w 354631"/>
                <a:gd name="connsiteY50" fmla="*/ 334032 h 739533"/>
                <a:gd name="connsiteX51" fmla="*/ 252245 w 354631"/>
                <a:gd name="connsiteY51" fmla="*/ 344626 h 739533"/>
                <a:gd name="connsiteX52" fmla="*/ 248905 w 354631"/>
                <a:gd name="connsiteY52" fmla="*/ 363845 h 739533"/>
                <a:gd name="connsiteX53" fmla="*/ 230006 w 354631"/>
                <a:gd name="connsiteY53" fmla="*/ 369565 h 739533"/>
                <a:gd name="connsiteX54" fmla="*/ 216644 w 354631"/>
                <a:gd name="connsiteY54" fmla="*/ 355368 h 739533"/>
                <a:gd name="connsiteX55" fmla="*/ 200068 w 354631"/>
                <a:gd name="connsiteY55" fmla="*/ 353709 h 739533"/>
                <a:gd name="connsiteX56" fmla="*/ 184155 w 354631"/>
                <a:gd name="connsiteY56" fmla="*/ 364920 h 739533"/>
                <a:gd name="connsiteX57" fmla="*/ 166709 w 354631"/>
                <a:gd name="connsiteY57" fmla="*/ 355528 h 739533"/>
                <a:gd name="connsiteX58" fmla="*/ 167430 w 354631"/>
                <a:gd name="connsiteY58" fmla="*/ 335863 h 739533"/>
                <a:gd name="connsiteX59" fmla="*/ 156917 w 354631"/>
                <a:gd name="connsiteY59" fmla="*/ 322947 h 739533"/>
                <a:gd name="connsiteX60" fmla="*/ 137732 w 354631"/>
                <a:gd name="connsiteY60" fmla="*/ 319698 h 739533"/>
                <a:gd name="connsiteX61" fmla="*/ 132012 w 354631"/>
                <a:gd name="connsiteY61" fmla="*/ 300800 h 739533"/>
                <a:gd name="connsiteX62" fmla="*/ 146209 w 354631"/>
                <a:gd name="connsiteY62" fmla="*/ 287426 h 739533"/>
                <a:gd name="connsiteX63" fmla="*/ 147833 w 354631"/>
                <a:gd name="connsiteY63" fmla="*/ 270861 h 739533"/>
                <a:gd name="connsiteX64" fmla="*/ 136451 w 354631"/>
                <a:gd name="connsiteY64" fmla="*/ 254914 h 739533"/>
                <a:gd name="connsiteX65" fmla="*/ 145980 w 354631"/>
                <a:gd name="connsiteY65" fmla="*/ 237388 h 739533"/>
                <a:gd name="connsiteX66" fmla="*/ 165428 w 354631"/>
                <a:gd name="connsiteY66" fmla="*/ 237972 h 739533"/>
                <a:gd name="connsiteX67" fmla="*/ 178446 w 354631"/>
                <a:gd name="connsiteY67" fmla="*/ 227550 h 739533"/>
                <a:gd name="connsiteX68" fmla="*/ 181787 w 354631"/>
                <a:gd name="connsiteY68" fmla="*/ 208331 h 739533"/>
                <a:gd name="connsiteX69" fmla="*/ 200686 w 354631"/>
                <a:gd name="connsiteY69" fmla="*/ 202611 h 739533"/>
                <a:gd name="connsiteX70" fmla="*/ 214024 w 354631"/>
                <a:gd name="connsiteY70" fmla="*/ 216694 h 739533"/>
                <a:gd name="connsiteX71" fmla="*/ 230589 w 354631"/>
                <a:gd name="connsiteY71" fmla="*/ 218353 h 739533"/>
                <a:gd name="connsiteX72" fmla="*/ 246514 w 354631"/>
                <a:gd name="connsiteY72" fmla="*/ 207187 h 739533"/>
                <a:gd name="connsiteX73" fmla="*/ 263959 w 354631"/>
                <a:gd name="connsiteY73" fmla="*/ 216568 h 739533"/>
                <a:gd name="connsiteX74" fmla="*/ 263364 w 354631"/>
                <a:gd name="connsiteY74" fmla="*/ 236119 h 739533"/>
                <a:gd name="connsiteX75" fmla="*/ 273878 w 354631"/>
                <a:gd name="connsiteY75" fmla="*/ 249034 h 739533"/>
                <a:gd name="connsiteX76" fmla="*/ 293074 w 354631"/>
                <a:gd name="connsiteY76" fmla="*/ 252283 h 739533"/>
                <a:gd name="connsiteX77" fmla="*/ 298794 w 354631"/>
                <a:gd name="connsiteY77" fmla="*/ 271193 h 739533"/>
                <a:gd name="connsiteX78" fmla="*/ 284597 w 354631"/>
                <a:gd name="connsiteY78" fmla="*/ 284555 h 739533"/>
                <a:gd name="connsiteX79" fmla="*/ 282789 w 354631"/>
                <a:gd name="connsiteY79" fmla="*/ 301337 h 73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54631" h="739533">
                  <a:moveTo>
                    <a:pt x="253309" y="0"/>
                  </a:moveTo>
                  <a:cubicBezTo>
                    <a:pt x="199996" y="23"/>
                    <a:pt x="155836" y="41387"/>
                    <a:pt x="152329" y="94585"/>
                  </a:cubicBezTo>
                  <a:cubicBezTo>
                    <a:pt x="101060" y="108300"/>
                    <a:pt x="70617" y="160979"/>
                    <a:pt x="84332" y="212248"/>
                  </a:cubicBezTo>
                  <a:cubicBezTo>
                    <a:pt x="84566" y="213127"/>
                    <a:pt x="84815" y="214003"/>
                    <a:pt x="85074" y="214875"/>
                  </a:cubicBezTo>
                  <a:cubicBezTo>
                    <a:pt x="27543" y="243206"/>
                    <a:pt x="3872" y="312810"/>
                    <a:pt x="32203" y="370341"/>
                  </a:cubicBezTo>
                  <a:cubicBezTo>
                    <a:pt x="33648" y="373274"/>
                    <a:pt x="35215" y="376145"/>
                    <a:pt x="36901" y="378945"/>
                  </a:cubicBezTo>
                  <a:cubicBezTo>
                    <a:pt x="-11239" y="425613"/>
                    <a:pt x="-12433" y="502469"/>
                    <a:pt x="34233" y="550609"/>
                  </a:cubicBezTo>
                  <a:cubicBezTo>
                    <a:pt x="44760" y="561468"/>
                    <a:pt x="57223" y="570265"/>
                    <a:pt x="70980" y="576546"/>
                  </a:cubicBezTo>
                  <a:cubicBezTo>
                    <a:pt x="70980" y="576889"/>
                    <a:pt x="70980" y="577221"/>
                    <a:pt x="70980" y="577553"/>
                  </a:cubicBezTo>
                  <a:cubicBezTo>
                    <a:pt x="70918" y="639046"/>
                    <a:pt x="120718" y="688947"/>
                    <a:pt x="182210" y="689010"/>
                  </a:cubicBezTo>
                  <a:cubicBezTo>
                    <a:pt x="190270" y="689019"/>
                    <a:pt x="198305" y="688152"/>
                    <a:pt x="206177" y="686426"/>
                  </a:cubicBezTo>
                  <a:cubicBezTo>
                    <a:pt x="218828" y="726444"/>
                    <a:pt x="261526" y="748630"/>
                    <a:pt x="301544" y="735979"/>
                  </a:cubicBezTo>
                  <a:cubicBezTo>
                    <a:pt x="333090" y="726005"/>
                    <a:pt x="354560" y="696768"/>
                    <a:pt x="354632" y="663683"/>
                  </a:cubicBezTo>
                  <a:lnTo>
                    <a:pt x="354632" y="101334"/>
                  </a:lnTo>
                  <a:cubicBezTo>
                    <a:pt x="354639" y="45375"/>
                    <a:pt x="309279" y="7"/>
                    <a:pt x="253320" y="0"/>
                  </a:cubicBezTo>
                  <a:cubicBezTo>
                    <a:pt x="253317" y="0"/>
                    <a:pt x="253312" y="0"/>
                    <a:pt x="253309" y="0"/>
                  </a:cubicBezTo>
                  <a:close/>
                  <a:moveTo>
                    <a:pt x="250186" y="488139"/>
                  </a:moveTo>
                  <a:lnTo>
                    <a:pt x="240805" y="505619"/>
                  </a:lnTo>
                  <a:lnTo>
                    <a:pt x="221357" y="505035"/>
                  </a:lnTo>
                  <a:cubicBezTo>
                    <a:pt x="217447" y="509031"/>
                    <a:pt x="213063" y="512535"/>
                    <a:pt x="208304" y="515468"/>
                  </a:cubicBezTo>
                  <a:lnTo>
                    <a:pt x="205044" y="534664"/>
                  </a:lnTo>
                  <a:lnTo>
                    <a:pt x="186145" y="540384"/>
                  </a:lnTo>
                  <a:lnTo>
                    <a:pt x="172807" y="526302"/>
                  </a:lnTo>
                  <a:cubicBezTo>
                    <a:pt x="167238" y="526421"/>
                    <a:pt x="161676" y="525864"/>
                    <a:pt x="156242" y="524643"/>
                  </a:cubicBezTo>
                  <a:lnTo>
                    <a:pt x="140226" y="535763"/>
                  </a:lnTo>
                  <a:lnTo>
                    <a:pt x="122872" y="526428"/>
                  </a:lnTo>
                  <a:lnTo>
                    <a:pt x="123318" y="506980"/>
                  </a:lnTo>
                  <a:cubicBezTo>
                    <a:pt x="119330" y="503079"/>
                    <a:pt x="115830" y="498707"/>
                    <a:pt x="112896" y="493961"/>
                  </a:cubicBezTo>
                  <a:lnTo>
                    <a:pt x="93689" y="490621"/>
                  </a:lnTo>
                  <a:lnTo>
                    <a:pt x="87969" y="471722"/>
                  </a:lnTo>
                  <a:lnTo>
                    <a:pt x="102211" y="458509"/>
                  </a:lnTo>
                  <a:cubicBezTo>
                    <a:pt x="102037" y="452916"/>
                    <a:pt x="102544" y="447323"/>
                    <a:pt x="103721" y="441853"/>
                  </a:cubicBezTo>
                  <a:lnTo>
                    <a:pt x="92567" y="425849"/>
                  </a:lnTo>
                  <a:lnTo>
                    <a:pt x="101948" y="408403"/>
                  </a:lnTo>
                  <a:lnTo>
                    <a:pt x="121487" y="408963"/>
                  </a:lnTo>
                  <a:cubicBezTo>
                    <a:pt x="125351" y="404948"/>
                    <a:pt x="129687" y="401418"/>
                    <a:pt x="134403" y="398450"/>
                  </a:cubicBezTo>
                  <a:lnTo>
                    <a:pt x="137663" y="379254"/>
                  </a:lnTo>
                  <a:lnTo>
                    <a:pt x="156562" y="373534"/>
                  </a:lnTo>
                  <a:lnTo>
                    <a:pt x="169924" y="387731"/>
                  </a:lnTo>
                  <a:cubicBezTo>
                    <a:pt x="175533" y="387589"/>
                    <a:pt x="181138" y="388135"/>
                    <a:pt x="186615" y="389355"/>
                  </a:cubicBezTo>
                  <a:lnTo>
                    <a:pt x="202527" y="378144"/>
                  </a:lnTo>
                  <a:lnTo>
                    <a:pt x="219973" y="387537"/>
                  </a:lnTo>
                  <a:lnTo>
                    <a:pt x="219390" y="406984"/>
                  </a:lnTo>
                  <a:cubicBezTo>
                    <a:pt x="223429" y="410876"/>
                    <a:pt x="226972" y="415253"/>
                    <a:pt x="229937" y="420014"/>
                  </a:cubicBezTo>
                  <a:lnTo>
                    <a:pt x="249133" y="423263"/>
                  </a:lnTo>
                  <a:lnTo>
                    <a:pt x="254853" y="442162"/>
                  </a:lnTo>
                  <a:lnTo>
                    <a:pt x="240611" y="455592"/>
                  </a:lnTo>
                  <a:cubicBezTo>
                    <a:pt x="240735" y="461161"/>
                    <a:pt x="240178" y="466723"/>
                    <a:pt x="238952" y="472157"/>
                  </a:cubicBezTo>
                  <a:close/>
                  <a:moveTo>
                    <a:pt x="294000" y="317170"/>
                  </a:moveTo>
                  <a:lnTo>
                    <a:pt x="284620" y="334616"/>
                  </a:lnTo>
                  <a:lnTo>
                    <a:pt x="265172" y="334032"/>
                  </a:lnTo>
                  <a:cubicBezTo>
                    <a:pt x="261310" y="338076"/>
                    <a:pt x="256970" y="341634"/>
                    <a:pt x="252245" y="344626"/>
                  </a:cubicBezTo>
                  <a:lnTo>
                    <a:pt x="248905" y="363845"/>
                  </a:lnTo>
                  <a:lnTo>
                    <a:pt x="230006" y="369565"/>
                  </a:lnTo>
                  <a:lnTo>
                    <a:pt x="216644" y="355368"/>
                  </a:lnTo>
                  <a:cubicBezTo>
                    <a:pt x="211072" y="355492"/>
                    <a:pt x="205505" y="354935"/>
                    <a:pt x="200068" y="353709"/>
                  </a:cubicBezTo>
                  <a:lnTo>
                    <a:pt x="184155" y="364920"/>
                  </a:lnTo>
                  <a:lnTo>
                    <a:pt x="166709" y="355528"/>
                  </a:lnTo>
                  <a:lnTo>
                    <a:pt x="167430" y="335863"/>
                  </a:lnTo>
                  <a:cubicBezTo>
                    <a:pt x="163412" y="332002"/>
                    <a:pt x="159882" y="327664"/>
                    <a:pt x="156917" y="322947"/>
                  </a:cubicBezTo>
                  <a:lnTo>
                    <a:pt x="137732" y="319698"/>
                  </a:lnTo>
                  <a:lnTo>
                    <a:pt x="132012" y="300800"/>
                  </a:lnTo>
                  <a:lnTo>
                    <a:pt x="146209" y="287426"/>
                  </a:lnTo>
                  <a:cubicBezTo>
                    <a:pt x="146084" y="281860"/>
                    <a:pt x="146630" y="276298"/>
                    <a:pt x="147833" y="270861"/>
                  </a:cubicBezTo>
                  <a:lnTo>
                    <a:pt x="136451" y="254914"/>
                  </a:lnTo>
                  <a:lnTo>
                    <a:pt x="145980" y="237388"/>
                  </a:lnTo>
                  <a:lnTo>
                    <a:pt x="165428" y="237972"/>
                  </a:lnTo>
                  <a:cubicBezTo>
                    <a:pt x="169327" y="233980"/>
                    <a:pt x="173698" y="230480"/>
                    <a:pt x="178446" y="227550"/>
                  </a:cubicBezTo>
                  <a:lnTo>
                    <a:pt x="181787" y="208331"/>
                  </a:lnTo>
                  <a:lnTo>
                    <a:pt x="200686" y="202611"/>
                  </a:lnTo>
                  <a:lnTo>
                    <a:pt x="214024" y="216694"/>
                  </a:lnTo>
                  <a:cubicBezTo>
                    <a:pt x="219593" y="216576"/>
                    <a:pt x="225155" y="217133"/>
                    <a:pt x="230589" y="218353"/>
                  </a:cubicBezTo>
                  <a:lnTo>
                    <a:pt x="246514" y="207187"/>
                  </a:lnTo>
                  <a:lnTo>
                    <a:pt x="263959" y="216568"/>
                  </a:lnTo>
                  <a:lnTo>
                    <a:pt x="263364" y="236119"/>
                  </a:lnTo>
                  <a:cubicBezTo>
                    <a:pt x="267382" y="239980"/>
                    <a:pt x="270913" y="244316"/>
                    <a:pt x="273878" y="249034"/>
                  </a:cubicBezTo>
                  <a:lnTo>
                    <a:pt x="293074" y="252283"/>
                  </a:lnTo>
                  <a:lnTo>
                    <a:pt x="298794" y="271193"/>
                  </a:lnTo>
                  <a:lnTo>
                    <a:pt x="284597" y="284555"/>
                  </a:lnTo>
                  <a:cubicBezTo>
                    <a:pt x="284688" y="290202"/>
                    <a:pt x="284082" y="295839"/>
                    <a:pt x="282789" y="301337"/>
                  </a:cubicBezTo>
                  <a:close/>
                </a:path>
              </a:pathLst>
            </a:custGeom>
            <a:grpFill/>
            <a:ln w="11410" cap="flat">
              <a:solidFill>
                <a:srgbClr val="BFBFBF"/>
              </a:solidFill>
              <a:prstDash val="solid"/>
              <a:miter/>
            </a:ln>
          </p:spPr>
          <p:txBody>
            <a:bodyPr rtlCol="0" anchor="ctr"/>
            <a:lstStyle/>
            <a:p>
              <a:endParaRPr lang="en-US"/>
            </a:p>
          </p:txBody>
        </p:sp>
      </p:grpSp>
      <p:sp>
        <p:nvSpPr>
          <p:cNvPr id="70" name="Graphic 10">
            <a:extLst>
              <a:ext uri="{FF2B5EF4-FFF2-40B4-BE49-F238E27FC236}">
                <a16:creationId xmlns:a16="http://schemas.microsoft.com/office/drawing/2014/main" id="{4CB4518B-1C4A-0F17-A972-7FFE4B4B921E}"/>
              </a:ext>
              <a:ext uri="{C183D7F6-B498-43B3-948B-1728B52AA6E4}">
                <adec:decorative xmlns:adec="http://schemas.microsoft.com/office/drawing/2017/decorative" val="1"/>
              </a:ext>
            </a:extLst>
          </p:cNvPr>
          <p:cNvSpPr/>
          <p:nvPr/>
        </p:nvSpPr>
        <p:spPr>
          <a:xfrm>
            <a:off x="4661808" y="3750691"/>
            <a:ext cx="493920" cy="617400"/>
          </a:xfrm>
          <a:custGeom>
            <a:avLst/>
            <a:gdLst>
              <a:gd name="connsiteX0" fmla="*/ 76200 w 152400"/>
              <a:gd name="connsiteY0" fmla="*/ 57150 h 190500"/>
              <a:gd name="connsiteX1" fmla="*/ 76200 w 152400"/>
              <a:gd name="connsiteY1" fmla="*/ 0 h 190500"/>
              <a:gd name="connsiteX2" fmla="*/ 19050 w 152400"/>
              <a:gd name="connsiteY2" fmla="*/ 0 h 190500"/>
              <a:gd name="connsiteX3" fmla="*/ 0 w 152400"/>
              <a:gd name="connsiteY3" fmla="*/ 19050 h 190500"/>
              <a:gd name="connsiteX4" fmla="*/ 0 w 152400"/>
              <a:gd name="connsiteY4" fmla="*/ 171450 h 190500"/>
              <a:gd name="connsiteX5" fmla="*/ 19050 w 152400"/>
              <a:gd name="connsiteY5" fmla="*/ 190500 h 190500"/>
              <a:gd name="connsiteX6" fmla="*/ 133350 w 152400"/>
              <a:gd name="connsiteY6" fmla="*/ 190500 h 190500"/>
              <a:gd name="connsiteX7" fmla="*/ 152400 w 152400"/>
              <a:gd name="connsiteY7" fmla="*/ 171450 h 190500"/>
              <a:gd name="connsiteX8" fmla="*/ 152400 w 152400"/>
              <a:gd name="connsiteY8" fmla="*/ 76200 h 190500"/>
              <a:gd name="connsiteX9" fmla="*/ 95250 w 152400"/>
              <a:gd name="connsiteY9" fmla="*/ 76200 h 190500"/>
              <a:gd name="connsiteX10" fmla="*/ 76200 w 152400"/>
              <a:gd name="connsiteY10" fmla="*/ 57150 h 190500"/>
              <a:gd name="connsiteX11" fmla="*/ 40481 w 152400"/>
              <a:gd name="connsiteY11" fmla="*/ 90488 h 190500"/>
              <a:gd name="connsiteX12" fmla="*/ 111919 w 152400"/>
              <a:gd name="connsiteY12" fmla="*/ 90488 h 190500"/>
              <a:gd name="connsiteX13" fmla="*/ 119063 w 152400"/>
              <a:gd name="connsiteY13" fmla="*/ 97631 h 190500"/>
              <a:gd name="connsiteX14" fmla="*/ 111919 w 152400"/>
              <a:gd name="connsiteY14" fmla="*/ 104775 h 190500"/>
              <a:gd name="connsiteX15" fmla="*/ 40481 w 152400"/>
              <a:gd name="connsiteY15" fmla="*/ 104775 h 190500"/>
              <a:gd name="connsiteX16" fmla="*/ 33338 w 152400"/>
              <a:gd name="connsiteY16" fmla="*/ 97631 h 190500"/>
              <a:gd name="connsiteX17" fmla="*/ 40481 w 152400"/>
              <a:gd name="connsiteY17" fmla="*/ 90488 h 190500"/>
              <a:gd name="connsiteX18" fmla="*/ 40481 w 152400"/>
              <a:gd name="connsiteY18" fmla="*/ 116681 h 190500"/>
              <a:gd name="connsiteX19" fmla="*/ 111919 w 152400"/>
              <a:gd name="connsiteY19" fmla="*/ 116681 h 190500"/>
              <a:gd name="connsiteX20" fmla="*/ 119063 w 152400"/>
              <a:gd name="connsiteY20" fmla="*/ 123825 h 190500"/>
              <a:gd name="connsiteX21" fmla="*/ 111919 w 152400"/>
              <a:gd name="connsiteY21" fmla="*/ 130969 h 190500"/>
              <a:gd name="connsiteX22" fmla="*/ 40481 w 152400"/>
              <a:gd name="connsiteY22" fmla="*/ 130969 h 190500"/>
              <a:gd name="connsiteX23" fmla="*/ 33338 w 152400"/>
              <a:gd name="connsiteY23" fmla="*/ 123825 h 190500"/>
              <a:gd name="connsiteX24" fmla="*/ 40481 w 152400"/>
              <a:gd name="connsiteY24" fmla="*/ 116681 h 190500"/>
              <a:gd name="connsiteX25" fmla="*/ 40481 w 152400"/>
              <a:gd name="connsiteY25" fmla="*/ 142875 h 190500"/>
              <a:gd name="connsiteX26" fmla="*/ 111919 w 152400"/>
              <a:gd name="connsiteY26" fmla="*/ 142875 h 190500"/>
              <a:gd name="connsiteX27" fmla="*/ 119063 w 152400"/>
              <a:gd name="connsiteY27" fmla="*/ 150019 h 190500"/>
              <a:gd name="connsiteX28" fmla="*/ 111919 w 152400"/>
              <a:gd name="connsiteY28" fmla="*/ 157163 h 190500"/>
              <a:gd name="connsiteX29" fmla="*/ 40481 w 152400"/>
              <a:gd name="connsiteY29" fmla="*/ 157163 h 190500"/>
              <a:gd name="connsiteX30" fmla="*/ 33338 w 152400"/>
              <a:gd name="connsiteY30" fmla="*/ 150019 h 190500"/>
              <a:gd name="connsiteX31" fmla="*/ 40481 w 152400"/>
              <a:gd name="connsiteY31" fmla="*/ 142875 h 190500"/>
              <a:gd name="connsiteX32" fmla="*/ 90488 w 152400"/>
              <a:gd name="connsiteY32" fmla="*/ 57150 h 190500"/>
              <a:gd name="connsiteX33" fmla="*/ 90488 w 152400"/>
              <a:gd name="connsiteY33" fmla="*/ 4763 h 190500"/>
              <a:gd name="connsiteX34" fmla="*/ 147638 w 152400"/>
              <a:gd name="connsiteY34" fmla="*/ 61913 h 190500"/>
              <a:gd name="connsiteX35" fmla="*/ 95250 w 152400"/>
              <a:gd name="connsiteY35" fmla="*/ 61913 h 190500"/>
              <a:gd name="connsiteX36" fmla="*/ 90488 w 152400"/>
              <a:gd name="connsiteY36" fmla="*/ 571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2400" h="190500">
                <a:moveTo>
                  <a:pt x="76200" y="57150"/>
                </a:moveTo>
                <a:lnTo>
                  <a:pt x="76200" y="0"/>
                </a:lnTo>
                <a:lnTo>
                  <a:pt x="19050" y="0"/>
                </a:lnTo>
                <a:cubicBezTo>
                  <a:pt x="8573" y="0"/>
                  <a:pt x="0" y="8573"/>
                  <a:pt x="0" y="19050"/>
                </a:cubicBezTo>
                <a:lnTo>
                  <a:pt x="0" y="171450"/>
                </a:lnTo>
                <a:cubicBezTo>
                  <a:pt x="0" y="181928"/>
                  <a:pt x="8573" y="190500"/>
                  <a:pt x="19050" y="190500"/>
                </a:cubicBezTo>
                <a:lnTo>
                  <a:pt x="133350" y="190500"/>
                </a:lnTo>
                <a:cubicBezTo>
                  <a:pt x="143828" y="190500"/>
                  <a:pt x="152400" y="181928"/>
                  <a:pt x="152400" y="171450"/>
                </a:cubicBezTo>
                <a:lnTo>
                  <a:pt x="152400" y="76200"/>
                </a:lnTo>
                <a:lnTo>
                  <a:pt x="95250" y="76200"/>
                </a:lnTo>
                <a:cubicBezTo>
                  <a:pt x="84773" y="76200"/>
                  <a:pt x="76200" y="67628"/>
                  <a:pt x="76200" y="57150"/>
                </a:cubicBezTo>
                <a:close/>
                <a:moveTo>
                  <a:pt x="40481" y="90488"/>
                </a:moveTo>
                <a:lnTo>
                  <a:pt x="111919" y="90488"/>
                </a:lnTo>
                <a:cubicBezTo>
                  <a:pt x="115824" y="90488"/>
                  <a:pt x="119063" y="93726"/>
                  <a:pt x="119063" y="97631"/>
                </a:cubicBezTo>
                <a:cubicBezTo>
                  <a:pt x="119063" y="101537"/>
                  <a:pt x="115824" y="104775"/>
                  <a:pt x="111919" y="104775"/>
                </a:cubicBezTo>
                <a:lnTo>
                  <a:pt x="40481" y="104775"/>
                </a:lnTo>
                <a:cubicBezTo>
                  <a:pt x="36576" y="104775"/>
                  <a:pt x="33338" y="101537"/>
                  <a:pt x="33338" y="97631"/>
                </a:cubicBezTo>
                <a:cubicBezTo>
                  <a:pt x="33338" y="93726"/>
                  <a:pt x="36576" y="90488"/>
                  <a:pt x="40481" y="90488"/>
                </a:cubicBezTo>
                <a:close/>
                <a:moveTo>
                  <a:pt x="40481" y="116681"/>
                </a:moveTo>
                <a:lnTo>
                  <a:pt x="111919" y="116681"/>
                </a:lnTo>
                <a:cubicBezTo>
                  <a:pt x="115824" y="116681"/>
                  <a:pt x="119063" y="119920"/>
                  <a:pt x="119063" y="123825"/>
                </a:cubicBezTo>
                <a:cubicBezTo>
                  <a:pt x="119063" y="127730"/>
                  <a:pt x="115824" y="130969"/>
                  <a:pt x="111919" y="130969"/>
                </a:cubicBezTo>
                <a:lnTo>
                  <a:pt x="40481" y="130969"/>
                </a:lnTo>
                <a:cubicBezTo>
                  <a:pt x="36576" y="130969"/>
                  <a:pt x="33338" y="127730"/>
                  <a:pt x="33338" y="123825"/>
                </a:cubicBezTo>
                <a:cubicBezTo>
                  <a:pt x="33338" y="119920"/>
                  <a:pt x="36576" y="116681"/>
                  <a:pt x="40481" y="116681"/>
                </a:cubicBezTo>
                <a:close/>
                <a:moveTo>
                  <a:pt x="40481" y="142875"/>
                </a:moveTo>
                <a:lnTo>
                  <a:pt x="111919" y="142875"/>
                </a:lnTo>
                <a:cubicBezTo>
                  <a:pt x="115824" y="142875"/>
                  <a:pt x="119063" y="146114"/>
                  <a:pt x="119063" y="150019"/>
                </a:cubicBezTo>
                <a:cubicBezTo>
                  <a:pt x="119063" y="153924"/>
                  <a:pt x="115824" y="157163"/>
                  <a:pt x="111919" y="157163"/>
                </a:cubicBezTo>
                <a:lnTo>
                  <a:pt x="40481" y="157163"/>
                </a:lnTo>
                <a:cubicBezTo>
                  <a:pt x="36576" y="157163"/>
                  <a:pt x="33338" y="153924"/>
                  <a:pt x="33338" y="150019"/>
                </a:cubicBezTo>
                <a:cubicBezTo>
                  <a:pt x="33338" y="146114"/>
                  <a:pt x="36576" y="142875"/>
                  <a:pt x="40481" y="142875"/>
                </a:cubicBezTo>
                <a:close/>
                <a:moveTo>
                  <a:pt x="90488" y="57150"/>
                </a:moveTo>
                <a:lnTo>
                  <a:pt x="90488" y="4763"/>
                </a:lnTo>
                <a:lnTo>
                  <a:pt x="147638" y="61913"/>
                </a:lnTo>
                <a:lnTo>
                  <a:pt x="95250" y="61913"/>
                </a:lnTo>
                <a:cubicBezTo>
                  <a:pt x="92583" y="61913"/>
                  <a:pt x="90488" y="59817"/>
                  <a:pt x="90488" y="57150"/>
                </a:cubicBezTo>
                <a:close/>
              </a:path>
            </a:pathLst>
          </a:custGeom>
          <a:solidFill>
            <a:schemeClr val="tx1"/>
          </a:solidFill>
          <a:ln w="9525" cap="flat">
            <a:noFill/>
            <a:prstDash val="solid"/>
            <a:miter/>
          </a:ln>
        </p:spPr>
        <p:txBody>
          <a:bodyPr rtlCol="0" anchor="ctr"/>
          <a:lstStyle/>
          <a:p>
            <a:endParaRPr lang="en-US"/>
          </a:p>
        </p:txBody>
      </p:sp>
      <p:sp>
        <p:nvSpPr>
          <p:cNvPr id="72" name="Graphic 34">
            <a:extLst>
              <a:ext uri="{FF2B5EF4-FFF2-40B4-BE49-F238E27FC236}">
                <a16:creationId xmlns:a16="http://schemas.microsoft.com/office/drawing/2014/main" id="{800C7650-890B-6DEB-9C75-B5773C53E7F3}"/>
              </a:ext>
              <a:ext uri="{C183D7F6-B498-43B3-948B-1728B52AA6E4}">
                <adec:decorative xmlns:adec="http://schemas.microsoft.com/office/drawing/2017/decorative" val="1"/>
              </a:ext>
            </a:extLst>
          </p:cNvPr>
          <p:cNvSpPr/>
          <p:nvPr/>
        </p:nvSpPr>
        <p:spPr>
          <a:xfrm>
            <a:off x="7666232" y="3790518"/>
            <a:ext cx="493920" cy="617400"/>
          </a:xfrm>
          <a:custGeom>
            <a:avLst/>
            <a:gdLst>
              <a:gd name="connsiteX0" fmla="*/ 130969 w 152400"/>
              <a:gd name="connsiteY0" fmla="*/ 114300 h 190500"/>
              <a:gd name="connsiteX1" fmla="*/ 152400 w 152400"/>
              <a:gd name="connsiteY1" fmla="*/ 135731 h 190500"/>
              <a:gd name="connsiteX2" fmla="*/ 152400 w 152400"/>
              <a:gd name="connsiteY2" fmla="*/ 135731 h 190500"/>
              <a:gd name="connsiteX3" fmla="*/ 152400 w 152400"/>
              <a:gd name="connsiteY3" fmla="*/ 144494 h 190500"/>
              <a:gd name="connsiteX4" fmla="*/ 147542 w 152400"/>
              <a:gd name="connsiteY4" fmla="*/ 159734 h 190500"/>
              <a:gd name="connsiteX5" fmla="*/ 76200 w 152400"/>
              <a:gd name="connsiteY5" fmla="*/ 190500 h 190500"/>
              <a:gd name="connsiteX6" fmla="*/ 4858 w 152400"/>
              <a:gd name="connsiteY6" fmla="*/ 159639 h 190500"/>
              <a:gd name="connsiteX7" fmla="*/ 0 w 152400"/>
              <a:gd name="connsiteY7" fmla="*/ 144399 h 190500"/>
              <a:gd name="connsiteX8" fmla="*/ 0 w 152400"/>
              <a:gd name="connsiteY8" fmla="*/ 135636 h 190500"/>
              <a:gd name="connsiteX9" fmla="*/ 21431 w 152400"/>
              <a:gd name="connsiteY9" fmla="*/ 114205 h 190500"/>
              <a:gd name="connsiteX10" fmla="*/ 130969 w 152400"/>
              <a:gd name="connsiteY10" fmla="*/ 114205 h 190500"/>
              <a:gd name="connsiteX11" fmla="*/ 76200 w 152400"/>
              <a:gd name="connsiteY11" fmla="*/ 0 h 190500"/>
              <a:gd name="connsiteX12" fmla="*/ 123825 w 152400"/>
              <a:gd name="connsiteY12" fmla="*/ 47625 h 190500"/>
              <a:gd name="connsiteX13" fmla="*/ 76200 w 152400"/>
              <a:gd name="connsiteY13" fmla="*/ 95250 h 190500"/>
              <a:gd name="connsiteX14" fmla="*/ 76200 w 152400"/>
              <a:gd name="connsiteY14" fmla="*/ 95250 h 190500"/>
              <a:gd name="connsiteX15" fmla="*/ 28575 w 152400"/>
              <a:gd name="connsiteY15" fmla="*/ 47625 h 190500"/>
              <a:gd name="connsiteX16" fmla="*/ 76200 w 152400"/>
              <a:gd name="connsiteY16"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0" h="190500">
                <a:moveTo>
                  <a:pt x="130969" y="114300"/>
                </a:moveTo>
                <a:cubicBezTo>
                  <a:pt x="142780" y="114300"/>
                  <a:pt x="152400" y="123920"/>
                  <a:pt x="152400" y="135731"/>
                </a:cubicBezTo>
                <a:lnTo>
                  <a:pt x="152400" y="135731"/>
                </a:lnTo>
                <a:lnTo>
                  <a:pt x="152400" y="144494"/>
                </a:lnTo>
                <a:cubicBezTo>
                  <a:pt x="152400" y="149924"/>
                  <a:pt x="150686" y="155258"/>
                  <a:pt x="147542" y="159734"/>
                </a:cubicBezTo>
                <a:cubicBezTo>
                  <a:pt x="132779" y="180308"/>
                  <a:pt x="108776" y="190500"/>
                  <a:pt x="76200" y="190500"/>
                </a:cubicBezTo>
                <a:cubicBezTo>
                  <a:pt x="43625" y="190500"/>
                  <a:pt x="19526" y="180308"/>
                  <a:pt x="4858" y="159639"/>
                </a:cubicBezTo>
                <a:cubicBezTo>
                  <a:pt x="1715" y="155162"/>
                  <a:pt x="0" y="149924"/>
                  <a:pt x="0" y="144399"/>
                </a:cubicBezTo>
                <a:lnTo>
                  <a:pt x="0" y="135636"/>
                </a:lnTo>
                <a:cubicBezTo>
                  <a:pt x="0" y="123825"/>
                  <a:pt x="9620" y="114205"/>
                  <a:pt x="21431" y="114205"/>
                </a:cubicBezTo>
                <a:lnTo>
                  <a:pt x="130969" y="114205"/>
                </a:lnTo>
                <a:close/>
                <a:moveTo>
                  <a:pt x="76200" y="0"/>
                </a:moveTo>
                <a:cubicBezTo>
                  <a:pt x="102489" y="0"/>
                  <a:pt x="123825" y="21336"/>
                  <a:pt x="123825" y="47625"/>
                </a:cubicBezTo>
                <a:cubicBezTo>
                  <a:pt x="123825" y="73914"/>
                  <a:pt x="102489" y="95250"/>
                  <a:pt x="76200" y="95250"/>
                </a:cubicBezTo>
                <a:lnTo>
                  <a:pt x="76200" y="95250"/>
                </a:lnTo>
                <a:cubicBezTo>
                  <a:pt x="49911" y="95250"/>
                  <a:pt x="28575" y="73914"/>
                  <a:pt x="28575" y="47625"/>
                </a:cubicBezTo>
                <a:cubicBezTo>
                  <a:pt x="28575" y="21336"/>
                  <a:pt x="49911" y="0"/>
                  <a:pt x="76200" y="0"/>
                </a:cubicBezTo>
                <a:close/>
              </a:path>
            </a:pathLst>
          </a:custGeom>
          <a:solidFill>
            <a:schemeClr val="tx1"/>
          </a:solidFill>
          <a:ln w="9525" cap="flat">
            <a:noFill/>
            <a:prstDash val="solid"/>
            <a:miter/>
          </a:ln>
        </p:spPr>
        <p:txBody>
          <a:bodyPr rtlCol="0" anchor="ctr"/>
          <a:lstStyle/>
          <a:p>
            <a:endParaRPr lang="en-US"/>
          </a:p>
        </p:txBody>
      </p:sp>
      <p:grpSp>
        <p:nvGrpSpPr>
          <p:cNvPr id="87" name="Group 86">
            <a:extLst>
              <a:ext uri="{FF2B5EF4-FFF2-40B4-BE49-F238E27FC236}">
                <a16:creationId xmlns:a16="http://schemas.microsoft.com/office/drawing/2014/main" id="{520647D3-0D6D-70C7-1136-43A70F7FA1FB}"/>
              </a:ext>
              <a:ext uri="{C183D7F6-B498-43B3-948B-1728B52AA6E4}">
                <adec:decorative xmlns:adec="http://schemas.microsoft.com/office/drawing/2017/decorative" val="1"/>
              </a:ext>
            </a:extLst>
          </p:cNvPr>
          <p:cNvGrpSpPr/>
          <p:nvPr/>
        </p:nvGrpSpPr>
        <p:grpSpPr>
          <a:xfrm>
            <a:off x="9887898" y="1905990"/>
            <a:ext cx="1246948" cy="1100306"/>
            <a:chOff x="9952680" y="1905990"/>
            <a:chExt cx="1246948" cy="1100306"/>
          </a:xfrm>
          <a:gradFill>
            <a:gsLst>
              <a:gs pos="29000">
                <a:srgbClr val="FFD5D9"/>
              </a:gs>
              <a:gs pos="0">
                <a:schemeClr val="bg1"/>
              </a:gs>
              <a:gs pos="77000">
                <a:srgbClr val="FFE399"/>
              </a:gs>
              <a:gs pos="100000">
                <a:srgbClr val="D4EC8E"/>
              </a:gs>
              <a:gs pos="45000">
                <a:srgbClr val="C8E4F4"/>
              </a:gs>
            </a:gsLst>
            <a:lin ang="2700000" scaled="1"/>
          </a:gradFill>
          <a:effectLst>
            <a:glow rad="63500">
              <a:schemeClr val="accent3">
                <a:satMod val="175000"/>
                <a:alpha val="40000"/>
              </a:schemeClr>
            </a:glow>
          </a:effectLst>
        </p:grpSpPr>
        <p:grpSp>
          <p:nvGrpSpPr>
            <p:cNvPr id="76" name="Group 75">
              <a:extLst>
                <a:ext uri="{FF2B5EF4-FFF2-40B4-BE49-F238E27FC236}">
                  <a16:creationId xmlns:a16="http://schemas.microsoft.com/office/drawing/2014/main" id="{B9D593B5-2D0F-934D-BB07-AD6B6B48328F}"/>
                </a:ext>
              </a:extLst>
            </p:cNvPr>
            <p:cNvGrpSpPr/>
            <p:nvPr/>
          </p:nvGrpSpPr>
          <p:grpSpPr>
            <a:xfrm>
              <a:off x="9952680" y="1905990"/>
              <a:ext cx="1246948" cy="1100306"/>
              <a:chOff x="10059498" y="2057409"/>
              <a:chExt cx="903748" cy="797467"/>
            </a:xfrm>
            <a:grpFill/>
          </p:grpSpPr>
          <p:sp>
            <p:nvSpPr>
              <p:cNvPr id="77" name="Freeform: Shape 76">
                <a:extLst>
                  <a:ext uri="{FF2B5EF4-FFF2-40B4-BE49-F238E27FC236}">
                    <a16:creationId xmlns:a16="http://schemas.microsoft.com/office/drawing/2014/main" id="{2324FFD1-2A40-98C9-7E67-F9F32C9637AF}"/>
                  </a:ext>
                </a:extLst>
              </p:cNvPr>
              <p:cNvSpPr/>
              <p:nvPr/>
            </p:nvSpPr>
            <p:spPr>
              <a:xfrm>
                <a:off x="10608611" y="2079098"/>
                <a:ext cx="354635" cy="739710"/>
              </a:xfrm>
              <a:custGeom>
                <a:avLst/>
                <a:gdLst>
                  <a:gd name="connsiteX0" fmla="*/ 354636 w 354635"/>
                  <a:gd name="connsiteY0" fmla="*/ 466137 h 739710"/>
                  <a:gd name="connsiteX1" fmla="*/ 317742 w 354635"/>
                  <a:gd name="connsiteY1" fmla="*/ 378988 h 739710"/>
                  <a:gd name="connsiteX2" fmla="*/ 278123 w 354635"/>
                  <a:gd name="connsiteY2" fmla="*/ 219594 h 739710"/>
                  <a:gd name="connsiteX3" fmla="*/ 269557 w 354635"/>
                  <a:gd name="connsiteY3" fmla="*/ 214917 h 739710"/>
                  <a:gd name="connsiteX4" fmla="*/ 204919 w 354635"/>
                  <a:gd name="connsiteY4" fmla="*/ 95375 h 739710"/>
                  <a:gd name="connsiteX5" fmla="*/ 202314 w 354635"/>
                  <a:gd name="connsiteY5" fmla="*/ 94639 h 739710"/>
                  <a:gd name="connsiteX6" fmla="*/ 94635 w 354635"/>
                  <a:gd name="connsiteY6" fmla="*/ 221 h 739710"/>
                  <a:gd name="connsiteX7" fmla="*/ 0 w 354635"/>
                  <a:gd name="connsiteY7" fmla="*/ 101377 h 739710"/>
                  <a:gd name="connsiteX8" fmla="*/ 0 w 354635"/>
                  <a:gd name="connsiteY8" fmla="*/ 663726 h 739710"/>
                  <a:gd name="connsiteX9" fmla="*/ 76028 w 354635"/>
                  <a:gd name="connsiteY9" fmla="*/ 739710 h 739710"/>
                  <a:gd name="connsiteX10" fmla="*/ 148524 w 354635"/>
                  <a:gd name="connsiteY10" fmla="*/ 686468 h 739710"/>
                  <a:gd name="connsiteX11" fmla="*/ 281123 w 354635"/>
                  <a:gd name="connsiteY11" fmla="*/ 601573 h 739710"/>
                  <a:gd name="connsiteX12" fmla="*/ 283708 w 354635"/>
                  <a:gd name="connsiteY12" fmla="*/ 577595 h 739710"/>
                  <a:gd name="connsiteX13" fmla="*/ 283708 w 354635"/>
                  <a:gd name="connsiteY13" fmla="*/ 576588 h 739710"/>
                  <a:gd name="connsiteX14" fmla="*/ 354636 w 354635"/>
                  <a:gd name="connsiteY14" fmla="*/ 466137 h 73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4635" h="739710">
                    <a:moveTo>
                      <a:pt x="354636" y="466137"/>
                    </a:moveTo>
                    <a:cubicBezTo>
                      <a:pt x="354658" y="433287"/>
                      <a:pt x="341344" y="401837"/>
                      <a:pt x="317742" y="378988"/>
                    </a:cubicBezTo>
                    <a:cubicBezTo>
                      <a:pt x="350817" y="324032"/>
                      <a:pt x="333079" y="252670"/>
                      <a:pt x="278123" y="219594"/>
                    </a:cubicBezTo>
                    <a:cubicBezTo>
                      <a:pt x="275336" y="217916"/>
                      <a:pt x="272477" y="216355"/>
                      <a:pt x="269557" y="214917"/>
                    </a:cubicBezTo>
                    <a:cubicBezTo>
                      <a:pt x="284719" y="164057"/>
                      <a:pt x="255779" y="110537"/>
                      <a:pt x="204919" y="95375"/>
                    </a:cubicBezTo>
                    <a:cubicBezTo>
                      <a:pt x="204054" y="95118"/>
                      <a:pt x="203186" y="94872"/>
                      <a:pt x="202314" y="94639"/>
                    </a:cubicBezTo>
                    <a:cubicBezTo>
                      <a:pt x="198652" y="38832"/>
                      <a:pt x="150442" y="-3441"/>
                      <a:pt x="94635" y="221"/>
                    </a:cubicBezTo>
                    <a:cubicBezTo>
                      <a:pt x="41355" y="3717"/>
                      <a:pt x="-57" y="47982"/>
                      <a:pt x="0" y="101377"/>
                    </a:cubicBezTo>
                    <a:lnTo>
                      <a:pt x="0" y="663726"/>
                    </a:lnTo>
                    <a:cubicBezTo>
                      <a:pt x="13" y="705703"/>
                      <a:pt x="34051" y="739722"/>
                      <a:pt x="76028" y="739710"/>
                    </a:cubicBezTo>
                    <a:cubicBezTo>
                      <a:pt x="109228" y="739700"/>
                      <a:pt x="138580" y="718144"/>
                      <a:pt x="148524" y="686468"/>
                    </a:cubicBezTo>
                    <a:cubicBezTo>
                      <a:pt x="208583" y="699641"/>
                      <a:pt x="267950" y="661632"/>
                      <a:pt x="281123" y="601573"/>
                    </a:cubicBezTo>
                    <a:cubicBezTo>
                      <a:pt x="282850" y="593698"/>
                      <a:pt x="283718" y="585658"/>
                      <a:pt x="283708" y="577595"/>
                    </a:cubicBezTo>
                    <a:cubicBezTo>
                      <a:pt x="283708" y="577263"/>
                      <a:pt x="283708" y="576932"/>
                      <a:pt x="283708" y="576588"/>
                    </a:cubicBezTo>
                    <a:cubicBezTo>
                      <a:pt x="326916" y="556809"/>
                      <a:pt x="354626" y="513655"/>
                      <a:pt x="354636" y="466137"/>
                    </a:cubicBezTo>
                    <a:close/>
                  </a:path>
                </a:pathLst>
              </a:custGeom>
              <a:grpFill/>
              <a:ln w="11410" cap="flat">
                <a:solidFill>
                  <a:srgbClr val="49C5B1"/>
                </a:solid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486651B-62DD-79D0-76E3-FB14557E06B2}"/>
                  </a:ext>
                </a:extLst>
              </p:cNvPr>
              <p:cNvSpPr/>
              <p:nvPr/>
            </p:nvSpPr>
            <p:spPr>
              <a:xfrm>
                <a:off x="10190421" y="2057409"/>
                <a:ext cx="94563" cy="94579"/>
              </a:xfrm>
              <a:custGeom>
                <a:avLst/>
                <a:gdLst>
                  <a:gd name="connsiteX0" fmla="*/ 71689 w 94563"/>
                  <a:gd name="connsiteY0" fmla="*/ 94580 h 94579"/>
                  <a:gd name="connsiteX1" fmla="*/ 55513 w 94563"/>
                  <a:gd name="connsiteY1" fmla="*/ 87876 h 94579"/>
                  <a:gd name="connsiteX2" fmla="*/ 6985 w 94563"/>
                  <a:gd name="connsiteY2" fmla="*/ 39337 h 94579"/>
                  <a:gd name="connsiteX3" fmla="*/ 6422 w 94563"/>
                  <a:gd name="connsiteY3" fmla="*/ 6985 h 94579"/>
                  <a:gd name="connsiteX4" fmla="*/ 38774 w 94563"/>
                  <a:gd name="connsiteY4" fmla="*/ 6422 h 94579"/>
                  <a:gd name="connsiteX5" fmla="*/ 39337 w 94563"/>
                  <a:gd name="connsiteY5" fmla="*/ 6985 h 94579"/>
                  <a:gd name="connsiteX6" fmla="*/ 87865 w 94563"/>
                  <a:gd name="connsiteY6" fmla="*/ 55524 h 94579"/>
                  <a:gd name="connsiteX7" fmla="*/ 87860 w 94563"/>
                  <a:gd name="connsiteY7" fmla="*/ 87881 h 94579"/>
                  <a:gd name="connsiteX8" fmla="*/ 71689 w 94563"/>
                  <a:gd name="connsiteY8" fmla="*/ 94580 h 94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563" h="94579">
                    <a:moveTo>
                      <a:pt x="71689" y="94580"/>
                    </a:moveTo>
                    <a:cubicBezTo>
                      <a:pt x="65619" y="94589"/>
                      <a:pt x="59797" y="92175"/>
                      <a:pt x="55513" y="87876"/>
                    </a:cubicBezTo>
                    <a:lnTo>
                      <a:pt x="6985" y="39337"/>
                    </a:lnTo>
                    <a:cubicBezTo>
                      <a:pt x="-2104" y="30558"/>
                      <a:pt x="-2356" y="16074"/>
                      <a:pt x="6422" y="6985"/>
                    </a:cubicBezTo>
                    <a:cubicBezTo>
                      <a:pt x="15201" y="-2104"/>
                      <a:pt x="29685" y="-2356"/>
                      <a:pt x="38774" y="6422"/>
                    </a:cubicBezTo>
                    <a:cubicBezTo>
                      <a:pt x="38965" y="6606"/>
                      <a:pt x="39153" y="6794"/>
                      <a:pt x="39337" y="6985"/>
                    </a:cubicBezTo>
                    <a:lnTo>
                      <a:pt x="87865" y="55524"/>
                    </a:lnTo>
                    <a:cubicBezTo>
                      <a:pt x="96798" y="64461"/>
                      <a:pt x="96796" y="78947"/>
                      <a:pt x="87860" y="87881"/>
                    </a:cubicBezTo>
                    <a:cubicBezTo>
                      <a:pt x="83570" y="92170"/>
                      <a:pt x="77754" y="94579"/>
                      <a:pt x="71689" y="94580"/>
                    </a:cubicBezTo>
                    <a:close/>
                  </a:path>
                </a:pathLst>
              </a:custGeom>
              <a:grpFill/>
              <a:ln w="11410" cap="flat">
                <a:solidFill>
                  <a:srgbClr val="49C5B1"/>
                </a:solid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2856555A-66FD-22F4-77A3-6EDFE0F85F13}"/>
                  </a:ext>
                </a:extLst>
              </p:cNvPr>
              <p:cNvSpPr/>
              <p:nvPr/>
            </p:nvSpPr>
            <p:spPr>
              <a:xfrm>
                <a:off x="10088674" y="2229516"/>
                <a:ext cx="117373" cy="76041"/>
              </a:xfrm>
              <a:custGeom>
                <a:avLst/>
                <a:gdLst>
                  <a:gd name="connsiteX0" fmla="*/ 94478 w 117373"/>
                  <a:gd name="connsiteY0" fmla="*/ 76042 h 76041"/>
                  <a:gd name="connsiteX1" fmla="*/ 85566 w 117373"/>
                  <a:gd name="connsiteY1" fmla="*/ 74234 h 76041"/>
                  <a:gd name="connsiteX2" fmla="*/ 13827 w 117373"/>
                  <a:gd name="connsiteY2" fmla="*/ 43896 h 76041"/>
                  <a:gd name="connsiteX3" fmla="*/ 1876 w 117373"/>
                  <a:gd name="connsiteY3" fmla="*/ 13827 h 76041"/>
                  <a:gd name="connsiteX4" fmla="*/ 31650 w 117373"/>
                  <a:gd name="connsiteY4" fmla="*/ 1751 h 76041"/>
                  <a:gd name="connsiteX5" fmla="*/ 103401 w 117373"/>
                  <a:gd name="connsiteY5" fmla="*/ 32090 h 76041"/>
                  <a:gd name="connsiteX6" fmla="*/ 115560 w 117373"/>
                  <a:gd name="connsiteY6" fmla="*/ 62075 h 76041"/>
                  <a:gd name="connsiteX7" fmla="*/ 94478 w 117373"/>
                  <a:gd name="connsiteY7" fmla="*/ 76042 h 76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373" h="76041">
                    <a:moveTo>
                      <a:pt x="94478" y="76042"/>
                    </a:moveTo>
                    <a:cubicBezTo>
                      <a:pt x="91416" y="76044"/>
                      <a:pt x="88385" y="75429"/>
                      <a:pt x="85566" y="74234"/>
                    </a:cubicBezTo>
                    <a:lnTo>
                      <a:pt x="13827" y="43896"/>
                    </a:lnTo>
                    <a:cubicBezTo>
                      <a:pt x="2223" y="38893"/>
                      <a:pt x="-3127" y="25430"/>
                      <a:pt x="1876" y="13827"/>
                    </a:cubicBezTo>
                    <a:cubicBezTo>
                      <a:pt x="6829" y="2338"/>
                      <a:pt x="20093" y="-3042"/>
                      <a:pt x="31650" y="1751"/>
                    </a:cubicBezTo>
                    <a:lnTo>
                      <a:pt x="103401" y="32090"/>
                    </a:lnTo>
                    <a:cubicBezTo>
                      <a:pt x="115039" y="37012"/>
                      <a:pt x="120483" y="50437"/>
                      <a:pt x="115560" y="62075"/>
                    </a:cubicBezTo>
                    <a:cubicBezTo>
                      <a:pt x="111977" y="70544"/>
                      <a:pt x="103673" y="76046"/>
                      <a:pt x="94478" y="76042"/>
                    </a:cubicBezTo>
                    <a:close/>
                  </a:path>
                </a:pathLst>
              </a:custGeom>
              <a:grpFill/>
              <a:ln w="11410" cap="flat">
                <a:solidFill>
                  <a:srgbClr val="49C5B1"/>
                </a:solid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7E24128-7912-0E70-B31E-3ACD71C1984C}"/>
                  </a:ext>
                </a:extLst>
              </p:cNvPr>
              <p:cNvSpPr/>
              <p:nvPr/>
            </p:nvSpPr>
            <p:spPr>
              <a:xfrm>
                <a:off x="10059498" y="2429863"/>
                <a:ext cx="109113" cy="45759"/>
              </a:xfrm>
              <a:custGeom>
                <a:avLst/>
                <a:gdLst>
                  <a:gd name="connsiteX0" fmla="*/ 86234 w 109113"/>
                  <a:gd name="connsiteY0" fmla="*/ 45759 h 45759"/>
                  <a:gd name="connsiteX1" fmla="*/ 22880 w 109113"/>
                  <a:gd name="connsiteY1" fmla="*/ 45759 h 45759"/>
                  <a:gd name="connsiteX2" fmla="*/ 0 w 109113"/>
                  <a:gd name="connsiteY2" fmla="*/ 22880 h 45759"/>
                  <a:gd name="connsiteX3" fmla="*/ 22880 w 109113"/>
                  <a:gd name="connsiteY3" fmla="*/ 0 h 45759"/>
                  <a:gd name="connsiteX4" fmla="*/ 86234 w 109113"/>
                  <a:gd name="connsiteY4" fmla="*/ 0 h 45759"/>
                  <a:gd name="connsiteX5" fmla="*/ 109113 w 109113"/>
                  <a:gd name="connsiteY5" fmla="*/ 22880 h 45759"/>
                  <a:gd name="connsiteX6" fmla="*/ 86234 w 109113"/>
                  <a:gd name="connsiteY6" fmla="*/ 45759 h 4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113" h="45759">
                    <a:moveTo>
                      <a:pt x="86234" y="45759"/>
                    </a:moveTo>
                    <a:lnTo>
                      <a:pt x="22880" y="45759"/>
                    </a:lnTo>
                    <a:cubicBezTo>
                      <a:pt x="10244" y="45759"/>
                      <a:pt x="0" y="35516"/>
                      <a:pt x="0" y="22880"/>
                    </a:cubicBezTo>
                    <a:cubicBezTo>
                      <a:pt x="0" y="10243"/>
                      <a:pt x="10244" y="0"/>
                      <a:pt x="22880" y="0"/>
                    </a:cubicBezTo>
                    <a:lnTo>
                      <a:pt x="86234" y="0"/>
                    </a:lnTo>
                    <a:cubicBezTo>
                      <a:pt x="98870" y="0"/>
                      <a:pt x="109113" y="10243"/>
                      <a:pt x="109113" y="22880"/>
                    </a:cubicBezTo>
                    <a:cubicBezTo>
                      <a:pt x="109113" y="35516"/>
                      <a:pt x="98870" y="45759"/>
                      <a:pt x="86234" y="45759"/>
                    </a:cubicBezTo>
                    <a:close/>
                  </a:path>
                </a:pathLst>
              </a:custGeom>
              <a:grpFill/>
              <a:ln w="11410" cap="flat">
                <a:solidFill>
                  <a:srgbClr val="49C5B1"/>
                </a:solid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9F36A9F3-3201-91B4-085C-195423D85921}"/>
                  </a:ext>
                </a:extLst>
              </p:cNvPr>
              <p:cNvSpPr/>
              <p:nvPr/>
            </p:nvSpPr>
            <p:spPr>
              <a:xfrm>
                <a:off x="10070975" y="2609795"/>
                <a:ext cx="106514" cy="73506"/>
              </a:xfrm>
              <a:custGeom>
                <a:avLst/>
                <a:gdLst>
                  <a:gd name="connsiteX0" fmla="*/ 22912 w 106514"/>
                  <a:gd name="connsiteY0" fmla="*/ 73507 h 73506"/>
                  <a:gd name="connsiteX1" fmla="*/ 0 w 106514"/>
                  <a:gd name="connsiteY1" fmla="*/ 50659 h 73506"/>
                  <a:gd name="connsiteX2" fmla="*/ 13394 w 106514"/>
                  <a:gd name="connsiteY2" fmla="*/ 29807 h 73506"/>
                  <a:gd name="connsiteX3" fmla="*/ 74116 w 106514"/>
                  <a:gd name="connsiteY3" fmla="*/ 2077 h 73506"/>
                  <a:gd name="connsiteX4" fmla="*/ 104438 w 106514"/>
                  <a:gd name="connsiteY4" fmla="*/ 13373 h 73506"/>
                  <a:gd name="connsiteX5" fmla="*/ 93141 w 106514"/>
                  <a:gd name="connsiteY5" fmla="*/ 43695 h 73506"/>
                  <a:gd name="connsiteX6" fmla="*/ 32407 w 106514"/>
                  <a:gd name="connsiteY6" fmla="*/ 71436 h 73506"/>
                  <a:gd name="connsiteX7" fmla="*/ 22912 w 106514"/>
                  <a:gd name="connsiteY7" fmla="*/ 73507 h 7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514" h="73506">
                    <a:moveTo>
                      <a:pt x="22912" y="73507"/>
                    </a:moveTo>
                    <a:cubicBezTo>
                      <a:pt x="10276" y="73524"/>
                      <a:pt x="18" y="63296"/>
                      <a:pt x="0" y="50659"/>
                    </a:cubicBezTo>
                    <a:cubicBezTo>
                      <a:pt x="-12" y="41682"/>
                      <a:pt x="5225" y="33528"/>
                      <a:pt x="13394" y="29807"/>
                    </a:cubicBezTo>
                    <a:lnTo>
                      <a:pt x="74116" y="2077"/>
                    </a:lnTo>
                    <a:cubicBezTo>
                      <a:pt x="85609" y="-3177"/>
                      <a:pt x="99185" y="1881"/>
                      <a:pt x="104438" y="13373"/>
                    </a:cubicBezTo>
                    <a:cubicBezTo>
                      <a:pt x="109691" y="24866"/>
                      <a:pt x="104633" y="38442"/>
                      <a:pt x="93141" y="43695"/>
                    </a:cubicBezTo>
                    <a:lnTo>
                      <a:pt x="32407" y="71436"/>
                    </a:lnTo>
                    <a:cubicBezTo>
                      <a:pt x="29427" y="72799"/>
                      <a:pt x="26188" y="73505"/>
                      <a:pt x="22912" y="73507"/>
                    </a:cubicBezTo>
                    <a:close/>
                  </a:path>
                </a:pathLst>
              </a:custGeom>
              <a:grpFill/>
              <a:ln w="11410" cap="flat">
                <a:solidFill>
                  <a:srgbClr val="49C5B1"/>
                </a:solid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18095412-A753-7532-278C-69ACB82513EB}"/>
                  </a:ext>
                </a:extLst>
              </p:cNvPr>
              <p:cNvSpPr/>
              <p:nvPr/>
            </p:nvSpPr>
            <p:spPr>
              <a:xfrm>
                <a:off x="10183579" y="2761180"/>
                <a:ext cx="93685" cy="93696"/>
              </a:xfrm>
              <a:custGeom>
                <a:avLst/>
                <a:gdLst>
                  <a:gd name="connsiteX0" fmla="*/ 22887 w 93685"/>
                  <a:gd name="connsiteY0" fmla="*/ 93697 h 93696"/>
                  <a:gd name="connsiteX1" fmla="*/ 0 w 93685"/>
                  <a:gd name="connsiteY1" fmla="*/ 70824 h 93696"/>
                  <a:gd name="connsiteX2" fmla="*/ 6711 w 93685"/>
                  <a:gd name="connsiteY2" fmla="*/ 54629 h 93696"/>
                  <a:gd name="connsiteX3" fmla="*/ 55250 w 93685"/>
                  <a:gd name="connsiteY3" fmla="*/ 6102 h 93696"/>
                  <a:gd name="connsiteX4" fmla="*/ 87584 w 93685"/>
                  <a:gd name="connsiteY4" fmla="*/ 7325 h 93696"/>
                  <a:gd name="connsiteX5" fmla="*/ 87556 w 93685"/>
                  <a:gd name="connsiteY5" fmla="*/ 38465 h 93696"/>
                  <a:gd name="connsiteX6" fmla="*/ 39063 w 93685"/>
                  <a:gd name="connsiteY6" fmla="*/ 87004 h 93696"/>
                  <a:gd name="connsiteX7" fmla="*/ 22887 w 93685"/>
                  <a:gd name="connsiteY7" fmla="*/ 93697 h 93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685" h="93696">
                    <a:moveTo>
                      <a:pt x="22887" y="93697"/>
                    </a:moveTo>
                    <a:cubicBezTo>
                      <a:pt x="10250" y="93700"/>
                      <a:pt x="3" y="83459"/>
                      <a:pt x="0" y="70824"/>
                    </a:cubicBezTo>
                    <a:cubicBezTo>
                      <a:pt x="-1" y="64749"/>
                      <a:pt x="2413" y="58923"/>
                      <a:pt x="6711" y="54629"/>
                    </a:cubicBezTo>
                    <a:lnTo>
                      <a:pt x="55250" y="6102"/>
                    </a:lnTo>
                    <a:cubicBezTo>
                      <a:pt x="64516" y="-2490"/>
                      <a:pt x="78992" y="-1942"/>
                      <a:pt x="87584" y="7325"/>
                    </a:cubicBezTo>
                    <a:cubicBezTo>
                      <a:pt x="95730" y="16110"/>
                      <a:pt x="95717" y="29693"/>
                      <a:pt x="87556" y="38465"/>
                    </a:cubicBezTo>
                    <a:lnTo>
                      <a:pt x="39063" y="87004"/>
                    </a:lnTo>
                    <a:cubicBezTo>
                      <a:pt x="34775" y="91298"/>
                      <a:pt x="28954" y="93706"/>
                      <a:pt x="22887" y="93697"/>
                    </a:cubicBezTo>
                    <a:close/>
                  </a:path>
                </a:pathLst>
              </a:custGeom>
              <a:grpFill/>
              <a:ln w="11410" cap="flat">
                <a:solidFill>
                  <a:srgbClr val="49C5B1"/>
                </a:solid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56388DDD-CAD3-82A9-768C-F3E30DA50063}"/>
                  </a:ext>
                </a:extLst>
              </p:cNvPr>
              <p:cNvSpPr/>
              <p:nvPr/>
            </p:nvSpPr>
            <p:spPr>
              <a:xfrm>
                <a:off x="10393988" y="2335454"/>
                <a:ext cx="59365" cy="59367"/>
              </a:xfrm>
              <a:custGeom>
                <a:avLst/>
                <a:gdLst>
                  <a:gd name="connsiteX0" fmla="*/ 21141 w 59365"/>
                  <a:gd name="connsiteY0" fmla="*/ 1266 h 59367"/>
                  <a:gd name="connsiteX1" fmla="*/ 1263 w 59365"/>
                  <a:gd name="connsiteY1" fmla="*/ 38227 h 59367"/>
                  <a:gd name="connsiteX2" fmla="*/ 38224 w 59365"/>
                  <a:gd name="connsiteY2" fmla="*/ 58104 h 59367"/>
                  <a:gd name="connsiteX3" fmla="*/ 58103 w 59365"/>
                  <a:gd name="connsiteY3" fmla="*/ 21149 h 59367"/>
                  <a:gd name="connsiteX4" fmla="*/ 21168 w 59365"/>
                  <a:gd name="connsiteY4" fmla="*/ 1258 h 59367"/>
                  <a:gd name="connsiteX5" fmla="*/ 21141 w 59365"/>
                  <a:gd name="connsiteY5" fmla="*/ 1266 h 5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5" h="59367">
                    <a:moveTo>
                      <a:pt x="21141" y="1266"/>
                    </a:moveTo>
                    <a:cubicBezTo>
                      <a:pt x="5446" y="5984"/>
                      <a:pt x="-3453" y="22532"/>
                      <a:pt x="1263" y="38227"/>
                    </a:cubicBezTo>
                    <a:cubicBezTo>
                      <a:pt x="5981" y="53923"/>
                      <a:pt x="22529" y="62822"/>
                      <a:pt x="38224" y="58104"/>
                    </a:cubicBezTo>
                    <a:cubicBezTo>
                      <a:pt x="53918" y="53387"/>
                      <a:pt x="62818" y="36843"/>
                      <a:pt x="58103" y="21149"/>
                    </a:cubicBezTo>
                    <a:cubicBezTo>
                      <a:pt x="53397" y="5457"/>
                      <a:pt x="36860" y="-3448"/>
                      <a:pt x="21168" y="1258"/>
                    </a:cubicBezTo>
                    <a:cubicBezTo>
                      <a:pt x="21160" y="1261"/>
                      <a:pt x="21150" y="1264"/>
                      <a:pt x="21141" y="1266"/>
                    </a:cubicBezTo>
                    <a:close/>
                  </a:path>
                </a:pathLst>
              </a:custGeom>
              <a:grpFill/>
              <a:ln w="11410" cap="flat">
                <a:solidFill>
                  <a:srgbClr val="49C5B1"/>
                </a:solid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11A9BC7-5341-0C9A-9F88-6FE6E1C10E92}"/>
                  </a:ext>
                </a:extLst>
              </p:cNvPr>
              <p:cNvSpPr/>
              <p:nvPr/>
            </p:nvSpPr>
            <p:spPr>
              <a:xfrm>
                <a:off x="10349967" y="2506400"/>
                <a:ext cx="59365" cy="59367"/>
              </a:xfrm>
              <a:custGeom>
                <a:avLst/>
                <a:gdLst>
                  <a:gd name="connsiteX0" fmla="*/ 21141 w 59365"/>
                  <a:gd name="connsiteY0" fmla="*/ 1266 h 59367"/>
                  <a:gd name="connsiteX1" fmla="*/ 1263 w 59365"/>
                  <a:gd name="connsiteY1" fmla="*/ 38227 h 59367"/>
                  <a:gd name="connsiteX2" fmla="*/ 38224 w 59365"/>
                  <a:gd name="connsiteY2" fmla="*/ 58104 h 59367"/>
                  <a:gd name="connsiteX3" fmla="*/ 58103 w 59365"/>
                  <a:gd name="connsiteY3" fmla="*/ 21149 h 59367"/>
                  <a:gd name="connsiteX4" fmla="*/ 21168 w 59365"/>
                  <a:gd name="connsiteY4" fmla="*/ 1258 h 59367"/>
                  <a:gd name="connsiteX5" fmla="*/ 21141 w 59365"/>
                  <a:gd name="connsiteY5" fmla="*/ 1266 h 5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5" h="59367">
                    <a:moveTo>
                      <a:pt x="21141" y="1266"/>
                    </a:moveTo>
                    <a:cubicBezTo>
                      <a:pt x="5446" y="5984"/>
                      <a:pt x="-3453" y="22532"/>
                      <a:pt x="1263" y="38227"/>
                    </a:cubicBezTo>
                    <a:cubicBezTo>
                      <a:pt x="5981" y="53923"/>
                      <a:pt x="22529" y="62822"/>
                      <a:pt x="38224" y="58104"/>
                    </a:cubicBezTo>
                    <a:cubicBezTo>
                      <a:pt x="53918" y="53387"/>
                      <a:pt x="62818" y="36843"/>
                      <a:pt x="58103" y="21149"/>
                    </a:cubicBezTo>
                    <a:cubicBezTo>
                      <a:pt x="53397" y="5457"/>
                      <a:pt x="36860" y="-3448"/>
                      <a:pt x="21168" y="1258"/>
                    </a:cubicBezTo>
                    <a:cubicBezTo>
                      <a:pt x="21160" y="1261"/>
                      <a:pt x="21150" y="1264"/>
                      <a:pt x="21141" y="1266"/>
                    </a:cubicBezTo>
                    <a:close/>
                  </a:path>
                </a:pathLst>
              </a:custGeom>
              <a:grpFill/>
              <a:ln w="11410" cap="flat">
                <a:solidFill>
                  <a:srgbClr val="49C5B1"/>
                </a:solid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FA6EF00A-8DC6-2A42-5133-85657CBD6C92}"/>
                  </a:ext>
                </a:extLst>
              </p:cNvPr>
              <p:cNvSpPr/>
              <p:nvPr/>
            </p:nvSpPr>
            <p:spPr>
              <a:xfrm>
                <a:off x="10208220" y="2079140"/>
                <a:ext cx="354631" cy="739533"/>
              </a:xfrm>
              <a:custGeom>
                <a:avLst/>
                <a:gdLst>
                  <a:gd name="connsiteX0" fmla="*/ 253309 w 354631"/>
                  <a:gd name="connsiteY0" fmla="*/ 0 h 739533"/>
                  <a:gd name="connsiteX1" fmla="*/ 152329 w 354631"/>
                  <a:gd name="connsiteY1" fmla="*/ 94585 h 739533"/>
                  <a:gd name="connsiteX2" fmla="*/ 84332 w 354631"/>
                  <a:gd name="connsiteY2" fmla="*/ 212248 h 739533"/>
                  <a:gd name="connsiteX3" fmla="*/ 85074 w 354631"/>
                  <a:gd name="connsiteY3" fmla="*/ 214875 h 739533"/>
                  <a:gd name="connsiteX4" fmla="*/ 32203 w 354631"/>
                  <a:gd name="connsiteY4" fmla="*/ 370341 h 739533"/>
                  <a:gd name="connsiteX5" fmla="*/ 36901 w 354631"/>
                  <a:gd name="connsiteY5" fmla="*/ 378945 h 739533"/>
                  <a:gd name="connsiteX6" fmla="*/ 34233 w 354631"/>
                  <a:gd name="connsiteY6" fmla="*/ 550609 h 739533"/>
                  <a:gd name="connsiteX7" fmla="*/ 70980 w 354631"/>
                  <a:gd name="connsiteY7" fmla="*/ 576546 h 739533"/>
                  <a:gd name="connsiteX8" fmla="*/ 70980 w 354631"/>
                  <a:gd name="connsiteY8" fmla="*/ 577553 h 739533"/>
                  <a:gd name="connsiteX9" fmla="*/ 182210 w 354631"/>
                  <a:gd name="connsiteY9" fmla="*/ 689010 h 739533"/>
                  <a:gd name="connsiteX10" fmla="*/ 206177 w 354631"/>
                  <a:gd name="connsiteY10" fmla="*/ 686426 h 739533"/>
                  <a:gd name="connsiteX11" fmla="*/ 301544 w 354631"/>
                  <a:gd name="connsiteY11" fmla="*/ 735979 h 739533"/>
                  <a:gd name="connsiteX12" fmla="*/ 354632 w 354631"/>
                  <a:gd name="connsiteY12" fmla="*/ 663683 h 739533"/>
                  <a:gd name="connsiteX13" fmla="*/ 354632 w 354631"/>
                  <a:gd name="connsiteY13" fmla="*/ 101334 h 739533"/>
                  <a:gd name="connsiteX14" fmla="*/ 253320 w 354631"/>
                  <a:gd name="connsiteY14" fmla="*/ 0 h 739533"/>
                  <a:gd name="connsiteX15" fmla="*/ 253309 w 354631"/>
                  <a:gd name="connsiteY15" fmla="*/ 0 h 739533"/>
                  <a:gd name="connsiteX16" fmla="*/ 250186 w 354631"/>
                  <a:gd name="connsiteY16" fmla="*/ 488139 h 739533"/>
                  <a:gd name="connsiteX17" fmla="*/ 240805 w 354631"/>
                  <a:gd name="connsiteY17" fmla="*/ 505619 h 739533"/>
                  <a:gd name="connsiteX18" fmla="*/ 221357 w 354631"/>
                  <a:gd name="connsiteY18" fmla="*/ 505035 h 739533"/>
                  <a:gd name="connsiteX19" fmla="*/ 208304 w 354631"/>
                  <a:gd name="connsiteY19" fmla="*/ 515468 h 739533"/>
                  <a:gd name="connsiteX20" fmla="*/ 205044 w 354631"/>
                  <a:gd name="connsiteY20" fmla="*/ 534664 h 739533"/>
                  <a:gd name="connsiteX21" fmla="*/ 186145 w 354631"/>
                  <a:gd name="connsiteY21" fmla="*/ 540384 h 739533"/>
                  <a:gd name="connsiteX22" fmla="*/ 172807 w 354631"/>
                  <a:gd name="connsiteY22" fmla="*/ 526302 h 739533"/>
                  <a:gd name="connsiteX23" fmla="*/ 156242 w 354631"/>
                  <a:gd name="connsiteY23" fmla="*/ 524643 h 739533"/>
                  <a:gd name="connsiteX24" fmla="*/ 140226 w 354631"/>
                  <a:gd name="connsiteY24" fmla="*/ 535763 h 739533"/>
                  <a:gd name="connsiteX25" fmla="*/ 122872 w 354631"/>
                  <a:gd name="connsiteY25" fmla="*/ 526428 h 739533"/>
                  <a:gd name="connsiteX26" fmla="*/ 123318 w 354631"/>
                  <a:gd name="connsiteY26" fmla="*/ 506980 h 739533"/>
                  <a:gd name="connsiteX27" fmla="*/ 112896 w 354631"/>
                  <a:gd name="connsiteY27" fmla="*/ 493961 h 739533"/>
                  <a:gd name="connsiteX28" fmla="*/ 93689 w 354631"/>
                  <a:gd name="connsiteY28" fmla="*/ 490621 h 739533"/>
                  <a:gd name="connsiteX29" fmla="*/ 87969 w 354631"/>
                  <a:gd name="connsiteY29" fmla="*/ 471722 h 739533"/>
                  <a:gd name="connsiteX30" fmla="*/ 102211 w 354631"/>
                  <a:gd name="connsiteY30" fmla="*/ 458509 h 739533"/>
                  <a:gd name="connsiteX31" fmla="*/ 103721 w 354631"/>
                  <a:gd name="connsiteY31" fmla="*/ 441853 h 739533"/>
                  <a:gd name="connsiteX32" fmla="*/ 92567 w 354631"/>
                  <a:gd name="connsiteY32" fmla="*/ 425849 h 739533"/>
                  <a:gd name="connsiteX33" fmla="*/ 101948 w 354631"/>
                  <a:gd name="connsiteY33" fmla="*/ 408403 h 739533"/>
                  <a:gd name="connsiteX34" fmla="*/ 121487 w 354631"/>
                  <a:gd name="connsiteY34" fmla="*/ 408963 h 739533"/>
                  <a:gd name="connsiteX35" fmla="*/ 134403 w 354631"/>
                  <a:gd name="connsiteY35" fmla="*/ 398450 h 739533"/>
                  <a:gd name="connsiteX36" fmla="*/ 137663 w 354631"/>
                  <a:gd name="connsiteY36" fmla="*/ 379254 h 739533"/>
                  <a:gd name="connsiteX37" fmla="*/ 156562 w 354631"/>
                  <a:gd name="connsiteY37" fmla="*/ 373534 h 739533"/>
                  <a:gd name="connsiteX38" fmla="*/ 169924 w 354631"/>
                  <a:gd name="connsiteY38" fmla="*/ 387731 h 739533"/>
                  <a:gd name="connsiteX39" fmla="*/ 186615 w 354631"/>
                  <a:gd name="connsiteY39" fmla="*/ 389355 h 739533"/>
                  <a:gd name="connsiteX40" fmla="*/ 202527 w 354631"/>
                  <a:gd name="connsiteY40" fmla="*/ 378144 h 739533"/>
                  <a:gd name="connsiteX41" fmla="*/ 219973 w 354631"/>
                  <a:gd name="connsiteY41" fmla="*/ 387537 h 739533"/>
                  <a:gd name="connsiteX42" fmla="*/ 219390 w 354631"/>
                  <a:gd name="connsiteY42" fmla="*/ 406984 h 739533"/>
                  <a:gd name="connsiteX43" fmla="*/ 229937 w 354631"/>
                  <a:gd name="connsiteY43" fmla="*/ 420014 h 739533"/>
                  <a:gd name="connsiteX44" fmla="*/ 249133 w 354631"/>
                  <a:gd name="connsiteY44" fmla="*/ 423263 h 739533"/>
                  <a:gd name="connsiteX45" fmla="*/ 254853 w 354631"/>
                  <a:gd name="connsiteY45" fmla="*/ 442162 h 739533"/>
                  <a:gd name="connsiteX46" fmla="*/ 240611 w 354631"/>
                  <a:gd name="connsiteY46" fmla="*/ 455592 h 739533"/>
                  <a:gd name="connsiteX47" fmla="*/ 238952 w 354631"/>
                  <a:gd name="connsiteY47" fmla="*/ 472157 h 739533"/>
                  <a:gd name="connsiteX48" fmla="*/ 294000 w 354631"/>
                  <a:gd name="connsiteY48" fmla="*/ 317170 h 739533"/>
                  <a:gd name="connsiteX49" fmla="*/ 284620 w 354631"/>
                  <a:gd name="connsiteY49" fmla="*/ 334616 h 739533"/>
                  <a:gd name="connsiteX50" fmla="*/ 265172 w 354631"/>
                  <a:gd name="connsiteY50" fmla="*/ 334032 h 739533"/>
                  <a:gd name="connsiteX51" fmla="*/ 252245 w 354631"/>
                  <a:gd name="connsiteY51" fmla="*/ 344626 h 739533"/>
                  <a:gd name="connsiteX52" fmla="*/ 248905 w 354631"/>
                  <a:gd name="connsiteY52" fmla="*/ 363845 h 739533"/>
                  <a:gd name="connsiteX53" fmla="*/ 230006 w 354631"/>
                  <a:gd name="connsiteY53" fmla="*/ 369565 h 739533"/>
                  <a:gd name="connsiteX54" fmla="*/ 216644 w 354631"/>
                  <a:gd name="connsiteY54" fmla="*/ 355368 h 739533"/>
                  <a:gd name="connsiteX55" fmla="*/ 200068 w 354631"/>
                  <a:gd name="connsiteY55" fmla="*/ 353709 h 739533"/>
                  <a:gd name="connsiteX56" fmla="*/ 184155 w 354631"/>
                  <a:gd name="connsiteY56" fmla="*/ 364920 h 739533"/>
                  <a:gd name="connsiteX57" fmla="*/ 166709 w 354631"/>
                  <a:gd name="connsiteY57" fmla="*/ 355528 h 739533"/>
                  <a:gd name="connsiteX58" fmla="*/ 167430 w 354631"/>
                  <a:gd name="connsiteY58" fmla="*/ 335863 h 739533"/>
                  <a:gd name="connsiteX59" fmla="*/ 156917 w 354631"/>
                  <a:gd name="connsiteY59" fmla="*/ 322947 h 739533"/>
                  <a:gd name="connsiteX60" fmla="*/ 137732 w 354631"/>
                  <a:gd name="connsiteY60" fmla="*/ 319698 h 739533"/>
                  <a:gd name="connsiteX61" fmla="*/ 132012 w 354631"/>
                  <a:gd name="connsiteY61" fmla="*/ 300800 h 739533"/>
                  <a:gd name="connsiteX62" fmla="*/ 146209 w 354631"/>
                  <a:gd name="connsiteY62" fmla="*/ 287426 h 739533"/>
                  <a:gd name="connsiteX63" fmla="*/ 147833 w 354631"/>
                  <a:gd name="connsiteY63" fmla="*/ 270861 h 739533"/>
                  <a:gd name="connsiteX64" fmla="*/ 136451 w 354631"/>
                  <a:gd name="connsiteY64" fmla="*/ 254914 h 739533"/>
                  <a:gd name="connsiteX65" fmla="*/ 145980 w 354631"/>
                  <a:gd name="connsiteY65" fmla="*/ 237388 h 739533"/>
                  <a:gd name="connsiteX66" fmla="*/ 165428 w 354631"/>
                  <a:gd name="connsiteY66" fmla="*/ 237972 h 739533"/>
                  <a:gd name="connsiteX67" fmla="*/ 178446 w 354631"/>
                  <a:gd name="connsiteY67" fmla="*/ 227550 h 739533"/>
                  <a:gd name="connsiteX68" fmla="*/ 181787 w 354631"/>
                  <a:gd name="connsiteY68" fmla="*/ 208331 h 739533"/>
                  <a:gd name="connsiteX69" fmla="*/ 200686 w 354631"/>
                  <a:gd name="connsiteY69" fmla="*/ 202611 h 739533"/>
                  <a:gd name="connsiteX70" fmla="*/ 214024 w 354631"/>
                  <a:gd name="connsiteY70" fmla="*/ 216694 h 739533"/>
                  <a:gd name="connsiteX71" fmla="*/ 230589 w 354631"/>
                  <a:gd name="connsiteY71" fmla="*/ 218353 h 739533"/>
                  <a:gd name="connsiteX72" fmla="*/ 246514 w 354631"/>
                  <a:gd name="connsiteY72" fmla="*/ 207187 h 739533"/>
                  <a:gd name="connsiteX73" fmla="*/ 263959 w 354631"/>
                  <a:gd name="connsiteY73" fmla="*/ 216568 h 739533"/>
                  <a:gd name="connsiteX74" fmla="*/ 263364 w 354631"/>
                  <a:gd name="connsiteY74" fmla="*/ 236119 h 739533"/>
                  <a:gd name="connsiteX75" fmla="*/ 273878 w 354631"/>
                  <a:gd name="connsiteY75" fmla="*/ 249034 h 739533"/>
                  <a:gd name="connsiteX76" fmla="*/ 293074 w 354631"/>
                  <a:gd name="connsiteY76" fmla="*/ 252283 h 739533"/>
                  <a:gd name="connsiteX77" fmla="*/ 298794 w 354631"/>
                  <a:gd name="connsiteY77" fmla="*/ 271193 h 739533"/>
                  <a:gd name="connsiteX78" fmla="*/ 284597 w 354631"/>
                  <a:gd name="connsiteY78" fmla="*/ 284555 h 739533"/>
                  <a:gd name="connsiteX79" fmla="*/ 282789 w 354631"/>
                  <a:gd name="connsiteY79" fmla="*/ 301337 h 73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54631" h="739533">
                    <a:moveTo>
                      <a:pt x="253309" y="0"/>
                    </a:moveTo>
                    <a:cubicBezTo>
                      <a:pt x="199996" y="23"/>
                      <a:pt x="155836" y="41387"/>
                      <a:pt x="152329" y="94585"/>
                    </a:cubicBezTo>
                    <a:cubicBezTo>
                      <a:pt x="101060" y="108300"/>
                      <a:pt x="70617" y="160979"/>
                      <a:pt x="84332" y="212248"/>
                    </a:cubicBezTo>
                    <a:cubicBezTo>
                      <a:pt x="84566" y="213127"/>
                      <a:pt x="84815" y="214003"/>
                      <a:pt x="85074" y="214875"/>
                    </a:cubicBezTo>
                    <a:cubicBezTo>
                      <a:pt x="27543" y="243206"/>
                      <a:pt x="3872" y="312810"/>
                      <a:pt x="32203" y="370341"/>
                    </a:cubicBezTo>
                    <a:cubicBezTo>
                      <a:pt x="33648" y="373274"/>
                      <a:pt x="35215" y="376145"/>
                      <a:pt x="36901" y="378945"/>
                    </a:cubicBezTo>
                    <a:cubicBezTo>
                      <a:pt x="-11239" y="425613"/>
                      <a:pt x="-12433" y="502469"/>
                      <a:pt x="34233" y="550609"/>
                    </a:cubicBezTo>
                    <a:cubicBezTo>
                      <a:pt x="44760" y="561468"/>
                      <a:pt x="57223" y="570265"/>
                      <a:pt x="70980" y="576546"/>
                    </a:cubicBezTo>
                    <a:cubicBezTo>
                      <a:pt x="70980" y="576889"/>
                      <a:pt x="70980" y="577221"/>
                      <a:pt x="70980" y="577553"/>
                    </a:cubicBezTo>
                    <a:cubicBezTo>
                      <a:pt x="70918" y="639046"/>
                      <a:pt x="120718" y="688947"/>
                      <a:pt x="182210" y="689010"/>
                    </a:cubicBezTo>
                    <a:cubicBezTo>
                      <a:pt x="190270" y="689019"/>
                      <a:pt x="198305" y="688152"/>
                      <a:pt x="206177" y="686426"/>
                    </a:cubicBezTo>
                    <a:cubicBezTo>
                      <a:pt x="218828" y="726444"/>
                      <a:pt x="261526" y="748630"/>
                      <a:pt x="301544" y="735979"/>
                    </a:cubicBezTo>
                    <a:cubicBezTo>
                      <a:pt x="333090" y="726005"/>
                      <a:pt x="354560" y="696768"/>
                      <a:pt x="354632" y="663683"/>
                    </a:cubicBezTo>
                    <a:lnTo>
                      <a:pt x="354632" y="101334"/>
                    </a:lnTo>
                    <a:cubicBezTo>
                      <a:pt x="354639" y="45375"/>
                      <a:pt x="309279" y="7"/>
                      <a:pt x="253320" y="0"/>
                    </a:cubicBezTo>
                    <a:cubicBezTo>
                      <a:pt x="253317" y="0"/>
                      <a:pt x="253312" y="0"/>
                      <a:pt x="253309" y="0"/>
                    </a:cubicBezTo>
                    <a:close/>
                    <a:moveTo>
                      <a:pt x="250186" y="488139"/>
                    </a:moveTo>
                    <a:lnTo>
                      <a:pt x="240805" y="505619"/>
                    </a:lnTo>
                    <a:lnTo>
                      <a:pt x="221357" y="505035"/>
                    </a:lnTo>
                    <a:cubicBezTo>
                      <a:pt x="217447" y="509031"/>
                      <a:pt x="213063" y="512535"/>
                      <a:pt x="208304" y="515468"/>
                    </a:cubicBezTo>
                    <a:lnTo>
                      <a:pt x="205044" y="534664"/>
                    </a:lnTo>
                    <a:lnTo>
                      <a:pt x="186145" y="540384"/>
                    </a:lnTo>
                    <a:lnTo>
                      <a:pt x="172807" y="526302"/>
                    </a:lnTo>
                    <a:cubicBezTo>
                      <a:pt x="167238" y="526421"/>
                      <a:pt x="161676" y="525864"/>
                      <a:pt x="156242" y="524643"/>
                    </a:cubicBezTo>
                    <a:lnTo>
                      <a:pt x="140226" y="535763"/>
                    </a:lnTo>
                    <a:lnTo>
                      <a:pt x="122872" y="526428"/>
                    </a:lnTo>
                    <a:lnTo>
                      <a:pt x="123318" y="506980"/>
                    </a:lnTo>
                    <a:cubicBezTo>
                      <a:pt x="119330" y="503079"/>
                      <a:pt x="115830" y="498707"/>
                      <a:pt x="112896" y="493961"/>
                    </a:cubicBezTo>
                    <a:lnTo>
                      <a:pt x="93689" y="490621"/>
                    </a:lnTo>
                    <a:lnTo>
                      <a:pt x="87969" y="471722"/>
                    </a:lnTo>
                    <a:lnTo>
                      <a:pt x="102211" y="458509"/>
                    </a:lnTo>
                    <a:cubicBezTo>
                      <a:pt x="102037" y="452916"/>
                      <a:pt x="102544" y="447323"/>
                      <a:pt x="103721" y="441853"/>
                    </a:cubicBezTo>
                    <a:lnTo>
                      <a:pt x="92567" y="425849"/>
                    </a:lnTo>
                    <a:lnTo>
                      <a:pt x="101948" y="408403"/>
                    </a:lnTo>
                    <a:lnTo>
                      <a:pt x="121487" y="408963"/>
                    </a:lnTo>
                    <a:cubicBezTo>
                      <a:pt x="125351" y="404948"/>
                      <a:pt x="129687" y="401418"/>
                      <a:pt x="134403" y="398450"/>
                    </a:cubicBezTo>
                    <a:lnTo>
                      <a:pt x="137663" y="379254"/>
                    </a:lnTo>
                    <a:lnTo>
                      <a:pt x="156562" y="373534"/>
                    </a:lnTo>
                    <a:lnTo>
                      <a:pt x="169924" y="387731"/>
                    </a:lnTo>
                    <a:cubicBezTo>
                      <a:pt x="175533" y="387589"/>
                      <a:pt x="181138" y="388135"/>
                      <a:pt x="186615" y="389355"/>
                    </a:cubicBezTo>
                    <a:lnTo>
                      <a:pt x="202527" y="378144"/>
                    </a:lnTo>
                    <a:lnTo>
                      <a:pt x="219973" y="387537"/>
                    </a:lnTo>
                    <a:lnTo>
                      <a:pt x="219390" y="406984"/>
                    </a:lnTo>
                    <a:cubicBezTo>
                      <a:pt x="223429" y="410876"/>
                      <a:pt x="226972" y="415253"/>
                      <a:pt x="229937" y="420014"/>
                    </a:cubicBezTo>
                    <a:lnTo>
                      <a:pt x="249133" y="423263"/>
                    </a:lnTo>
                    <a:lnTo>
                      <a:pt x="254853" y="442162"/>
                    </a:lnTo>
                    <a:lnTo>
                      <a:pt x="240611" y="455592"/>
                    </a:lnTo>
                    <a:cubicBezTo>
                      <a:pt x="240735" y="461161"/>
                      <a:pt x="240178" y="466723"/>
                      <a:pt x="238952" y="472157"/>
                    </a:cubicBezTo>
                    <a:close/>
                    <a:moveTo>
                      <a:pt x="294000" y="317170"/>
                    </a:moveTo>
                    <a:lnTo>
                      <a:pt x="284620" y="334616"/>
                    </a:lnTo>
                    <a:lnTo>
                      <a:pt x="265172" y="334032"/>
                    </a:lnTo>
                    <a:cubicBezTo>
                      <a:pt x="261310" y="338076"/>
                      <a:pt x="256970" y="341634"/>
                      <a:pt x="252245" y="344626"/>
                    </a:cubicBezTo>
                    <a:lnTo>
                      <a:pt x="248905" y="363845"/>
                    </a:lnTo>
                    <a:lnTo>
                      <a:pt x="230006" y="369565"/>
                    </a:lnTo>
                    <a:lnTo>
                      <a:pt x="216644" y="355368"/>
                    </a:lnTo>
                    <a:cubicBezTo>
                      <a:pt x="211072" y="355492"/>
                      <a:pt x="205505" y="354935"/>
                      <a:pt x="200068" y="353709"/>
                    </a:cubicBezTo>
                    <a:lnTo>
                      <a:pt x="184155" y="364920"/>
                    </a:lnTo>
                    <a:lnTo>
                      <a:pt x="166709" y="355528"/>
                    </a:lnTo>
                    <a:lnTo>
                      <a:pt x="167430" y="335863"/>
                    </a:lnTo>
                    <a:cubicBezTo>
                      <a:pt x="163412" y="332002"/>
                      <a:pt x="159882" y="327664"/>
                      <a:pt x="156917" y="322947"/>
                    </a:cubicBezTo>
                    <a:lnTo>
                      <a:pt x="137732" y="319698"/>
                    </a:lnTo>
                    <a:lnTo>
                      <a:pt x="132012" y="300800"/>
                    </a:lnTo>
                    <a:lnTo>
                      <a:pt x="146209" y="287426"/>
                    </a:lnTo>
                    <a:cubicBezTo>
                      <a:pt x="146084" y="281860"/>
                      <a:pt x="146630" y="276298"/>
                      <a:pt x="147833" y="270861"/>
                    </a:cubicBezTo>
                    <a:lnTo>
                      <a:pt x="136451" y="254914"/>
                    </a:lnTo>
                    <a:lnTo>
                      <a:pt x="145980" y="237388"/>
                    </a:lnTo>
                    <a:lnTo>
                      <a:pt x="165428" y="237972"/>
                    </a:lnTo>
                    <a:cubicBezTo>
                      <a:pt x="169327" y="233980"/>
                      <a:pt x="173698" y="230480"/>
                      <a:pt x="178446" y="227550"/>
                    </a:cubicBezTo>
                    <a:lnTo>
                      <a:pt x="181787" y="208331"/>
                    </a:lnTo>
                    <a:lnTo>
                      <a:pt x="200686" y="202611"/>
                    </a:lnTo>
                    <a:lnTo>
                      <a:pt x="214024" y="216694"/>
                    </a:lnTo>
                    <a:cubicBezTo>
                      <a:pt x="219593" y="216576"/>
                      <a:pt x="225155" y="217133"/>
                      <a:pt x="230589" y="218353"/>
                    </a:cubicBezTo>
                    <a:lnTo>
                      <a:pt x="246514" y="207187"/>
                    </a:lnTo>
                    <a:lnTo>
                      <a:pt x="263959" y="216568"/>
                    </a:lnTo>
                    <a:lnTo>
                      <a:pt x="263364" y="236119"/>
                    </a:lnTo>
                    <a:cubicBezTo>
                      <a:pt x="267382" y="239980"/>
                      <a:pt x="270913" y="244316"/>
                      <a:pt x="273878" y="249034"/>
                    </a:cubicBezTo>
                    <a:lnTo>
                      <a:pt x="293074" y="252283"/>
                    </a:lnTo>
                    <a:lnTo>
                      <a:pt x="298794" y="271193"/>
                    </a:lnTo>
                    <a:lnTo>
                      <a:pt x="284597" y="284555"/>
                    </a:lnTo>
                    <a:cubicBezTo>
                      <a:pt x="284688" y="290202"/>
                      <a:pt x="284082" y="295839"/>
                      <a:pt x="282789" y="301337"/>
                    </a:cubicBezTo>
                    <a:close/>
                  </a:path>
                </a:pathLst>
              </a:custGeom>
              <a:grpFill/>
              <a:ln w="11410" cap="flat">
                <a:solidFill>
                  <a:srgbClr val="49C5B1"/>
                </a:solidFill>
                <a:prstDash val="solid"/>
                <a:miter/>
              </a:ln>
            </p:spPr>
            <p:txBody>
              <a:bodyPr rtlCol="0" anchor="ctr"/>
              <a:lstStyle/>
              <a:p>
                <a:endParaRPr lang="en-US"/>
              </a:p>
            </p:txBody>
          </p:sp>
        </p:grpSp>
        <p:sp>
          <p:nvSpPr>
            <p:cNvPr id="86" name="Graphic 10">
              <a:extLst>
                <a:ext uri="{FF2B5EF4-FFF2-40B4-BE49-F238E27FC236}">
                  <a16:creationId xmlns:a16="http://schemas.microsoft.com/office/drawing/2014/main" id="{1AE6FB0E-82DF-242F-942B-D94E876CF2DD}"/>
                </a:ext>
                <a:ext uri="{C183D7F6-B498-43B3-948B-1728B52AA6E4}">
                  <adec:decorative xmlns:adec="http://schemas.microsoft.com/office/drawing/2017/decorative" val="1"/>
                </a:ext>
              </a:extLst>
            </p:cNvPr>
            <p:cNvSpPr/>
            <p:nvPr/>
          </p:nvSpPr>
          <p:spPr>
            <a:xfrm>
              <a:off x="10805855" y="2328916"/>
              <a:ext cx="233240" cy="223330"/>
            </a:xfrm>
            <a:custGeom>
              <a:avLst/>
              <a:gdLst>
                <a:gd name="connsiteX0" fmla="*/ 83713 w 190476"/>
                <a:gd name="connsiteY0" fmla="*/ 7144 h 182383"/>
                <a:gd name="connsiteX1" fmla="*/ 106763 w 190476"/>
                <a:gd name="connsiteY1" fmla="*/ 7144 h 182383"/>
                <a:gd name="connsiteX2" fmla="*/ 129242 w 190476"/>
                <a:gd name="connsiteY2" fmla="*/ 52673 h 182383"/>
                <a:gd name="connsiteX3" fmla="*/ 179439 w 190476"/>
                <a:gd name="connsiteY3" fmla="*/ 60008 h 182383"/>
                <a:gd name="connsiteX4" fmla="*/ 186583 w 190476"/>
                <a:gd name="connsiteY4" fmla="*/ 81915 h 182383"/>
                <a:gd name="connsiteX5" fmla="*/ 150197 w 190476"/>
                <a:gd name="connsiteY5" fmla="*/ 117348 h 182383"/>
                <a:gd name="connsiteX6" fmla="*/ 158770 w 190476"/>
                <a:gd name="connsiteY6" fmla="*/ 167354 h 182383"/>
                <a:gd name="connsiteX7" fmla="*/ 140101 w 190476"/>
                <a:gd name="connsiteY7" fmla="*/ 180880 h 182383"/>
                <a:gd name="connsiteX8" fmla="*/ 95143 w 190476"/>
                <a:gd name="connsiteY8" fmla="*/ 157258 h 182383"/>
                <a:gd name="connsiteX9" fmla="*/ 50185 w 190476"/>
                <a:gd name="connsiteY9" fmla="*/ 180880 h 182383"/>
                <a:gd name="connsiteX10" fmla="*/ 31516 w 190476"/>
                <a:gd name="connsiteY10" fmla="*/ 167354 h 182383"/>
                <a:gd name="connsiteX11" fmla="*/ 40088 w 190476"/>
                <a:gd name="connsiteY11" fmla="*/ 117348 h 182383"/>
                <a:gd name="connsiteX12" fmla="*/ 3893 w 190476"/>
                <a:gd name="connsiteY12" fmla="*/ 81915 h 182383"/>
                <a:gd name="connsiteX13" fmla="*/ 11037 w 190476"/>
                <a:gd name="connsiteY13" fmla="*/ 60008 h 182383"/>
                <a:gd name="connsiteX14" fmla="*/ 61234 w 190476"/>
                <a:gd name="connsiteY14" fmla="*/ 52673 h 182383"/>
                <a:gd name="connsiteX15" fmla="*/ 83713 w 190476"/>
                <a:gd name="connsiteY15" fmla="*/ 7144 h 18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476" h="182383">
                  <a:moveTo>
                    <a:pt x="83713" y="7144"/>
                  </a:moveTo>
                  <a:cubicBezTo>
                    <a:pt x="88380" y="-2381"/>
                    <a:pt x="102096" y="-2381"/>
                    <a:pt x="106763" y="7144"/>
                  </a:cubicBezTo>
                  <a:lnTo>
                    <a:pt x="129242" y="52673"/>
                  </a:lnTo>
                  <a:lnTo>
                    <a:pt x="179439" y="60008"/>
                  </a:lnTo>
                  <a:cubicBezTo>
                    <a:pt x="190012" y="61532"/>
                    <a:pt x="194203" y="74486"/>
                    <a:pt x="186583" y="81915"/>
                  </a:cubicBezTo>
                  <a:lnTo>
                    <a:pt x="150197" y="117348"/>
                  </a:lnTo>
                  <a:lnTo>
                    <a:pt x="158770" y="167354"/>
                  </a:lnTo>
                  <a:cubicBezTo>
                    <a:pt x="160580" y="177832"/>
                    <a:pt x="149531" y="185833"/>
                    <a:pt x="140101" y="180880"/>
                  </a:cubicBezTo>
                  <a:lnTo>
                    <a:pt x="95143" y="157258"/>
                  </a:lnTo>
                  <a:lnTo>
                    <a:pt x="50185" y="180880"/>
                  </a:lnTo>
                  <a:cubicBezTo>
                    <a:pt x="40755" y="185833"/>
                    <a:pt x="29706" y="177832"/>
                    <a:pt x="31516" y="167354"/>
                  </a:cubicBezTo>
                  <a:lnTo>
                    <a:pt x="40088" y="117348"/>
                  </a:lnTo>
                  <a:lnTo>
                    <a:pt x="3893" y="81915"/>
                  </a:lnTo>
                  <a:cubicBezTo>
                    <a:pt x="-3727" y="74486"/>
                    <a:pt x="464" y="61532"/>
                    <a:pt x="11037" y="60008"/>
                  </a:cubicBezTo>
                  <a:lnTo>
                    <a:pt x="61234" y="52673"/>
                  </a:lnTo>
                  <a:cubicBezTo>
                    <a:pt x="61234" y="52673"/>
                    <a:pt x="83713" y="7144"/>
                    <a:pt x="83713" y="7144"/>
                  </a:cubicBezTo>
                  <a:close/>
                </a:path>
              </a:pathLst>
            </a:custGeom>
            <a:grpFill/>
            <a:ln w="9525" cap="flat">
              <a:solidFill>
                <a:srgbClr val="49C5B1"/>
              </a:solidFill>
              <a:prstDash val="solid"/>
              <a:miter/>
            </a:ln>
          </p:spPr>
          <p:txBody>
            <a:bodyPr rtlCol="0" anchor="ctr"/>
            <a:lstStyle/>
            <a:p>
              <a:endParaRPr lang="en-US"/>
            </a:p>
          </p:txBody>
        </p:sp>
      </p:grpSp>
      <p:sp>
        <p:nvSpPr>
          <p:cNvPr id="90" name="TextBox 89">
            <a:extLst>
              <a:ext uri="{FF2B5EF4-FFF2-40B4-BE49-F238E27FC236}">
                <a16:creationId xmlns:a16="http://schemas.microsoft.com/office/drawing/2014/main" id="{7574052A-B48E-B8D3-C5E7-B389227BD5D4}"/>
              </a:ext>
            </a:extLst>
          </p:cNvPr>
          <p:cNvSpPr txBox="1"/>
          <p:nvPr/>
        </p:nvSpPr>
        <p:spPr>
          <a:xfrm>
            <a:off x="9263945" y="3677716"/>
            <a:ext cx="2643576"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gradFill>
                  <a:gsLst>
                    <a:gs pos="80000">
                      <a:srgbClr val="2A446F"/>
                    </a:gs>
                    <a:gs pos="0">
                      <a:srgbClr val="73262F"/>
                    </a:gs>
                  </a:gsLst>
                  <a:path path="circle">
                    <a:fillToRect l="100000" t="100000"/>
                  </a:path>
                </a:gradFill>
                <a:effectLst/>
                <a:uLnTx/>
                <a:uFillTx/>
                <a:latin typeface="+mj-lt"/>
                <a:ea typeface="+mn-ea"/>
                <a:cs typeface="+mn-cs"/>
              </a:rPr>
              <a:t>Fine-tuned LLM/SLM</a:t>
            </a:r>
          </a:p>
        </p:txBody>
      </p:sp>
      <p:sp>
        <p:nvSpPr>
          <p:cNvPr id="91" name="TextBox 90">
            <a:extLst>
              <a:ext uri="{FF2B5EF4-FFF2-40B4-BE49-F238E27FC236}">
                <a16:creationId xmlns:a16="http://schemas.microsoft.com/office/drawing/2014/main" id="{9DB554F5-63CA-D49E-3D78-714EB88892DB}"/>
              </a:ext>
            </a:extLst>
          </p:cNvPr>
          <p:cNvSpPr txBox="1"/>
          <p:nvPr/>
        </p:nvSpPr>
        <p:spPr>
          <a:xfrm>
            <a:off x="9423161" y="4099218"/>
            <a:ext cx="2325144" cy="43088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effectLst/>
                <a:uLnTx/>
                <a:uFillTx/>
                <a:ea typeface="+mn-ea"/>
                <a:cs typeface="+mn-cs"/>
              </a:rPr>
              <a:t>Adapted with your data, for your use case</a:t>
            </a:r>
          </a:p>
        </p:txBody>
      </p:sp>
      <p:sp>
        <p:nvSpPr>
          <p:cNvPr id="3" name="TextBox 2">
            <a:extLst>
              <a:ext uri="{FF2B5EF4-FFF2-40B4-BE49-F238E27FC236}">
                <a16:creationId xmlns:a16="http://schemas.microsoft.com/office/drawing/2014/main" id="{D6CF16B0-6E06-31DE-4B73-9DD43A7AEF2F}"/>
              </a:ext>
            </a:extLst>
          </p:cNvPr>
          <p:cNvSpPr txBox="1"/>
          <p:nvPr/>
        </p:nvSpPr>
        <p:spPr>
          <a:xfrm>
            <a:off x="2927351" y="6553200"/>
            <a:ext cx="5651499" cy="276999"/>
          </a:xfrm>
          <a:prstGeom prst="rect">
            <a:avLst/>
          </a:prstGeom>
          <a:noFill/>
        </p:spPr>
        <p:txBody>
          <a:bodyPr wrap="square" rtlCol="0">
            <a:spAutoFit/>
          </a:bodyPr>
          <a:lstStyle/>
          <a:p>
            <a:pPr algn="ctr"/>
            <a:r>
              <a:rPr lang="en-US" sz="1200" dirty="0"/>
              <a:t>BRK 150 deck: </a:t>
            </a:r>
            <a:r>
              <a:rPr lang="en-US" sz="1200" dirty="0">
                <a:solidFill>
                  <a:schemeClr val="tx1">
                    <a:lumMod val="65000"/>
                    <a:lumOff val="35000"/>
                  </a:schemeClr>
                </a:solidFill>
                <a:hlinkClick r:id="rId3">
                  <a:extLst>
                    <a:ext uri="{A12FA001-AC4F-418D-AE19-62706E023703}">
                      <ahyp:hlinkClr xmlns:ahyp="http://schemas.microsoft.com/office/drawing/2018/hyperlinkcolor" val="tx"/>
                    </a:ext>
                  </a:extLst>
                </a:hlinkClick>
              </a:rPr>
              <a:t>https://lnkd.in/ga7c2mj3</a:t>
            </a:r>
            <a:r>
              <a:rPr lang="en-US" sz="1200" dirty="0">
                <a:solidFill>
                  <a:schemeClr val="tx1">
                    <a:lumMod val="65000"/>
                    <a:lumOff val="35000"/>
                  </a:schemeClr>
                </a:solidFill>
              </a:rPr>
              <a:t>    </a:t>
            </a:r>
            <a:r>
              <a:rPr lang="en-US" sz="1200" dirty="0"/>
              <a:t>&amp; Code: </a:t>
            </a:r>
            <a:r>
              <a:rPr lang="en-US" sz="1200" dirty="0">
                <a:solidFill>
                  <a:schemeClr val="tx1">
                    <a:lumMod val="65000"/>
                    <a:lumOff val="35000"/>
                  </a:schemeClr>
                </a:solidFill>
                <a:hlinkClick r:id="rId4">
                  <a:extLst>
                    <a:ext uri="{A12FA001-AC4F-418D-AE19-62706E023703}">
                      <ahyp:hlinkClr xmlns:ahyp="http://schemas.microsoft.com/office/drawing/2018/hyperlinkcolor" val="tx"/>
                    </a:ext>
                  </a:extLst>
                </a:hlinkClick>
              </a:rPr>
              <a:t>https://lnkd.in/g2-c-g_G</a:t>
            </a:r>
            <a:endParaRPr lang="en-US" sz="1200" dirty="0">
              <a:solidFill>
                <a:schemeClr val="tx1">
                  <a:lumMod val="65000"/>
                  <a:lumOff val="35000"/>
                </a:schemeClr>
              </a:solidFill>
            </a:endParaRPr>
          </a:p>
        </p:txBody>
      </p:sp>
    </p:spTree>
    <p:extLst>
      <p:ext uri="{BB962C8B-B14F-4D97-AF65-F5344CB8AC3E}">
        <p14:creationId xmlns:p14="http://schemas.microsoft.com/office/powerpoint/2010/main" val="3969473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507EF-D940-FB48-85D8-ABC9E3934CB9}"/>
              </a:ext>
            </a:extLst>
          </p:cNvPr>
          <p:cNvSpPr>
            <a:spLocks noGrp="1"/>
          </p:cNvSpPr>
          <p:nvPr>
            <p:ph type="title"/>
          </p:nvPr>
        </p:nvSpPr>
        <p:spPr/>
        <p:txBody>
          <a:bodyPr/>
          <a:lstStyle/>
          <a:p>
            <a:r>
              <a:rPr lang="en-US" dirty="0"/>
              <a:t>SFT, DPO &amp; RFT</a:t>
            </a:r>
          </a:p>
        </p:txBody>
      </p:sp>
      <p:pic>
        <p:nvPicPr>
          <p:cNvPr id="1026" name="Picture 2" descr="Diagram comparing three machine learning fine-tuning methods: Supervised Fine-tuning (SFT) labeled as &quot;Imitation,&quot; Direct Preference Optimization (DPO) described as &quot;More like this, less like that,&quot; and Reinforcement Fine-tuning (RFT) with the phrase &quot;Learn to figure it out.&quot; Each method is presented in separate boxes with clear titles and brief explanatory quotes highlighting their distinct approaches.">
            <a:extLst>
              <a:ext uri="{FF2B5EF4-FFF2-40B4-BE49-F238E27FC236}">
                <a16:creationId xmlns:a16="http://schemas.microsoft.com/office/drawing/2014/main" id="{0926AAF2-B20B-81D1-9FA0-7B22B4AD8F11}"/>
              </a:ext>
            </a:extLst>
          </p:cNvPr>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052780" y="2633663"/>
            <a:ext cx="10065802" cy="3565525"/>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15782DD-E3CC-8008-ACB1-A530003E55D3}"/>
              </a:ext>
            </a:extLst>
          </p:cNvPr>
          <p:cNvSpPr txBox="1"/>
          <p:nvPr/>
        </p:nvSpPr>
        <p:spPr>
          <a:xfrm>
            <a:off x="1388146" y="6199188"/>
            <a:ext cx="9288708" cy="646331"/>
          </a:xfrm>
          <a:prstGeom prst="rect">
            <a:avLst/>
          </a:prstGeom>
          <a:noFill/>
        </p:spPr>
        <p:txBody>
          <a:bodyPr wrap="square">
            <a:spAutoFit/>
          </a:bodyPr>
          <a:lstStyle/>
          <a:p>
            <a:pPr algn="ctr"/>
            <a:r>
              <a:rPr lang="en-US" sz="1200" b="1" dirty="0">
                <a:solidFill>
                  <a:schemeClr val="tx1">
                    <a:lumMod val="65000"/>
                    <a:lumOff val="35000"/>
                  </a:schemeClr>
                </a:solidFill>
              </a:rPr>
              <a:t>YT OpenAI: </a:t>
            </a:r>
            <a:r>
              <a:rPr lang="en-US" sz="1200" b="1" dirty="0">
                <a:solidFill>
                  <a:schemeClr val="tx1">
                    <a:lumMod val="65000"/>
                    <a:lumOff val="35000"/>
                  </a:schemeClr>
                </a:solidFill>
                <a:hlinkClick r:id="rId4">
                  <a:extLst>
                    <a:ext uri="{A12FA001-AC4F-418D-AE19-62706E023703}">
                      <ahyp:hlinkClr xmlns:ahyp="http://schemas.microsoft.com/office/drawing/2018/hyperlinkcolor" val="tx"/>
                    </a:ext>
                  </a:extLst>
                </a:hlinkClick>
              </a:rPr>
              <a:t>https://www.youtube.com/watch?v=JfaLQqfXqPA</a:t>
            </a:r>
            <a:endParaRPr lang="en-US" sz="1200" b="1" dirty="0">
              <a:solidFill>
                <a:schemeClr val="tx1">
                  <a:lumMod val="65000"/>
                  <a:lumOff val="35000"/>
                </a:schemeClr>
              </a:solidFill>
            </a:endParaRPr>
          </a:p>
          <a:p>
            <a:pPr algn="ctr"/>
            <a:r>
              <a:rPr lang="en-US" sz="1200" b="1" dirty="0">
                <a:solidFill>
                  <a:schemeClr val="tx1">
                    <a:lumMod val="65000"/>
                    <a:lumOff val="35000"/>
                  </a:schemeClr>
                </a:solidFill>
              </a:rPr>
              <a:t>Reinforcement Fine-tuning: </a:t>
            </a:r>
            <a:r>
              <a:rPr lang="en-US" sz="1200" b="1" dirty="0">
                <a:solidFill>
                  <a:schemeClr val="tx1">
                    <a:lumMod val="65000"/>
                    <a:lumOff val="35000"/>
                  </a:schemeClr>
                </a:solidFill>
                <a:hlinkClick r:id="rId5">
                  <a:extLst>
                    <a:ext uri="{A12FA001-AC4F-418D-AE19-62706E023703}">
                      <ahyp:hlinkClr xmlns:ahyp="http://schemas.microsoft.com/office/drawing/2018/hyperlinkcolor" val="tx"/>
                    </a:ext>
                  </a:extLst>
                </a:hlinkClick>
              </a:rPr>
              <a:t>https://github.com/openai/openai-cookbook/tree/main/examples/fine-tuned_qa</a:t>
            </a:r>
            <a:endParaRPr lang="en-US" sz="1200" b="1" dirty="0">
              <a:solidFill>
                <a:schemeClr val="tx1">
                  <a:lumMod val="65000"/>
                  <a:lumOff val="35000"/>
                </a:schemeClr>
              </a:solidFill>
            </a:endParaRPr>
          </a:p>
          <a:p>
            <a:pPr algn="ctr"/>
            <a:r>
              <a:rPr lang="en-US" sz="1200" b="1" dirty="0">
                <a:solidFill>
                  <a:schemeClr val="tx1">
                    <a:lumMod val="65000"/>
                    <a:lumOff val="35000"/>
                  </a:schemeClr>
                </a:solidFill>
              </a:rPr>
              <a:t>Guide to DPO</a:t>
            </a:r>
            <a:r>
              <a:rPr lang="en-US" sz="1200" dirty="0"/>
              <a:t>: </a:t>
            </a:r>
            <a:r>
              <a:rPr lang="en-US" sz="1200" dirty="0">
                <a:solidFill>
                  <a:schemeClr val="tx1">
                    <a:lumMod val="65000"/>
                    <a:lumOff val="35000"/>
                  </a:schemeClr>
                </a:solidFill>
                <a:hlinkClick r:id="rId6">
                  <a:extLst>
                    <a:ext uri="{A12FA001-AC4F-418D-AE19-62706E023703}">
                      <ahyp:hlinkClr xmlns:ahyp="http://schemas.microsoft.com/office/drawing/2018/hyperlinkcolor" val="tx"/>
                    </a:ext>
                  </a:extLst>
                </a:hlinkClick>
              </a:rPr>
              <a:t>https://github.com/openai/openai-cookbook/blob/main/examples/Fine_tuning_direct_preference_optimization_guide.ipynb</a:t>
            </a:r>
            <a:endParaRPr lang="en-US" sz="1200" dirty="0">
              <a:solidFill>
                <a:schemeClr val="tx1">
                  <a:lumMod val="65000"/>
                  <a:lumOff val="35000"/>
                </a:schemeClr>
              </a:solidFill>
            </a:endParaRPr>
          </a:p>
        </p:txBody>
      </p:sp>
    </p:spTree>
    <p:extLst>
      <p:ext uri="{BB962C8B-B14F-4D97-AF65-F5344CB8AC3E}">
        <p14:creationId xmlns:p14="http://schemas.microsoft.com/office/powerpoint/2010/main" val="2235762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103" name="Straight Connector 4102">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4105" name="Rectangle 4104">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Diagram illustrating supervised fine-tuning process with notes highlighting suitability for simple tasks, model regression on other tasks, importance of data diversity, and recommended sample size of 100 to 500+. Visual includes green and gray labeled boxes representing input and output data, connected by arrows indicating learning a mapping.">
            <a:extLst>
              <a:ext uri="{FF2B5EF4-FFF2-40B4-BE49-F238E27FC236}">
                <a16:creationId xmlns:a16="http://schemas.microsoft.com/office/drawing/2014/main" id="{21187898-5F11-BAD7-65A0-8CC9E822F9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626"/>
          <a:stretch>
            <a:fillRect/>
          </a:stretch>
        </p:blipFill>
        <p:spPr bwMode="auto">
          <a:xfrm>
            <a:off x="660991" y="10"/>
            <a:ext cx="10870017" cy="4651558"/>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4107" name="Straight Connector 4106">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60992" y="4651571"/>
            <a:ext cx="10869326"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1D8F3C2-EA2D-83BA-EC69-D0AD399B020A}"/>
              </a:ext>
            </a:extLst>
          </p:cNvPr>
          <p:cNvSpPr txBox="1"/>
          <p:nvPr/>
        </p:nvSpPr>
        <p:spPr>
          <a:xfrm>
            <a:off x="1254074" y="6061949"/>
            <a:ext cx="9683161" cy="494012"/>
          </a:xfrm>
          <a:prstGeom prst="rect">
            <a:avLst/>
          </a:prstGeom>
        </p:spPr>
        <p:txBody>
          <a:bodyPr vert="horz" lIns="91440" tIns="45720" rIns="91440" bIns="45720" rtlCol="0" anchor="ctr">
            <a:normAutofit/>
          </a:bodyPr>
          <a:lstStyle/>
          <a:p>
            <a:pPr algn="ctr">
              <a:lnSpc>
                <a:spcPct val="120000"/>
              </a:lnSpc>
              <a:spcAft>
                <a:spcPts val="600"/>
              </a:spcAft>
              <a:buSzPct val="87000"/>
            </a:pPr>
            <a:r>
              <a:rPr lang="en-US" dirty="0"/>
              <a:t>Image Credit: </a:t>
            </a:r>
            <a:r>
              <a:rPr lang="en-US" b="1" dirty="0"/>
              <a:t>YT OpenAI: </a:t>
            </a:r>
            <a:r>
              <a:rPr lang="en-US" b="1" dirty="0">
                <a:hlinkClick r:id="rId3">
                  <a:extLst>
                    <a:ext uri="{A12FA001-AC4F-418D-AE19-62706E023703}">
                      <ahyp:hlinkClr xmlns:ahyp="http://schemas.microsoft.com/office/drawing/2018/hyperlinkcolor" val="tx"/>
                    </a:ext>
                  </a:extLst>
                </a:hlinkClick>
              </a:rPr>
              <a:t>https://www.youtube.com/watch?v=JfaLQqfXqPA</a:t>
            </a:r>
            <a:endParaRPr lang="en-US" b="1" dirty="0"/>
          </a:p>
        </p:txBody>
      </p:sp>
    </p:spTree>
    <p:extLst>
      <p:ext uri="{BB962C8B-B14F-4D97-AF65-F5344CB8AC3E}">
        <p14:creationId xmlns:p14="http://schemas.microsoft.com/office/powerpoint/2010/main" val="3915016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creenshot of a presentation slide titled &quot;Direct Preference Optimization&quot; explaining its benefits and use cases. The slide includes bullet points about data diversity, preference scenarios, human evaluations, and post-SFT application, alongside a simple diagram illustrating input, bad output, good output, and a delta learning process with color-coded green and red boxes.">
            <a:extLst>
              <a:ext uri="{FF2B5EF4-FFF2-40B4-BE49-F238E27FC236}">
                <a16:creationId xmlns:a16="http://schemas.microsoft.com/office/drawing/2014/main" id="{365FC6BE-99DB-4FEC-D00C-65F974E4D8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8625"/>
            <a:ext cx="12192000" cy="5999163"/>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45BDA96-71F6-7DFF-8992-76337EEDEB1E}"/>
              </a:ext>
            </a:extLst>
          </p:cNvPr>
          <p:cNvSpPr txBox="1"/>
          <p:nvPr/>
        </p:nvSpPr>
        <p:spPr>
          <a:xfrm>
            <a:off x="1254419" y="6363988"/>
            <a:ext cx="9683161" cy="494012"/>
          </a:xfrm>
          <a:prstGeom prst="rect">
            <a:avLst/>
          </a:prstGeom>
        </p:spPr>
        <p:txBody>
          <a:bodyPr vert="horz" lIns="91440" tIns="45720" rIns="91440" bIns="45720" rtlCol="0" anchor="ctr">
            <a:normAutofit/>
          </a:bodyPr>
          <a:lstStyle/>
          <a:p>
            <a:pPr algn="ctr">
              <a:lnSpc>
                <a:spcPct val="120000"/>
              </a:lnSpc>
              <a:spcAft>
                <a:spcPts val="600"/>
              </a:spcAft>
              <a:buSzPct val="87000"/>
            </a:pPr>
            <a:r>
              <a:rPr lang="en-US" dirty="0"/>
              <a:t>Image Credit: </a:t>
            </a:r>
            <a:r>
              <a:rPr lang="en-US" b="1" dirty="0"/>
              <a:t>YT OpenAI: </a:t>
            </a:r>
            <a:r>
              <a:rPr lang="en-US" b="1" dirty="0">
                <a:hlinkClick r:id="rId3">
                  <a:extLst>
                    <a:ext uri="{A12FA001-AC4F-418D-AE19-62706E023703}">
                      <ahyp:hlinkClr xmlns:ahyp="http://schemas.microsoft.com/office/drawing/2018/hyperlinkcolor" val="tx"/>
                    </a:ext>
                  </a:extLst>
                </a:hlinkClick>
              </a:rPr>
              <a:t>https://www.youtube.com/watch?v=JfaLQqfXqPA</a:t>
            </a:r>
            <a:endParaRPr lang="en-US" b="1" dirty="0"/>
          </a:p>
        </p:txBody>
      </p:sp>
    </p:spTree>
    <p:extLst>
      <p:ext uri="{BB962C8B-B14F-4D97-AF65-F5344CB8AC3E}">
        <p14:creationId xmlns:p14="http://schemas.microsoft.com/office/powerpoint/2010/main" val="3116524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F5B93277-2482-DF5B-A88D-67715E164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90598" y="993391"/>
            <a:ext cx="10221542" cy="4870429"/>
          </a:xfrm>
          <a:prstGeom prst="rect">
            <a:avLst/>
          </a:prstGeom>
          <a:solidFill>
            <a:schemeClr val="bg1">
              <a:lumMod val="9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Diagram illustrating reinforcement fine-tuning process with two main sections: Data and Graders. Data section lists qualities like unambiguous grading and high signal, while Graders section includes methods such as string check and score model; a flowchart on the right shows data inputs passing through a grader and context module to produce outputs.">
            <a:extLst>
              <a:ext uri="{FF2B5EF4-FFF2-40B4-BE49-F238E27FC236}">
                <a16:creationId xmlns:a16="http://schemas.microsoft.com/office/drawing/2014/main" id="{8E20661C-19C8-9FBE-C2A3-D9C0978469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378" b="1"/>
          <a:stretch>
            <a:fillRect/>
          </a:stretch>
        </p:blipFill>
        <p:spPr bwMode="auto">
          <a:xfrm>
            <a:off x="990599" y="994180"/>
            <a:ext cx="10221541" cy="4871218"/>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5131" name="Straight Connector 5130">
            <a:extLst>
              <a:ext uri="{FF2B5EF4-FFF2-40B4-BE49-F238E27FC236}">
                <a16:creationId xmlns:a16="http://schemas.microsoft.com/office/drawing/2014/main" id="{9AE2764D-E1C7-4C0E-A5A4-12411550AB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212140" y="993391"/>
            <a:ext cx="0" cy="4871218"/>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C26F06C-5412-A34B-750A-E506E795B910}"/>
              </a:ext>
            </a:extLst>
          </p:cNvPr>
          <p:cNvSpPr txBox="1"/>
          <p:nvPr/>
        </p:nvSpPr>
        <p:spPr>
          <a:xfrm>
            <a:off x="1254419" y="6290549"/>
            <a:ext cx="9683161" cy="494012"/>
          </a:xfrm>
          <a:prstGeom prst="rect">
            <a:avLst/>
          </a:prstGeom>
        </p:spPr>
        <p:txBody>
          <a:bodyPr vert="horz" lIns="91440" tIns="45720" rIns="91440" bIns="45720" rtlCol="0" anchor="ctr">
            <a:normAutofit/>
          </a:bodyPr>
          <a:lstStyle/>
          <a:p>
            <a:pPr algn="ctr">
              <a:lnSpc>
                <a:spcPct val="120000"/>
              </a:lnSpc>
              <a:spcAft>
                <a:spcPts val="600"/>
              </a:spcAft>
              <a:buSzPct val="87000"/>
            </a:pPr>
            <a:r>
              <a:rPr lang="en-US" dirty="0"/>
              <a:t>Image Credit: </a:t>
            </a:r>
            <a:r>
              <a:rPr lang="en-US" b="1" dirty="0"/>
              <a:t>YT OpenAI: </a:t>
            </a:r>
            <a:r>
              <a:rPr lang="en-US" b="1" dirty="0">
                <a:hlinkClick r:id="rId3">
                  <a:extLst>
                    <a:ext uri="{A12FA001-AC4F-418D-AE19-62706E023703}">
                      <ahyp:hlinkClr xmlns:ahyp="http://schemas.microsoft.com/office/drawing/2018/hyperlinkcolor" val="tx"/>
                    </a:ext>
                  </a:extLst>
                </a:hlinkClick>
              </a:rPr>
              <a:t>https://www.youtube.com/watch?v=JfaLQqfXqPA</a:t>
            </a:r>
            <a:endParaRPr lang="en-US" b="1" dirty="0"/>
          </a:p>
        </p:txBody>
      </p:sp>
    </p:spTree>
    <p:extLst>
      <p:ext uri="{BB962C8B-B14F-4D97-AF65-F5344CB8AC3E}">
        <p14:creationId xmlns:p14="http://schemas.microsoft.com/office/powerpoint/2010/main" val="800772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 illustrating advanced fine-tuning techniques for large language models, including Supervised Fine-Tuning (SFT), Direct Preference Optimization (DPO), and Reinforcement Fine-Tuning (RFT). Each technique is depicted with labeled data structures and processes, highlighting key concepts like learning mappings, deltas, and reasoning, alongside examples of constraints, contrastive improvements, and gradable hard problems.">
            <a:extLst>
              <a:ext uri="{FF2B5EF4-FFF2-40B4-BE49-F238E27FC236}">
                <a16:creationId xmlns:a16="http://schemas.microsoft.com/office/drawing/2014/main" id="{58F77A6B-5CC3-8FEB-9AB8-8C9955DB7E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74A2FEE2-407E-7C5C-44C5-E74B1FFA9D44}"/>
              </a:ext>
            </a:extLst>
          </p:cNvPr>
          <p:cNvSpPr txBox="1"/>
          <p:nvPr/>
        </p:nvSpPr>
        <p:spPr>
          <a:xfrm>
            <a:off x="6940551" y="6612757"/>
            <a:ext cx="5251450" cy="218661"/>
          </a:xfrm>
          <a:prstGeom prst="rect">
            <a:avLst/>
          </a:prstGeom>
        </p:spPr>
        <p:txBody>
          <a:bodyPr vert="horz" lIns="91440" tIns="45720" rIns="91440" bIns="45720" rtlCol="0" anchor="ctr">
            <a:normAutofit fontScale="77500" lnSpcReduction="20000"/>
          </a:bodyPr>
          <a:lstStyle/>
          <a:p>
            <a:pPr algn="r">
              <a:lnSpc>
                <a:spcPct val="120000"/>
              </a:lnSpc>
              <a:spcAft>
                <a:spcPts val="600"/>
              </a:spcAft>
              <a:buSzPct val="87000"/>
            </a:pPr>
            <a:r>
              <a:rPr lang="en-US" sz="1000" dirty="0"/>
              <a:t>Image Credit: </a:t>
            </a:r>
            <a:r>
              <a:rPr lang="en-US" sz="1000" b="1" dirty="0"/>
              <a:t>YT OpenAI: </a:t>
            </a:r>
            <a:r>
              <a:rPr lang="en-US" sz="1000" b="1" dirty="0">
                <a:hlinkClick r:id="rId4">
                  <a:extLst>
                    <a:ext uri="{A12FA001-AC4F-418D-AE19-62706E023703}">
                      <ahyp:hlinkClr xmlns:ahyp="http://schemas.microsoft.com/office/drawing/2018/hyperlinkcolor" val="tx"/>
                    </a:ext>
                  </a:extLst>
                </a:hlinkClick>
              </a:rPr>
              <a:t>https://www.youtube.com/watch?v=JfaLQqfXqPA</a:t>
            </a:r>
            <a:r>
              <a:rPr lang="en-US" sz="1000" b="1" dirty="0"/>
              <a:t> recreated with Nano Banana Pro</a:t>
            </a:r>
          </a:p>
        </p:txBody>
      </p:sp>
      <p:grpSp>
        <p:nvGrpSpPr>
          <p:cNvPr id="11" name="Group 10">
            <a:extLst>
              <a:ext uri="{FF2B5EF4-FFF2-40B4-BE49-F238E27FC236}">
                <a16:creationId xmlns:a16="http://schemas.microsoft.com/office/drawing/2014/main" id="{EC24F242-74B6-C7A3-2AEF-10D81CF90244}"/>
              </a:ext>
            </a:extLst>
          </p:cNvPr>
          <p:cNvGrpSpPr/>
          <p:nvPr/>
        </p:nvGrpSpPr>
        <p:grpSpPr>
          <a:xfrm>
            <a:off x="431800" y="3822700"/>
            <a:ext cx="9328150" cy="282575"/>
            <a:chOff x="431800" y="3822700"/>
            <a:chExt cx="9328150" cy="282575"/>
          </a:xfrm>
        </p:grpSpPr>
        <p:sp>
          <p:nvSpPr>
            <p:cNvPr id="8" name="Rectangle 7">
              <a:extLst>
                <a:ext uri="{FF2B5EF4-FFF2-40B4-BE49-F238E27FC236}">
                  <a16:creationId xmlns:a16="http://schemas.microsoft.com/office/drawing/2014/main" id="{039A09EB-620C-6BD7-E1DA-813432DF4EED}"/>
                </a:ext>
              </a:extLst>
            </p:cNvPr>
            <p:cNvSpPr/>
            <p:nvPr/>
          </p:nvSpPr>
          <p:spPr>
            <a:xfrm>
              <a:off x="431800" y="3822700"/>
              <a:ext cx="1511300" cy="260350"/>
            </a:xfrm>
            <a:prstGeom prst="rect">
              <a:avLst/>
            </a:prstGeom>
            <a:noFill/>
            <a:ln>
              <a:solidFill>
                <a:schemeClr val="bg1">
                  <a:lumMod val="75000"/>
                </a:schemeClr>
              </a:solidFill>
            </a:ln>
            <a:effectLst>
              <a:glow rad="635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C6E60DA-9417-A64D-15A8-4EA18F2FB7C2}"/>
                </a:ext>
              </a:extLst>
            </p:cNvPr>
            <p:cNvSpPr/>
            <p:nvPr/>
          </p:nvSpPr>
          <p:spPr>
            <a:xfrm>
              <a:off x="4400550" y="3844925"/>
              <a:ext cx="1212850" cy="260350"/>
            </a:xfrm>
            <a:prstGeom prst="rect">
              <a:avLst/>
            </a:prstGeom>
            <a:noFill/>
            <a:ln>
              <a:solidFill>
                <a:schemeClr val="bg1">
                  <a:lumMod val="75000"/>
                </a:schemeClr>
              </a:solidFill>
            </a:ln>
            <a:effectLst>
              <a:glow rad="635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438EA13-333C-0D1B-585E-CB3A39294557}"/>
                </a:ext>
              </a:extLst>
            </p:cNvPr>
            <p:cNvSpPr/>
            <p:nvPr/>
          </p:nvSpPr>
          <p:spPr>
            <a:xfrm>
              <a:off x="8375650" y="3822700"/>
              <a:ext cx="1384300" cy="260350"/>
            </a:xfrm>
            <a:prstGeom prst="rect">
              <a:avLst/>
            </a:prstGeom>
            <a:noFill/>
            <a:ln>
              <a:solidFill>
                <a:schemeClr val="bg1">
                  <a:lumMod val="75000"/>
                </a:schemeClr>
              </a:solidFill>
            </a:ln>
            <a:effectLst>
              <a:glow rad="635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46992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 table comparing three machine learning techniques: SFT (Supervised Fine-Tuning), DPO (Direct Preference Optimization), and RFT (Reinforcement Fine-Tuning). It outlines features such as core concept, learning mechanism, required data, best use cases, key advantages, and disadvantages, highlighting differences in training approaches, data needs, and performance outcomes.">
            <a:extLst>
              <a:ext uri="{FF2B5EF4-FFF2-40B4-BE49-F238E27FC236}">
                <a16:creationId xmlns:a16="http://schemas.microsoft.com/office/drawing/2014/main" id="{D2B685A6-FEE9-B80E-6389-85FA63236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98525"/>
            <a:ext cx="12192000" cy="506095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041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E1542-3574-67A5-545B-4F06F7DEA417}"/>
              </a:ext>
            </a:extLst>
          </p:cNvPr>
          <p:cNvSpPr>
            <a:spLocks noGrp="1"/>
          </p:cNvSpPr>
          <p:nvPr>
            <p:ph type="title"/>
          </p:nvPr>
        </p:nvSpPr>
        <p:spPr>
          <a:xfrm>
            <a:off x="640080" y="1371600"/>
            <a:ext cx="5737859" cy="1097280"/>
          </a:xfrm>
        </p:spPr>
        <p:txBody>
          <a:bodyPr>
            <a:normAutofit/>
          </a:bodyPr>
          <a:lstStyle/>
          <a:p>
            <a:pPr>
              <a:lnSpc>
                <a:spcPct val="90000"/>
              </a:lnSpc>
            </a:pPr>
            <a:r>
              <a:rPr lang="en-US" sz="2200" dirty="0"/>
              <a:t>A look ahead on PEFT (Parameter-Efficient Fine-Tuning) &amp; LORA (Low-Rank Adaptation)</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062BEAB-7DA3-B5A8-5027-317C81A8EE7C}"/>
              </a:ext>
            </a:extLst>
          </p:cNvPr>
          <p:cNvSpPr>
            <a:spLocks noGrp="1"/>
          </p:cNvSpPr>
          <p:nvPr>
            <p:ph idx="1"/>
          </p:nvPr>
        </p:nvSpPr>
        <p:spPr>
          <a:xfrm>
            <a:off x="640080" y="2633236"/>
            <a:ext cx="5737860" cy="3666980"/>
          </a:xfrm>
        </p:spPr>
        <p:txBody>
          <a:bodyPr>
            <a:normAutofit/>
          </a:bodyPr>
          <a:lstStyle/>
          <a:p>
            <a:r>
              <a:rPr lang="en-US" i="1" dirty="0"/>
              <a:t>Bridge to future modules.</a:t>
            </a:r>
            <a:endParaRPr lang="en-US" dirty="0"/>
          </a:p>
          <a:p>
            <a:r>
              <a:rPr lang="en-US" b="1" dirty="0"/>
              <a:t>Question:</a:t>
            </a:r>
            <a:r>
              <a:rPr lang="en-US" dirty="0"/>
              <a:t> </a:t>
            </a:r>
            <a:r>
              <a:rPr lang="en-US" dirty="0">
                <a:solidFill>
                  <a:schemeClr val="accent1"/>
                </a:solidFill>
              </a:rPr>
              <a:t>What if the model is too big to fine-tune on my laptop (like Llama 3)?</a:t>
            </a:r>
          </a:p>
          <a:p>
            <a:r>
              <a:rPr lang="en-US" b="1" dirty="0"/>
              <a:t>Preview:</a:t>
            </a:r>
            <a:r>
              <a:rPr lang="en-US" dirty="0"/>
              <a:t> We don't tune all parameters. We use </a:t>
            </a:r>
            <a:r>
              <a:rPr lang="en-US" b="1" dirty="0"/>
              <a:t>PEFT (Parameter-Efficient Fine-Tuning)</a:t>
            </a:r>
            <a:r>
              <a:rPr lang="en-US" dirty="0"/>
              <a:t> to tune only 0.1% of the weights. (We will discuss this in advanced Generative AI modules).</a:t>
            </a:r>
          </a:p>
          <a:p>
            <a:endParaRPr lang="en-US" dirty="0"/>
          </a:p>
        </p:txBody>
      </p:sp>
      <p:pic>
        <p:nvPicPr>
          <p:cNvPr id="7" name="Graphic 6" descr="Bridge scene">
            <a:extLst>
              <a:ext uri="{FF2B5EF4-FFF2-40B4-BE49-F238E27FC236}">
                <a16:creationId xmlns:a16="http://schemas.microsoft.com/office/drawing/2014/main" id="{AD1D023A-D2E3-C076-286B-FD1C299198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3886146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iagram illustrating a simplified machine learning process where input data passes through a model incorporating LoRA, resulting in output. The diagram highlights LoRA as a small, trainable portion of model weights, with arrows indicating data flow and training focus.">
            <a:extLst>
              <a:ext uri="{FF2B5EF4-FFF2-40B4-BE49-F238E27FC236}">
                <a16:creationId xmlns:a16="http://schemas.microsoft.com/office/drawing/2014/main" id="{769FD40B-7AAA-07CC-AE9D-B47812C51C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675" y="1166813"/>
            <a:ext cx="10534650" cy="4524375"/>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1084CFF-D877-8D6C-AE4D-09DACCFB87BA}"/>
              </a:ext>
            </a:extLst>
          </p:cNvPr>
          <p:cNvSpPr txBox="1"/>
          <p:nvPr/>
        </p:nvSpPr>
        <p:spPr>
          <a:xfrm>
            <a:off x="1254419" y="6290549"/>
            <a:ext cx="9683161" cy="494012"/>
          </a:xfrm>
          <a:prstGeom prst="rect">
            <a:avLst/>
          </a:prstGeom>
        </p:spPr>
        <p:txBody>
          <a:bodyPr vert="horz" lIns="91440" tIns="45720" rIns="91440" bIns="45720" rtlCol="0" anchor="ctr">
            <a:normAutofit fontScale="55000" lnSpcReduction="20000"/>
          </a:bodyPr>
          <a:lstStyle/>
          <a:p>
            <a:pPr algn="ctr">
              <a:lnSpc>
                <a:spcPct val="120000"/>
              </a:lnSpc>
              <a:spcAft>
                <a:spcPts val="600"/>
              </a:spcAft>
              <a:buSzPct val="87000"/>
            </a:pPr>
            <a:r>
              <a:rPr lang="en-US" dirty="0">
                <a:solidFill>
                  <a:schemeClr val="tx1">
                    <a:lumMod val="50000"/>
                    <a:lumOff val="50000"/>
                  </a:schemeClr>
                </a:solidFill>
              </a:rPr>
              <a:t>Microsoft arxiv paper on LoRA: </a:t>
            </a:r>
            <a:r>
              <a:rPr lang="en-US" dirty="0">
                <a:solidFill>
                  <a:schemeClr val="tx1">
                    <a:lumMod val="50000"/>
                    <a:lumOff val="50000"/>
                  </a:schemeClr>
                </a:solidFill>
                <a:hlinkClick r:id="rId4">
                  <a:extLst>
                    <a:ext uri="{A12FA001-AC4F-418D-AE19-62706E023703}">
                      <ahyp:hlinkClr xmlns:ahyp="http://schemas.microsoft.com/office/drawing/2018/hyperlinkcolor" val="tx"/>
                    </a:ext>
                  </a:extLst>
                </a:hlinkClick>
              </a:rPr>
              <a:t>https://arxiv.org/pdf/2106.09685</a:t>
            </a:r>
            <a:endParaRPr lang="en-US" dirty="0">
              <a:solidFill>
                <a:schemeClr val="tx1">
                  <a:lumMod val="50000"/>
                  <a:lumOff val="50000"/>
                </a:schemeClr>
              </a:solidFill>
            </a:endParaRPr>
          </a:p>
          <a:p>
            <a:pPr algn="ctr">
              <a:lnSpc>
                <a:spcPct val="120000"/>
              </a:lnSpc>
              <a:spcAft>
                <a:spcPts val="600"/>
              </a:spcAft>
              <a:buSzPct val="87000"/>
            </a:pPr>
            <a:r>
              <a:rPr lang="en-US" dirty="0"/>
              <a:t>Image Credit: </a:t>
            </a:r>
            <a:r>
              <a:rPr lang="en-US" b="1" dirty="0">
                <a:solidFill>
                  <a:schemeClr val="tx1">
                    <a:lumMod val="50000"/>
                    <a:lumOff val="50000"/>
                  </a:schemeClr>
                </a:solidFill>
              </a:rPr>
              <a:t>YT OpenAI: </a:t>
            </a:r>
            <a:r>
              <a:rPr lang="en-US" b="1" dirty="0">
                <a:solidFill>
                  <a:schemeClr val="tx1">
                    <a:lumMod val="50000"/>
                    <a:lumOff val="50000"/>
                  </a:schemeClr>
                </a:solidFill>
                <a:hlinkClick r:id="rId5">
                  <a:extLst>
                    <a:ext uri="{A12FA001-AC4F-418D-AE19-62706E023703}">
                      <ahyp:hlinkClr xmlns:ahyp="http://schemas.microsoft.com/office/drawing/2018/hyperlinkcolor" val="tx"/>
                    </a:ext>
                  </a:extLst>
                </a:hlinkClick>
              </a:rPr>
              <a:t>https://www.youtube.com/watch?v=JfaLQqfXqPA</a:t>
            </a:r>
            <a:endParaRPr lang="en-US" b="1" dirty="0">
              <a:solidFill>
                <a:schemeClr val="tx1">
                  <a:lumMod val="50000"/>
                  <a:lumOff val="50000"/>
                </a:schemeClr>
              </a:solidFill>
            </a:endParaRPr>
          </a:p>
        </p:txBody>
      </p:sp>
    </p:spTree>
    <p:extLst>
      <p:ext uri="{BB962C8B-B14F-4D97-AF65-F5344CB8AC3E}">
        <p14:creationId xmlns:p14="http://schemas.microsoft.com/office/powerpoint/2010/main" val="2299692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72838-2E0A-4265-44CD-B9787F4FD61F}"/>
              </a:ext>
            </a:extLst>
          </p:cNvPr>
          <p:cNvSpPr>
            <a:spLocks noGrp="1"/>
          </p:cNvSpPr>
          <p:nvPr>
            <p:ph type="title"/>
          </p:nvPr>
        </p:nvSpPr>
        <p:spPr/>
        <p:txBody>
          <a:bodyPr/>
          <a:lstStyle/>
          <a:p>
            <a:r>
              <a:rPr lang="en-US" dirty="0"/>
              <a:t>Distillation vs Fine-tuning</a:t>
            </a:r>
          </a:p>
        </p:txBody>
      </p:sp>
      <p:sp>
        <p:nvSpPr>
          <p:cNvPr id="3" name="Content Placeholder 2">
            <a:extLst>
              <a:ext uri="{FF2B5EF4-FFF2-40B4-BE49-F238E27FC236}">
                <a16:creationId xmlns:a16="http://schemas.microsoft.com/office/drawing/2014/main" id="{57CC52C4-CCC5-74CB-8154-E8090A931C15}"/>
              </a:ext>
            </a:extLst>
          </p:cNvPr>
          <p:cNvSpPr>
            <a:spLocks noGrp="1"/>
          </p:cNvSpPr>
          <p:nvPr>
            <p:ph idx="1"/>
          </p:nvPr>
        </p:nvSpPr>
        <p:spPr>
          <a:xfrm>
            <a:off x="640080" y="2633472"/>
            <a:ext cx="4966970" cy="3566160"/>
          </a:xfrm>
        </p:spPr>
        <p:txBody>
          <a:bodyPr/>
          <a:lstStyle/>
          <a:p>
            <a:r>
              <a:rPr lang="en-US" b="1" dirty="0"/>
              <a:t>Knowledge Distillation</a:t>
            </a:r>
            <a:r>
              <a:rPr lang="en-US" dirty="0"/>
              <a:t>:</a:t>
            </a:r>
            <a:br>
              <a:rPr lang="en-US" dirty="0"/>
            </a:br>
            <a:r>
              <a:rPr lang="en-US" dirty="0">
                <a:solidFill>
                  <a:schemeClr val="accent1"/>
                </a:solidFill>
              </a:rPr>
              <a:t>A Student Model learns from a teacher model by mimicking its outputs (often soft logits or intermediate representation). </a:t>
            </a:r>
            <a:br>
              <a:rPr lang="en-US" dirty="0"/>
            </a:br>
            <a:r>
              <a:rPr lang="en-US" b="1" dirty="0"/>
              <a:t>Goal</a:t>
            </a:r>
            <a:r>
              <a:rPr lang="en-US" dirty="0"/>
              <a:t>: Compress knowledge from a larger model into smaller one while preserving performance.</a:t>
            </a:r>
          </a:p>
          <a:p>
            <a:r>
              <a:rPr lang="en-US" b="1" dirty="0"/>
              <a:t>Typical Use case</a:t>
            </a:r>
            <a:r>
              <a:rPr lang="en-US" dirty="0"/>
              <a:t>: Model Size Reduction</a:t>
            </a:r>
          </a:p>
        </p:txBody>
      </p:sp>
      <p:sp>
        <p:nvSpPr>
          <p:cNvPr id="4" name="Content Placeholder 2">
            <a:extLst>
              <a:ext uri="{FF2B5EF4-FFF2-40B4-BE49-F238E27FC236}">
                <a16:creationId xmlns:a16="http://schemas.microsoft.com/office/drawing/2014/main" id="{7623513A-4337-C190-E0CA-55BF1669A1B6}"/>
              </a:ext>
            </a:extLst>
          </p:cNvPr>
          <p:cNvSpPr txBox="1">
            <a:spLocks/>
          </p:cNvSpPr>
          <p:nvPr/>
        </p:nvSpPr>
        <p:spPr>
          <a:xfrm>
            <a:off x="5607050" y="2525522"/>
            <a:ext cx="4966970" cy="356616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Fine-Tuning (RFT/DPO/SFT)</a:t>
            </a:r>
            <a:r>
              <a:rPr lang="en-US" dirty="0"/>
              <a:t>:</a:t>
            </a:r>
            <a:br>
              <a:rPr lang="en-US" dirty="0"/>
            </a:br>
            <a:r>
              <a:rPr lang="en-US" dirty="0">
                <a:solidFill>
                  <a:schemeClr val="accent1"/>
                </a:solidFill>
              </a:rPr>
              <a:t>These Adjust the weights of a model using labeled data or preference signals. </a:t>
            </a:r>
            <a:br>
              <a:rPr lang="en-US" dirty="0"/>
            </a:br>
            <a:r>
              <a:rPr lang="en-US" b="1" dirty="0"/>
              <a:t>Goal</a:t>
            </a:r>
            <a:r>
              <a:rPr lang="en-US" dirty="0"/>
              <a:t>: Align the model with desired behaviors or domain-specific tasks. They do not involve transferring knowledge from a teacher to student model.</a:t>
            </a:r>
          </a:p>
          <a:p>
            <a:r>
              <a:rPr lang="en-US" b="1" dirty="0"/>
              <a:t>Typical Use case</a:t>
            </a:r>
            <a:r>
              <a:rPr lang="en-US" dirty="0"/>
              <a:t>: Refer earlier slides.</a:t>
            </a:r>
          </a:p>
        </p:txBody>
      </p:sp>
      <p:cxnSp>
        <p:nvCxnSpPr>
          <p:cNvPr id="6" name="Straight Connector 5">
            <a:extLst>
              <a:ext uri="{FF2B5EF4-FFF2-40B4-BE49-F238E27FC236}">
                <a16:creationId xmlns:a16="http://schemas.microsoft.com/office/drawing/2014/main" id="{611F3D06-5294-B7A5-9E55-25090B9626DF}"/>
              </a:ext>
            </a:extLst>
          </p:cNvPr>
          <p:cNvCxnSpPr/>
          <p:nvPr/>
        </p:nvCxnSpPr>
        <p:spPr>
          <a:xfrm>
            <a:off x="5613400" y="2266950"/>
            <a:ext cx="0" cy="4419600"/>
          </a:xfrm>
          <a:prstGeom prst="line">
            <a:avLst/>
          </a:prstGeom>
          <a:effectLst>
            <a:outerShdw blurRad="50800" dist="38100" dir="16200000" rotWithShape="0">
              <a:prstClr val="black">
                <a:alpha val="40000"/>
              </a:prstClr>
            </a:outerShdw>
          </a:effectLst>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54635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 name="Rectangle 9">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Molecular structure and periodic table on a desk">
            <a:extLst>
              <a:ext uri="{FF2B5EF4-FFF2-40B4-BE49-F238E27FC236}">
                <a16:creationId xmlns:a16="http://schemas.microsoft.com/office/drawing/2014/main" id="{62448EE2-E1FB-62C2-8103-3E19C4F8F828}"/>
              </a:ext>
            </a:extLst>
          </p:cNvPr>
          <p:cNvPicPr>
            <a:picLocks noChangeAspect="1"/>
          </p:cNvPicPr>
          <p:nvPr/>
        </p:nvPicPr>
        <p:blipFill>
          <a:blip r:embed="rId2">
            <a:alphaModFix amt="40000"/>
          </a:blip>
          <a:srcRect b="15732"/>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3E63843D-3E8A-EA97-19B9-00D84E091FB3}"/>
              </a:ext>
            </a:extLst>
          </p:cNvPr>
          <p:cNvSpPr>
            <a:spLocks noGrp="1"/>
          </p:cNvSpPr>
          <p:nvPr>
            <p:ph type="title"/>
          </p:nvPr>
        </p:nvSpPr>
        <p:spPr>
          <a:xfrm>
            <a:off x="640080" y="985233"/>
            <a:ext cx="5758628" cy="3355853"/>
          </a:xfrm>
        </p:spPr>
        <p:txBody>
          <a:bodyPr vert="horz" lIns="91440" tIns="45720" rIns="91440" bIns="45720" rtlCol="0" anchor="t">
            <a:normAutofit/>
          </a:bodyPr>
          <a:lstStyle/>
          <a:p>
            <a:pPr>
              <a:lnSpc>
                <a:spcPct val="90000"/>
              </a:lnSpc>
            </a:pPr>
            <a:r>
              <a:rPr lang="en-US" sz="4700" b="1" kern="1200">
                <a:solidFill>
                  <a:srgbClr val="FFFFFF"/>
                </a:solidFill>
                <a:latin typeface="+mj-lt"/>
                <a:ea typeface="+mj-ea"/>
                <a:cs typeface="+mj-cs"/>
              </a:rPr>
              <a:t>NLP Lab Exercise</a:t>
            </a:r>
            <a:br>
              <a:rPr lang="en-US" sz="4700" b="1" kern="1200">
                <a:solidFill>
                  <a:srgbClr val="FFFFFF"/>
                </a:solidFill>
                <a:latin typeface="+mj-lt"/>
                <a:ea typeface="+mj-ea"/>
                <a:cs typeface="+mj-cs"/>
              </a:rPr>
            </a:br>
            <a:r>
              <a:rPr lang="en-US" sz="4700" b="1" kern="1200">
                <a:solidFill>
                  <a:srgbClr val="FFFFFF"/>
                </a:solidFill>
                <a:latin typeface="+mj-lt"/>
                <a:ea typeface="+mj-ea"/>
                <a:cs typeface="+mj-cs"/>
              </a:rPr>
              <a:t>Fine-tuning DistilBERT using HuggingFace Trainer and Google Colab</a:t>
            </a:r>
          </a:p>
        </p:txBody>
      </p:sp>
      <p:cxnSp>
        <p:nvCxnSpPr>
          <p:cNvPr id="12" name="Straight Connector 11">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6981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lowchart illustrating steps for fine-tuning a model in Google Colab, starting from zero-shot baseline evaluation to inference demo. Key components include dataset preparation, loading DistilBERT, setting training arguments, training, evaluating with F1 score, saving model files, loading fine-tuned model, and performing text classification, with colorful icons and labeled sections.">
            <a:extLst>
              <a:ext uri="{FF2B5EF4-FFF2-40B4-BE49-F238E27FC236}">
                <a16:creationId xmlns:a16="http://schemas.microsoft.com/office/drawing/2014/main" id="{C2B21B28-27BB-D1E3-68F5-D25FA975E0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0"/>
            <a:ext cx="4572000" cy="6858000"/>
          </a:xfrm>
          <a:prstGeom prst="rect">
            <a:avLst/>
          </a:prstGeom>
        </p:spPr>
      </p:pic>
    </p:spTree>
    <p:extLst>
      <p:ext uri="{BB962C8B-B14F-4D97-AF65-F5344CB8AC3E}">
        <p14:creationId xmlns:p14="http://schemas.microsoft.com/office/powerpoint/2010/main" val="1967941155"/>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915</TotalTime>
  <Words>914</Words>
  <Application>Microsoft Office PowerPoint</Application>
  <PresentationFormat>Widescreen</PresentationFormat>
  <Paragraphs>109</Paragraphs>
  <Slides>19</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Aptos</vt:lpstr>
      <vt:lpstr>Arial</vt:lpstr>
      <vt:lpstr>Grandview Display</vt:lpstr>
      <vt:lpstr>Segoe Sans Display Semibold</vt:lpstr>
      <vt:lpstr>Segoe Sans Text</vt:lpstr>
      <vt:lpstr>Segoe Sans Text Semibold</vt:lpstr>
      <vt:lpstr>Segoe UI</vt:lpstr>
      <vt:lpstr>Segoe UI Variable Display</vt:lpstr>
      <vt:lpstr>Segoe UI Variable Display Semib</vt:lpstr>
      <vt:lpstr>DashVTI</vt:lpstr>
      <vt:lpstr>Fine-Tuning Pre-Trained Models</vt:lpstr>
      <vt:lpstr>PowerPoint Presentation</vt:lpstr>
      <vt:lpstr>Building a foundation model</vt:lpstr>
      <vt:lpstr>Why fine-tune?</vt:lpstr>
      <vt:lpstr>Fine-Tuning Pre-Trained Models Turning Generalists into Specialists (NER &amp; Classification) </vt:lpstr>
      <vt:lpstr>The limits of Prompt Engineering</vt:lpstr>
      <vt:lpstr>PowerPoint Presentation</vt:lpstr>
      <vt:lpstr>Fine-tuning a foundation model</vt:lpstr>
      <vt:lpstr>SFT, DPO &amp; RFT</vt:lpstr>
      <vt:lpstr>PowerPoint Presentation</vt:lpstr>
      <vt:lpstr>PowerPoint Presentation</vt:lpstr>
      <vt:lpstr>PowerPoint Presentation</vt:lpstr>
      <vt:lpstr>PowerPoint Presentation</vt:lpstr>
      <vt:lpstr>PowerPoint Presentation</vt:lpstr>
      <vt:lpstr>A look ahead on PEFT (Parameter-Efficient Fine-Tuning) &amp; LORA (Low-Rank Adaptation)</vt:lpstr>
      <vt:lpstr>PowerPoint Presentation</vt:lpstr>
      <vt:lpstr>Distillation vs Fine-tuning</vt:lpstr>
      <vt:lpstr>NLP Lab Exercise Fine-tuning DistilBERT using HuggingFace Trainer and Google Colab</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Bhakthan</dc:creator>
  <cp:lastModifiedBy>Srikanth Bhakthan</cp:lastModifiedBy>
  <cp:revision>15</cp:revision>
  <dcterms:created xsi:type="dcterms:W3CDTF">2025-12-01T16:15:20Z</dcterms:created>
  <dcterms:modified xsi:type="dcterms:W3CDTF">2025-12-16T22:44:03Z</dcterms:modified>
</cp:coreProperties>
</file>