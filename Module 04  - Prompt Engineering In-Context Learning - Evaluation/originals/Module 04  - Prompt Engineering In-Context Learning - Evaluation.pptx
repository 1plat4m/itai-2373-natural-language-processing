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5"/>
  </p:notesMasterIdLst>
  <p:sldIdLst>
    <p:sldId id="256" r:id="rId2"/>
    <p:sldId id="258" r:id="rId3"/>
    <p:sldId id="257" r:id="rId4"/>
    <p:sldId id="259" r:id="rId5"/>
    <p:sldId id="260" r:id="rId6"/>
    <p:sldId id="261" r:id="rId7"/>
    <p:sldId id="262" r:id="rId8"/>
    <p:sldId id="264" r:id="rId9"/>
    <p:sldId id="265" r:id="rId10"/>
    <p:sldId id="266" r:id="rId11"/>
    <p:sldId id="267" r:id="rId12"/>
    <p:sldId id="268" r:id="rId13"/>
    <p:sldId id="263" r:id="rId14"/>
    <p:sldId id="276" r:id="rId15"/>
    <p:sldId id="270" r:id="rId16"/>
    <p:sldId id="269" r:id="rId17"/>
    <p:sldId id="271" r:id="rId18"/>
    <p:sldId id="272" r:id="rId19"/>
    <p:sldId id="273" r:id="rId20"/>
    <p:sldId id="274" r:id="rId21"/>
    <p:sldId id="275" r:id="rId22"/>
    <p:sldId id="277" r:id="rId23"/>
    <p:sldId id="278"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1503" autoAdjust="0"/>
  </p:normalViewPr>
  <p:slideViewPr>
    <p:cSldViewPr snapToGrid="0">
      <p:cViewPr varScale="1">
        <p:scale>
          <a:sx n="75" d="100"/>
          <a:sy n="75" d="100"/>
        </p:scale>
        <p:origin x="974"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0D8C196-732B-47FC-A595-AA75E1E83D6E}" type="datetimeFigureOut">
              <a:rPr lang="en-US" smtClean="0"/>
              <a:t>12/1/2025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F5BE4FD-58F4-4690-BAB9-0F99FE947D54}" type="slidenum">
              <a:rPr lang="en-US" smtClean="0"/>
              <a:t>‹#›</a:t>
            </a:fld>
            <a:endParaRPr lang="en-US"/>
          </a:p>
        </p:txBody>
      </p:sp>
    </p:spTree>
    <p:extLst>
      <p:ext uri="{BB962C8B-B14F-4D97-AF65-F5344CB8AC3E}">
        <p14:creationId xmlns:p14="http://schemas.microsoft.com/office/powerpoint/2010/main" val="28021170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 "Stop Guessing, Start Engineering: The Shift from Art to System."</a:t>
            </a:r>
            <a:endParaRPr lang="en-US" dirty="0"/>
          </a:p>
        </p:txBody>
      </p:sp>
      <p:sp>
        <p:nvSpPr>
          <p:cNvPr id="4" name="Slide Number Placeholder 3"/>
          <p:cNvSpPr>
            <a:spLocks noGrp="1"/>
          </p:cNvSpPr>
          <p:nvPr>
            <p:ph type="sldNum" sz="quarter" idx="5"/>
          </p:nvPr>
        </p:nvSpPr>
        <p:spPr/>
        <p:txBody>
          <a:bodyPr/>
          <a:lstStyle/>
          <a:p>
            <a:fld id="{EF5BE4FD-58F4-4690-BAB9-0F99FE947D54}" type="slidenum">
              <a:rPr lang="en-US" smtClean="0"/>
              <a:t>1</a:t>
            </a:fld>
            <a:endParaRPr lang="en-US"/>
          </a:p>
        </p:txBody>
      </p:sp>
    </p:spTree>
    <p:extLst>
      <p:ext uri="{BB962C8B-B14F-4D97-AF65-F5344CB8AC3E}">
        <p14:creationId xmlns:p14="http://schemas.microsoft.com/office/powerpoint/2010/main" val="313078783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English is the hottest programming language.</a:t>
            </a:r>
            <a:br>
              <a:rPr lang="en-US" dirty="0"/>
            </a:br>
            <a:r>
              <a:rPr lang="en-US" dirty="0"/>
              <a:t>High level Programming is mostly an abstraction from assembly language.</a:t>
            </a:r>
          </a:p>
          <a:p>
            <a:r>
              <a:rPr lang="en-US" dirty="0"/>
              <a:t>Abstractions lead to object-oriented programming and functional programming </a:t>
            </a:r>
            <a:r>
              <a:rPr lang="en-US" dirty="0" err="1"/>
              <a:t>etc</a:t>
            </a:r>
            <a:r>
              <a:rPr lang="en-US" dirty="0"/>
              <a:t> in the past.</a:t>
            </a:r>
          </a:p>
        </p:txBody>
      </p:sp>
      <p:sp>
        <p:nvSpPr>
          <p:cNvPr id="4" name="Slide Number Placeholder 3"/>
          <p:cNvSpPr>
            <a:spLocks noGrp="1"/>
          </p:cNvSpPr>
          <p:nvPr>
            <p:ph type="sldNum" sz="quarter" idx="5"/>
          </p:nvPr>
        </p:nvSpPr>
        <p:spPr/>
        <p:txBody>
          <a:bodyPr/>
          <a:lstStyle/>
          <a:p>
            <a:fld id="{EF5BE4FD-58F4-4690-BAB9-0F99FE947D54}" type="slidenum">
              <a:rPr lang="en-US" smtClean="0"/>
              <a:t>2</a:t>
            </a:fld>
            <a:endParaRPr lang="en-US"/>
          </a:p>
        </p:txBody>
      </p:sp>
    </p:spTree>
    <p:extLst>
      <p:ext uri="{BB962C8B-B14F-4D97-AF65-F5344CB8AC3E}">
        <p14:creationId xmlns:p14="http://schemas.microsoft.com/office/powerpoint/2010/main" val="325499572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promptingguide.ai</a:t>
            </a:r>
          </a:p>
        </p:txBody>
      </p:sp>
      <p:sp>
        <p:nvSpPr>
          <p:cNvPr id="4" name="Slide Number Placeholder 3"/>
          <p:cNvSpPr>
            <a:spLocks noGrp="1"/>
          </p:cNvSpPr>
          <p:nvPr>
            <p:ph type="sldNum" sz="quarter" idx="5"/>
          </p:nvPr>
        </p:nvSpPr>
        <p:spPr/>
        <p:txBody>
          <a:bodyPr/>
          <a:lstStyle/>
          <a:p>
            <a:fld id="{EF5BE4FD-58F4-4690-BAB9-0F99FE947D54}" type="slidenum">
              <a:rPr lang="en-US" smtClean="0"/>
              <a:t>5</a:t>
            </a:fld>
            <a:endParaRPr lang="en-US"/>
          </a:p>
        </p:txBody>
      </p:sp>
    </p:spTree>
    <p:extLst>
      <p:ext uri="{BB962C8B-B14F-4D97-AF65-F5344CB8AC3E}">
        <p14:creationId xmlns:p14="http://schemas.microsoft.com/office/powerpoint/2010/main" val="420582100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Real-world LLM systems need both prompt and context engineering. But what is the actual difference between them? </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𝗣𝗿𝗼𝗺𝗽𝘁 𝗘𝗻𝗴𝗶𝗻𝗲𝗲𝗿𝗶𝗻𝗴: Prompt engineering is about 𝗵𝗼𝘄 𝘆𝗼𝘂 𝗽𝗵𝗿𝗮𝘀𝗲 𝗶𝗻𝘀𝘁𝗿𝘂𝗰𝘁𝗶𝗼𝗻𝘀 for the LLM. It's the practice of designing and optimizing the actual questions, commands, and examples you give to the model to get your desired output. </a:t>
            </a:r>
          </a:p>
          <a:p>
            <a:r>
              <a:rPr lang="en-US" sz="1200" b="0" i="0" kern="1200" dirty="0">
                <a:solidFill>
                  <a:schemeClr val="tx1"/>
                </a:solidFill>
                <a:effectLst/>
                <a:latin typeface="+mn-lt"/>
                <a:ea typeface="+mn-ea"/>
                <a:cs typeface="+mn-cs"/>
              </a:rPr>
              <a:t>Think of techniques like: </a:t>
            </a:r>
          </a:p>
          <a:p>
            <a:r>
              <a:rPr lang="en-US" sz="1200" b="0" i="0" kern="1200" dirty="0">
                <a:solidFill>
                  <a:schemeClr val="tx1"/>
                </a:solidFill>
                <a:effectLst/>
                <a:latin typeface="+mn-lt"/>
                <a:ea typeface="+mn-ea"/>
                <a:cs typeface="+mn-cs"/>
              </a:rPr>
              <a:t>• Chain of Thought (asking the model to "think step-by-step") </a:t>
            </a:r>
          </a:p>
          <a:p>
            <a:r>
              <a:rPr lang="en-US" sz="1200" b="0" i="0" kern="1200" dirty="0">
                <a:solidFill>
                  <a:schemeClr val="tx1"/>
                </a:solidFill>
                <a:effectLst/>
                <a:latin typeface="+mn-lt"/>
                <a:ea typeface="+mn-ea"/>
                <a:cs typeface="+mn-cs"/>
              </a:rPr>
              <a:t>• Few-shot learning (providing examples to guide responses) </a:t>
            </a:r>
          </a:p>
          <a:p>
            <a:r>
              <a:rPr lang="en-US" sz="1200" b="0" i="0" kern="1200">
                <a:solidFill>
                  <a:schemeClr val="tx1"/>
                </a:solidFill>
                <a:effectLst/>
                <a:latin typeface="+mn-lt"/>
                <a:ea typeface="+mn-ea"/>
                <a:cs typeface="+mn-cs"/>
              </a:rPr>
              <a:t>• </a:t>
            </a:r>
            <a:r>
              <a:rPr lang="en-US" sz="1200" b="0" i="0" kern="1200" dirty="0">
                <a:solidFill>
                  <a:schemeClr val="tx1"/>
                </a:solidFill>
                <a:effectLst/>
                <a:latin typeface="+mn-lt"/>
                <a:ea typeface="+mn-ea"/>
                <a:cs typeface="+mn-cs"/>
              </a:rPr>
              <a:t>Tree of Thoughts (exploring multiple reasoning paths</a:t>
            </a:r>
            <a:r>
              <a:rPr lang="en-US" sz="1200" b="0" i="0" kern="1200">
                <a:solidFill>
                  <a:schemeClr val="tx1"/>
                </a:solidFill>
                <a:effectLst/>
                <a:latin typeface="+mn-lt"/>
                <a:ea typeface="+mn-ea"/>
                <a:cs typeface="+mn-cs"/>
              </a:rPr>
              <a:t>) </a:t>
            </a:r>
          </a:p>
          <a:p>
            <a:r>
              <a:rPr lang="en-US" sz="1200" b="0" i="0" kern="1200">
                <a:solidFill>
                  <a:schemeClr val="tx1"/>
                </a:solidFill>
                <a:effectLst/>
                <a:latin typeface="+mn-lt"/>
                <a:ea typeface="+mn-ea"/>
                <a:cs typeface="+mn-cs"/>
              </a:rPr>
              <a:t>Example</a:t>
            </a:r>
            <a:r>
              <a:rPr lang="en-US" sz="1200" b="0" i="0" kern="1200" dirty="0">
                <a:solidFill>
                  <a:schemeClr val="tx1"/>
                </a:solidFill>
                <a:effectLst/>
                <a:latin typeface="+mn-lt"/>
                <a:ea typeface="+mn-ea"/>
                <a:cs typeface="+mn-cs"/>
              </a:rPr>
              <a:t>: Creating a prompt that says "Analyze this document step-by-step, first identifying key themes, then extracting specific data points" is prompt engineering. </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𝗖𝗼𝗻𝘁𝗲𝘅𝘁 𝗘𝗻𝗴𝗶𝗻𝗲𝗲𝗿𝗶𝗻𝗴: Context engineering is about 𝘀𝘁𝗿𝘂𝗰𝘁𝘂𝗿𝗶𝗻𝗴 𝘄𝗵𝗮𝘁 𝗶𝗻𝗳𝗼𝗿𝗺𝗮𝘁𝗶𝗼𝗻 𝗿𝗲𝗮𝗰𝗵𝗲𝘀 𝘁𝗵𝗲 𝗺𝗼𝗱𝗲𝗹 and when. It's the discipline of designing systems that feed an LLM the right data at the right time - building the bridges that connect it to external knowledge, tools, and memory. </a:t>
            </a:r>
          </a:p>
          <a:p>
            <a:r>
              <a:rPr lang="en-US" sz="1200" b="0" i="0" kern="1200" dirty="0">
                <a:solidFill>
                  <a:schemeClr val="tx1"/>
                </a:solidFill>
                <a:effectLst/>
                <a:latin typeface="+mn-lt"/>
                <a:ea typeface="+mn-ea"/>
                <a:cs typeface="+mn-cs"/>
              </a:rPr>
              <a:t>This includes: </a:t>
            </a:r>
          </a:p>
          <a:p>
            <a:r>
              <a:rPr lang="en-US" sz="1200" b="0" i="0" kern="1200" dirty="0">
                <a:solidFill>
                  <a:schemeClr val="tx1"/>
                </a:solidFill>
                <a:effectLst/>
                <a:latin typeface="+mn-lt"/>
                <a:ea typeface="+mn-ea"/>
                <a:cs typeface="+mn-cs"/>
              </a:rPr>
              <a:t>• Retrieval systems (RAG) that pull relevant documents </a:t>
            </a:r>
          </a:p>
          <a:p>
            <a:r>
              <a:rPr lang="en-US" sz="1200" b="0" i="0" kern="1200" dirty="0">
                <a:solidFill>
                  <a:schemeClr val="tx1"/>
                </a:solidFill>
                <a:effectLst/>
                <a:latin typeface="+mn-lt"/>
                <a:ea typeface="+mn-ea"/>
                <a:cs typeface="+mn-cs"/>
              </a:rPr>
              <a:t>• Memory management for conversation history </a:t>
            </a:r>
          </a:p>
          <a:p>
            <a:r>
              <a:rPr lang="en-US" sz="1200" b="0" i="0" kern="1200" dirty="0">
                <a:solidFill>
                  <a:schemeClr val="tx1"/>
                </a:solidFill>
                <a:effectLst/>
                <a:latin typeface="+mn-lt"/>
                <a:ea typeface="+mn-ea"/>
                <a:cs typeface="+mn-cs"/>
              </a:rPr>
              <a:t>• Tool orchestration for accessing external APIs </a:t>
            </a:r>
          </a:p>
          <a:p>
            <a:r>
              <a:rPr lang="en-US" sz="1200" b="0" i="0" kern="1200" dirty="0">
                <a:solidFill>
                  <a:schemeClr val="tx1"/>
                </a:solidFill>
                <a:effectLst/>
                <a:latin typeface="+mn-lt"/>
                <a:ea typeface="+mn-ea"/>
                <a:cs typeface="+mn-cs"/>
              </a:rPr>
              <a:t>• Chunking strategies for processing large documents </a:t>
            </a:r>
          </a:p>
          <a:p>
            <a:r>
              <a:rPr lang="en-US" sz="1200" b="0" i="0" kern="1200" dirty="0">
                <a:solidFill>
                  <a:schemeClr val="tx1"/>
                </a:solidFill>
                <a:effectLst/>
                <a:latin typeface="+mn-lt"/>
                <a:ea typeface="+mn-ea"/>
                <a:cs typeface="+mn-cs"/>
              </a:rPr>
              <a:t>Example: Building a system that retrieves the top 5 most relevant documents based on semantic similarity, then managing how that context fits within the model's token limits - that's context engineering. </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𝗧𝗵𝗲 𝗞𝗲𝘆 𝗗𝗶𝗳𝗳𝗲𝗿𝗲𝗻𝗰𝗲 Prompt engineering = What you 𝘀𝗮𝘆 to the model Context engineering = What you 𝗽𝗿𝗼𝘃𝗶𝗱𝗲 to the model But they work together. The most sophisticated prompting techniques (</a:t>
            </a:r>
            <a:r>
              <a:rPr lang="en-US" sz="1200" b="0" i="0" kern="1200" dirty="0" err="1">
                <a:solidFill>
                  <a:schemeClr val="tx1"/>
                </a:solidFill>
                <a:effectLst/>
                <a:latin typeface="+mn-lt"/>
                <a:ea typeface="+mn-ea"/>
                <a:cs typeface="+mn-cs"/>
              </a:rPr>
              <a:t>CoT</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ReAct</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ToT</a:t>
            </a:r>
            <a:r>
              <a:rPr lang="en-US" sz="1200" b="0" i="0" kern="1200" dirty="0">
                <a:solidFill>
                  <a:schemeClr val="tx1"/>
                </a:solidFill>
                <a:effectLst/>
                <a:latin typeface="+mn-lt"/>
                <a:ea typeface="+mn-ea"/>
                <a:cs typeface="+mn-cs"/>
              </a:rPr>
              <a:t>) are most effective when combined with well-engineered context. You can craft the perfect prompt, but if you're feeding the model irrelevant or poorly structured information, you won't get reliable results. </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𝗪𝗵𝘆 𝗕𝗼𝘁𝗵 𝗠𝗮𝘁𝘁𝗲𝗿 A production-ready LLM application needs both: </a:t>
            </a:r>
          </a:p>
          <a:p>
            <a:r>
              <a:rPr lang="en-US" sz="1200" b="0" i="0" kern="1200" dirty="0">
                <a:solidFill>
                  <a:schemeClr val="tx1"/>
                </a:solidFill>
                <a:effectLst/>
                <a:latin typeface="+mn-lt"/>
                <a:ea typeface="+mn-ea"/>
                <a:cs typeface="+mn-cs"/>
              </a:rPr>
              <a:t>• 𝗣𝗿𝗼𝗺𝗽𝘁 𝗲𝗻𝗴𝗶𝗻𝗲𝗲𝗿𝗶𝗻𝗴 ensures the model interprets and responds to instructions correctly </a:t>
            </a:r>
          </a:p>
          <a:p>
            <a:r>
              <a:rPr lang="en-US" sz="1200" b="0" i="0" kern="1200" dirty="0">
                <a:solidFill>
                  <a:schemeClr val="tx1"/>
                </a:solidFill>
                <a:effectLst/>
                <a:latin typeface="+mn-lt"/>
                <a:ea typeface="+mn-ea"/>
                <a:cs typeface="+mn-cs"/>
              </a:rPr>
              <a:t>• 𝗖𝗼𝗻𝘁𝗲𝘅𝘁 𝗲𝗻𝗴𝗶𝗻𝗲𝗲𝗿𝗶𝗻𝗴 ensures the model has access to the right information and tools to generate factual, relevant responses Without context engineering, even the best prompts can't overcome the model's knowledge limitations. Without prompt engineering, even the best context won't be used effectively.</a:t>
            </a:r>
            <a:endParaRPr lang="en-US" dirty="0"/>
          </a:p>
        </p:txBody>
      </p:sp>
      <p:sp>
        <p:nvSpPr>
          <p:cNvPr id="4" name="Slide Number Placeholder 3"/>
          <p:cNvSpPr>
            <a:spLocks noGrp="1"/>
          </p:cNvSpPr>
          <p:nvPr>
            <p:ph type="sldNum" sz="quarter" idx="5"/>
          </p:nvPr>
        </p:nvSpPr>
        <p:spPr/>
        <p:txBody>
          <a:bodyPr/>
          <a:lstStyle/>
          <a:p>
            <a:fld id="{EF5BE4FD-58F4-4690-BAB9-0F99FE947D54}" type="slidenum">
              <a:rPr lang="en-US" smtClean="0"/>
              <a:t>14</a:t>
            </a:fld>
            <a:endParaRPr lang="en-US"/>
          </a:p>
        </p:txBody>
      </p:sp>
    </p:spTree>
    <p:extLst>
      <p:ext uri="{BB962C8B-B14F-4D97-AF65-F5344CB8AC3E}">
        <p14:creationId xmlns:p14="http://schemas.microsoft.com/office/powerpoint/2010/main" val="304313219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https://github.com/RUCAIBox/LLMSurvey</a:t>
            </a:r>
          </a:p>
        </p:txBody>
      </p:sp>
      <p:sp>
        <p:nvSpPr>
          <p:cNvPr id="4" name="Slide Number Placeholder 3"/>
          <p:cNvSpPr>
            <a:spLocks noGrp="1"/>
          </p:cNvSpPr>
          <p:nvPr>
            <p:ph type="sldNum" sz="quarter" idx="5"/>
          </p:nvPr>
        </p:nvSpPr>
        <p:spPr/>
        <p:txBody>
          <a:bodyPr/>
          <a:lstStyle/>
          <a:p>
            <a:fld id="{EF5BE4FD-58F4-4690-BAB9-0F99FE947D54}" type="slidenum">
              <a:rPr lang="en-US" smtClean="0"/>
              <a:t>21</a:t>
            </a:fld>
            <a:endParaRPr lang="en-US"/>
          </a:p>
        </p:txBody>
      </p:sp>
    </p:spTree>
    <p:extLst>
      <p:ext uri="{BB962C8B-B14F-4D97-AF65-F5344CB8AC3E}">
        <p14:creationId xmlns:p14="http://schemas.microsoft.com/office/powerpoint/2010/main" val="178441678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EA67E988-5919-57BB-C7DE-D3EAD38A3045}"/>
              </a:ext>
              <a:ext uri="{C183D7F6-B498-43B3-948B-1728B52AA6E4}">
                <adec:decorative xmlns:adec="http://schemas.microsoft.com/office/drawing/2017/decorative" val="1"/>
              </a:ext>
            </a:extLst>
          </p:cNvPr>
          <p:cNvSpPr/>
          <p:nvPr/>
        </p:nvSpPr>
        <p:spPr>
          <a:xfrm>
            <a:off x="517870" y="6209925"/>
            <a:ext cx="11155680" cy="45719"/>
          </a:xfrm>
          <a:custGeom>
            <a:avLst/>
            <a:gdLst>
              <a:gd name="connsiteX0" fmla="*/ 0 w 8715708"/>
              <a:gd name="connsiteY0" fmla="*/ 0 h 45719"/>
              <a:gd name="connsiteX1" fmla="*/ 3694525 w 8715708"/>
              <a:gd name="connsiteY1" fmla="*/ 0 h 45719"/>
              <a:gd name="connsiteX2" fmla="*/ 5021183 w 8715708"/>
              <a:gd name="connsiteY2" fmla="*/ 0 h 45719"/>
              <a:gd name="connsiteX3" fmla="*/ 8715708 w 8715708"/>
              <a:gd name="connsiteY3" fmla="*/ 0 h 45719"/>
              <a:gd name="connsiteX4" fmla="*/ 8715708 w 8715708"/>
              <a:gd name="connsiteY4" fmla="*/ 45719 h 45719"/>
              <a:gd name="connsiteX5" fmla="*/ 5021183 w 8715708"/>
              <a:gd name="connsiteY5" fmla="*/ 45719 h 45719"/>
              <a:gd name="connsiteX6" fmla="*/ 3694525 w 8715708"/>
              <a:gd name="connsiteY6" fmla="*/ 45719 h 45719"/>
              <a:gd name="connsiteX7" fmla="*/ 0 w 8715708"/>
              <a:gd name="connsiteY7" fmla="*/ 45719 h 45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715708" h="45719">
                <a:moveTo>
                  <a:pt x="0" y="0"/>
                </a:moveTo>
                <a:lnTo>
                  <a:pt x="3694525" y="0"/>
                </a:lnTo>
                <a:lnTo>
                  <a:pt x="5021183" y="0"/>
                </a:lnTo>
                <a:lnTo>
                  <a:pt x="8715708" y="0"/>
                </a:lnTo>
                <a:lnTo>
                  <a:pt x="8715708" y="45719"/>
                </a:lnTo>
                <a:lnTo>
                  <a:pt x="5021183" y="45719"/>
                </a:lnTo>
                <a:lnTo>
                  <a:pt x="3694525" y="45719"/>
                </a:lnTo>
                <a:lnTo>
                  <a:pt x="0" y="4571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5B2327B2-BA4B-2C04-0751-5CB63D4AA425}"/>
              </a:ext>
            </a:extLst>
          </p:cNvPr>
          <p:cNvSpPr>
            <a:spLocks noGrp="1"/>
          </p:cNvSpPr>
          <p:nvPr>
            <p:ph type="ctrTitle"/>
          </p:nvPr>
        </p:nvSpPr>
        <p:spPr>
          <a:xfrm>
            <a:off x="521208" y="978408"/>
            <a:ext cx="11155680" cy="3429000"/>
          </a:xfrm>
        </p:spPr>
        <p:txBody>
          <a:bodyPr anchor="t">
            <a:normAutofit/>
          </a:bodyPr>
          <a:lstStyle>
            <a:lvl1pPr algn="l">
              <a:defRPr sz="7200"/>
            </a:lvl1pPr>
          </a:lstStyle>
          <a:p>
            <a:r>
              <a:rPr lang="en-US" dirty="0"/>
              <a:t>Click to edit Master title style</a:t>
            </a:r>
          </a:p>
        </p:txBody>
      </p:sp>
      <p:sp>
        <p:nvSpPr>
          <p:cNvPr id="3" name="Subtitle 2">
            <a:extLst>
              <a:ext uri="{FF2B5EF4-FFF2-40B4-BE49-F238E27FC236}">
                <a16:creationId xmlns:a16="http://schemas.microsoft.com/office/drawing/2014/main" id="{E7201176-DC7A-4C3D-3D8F-352526DA7B5D}"/>
              </a:ext>
            </a:extLst>
          </p:cNvPr>
          <p:cNvSpPr>
            <a:spLocks noGrp="1"/>
          </p:cNvSpPr>
          <p:nvPr>
            <p:ph type="subTitle" idx="1"/>
          </p:nvPr>
        </p:nvSpPr>
        <p:spPr>
          <a:xfrm>
            <a:off x="521208" y="4480560"/>
            <a:ext cx="7104888" cy="1399032"/>
          </a:xfrm>
        </p:spPr>
        <p:txBody>
          <a:bodyPr anchor="b">
            <a:normAutofit/>
          </a:bodyPr>
          <a:lstStyle>
            <a:lvl1pPr marL="0" indent="0" algn="l">
              <a:buNone/>
              <a:defRPr sz="2200" i="1"/>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67DC221-9A2E-7459-102F-C3CFB27CC389}"/>
              </a:ext>
            </a:extLst>
          </p:cNvPr>
          <p:cNvSpPr>
            <a:spLocks noGrp="1"/>
          </p:cNvSpPr>
          <p:nvPr>
            <p:ph type="dt" sz="half" idx="10"/>
          </p:nvPr>
        </p:nvSpPr>
        <p:spPr/>
        <p:txBody>
          <a:bodyPr/>
          <a:lstStyle/>
          <a:p>
            <a:fld id="{E80C50CD-E178-4744-9B35-B2F624D6C5E9}" type="datetimeFigureOut">
              <a:rPr lang="en-US" smtClean="0"/>
              <a:t>12/1/2025</a:t>
            </a:fld>
            <a:endParaRPr lang="en-US"/>
          </a:p>
        </p:txBody>
      </p:sp>
      <p:sp>
        <p:nvSpPr>
          <p:cNvPr id="5" name="Footer Placeholder 4">
            <a:extLst>
              <a:ext uri="{FF2B5EF4-FFF2-40B4-BE49-F238E27FC236}">
                <a16:creationId xmlns:a16="http://schemas.microsoft.com/office/drawing/2014/main" id="{A5020671-6F7D-3A03-EEC1-661A87F96F4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2453D3A-E0F9-8386-2A6C-96671FBB15A5}"/>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12470218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A26D03-149A-DAB3-4B2A-E9B74F2E251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3C1E73D-41A7-9934-0990-9208B952329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8BB2A3F-E719-673C-5D56-F663712D0E7F}"/>
              </a:ext>
            </a:extLst>
          </p:cNvPr>
          <p:cNvSpPr>
            <a:spLocks noGrp="1"/>
          </p:cNvSpPr>
          <p:nvPr>
            <p:ph type="dt" sz="half" idx="10"/>
          </p:nvPr>
        </p:nvSpPr>
        <p:spPr/>
        <p:txBody>
          <a:bodyPr/>
          <a:lstStyle/>
          <a:p>
            <a:fld id="{E80C50CD-E178-4744-9B35-B2F624D6C5E9}" type="datetimeFigureOut">
              <a:rPr lang="en-US" smtClean="0"/>
              <a:t>12/1/2025</a:t>
            </a:fld>
            <a:endParaRPr lang="en-US"/>
          </a:p>
        </p:txBody>
      </p:sp>
      <p:sp>
        <p:nvSpPr>
          <p:cNvPr id="5" name="Footer Placeholder 4">
            <a:extLst>
              <a:ext uri="{FF2B5EF4-FFF2-40B4-BE49-F238E27FC236}">
                <a16:creationId xmlns:a16="http://schemas.microsoft.com/office/drawing/2014/main" id="{04AE594A-52F5-D85E-343C-ADFEE3C72E0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07D5C9C-B2E2-FC26-E459-9E880EF975BA}"/>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37100617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29D51F-B2D5-2804-4F7C-C99850FBD05B}"/>
              </a:ext>
            </a:extLst>
          </p:cNvPr>
          <p:cNvSpPr>
            <a:spLocks noGrp="1"/>
          </p:cNvSpPr>
          <p:nvPr>
            <p:ph type="title"/>
          </p:nvPr>
        </p:nvSpPr>
        <p:spPr>
          <a:xfrm>
            <a:off x="521208" y="978408"/>
            <a:ext cx="5020056" cy="4288536"/>
          </a:xfrm>
        </p:spPr>
        <p:txBody>
          <a:bodyPr anchor="t">
            <a:normAutofit/>
          </a:bodyPr>
          <a:lstStyle>
            <a:lvl1pPr>
              <a:defRPr sz="5400"/>
            </a:lvl1pPr>
          </a:lstStyle>
          <a:p>
            <a:r>
              <a:rPr lang="en-US" dirty="0"/>
              <a:t>Click to edit Master title style</a:t>
            </a:r>
          </a:p>
        </p:txBody>
      </p:sp>
      <p:sp>
        <p:nvSpPr>
          <p:cNvPr id="3" name="Text Placeholder 2">
            <a:extLst>
              <a:ext uri="{FF2B5EF4-FFF2-40B4-BE49-F238E27FC236}">
                <a16:creationId xmlns:a16="http://schemas.microsoft.com/office/drawing/2014/main" id="{15FE5516-03B6-C488-EB4A-68AE681EDFB8}"/>
              </a:ext>
            </a:extLst>
          </p:cNvPr>
          <p:cNvSpPr>
            <a:spLocks noGrp="1"/>
          </p:cNvSpPr>
          <p:nvPr>
            <p:ph type="body" idx="1"/>
          </p:nvPr>
        </p:nvSpPr>
        <p:spPr>
          <a:xfrm>
            <a:off x="521208" y="5266944"/>
            <a:ext cx="5020056" cy="1088136"/>
          </a:xfrm>
        </p:spPr>
        <p:txBody>
          <a:bodyPr anchor="b">
            <a:normAutofit/>
          </a:bodyPr>
          <a:lstStyle>
            <a:lvl1pPr marL="0" indent="0">
              <a:buNone/>
              <a:defRPr sz="2200" i="1">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50ECB4D7-49A7-D050-70B9-11A1E2D445D8}"/>
              </a:ext>
            </a:extLst>
          </p:cNvPr>
          <p:cNvSpPr>
            <a:spLocks noGrp="1"/>
          </p:cNvSpPr>
          <p:nvPr>
            <p:ph type="dt" sz="half" idx="10"/>
          </p:nvPr>
        </p:nvSpPr>
        <p:spPr/>
        <p:txBody>
          <a:bodyPr/>
          <a:lstStyle/>
          <a:p>
            <a:fld id="{E80C50CD-E178-4744-9B35-B2F624D6C5E9}" type="datetimeFigureOut">
              <a:rPr lang="en-US" smtClean="0"/>
              <a:t>12/1/2025</a:t>
            </a:fld>
            <a:endParaRPr lang="en-US"/>
          </a:p>
        </p:txBody>
      </p:sp>
      <p:sp>
        <p:nvSpPr>
          <p:cNvPr id="5" name="Footer Placeholder 4">
            <a:extLst>
              <a:ext uri="{FF2B5EF4-FFF2-40B4-BE49-F238E27FC236}">
                <a16:creationId xmlns:a16="http://schemas.microsoft.com/office/drawing/2014/main" id="{8A9A913F-AD00-C1EE-B01A-8590671C014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14FC386-B2AF-6FAD-D053-E22D48CD7285}"/>
              </a:ext>
            </a:extLst>
          </p:cNvPr>
          <p:cNvSpPr>
            <a:spLocks noGrp="1"/>
          </p:cNvSpPr>
          <p:nvPr>
            <p:ph type="sldNum" sz="quarter" idx="12"/>
          </p:nvPr>
        </p:nvSpPr>
        <p:spPr/>
        <p:txBody>
          <a:bodyPr/>
          <a:lstStyle/>
          <a:p>
            <a:fld id="{148CC95F-0247-41B6-91CF-DC97C76A7088}" type="slidenum">
              <a:rPr lang="en-US" smtClean="0"/>
              <a:t>‹#›</a:t>
            </a:fld>
            <a:endParaRPr lang="en-US"/>
          </a:p>
        </p:txBody>
      </p:sp>
      <p:sp>
        <p:nvSpPr>
          <p:cNvPr id="7" name="Rectangle 6">
            <a:extLst>
              <a:ext uri="{FF2B5EF4-FFF2-40B4-BE49-F238E27FC236}">
                <a16:creationId xmlns:a16="http://schemas.microsoft.com/office/drawing/2014/main" id="{4E1E1B67-3BFF-F04B-52F4-7E724FB3B24D}"/>
              </a:ext>
            </a:extLst>
          </p:cNvPr>
          <p:cNvSpPr/>
          <p:nvPr/>
        </p:nvSpPr>
        <p:spPr>
          <a:xfrm>
            <a:off x="517870" y="508090"/>
            <a:ext cx="5021183"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503264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CE3B21-CF4D-1B01-0F4E-D32C1B218B63}"/>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1FB39FF2-6858-B514-B695-58442557D0C1}"/>
              </a:ext>
            </a:extLst>
          </p:cNvPr>
          <p:cNvSpPr>
            <a:spLocks noGrp="1"/>
          </p:cNvSpPr>
          <p:nvPr>
            <p:ph sz="half" idx="1"/>
          </p:nvPr>
        </p:nvSpPr>
        <p:spPr>
          <a:xfrm>
            <a:off x="521208" y="2578608"/>
            <a:ext cx="5166360" cy="37673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FA30130-974D-B91D-5B93-EC52AABDB5B0}"/>
              </a:ext>
            </a:extLst>
          </p:cNvPr>
          <p:cNvSpPr>
            <a:spLocks noGrp="1"/>
          </p:cNvSpPr>
          <p:nvPr>
            <p:ph sz="half" idx="2"/>
          </p:nvPr>
        </p:nvSpPr>
        <p:spPr>
          <a:xfrm>
            <a:off x="6519672" y="2578608"/>
            <a:ext cx="5166360" cy="37673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15BED99-6FD7-9C6B-1152-A6E42715BB79}"/>
              </a:ext>
            </a:extLst>
          </p:cNvPr>
          <p:cNvSpPr>
            <a:spLocks noGrp="1"/>
          </p:cNvSpPr>
          <p:nvPr>
            <p:ph type="dt" sz="half" idx="10"/>
          </p:nvPr>
        </p:nvSpPr>
        <p:spPr/>
        <p:txBody>
          <a:bodyPr/>
          <a:lstStyle/>
          <a:p>
            <a:fld id="{E80C50CD-E178-4744-9B35-B2F624D6C5E9}" type="datetimeFigureOut">
              <a:rPr lang="en-US" smtClean="0"/>
              <a:t>12/1/2025</a:t>
            </a:fld>
            <a:endParaRPr lang="en-US"/>
          </a:p>
        </p:txBody>
      </p:sp>
      <p:sp>
        <p:nvSpPr>
          <p:cNvPr id="6" name="Footer Placeholder 5">
            <a:extLst>
              <a:ext uri="{FF2B5EF4-FFF2-40B4-BE49-F238E27FC236}">
                <a16:creationId xmlns:a16="http://schemas.microsoft.com/office/drawing/2014/main" id="{BA253AAC-5967-2565-A715-82D3505ABF0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4B51313-69FB-E016-3CC1-62CA476ED214}"/>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29287773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B3DF9D-B849-CE37-97E4-AD37F880677F}"/>
              </a:ext>
            </a:extLst>
          </p:cNvPr>
          <p:cNvSpPr>
            <a:spLocks noGrp="1"/>
          </p:cNvSpPr>
          <p:nvPr>
            <p:ph type="title"/>
          </p:nvPr>
        </p:nvSpPr>
        <p:spPr>
          <a:xfrm>
            <a:off x="521208" y="978408"/>
            <a:ext cx="11164824" cy="1216152"/>
          </a:xfrm>
        </p:spPr>
        <p:txBody>
          <a:bodyPr/>
          <a:lstStyle/>
          <a:p>
            <a:r>
              <a:rPr lang="en-US"/>
              <a:t>Click to edit Master title style</a:t>
            </a:r>
          </a:p>
        </p:txBody>
      </p:sp>
      <p:sp>
        <p:nvSpPr>
          <p:cNvPr id="3" name="Text Placeholder 2">
            <a:extLst>
              <a:ext uri="{FF2B5EF4-FFF2-40B4-BE49-F238E27FC236}">
                <a16:creationId xmlns:a16="http://schemas.microsoft.com/office/drawing/2014/main" id="{79D4C626-4008-960A-E601-6AA9F4BB8D8B}"/>
              </a:ext>
            </a:extLst>
          </p:cNvPr>
          <p:cNvSpPr>
            <a:spLocks noGrp="1"/>
          </p:cNvSpPr>
          <p:nvPr>
            <p:ph type="body" idx="1"/>
          </p:nvPr>
        </p:nvSpPr>
        <p:spPr>
          <a:xfrm>
            <a:off x="521208" y="2340864"/>
            <a:ext cx="5166360" cy="658368"/>
          </a:xfrm>
        </p:spPr>
        <p:txBody>
          <a:bodyPr anchor="b">
            <a:normAutofit/>
          </a:bodyPr>
          <a:lstStyle>
            <a:lvl1pPr marL="0" indent="0">
              <a:buNone/>
              <a:defRPr sz="2200" b="0" i="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806E8D6C-AC07-ED6B-2EA8-9C40A5AEA748}"/>
              </a:ext>
            </a:extLst>
          </p:cNvPr>
          <p:cNvSpPr>
            <a:spLocks noGrp="1"/>
          </p:cNvSpPr>
          <p:nvPr>
            <p:ph sz="half" idx="2"/>
          </p:nvPr>
        </p:nvSpPr>
        <p:spPr>
          <a:xfrm>
            <a:off x="521208" y="3035808"/>
            <a:ext cx="5166360" cy="331012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3C52617E-C6D9-246B-E7B7-8159DF17C0A3}"/>
              </a:ext>
            </a:extLst>
          </p:cNvPr>
          <p:cNvSpPr>
            <a:spLocks noGrp="1"/>
          </p:cNvSpPr>
          <p:nvPr>
            <p:ph type="body" sz="quarter" idx="3"/>
          </p:nvPr>
        </p:nvSpPr>
        <p:spPr>
          <a:xfrm>
            <a:off x="6519672" y="2340864"/>
            <a:ext cx="5166360" cy="658368"/>
          </a:xfrm>
        </p:spPr>
        <p:txBody>
          <a:bodyPr anchor="b">
            <a:normAutofit/>
          </a:bodyPr>
          <a:lstStyle>
            <a:lvl1pPr marL="0" indent="0">
              <a:buNone/>
              <a:defRPr sz="2200" b="0" i="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3DBC2094-7EBC-02C5-5AB5-233E63080A9C}"/>
              </a:ext>
            </a:extLst>
          </p:cNvPr>
          <p:cNvSpPr>
            <a:spLocks noGrp="1"/>
          </p:cNvSpPr>
          <p:nvPr>
            <p:ph sz="quarter" idx="4"/>
          </p:nvPr>
        </p:nvSpPr>
        <p:spPr>
          <a:xfrm>
            <a:off x="6519672" y="3035808"/>
            <a:ext cx="5166360" cy="331012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23010BD2-59B4-FD2E-3C5E-C83AE6003985}"/>
              </a:ext>
            </a:extLst>
          </p:cNvPr>
          <p:cNvSpPr>
            <a:spLocks noGrp="1"/>
          </p:cNvSpPr>
          <p:nvPr>
            <p:ph type="dt" sz="half" idx="10"/>
          </p:nvPr>
        </p:nvSpPr>
        <p:spPr/>
        <p:txBody>
          <a:bodyPr/>
          <a:lstStyle/>
          <a:p>
            <a:fld id="{E80C50CD-E178-4744-9B35-B2F624D6C5E9}" type="datetimeFigureOut">
              <a:rPr lang="en-US" smtClean="0"/>
              <a:t>12/1/2025</a:t>
            </a:fld>
            <a:endParaRPr lang="en-US"/>
          </a:p>
        </p:txBody>
      </p:sp>
      <p:sp>
        <p:nvSpPr>
          <p:cNvPr id="8" name="Footer Placeholder 7">
            <a:extLst>
              <a:ext uri="{FF2B5EF4-FFF2-40B4-BE49-F238E27FC236}">
                <a16:creationId xmlns:a16="http://schemas.microsoft.com/office/drawing/2014/main" id="{E72B35C4-A654-7759-BDA0-94D9D1A2166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55F4347-2EC0-CA6E-2637-8048456D7ECB}"/>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17120100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34716D-52F2-C7FB-83B1-2DA1AD375EAE}"/>
              </a:ext>
            </a:extLst>
          </p:cNvPr>
          <p:cNvSpPr>
            <a:spLocks noGrp="1"/>
          </p:cNvSpPr>
          <p:nvPr>
            <p:ph type="title"/>
          </p:nvPr>
        </p:nvSpPr>
        <p:spPr/>
        <p:txBody>
          <a:bodyPr/>
          <a:lstStyle/>
          <a:p>
            <a:r>
              <a:rPr lang="en-US" dirty="0"/>
              <a:t>Click to edit Master title style</a:t>
            </a:r>
          </a:p>
        </p:txBody>
      </p:sp>
      <p:sp>
        <p:nvSpPr>
          <p:cNvPr id="3" name="Date Placeholder 2">
            <a:extLst>
              <a:ext uri="{FF2B5EF4-FFF2-40B4-BE49-F238E27FC236}">
                <a16:creationId xmlns:a16="http://schemas.microsoft.com/office/drawing/2014/main" id="{56F4A371-AC27-6A28-32E6-74A28371BF55}"/>
              </a:ext>
            </a:extLst>
          </p:cNvPr>
          <p:cNvSpPr>
            <a:spLocks noGrp="1"/>
          </p:cNvSpPr>
          <p:nvPr>
            <p:ph type="dt" sz="half" idx="10"/>
          </p:nvPr>
        </p:nvSpPr>
        <p:spPr/>
        <p:txBody>
          <a:bodyPr/>
          <a:lstStyle/>
          <a:p>
            <a:fld id="{E80C50CD-E178-4744-9B35-B2F624D6C5E9}" type="datetimeFigureOut">
              <a:rPr lang="en-US" smtClean="0"/>
              <a:t>12/1/2025</a:t>
            </a:fld>
            <a:endParaRPr lang="en-US"/>
          </a:p>
        </p:txBody>
      </p:sp>
      <p:sp>
        <p:nvSpPr>
          <p:cNvPr id="4" name="Footer Placeholder 3">
            <a:extLst>
              <a:ext uri="{FF2B5EF4-FFF2-40B4-BE49-F238E27FC236}">
                <a16:creationId xmlns:a16="http://schemas.microsoft.com/office/drawing/2014/main" id="{D155941A-A24E-885D-E894-0326F4C4004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9D5E5B4-971F-FF6A-1B07-A5C85370552D}"/>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21568732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99F431F-E6DC-4137-3092-A30A0A3628EC}"/>
              </a:ext>
            </a:extLst>
          </p:cNvPr>
          <p:cNvSpPr>
            <a:spLocks noGrp="1"/>
          </p:cNvSpPr>
          <p:nvPr>
            <p:ph type="dt" sz="half" idx="10"/>
          </p:nvPr>
        </p:nvSpPr>
        <p:spPr/>
        <p:txBody>
          <a:bodyPr/>
          <a:lstStyle/>
          <a:p>
            <a:fld id="{E80C50CD-E178-4744-9B35-B2F624D6C5E9}" type="datetimeFigureOut">
              <a:rPr lang="en-US" smtClean="0"/>
              <a:t>12/1/2025</a:t>
            </a:fld>
            <a:endParaRPr lang="en-US"/>
          </a:p>
        </p:txBody>
      </p:sp>
      <p:sp>
        <p:nvSpPr>
          <p:cNvPr id="3" name="Footer Placeholder 2">
            <a:extLst>
              <a:ext uri="{FF2B5EF4-FFF2-40B4-BE49-F238E27FC236}">
                <a16:creationId xmlns:a16="http://schemas.microsoft.com/office/drawing/2014/main" id="{06AC814B-67B4-C70F-FA51-6205D5E2CB8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1EAA9C9-D895-DD20-1089-EA75EA428951}"/>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8234770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B50562-884C-9053-70C1-3B72A0B45EA6}"/>
              </a:ext>
            </a:extLst>
          </p:cNvPr>
          <p:cNvSpPr>
            <a:spLocks noGrp="1"/>
          </p:cNvSpPr>
          <p:nvPr>
            <p:ph type="title"/>
          </p:nvPr>
        </p:nvSpPr>
        <p:spPr>
          <a:xfrm>
            <a:off x="521208" y="978408"/>
            <a:ext cx="5020056" cy="2459736"/>
          </a:xfrm>
        </p:spPr>
        <p:txBody>
          <a:bodyPr anchor="t">
            <a:noAutofit/>
          </a:bodyPr>
          <a:lstStyle>
            <a:lvl1pPr>
              <a:defRPr sz="4400"/>
            </a:lvl1pPr>
          </a:lstStyle>
          <a:p>
            <a:r>
              <a:rPr lang="en-US" dirty="0"/>
              <a:t>Click to edit Master title style</a:t>
            </a:r>
          </a:p>
        </p:txBody>
      </p:sp>
      <p:sp>
        <p:nvSpPr>
          <p:cNvPr id="3" name="Content Placeholder 2">
            <a:extLst>
              <a:ext uri="{FF2B5EF4-FFF2-40B4-BE49-F238E27FC236}">
                <a16:creationId xmlns:a16="http://schemas.microsoft.com/office/drawing/2014/main" id="{0318F509-68F0-39D5-1A8B-CE246715AE46}"/>
              </a:ext>
            </a:extLst>
          </p:cNvPr>
          <p:cNvSpPr>
            <a:spLocks noGrp="1"/>
          </p:cNvSpPr>
          <p:nvPr>
            <p:ph idx="1"/>
          </p:nvPr>
        </p:nvSpPr>
        <p:spPr>
          <a:xfrm>
            <a:off x="6519672" y="987424"/>
            <a:ext cx="5166360" cy="5358384"/>
          </a:xfrm>
        </p:spPr>
        <p:txBody>
          <a:bodyPr>
            <a:normAutofit/>
          </a:bodyPr>
          <a:lstStyle>
            <a:lvl1pPr>
              <a:defRPr sz="2000"/>
            </a:lvl1pPr>
            <a:lvl2pPr>
              <a:defRPr sz="1800"/>
            </a:lvl2pPr>
            <a:lvl3pPr>
              <a:defRPr sz="1600"/>
            </a:lvl3pPr>
            <a:lvl4pPr>
              <a:defRPr sz="1400"/>
            </a:lvl4pPr>
            <a:lvl5pPr>
              <a:defRPr sz="14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F158E37C-27CE-3A84-FC74-BDCCD8A9A3EC}"/>
              </a:ext>
            </a:extLst>
          </p:cNvPr>
          <p:cNvSpPr>
            <a:spLocks noGrp="1"/>
          </p:cNvSpPr>
          <p:nvPr>
            <p:ph type="body" sz="half" idx="2"/>
          </p:nvPr>
        </p:nvSpPr>
        <p:spPr>
          <a:xfrm>
            <a:off x="521208" y="3575304"/>
            <a:ext cx="5020056" cy="2770632"/>
          </a:xfrm>
        </p:spPr>
        <p:txBody>
          <a:bodyPr>
            <a:normAutofit/>
          </a:bodyPr>
          <a:lstStyle>
            <a:lvl1pPr marL="0" indent="0">
              <a:buNone/>
              <a:defRPr sz="2200" i="1"/>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2A95F79-E23E-11D2-40BF-66ED340195DB}"/>
              </a:ext>
            </a:extLst>
          </p:cNvPr>
          <p:cNvSpPr>
            <a:spLocks noGrp="1"/>
          </p:cNvSpPr>
          <p:nvPr>
            <p:ph type="dt" sz="half" idx="10"/>
          </p:nvPr>
        </p:nvSpPr>
        <p:spPr/>
        <p:txBody>
          <a:bodyPr/>
          <a:lstStyle/>
          <a:p>
            <a:fld id="{E80C50CD-E178-4744-9B35-B2F624D6C5E9}" type="datetimeFigureOut">
              <a:rPr lang="en-US" smtClean="0"/>
              <a:t>12/1/2025</a:t>
            </a:fld>
            <a:endParaRPr lang="en-US"/>
          </a:p>
        </p:txBody>
      </p:sp>
      <p:sp>
        <p:nvSpPr>
          <p:cNvPr id="6" name="Footer Placeholder 5">
            <a:extLst>
              <a:ext uri="{FF2B5EF4-FFF2-40B4-BE49-F238E27FC236}">
                <a16:creationId xmlns:a16="http://schemas.microsoft.com/office/drawing/2014/main" id="{4457F7FC-06F3-3D89-5D1A-4EC4B1D7355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554ACD5-6E0B-5713-DC9A-41E9D62AB12D}"/>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23579600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5B2D45-7CDB-D38C-2AAE-273F797674E1}"/>
              </a:ext>
            </a:extLst>
          </p:cNvPr>
          <p:cNvSpPr>
            <a:spLocks noGrp="1"/>
          </p:cNvSpPr>
          <p:nvPr>
            <p:ph type="title"/>
          </p:nvPr>
        </p:nvSpPr>
        <p:spPr>
          <a:xfrm>
            <a:off x="521208" y="978408"/>
            <a:ext cx="5020056" cy="2459736"/>
          </a:xfrm>
        </p:spPr>
        <p:txBody>
          <a:bodyPr anchor="t">
            <a:noAutofit/>
          </a:bodyPr>
          <a:lstStyle>
            <a:lvl1pPr>
              <a:defRPr sz="4400"/>
            </a:lvl1pPr>
          </a:lstStyle>
          <a:p>
            <a:r>
              <a:rPr lang="en-US" dirty="0"/>
              <a:t>Click to edit Master title style</a:t>
            </a:r>
          </a:p>
        </p:txBody>
      </p:sp>
      <p:sp>
        <p:nvSpPr>
          <p:cNvPr id="3" name="Picture Placeholder 2">
            <a:extLst>
              <a:ext uri="{FF2B5EF4-FFF2-40B4-BE49-F238E27FC236}">
                <a16:creationId xmlns:a16="http://schemas.microsoft.com/office/drawing/2014/main" id="{CCBF0855-1744-56E4-B115-3A3C5EA7834B}"/>
              </a:ext>
            </a:extLst>
          </p:cNvPr>
          <p:cNvSpPr>
            <a:spLocks noGrp="1"/>
          </p:cNvSpPr>
          <p:nvPr>
            <p:ph type="pic" idx="1"/>
          </p:nvPr>
        </p:nvSpPr>
        <p:spPr>
          <a:xfrm>
            <a:off x="6519672" y="987424"/>
            <a:ext cx="5166360" cy="535838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85E8A1D-28AE-4A19-BD96-401D4822A53D}"/>
              </a:ext>
            </a:extLst>
          </p:cNvPr>
          <p:cNvSpPr>
            <a:spLocks noGrp="1"/>
          </p:cNvSpPr>
          <p:nvPr>
            <p:ph type="body" sz="half" idx="2"/>
          </p:nvPr>
        </p:nvSpPr>
        <p:spPr>
          <a:xfrm>
            <a:off x="521208" y="3575304"/>
            <a:ext cx="5020056" cy="2770632"/>
          </a:xfrm>
        </p:spPr>
        <p:txBody>
          <a:bodyPr>
            <a:normAutofit/>
          </a:bodyPr>
          <a:lstStyle>
            <a:lvl1pPr marL="0" indent="0">
              <a:buNone/>
              <a:defRPr sz="2200" i="1"/>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7327DDB-CE95-4C89-DFC5-7DDBFC24E89C}"/>
              </a:ext>
            </a:extLst>
          </p:cNvPr>
          <p:cNvSpPr>
            <a:spLocks noGrp="1"/>
          </p:cNvSpPr>
          <p:nvPr>
            <p:ph type="dt" sz="half" idx="10"/>
          </p:nvPr>
        </p:nvSpPr>
        <p:spPr/>
        <p:txBody>
          <a:bodyPr/>
          <a:lstStyle/>
          <a:p>
            <a:fld id="{E80C50CD-E178-4744-9B35-B2F624D6C5E9}" type="datetimeFigureOut">
              <a:rPr lang="en-US" smtClean="0"/>
              <a:t>12/1/2025</a:t>
            </a:fld>
            <a:endParaRPr lang="en-US"/>
          </a:p>
        </p:txBody>
      </p:sp>
      <p:sp>
        <p:nvSpPr>
          <p:cNvPr id="6" name="Footer Placeholder 5">
            <a:extLst>
              <a:ext uri="{FF2B5EF4-FFF2-40B4-BE49-F238E27FC236}">
                <a16:creationId xmlns:a16="http://schemas.microsoft.com/office/drawing/2014/main" id="{0522C835-F3B5-943C-FFC4-D5BA9666AF3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8709891-6E3C-ADED-01DD-15FCED37AF4A}"/>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27598507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C36771-E72D-FAD8-771E-3E196DD2E1C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B5BB827-257D-60D9-792F-E6959004297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CE5D2E7-C856-F78A-E88C-375474982A5F}"/>
              </a:ext>
            </a:extLst>
          </p:cNvPr>
          <p:cNvSpPr>
            <a:spLocks noGrp="1"/>
          </p:cNvSpPr>
          <p:nvPr>
            <p:ph type="dt" sz="half" idx="10"/>
          </p:nvPr>
        </p:nvSpPr>
        <p:spPr/>
        <p:txBody>
          <a:bodyPr/>
          <a:lstStyle/>
          <a:p>
            <a:fld id="{E80C50CD-E178-4744-9B35-B2F624D6C5E9}" type="datetimeFigureOut">
              <a:rPr lang="en-US" smtClean="0"/>
              <a:t>12/1/2025</a:t>
            </a:fld>
            <a:endParaRPr lang="en-US"/>
          </a:p>
        </p:txBody>
      </p:sp>
      <p:sp>
        <p:nvSpPr>
          <p:cNvPr id="5" name="Footer Placeholder 4">
            <a:extLst>
              <a:ext uri="{FF2B5EF4-FFF2-40B4-BE49-F238E27FC236}">
                <a16:creationId xmlns:a16="http://schemas.microsoft.com/office/drawing/2014/main" id="{0FDAB289-9591-51C9-9E3C-B6F2ACC6A62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7FE037C-790D-7442-8E43-D2740B3952B1}"/>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14633692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2635151-A38B-3766-6A32-FF1DF7687D9F}"/>
              </a:ext>
            </a:extLst>
          </p:cNvPr>
          <p:cNvSpPr>
            <a:spLocks noGrp="1"/>
          </p:cNvSpPr>
          <p:nvPr>
            <p:ph type="title" orient="vert"/>
          </p:nvPr>
        </p:nvSpPr>
        <p:spPr>
          <a:xfrm>
            <a:off x="8659368" y="978408"/>
            <a:ext cx="2551176" cy="5367528"/>
          </a:xfrm>
        </p:spPr>
        <p:txBody>
          <a:bodyPr vert="eaVert"/>
          <a:lstStyle/>
          <a:p>
            <a:r>
              <a:rPr lang="en-US" dirty="0"/>
              <a:t>Click to edit Master title style</a:t>
            </a:r>
          </a:p>
        </p:txBody>
      </p:sp>
      <p:sp>
        <p:nvSpPr>
          <p:cNvPr id="3" name="Vertical Text Placeholder 2">
            <a:extLst>
              <a:ext uri="{FF2B5EF4-FFF2-40B4-BE49-F238E27FC236}">
                <a16:creationId xmlns:a16="http://schemas.microsoft.com/office/drawing/2014/main" id="{33D132D1-640C-FB9A-AD6F-D845738349F6}"/>
              </a:ext>
            </a:extLst>
          </p:cNvPr>
          <p:cNvSpPr>
            <a:spLocks noGrp="1"/>
          </p:cNvSpPr>
          <p:nvPr>
            <p:ph type="body" orient="vert" idx="1"/>
          </p:nvPr>
        </p:nvSpPr>
        <p:spPr>
          <a:xfrm>
            <a:off x="521208" y="978408"/>
            <a:ext cx="8010144" cy="5367528"/>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6955F80A-4BA7-8ED8-9A62-B92194272620}"/>
              </a:ext>
            </a:extLst>
          </p:cNvPr>
          <p:cNvSpPr>
            <a:spLocks noGrp="1"/>
          </p:cNvSpPr>
          <p:nvPr>
            <p:ph type="dt" sz="half" idx="10"/>
          </p:nvPr>
        </p:nvSpPr>
        <p:spPr/>
        <p:txBody>
          <a:bodyPr/>
          <a:lstStyle/>
          <a:p>
            <a:fld id="{E80C50CD-E178-4744-9B35-B2F624D6C5E9}" type="datetimeFigureOut">
              <a:rPr lang="en-US" smtClean="0"/>
              <a:t>12/1/2025</a:t>
            </a:fld>
            <a:endParaRPr lang="en-US"/>
          </a:p>
        </p:txBody>
      </p:sp>
      <p:sp>
        <p:nvSpPr>
          <p:cNvPr id="5" name="Footer Placeholder 4">
            <a:extLst>
              <a:ext uri="{FF2B5EF4-FFF2-40B4-BE49-F238E27FC236}">
                <a16:creationId xmlns:a16="http://schemas.microsoft.com/office/drawing/2014/main" id="{85E38113-D55A-A1A0-D1FE-53C95860FB6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8919DDB-F89D-4B2D-21A2-82AF1D1023E4}"/>
              </a:ext>
            </a:extLst>
          </p:cNvPr>
          <p:cNvSpPr>
            <a:spLocks noGrp="1"/>
          </p:cNvSpPr>
          <p:nvPr>
            <p:ph type="sldNum" sz="quarter" idx="12"/>
          </p:nvPr>
        </p:nvSpPr>
        <p:spPr/>
        <p:txBody>
          <a:bodyPr/>
          <a:lstStyle/>
          <a:p>
            <a:fld id="{148CC95F-0247-41B6-91CF-DC97C76A7088}" type="slidenum">
              <a:rPr lang="en-US" smtClean="0"/>
              <a:t>‹#›</a:t>
            </a:fld>
            <a:endParaRPr lang="en-US"/>
          </a:p>
        </p:txBody>
      </p:sp>
      <p:sp>
        <p:nvSpPr>
          <p:cNvPr id="7" name="Rectangle 6">
            <a:extLst>
              <a:ext uri="{FF2B5EF4-FFF2-40B4-BE49-F238E27FC236}">
                <a16:creationId xmlns:a16="http://schemas.microsoft.com/office/drawing/2014/main" id="{262572D8-D485-1DB1-34B1-C35C61C89940}"/>
              </a:ext>
            </a:extLst>
          </p:cNvPr>
          <p:cNvSpPr/>
          <p:nvPr/>
        </p:nvSpPr>
        <p:spPr>
          <a:xfrm rot="5400000">
            <a:off x="8936623" y="3585018"/>
            <a:ext cx="5325734"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327037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31A28D7-6581-4956-AAE3-9104804DF55B}"/>
              </a:ext>
            </a:extLst>
          </p:cNvPr>
          <p:cNvSpPr>
            <a:spLocks noGrp="1"/>
          </p:cNvSpPr>
          <p:nvPr>
            <p:ph type="title"/>
          </p:nvPr>
        </p:nvSpPr>
        <p:spPr>
          <a:xfrm>
            <a:off x="521208" y="978408"/>
            <a:ext cx="11155680" cy="1463040"/>
          </a:xfrm>
          <a:prstGeom prst="rect">
            <a:avLst/>
          </a:prstGeom>
        </p:spPr>
        <p:txBody>
          <a:bodyPr vert="horz" lIns="91440" tIns="45720" rIns="91440" bIns="45720" rtlCol="0" anchor="t">
            <a:normAutofit/>
          </a:bodyPr>
          <a:lstStyle/>
          <a:p>
            <a:r>
              <a:rPr lang="en-US" dirty="0"/>
              <a:t>Click to edit Master title style</a:t>
            </a:r>
          </a:p>
        </p:txBody>
      </p:sp>
      <p:sp>
        <p:nvSpPr>
          <p:cNvPr id="3" name="Text Placeholder 2">
            <a:extLst>
              <a:ext uri="{FF2B5EF4-FFF2-40B4-BE49-F238E27FC236}">
                <a16:creationId xmlns:a16="http://schemas.microsoft.com/office/drawing/2014/main" id="{F3CFCCA4-57A4-08A1-FC45-D2BBA66FABFA}"/>
              </a:ext>
            </a:extLst>
          </p:cNvPr>
          <p:cNvSpPr>
            <a:spLocks noGrp="1"/>
          </p:cNvSpPr>
          <p:nvPr>
            <p:ph type="body" idx="1"/>
          </p:nvPr>
        </p:nvSpPr>
        <p:spPr>
          <a:xfrm>
            <a:off x="521208" y="2578608"/>
            <a:ext cx="11155680" cy="376732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B0FAA0F4-2442-8D45-3C3D-1B8F55C8683A}"/>
              </a:ext>
            </a:extLst>
          </p:cNvPr>
          <p:cNvSpPr>
            <a:spLocks noGrp="1"/>
          </p:cNvSpPr>
          <p:nvPr>
            <p:ph type="dt" sz="half" idx="2"/>
          </p:nvPr>
        </p:nvSpPr>
        <p:spPr>
          <a:xfrm>
            <a:off x="521208" y="6419088"/>
            <a:ext cx="2743200" cy="365125"/>
          </a:xfrm>
          <a:prstGeom prst="rect">
            <a:avLst/>
          </a:prstGeom>
        </p:spPr>
        <p:txBody>
          <a:bodyPr vert="horz" lIns="91440" tIns="45720" rIns="91440" bIns="45720" rtlCol="0" anchor="ctr"/>
          <a:lstStyle>
            <a:lvl1pPr algn="l">
              <a:defRPr sz="900">
                <a:solidFill>
                  <a:schemeClr val="tx1"/>
                </a:solidFill>
              </a:defRPr>
            </a:lvl1pPr>
          </a:lstStyle>
          <a:p>
            <a:fld id="{E80C50CD-E178-4744-9B35-B2F624D6C5E9}" type="datetimeFigureOut">
              <a:rPr lang="en-US" smtClean="0"/>
              <a:pPr/>
              <a:t>12/1/2025</a:t>
            </a:fld>
            <a:endParaRPr lang="en-US"/>
          </a:p>
        </p:txBody>
      </p:sp>
      <p:sp>
        <p:nvSpPr>
          <p:cNvPr id="5" name="Footer Placeholder 4">
            <a:extLst>
              <a:ext uri="{FF2B5EF4-FFF2-40B4-BE49-F238E27FC236}">
                <a16:creationId xmlns:a16="http://schemas.microsoft.com/office/drawing/2014/main" id="{9E03785E-FB42-1D54-92AC-D0A61A8FABD4}"/>
              </a:ext>
            </a:extLst>
          </p:cNvPr>
          <p:cNvSpPr>
            <a:spLocks noGrp="1"/>
          </p:cNvSpPr>
          <p:nvPr>
            <p:ph type="ftr" sz="quarter" idx="3"/>
          </p:nvPr>
        </p:nvSpPr>
        <p:spPr>
          <a:xfrm>
            <a:off x="521208" y="100584"/>
            <a:ext cx="4114800" cy="365125"/>
          </a:xfrm>
          <a:prstGeom prst="rect">
            <a:avLst/>
          </a:prstGeom>
        </p:spPr>
        <p:txBody>
          <a:bodyPr vert="horz" lIns="91440" tIns="45720" rIns="91440" bIns="45720" rtlCol="0" anchor="ctr"/>
          <a:lstStyle>
            <a:lvl1pPr algn="l">
              <a:defRPr sz="90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BCC9CF34-1274-DB45-4809-90E5D244A9AE}"/>
              </a:ext>
            </a:extLst>
          </p:cNvPr>
          <p:cNvSpPr>
            <a:spLocks noGrp="1"/>
          </p:cNvSpPr>
          <p:nvPr>
            <p:ph type="sldNum" sz="quarter" idx="4"/>
          </p:nvPr>
        </p:nvSpPr>
        <p:spPr>
          <a:xfrm>
            <a:off x="11457432" y="6419088"/>
            <a:ext cx="640080" cy="365125"/>
          </a:xfrm>
          <a:prstGeom prst="rect">
            <a:avLst/>
          </a:prstGeom>
        </p:spPr>
        <p:txBody>
          <a:bodyPr vert="horz" lIns="91440" tIns="45720" rIns="91440" bIns="45720" rtlCol="0" anchor="ctr"/>
          <a:lstStyle>
            <a:lvl1pPr algn="r">
              <a:defRPr sz="900">
                <a:solidFill>
                  <a:schemeClr val="tx1"/>
                </a:solidFill>
              </a:defRPr>
            </a:lvl1pPr>
          </a:lstStyle>
          <a:p>
            <a:fld id="{148CC95F-0247-41B6-91CF-DC97C76A7088}" type="slidenum">
              <a:rPr lang="en-US" smtClean="0"/>
              <a:pPr/>
              <a:t>‹#›</a:t>
            </a:fld>
            <a:endParaRPr lang="en-US"/>
          </a:p>
        </p:txBody>
      </p:sp>
      <p:sp>
        <p:nvSpPr>
          <p:cNvPr id="7" name="Freeform: Shape 6">
            <a:extLst>
              <a:ext uri="{FF2B5EF4-FFF2-40B4-BE49-F238E27FC236}">
                <a16:creationId xmlns:a16="http://schemas.microsoft.com/office/drawing/2014/main" id="{774A975B-A886-5202-0489-6965514A0D14}"/>
              </a:ext>
              <a:ext uri="{C183D7F6-B498-43B3-948B-1728B52AA6E4}">
                <adec:decorative xmlns:adec="http://schemas.microsoft.com/office/drawing/2017/decorative" val="1"/>
              </a:ext>
            </a:extLst>
          </p:cNvPr>
          <p:cNvSpPr/>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2866281256"/>
      </p:ext>
    </p:extLst>
  </p:cSld>
  <p:clrMap bg1="lt1" tx1="dk1" bg2="lt2" tx2="dk2" accent1="accent1" accent2="accent2" accent3="accent3" accent4="accent4" accent5="accent5" accent6="accent6" hlink="hlink" folHlink="folHlink"/>
  <p:sldLayoutIdLst>
    <p:sldLayoutId id="2147483671" r:id="rId1"/>
    <p:sldLayoutId id="2147483670" r:id="rId2"/>
    <p:sldLayoutId id="2147483669" r:id="rId3"/>
    <p:sldLayoutId id="2147483668" r:id="rId4"/>
    <p:sldLayoutId id="2147483667" r:id="rId5"/>
    <p:sldLayoutId id="2147483666" r:id="rId6"/>
    <p:sldLayoutId id="2147483665" r:id="rId7"/>
    <p:sldLayoutId id="2147483664" r:id="rId8"/>
    <p:sldLayoutId id="2147483663" r:id="rId9"/>
    <p:sldLayoutId id="2147483662" r:id="rId10"/>
    <p:sldLayoutId id="2147483661" r:id="rId11"/>
  </p:sldLayoutIdLst>
  <p:txStyles>
    <p:titleStyle>
      <a:lvl1pPr algn="l" defTabSz="914400" rtl="0" eaLnBrk="1" latinLnBrk="0" hangingPunct="1">
        <a:lnSpc>
          <a:spcPct val="100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1.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hyperlink" Target="https://dspy.ai/" TargetMode="Externa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E20BB609-EF92-42DB-836C-0699A590B5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 name="Video 3" descr="Math And Science Formulas">
            <a:extLst>
              <a:ext uri="{FF2B5EF4-FFF2-40B4-BE49-F238E27FC236}">
                <a16:creationId xmlns:a16="http://schemas.microsoft.com/office/drawing/2014/main" id="{54088695-C806-98F9-E85C-DC57B84AF672}"/>
              </a:ext>
            </a:extLst>
          </p:cNvPr>
          <p:cNvPicPr>
            <a:picLocks noChangeAspect="1"/>
          </p:cNvPicPr>
          <p:nvPr>
            <a:videoFile r:link="rId2"/>
            <p:extLst>
              <p:ext uri="{DAA4B4D4-6D71-4841-9C94-3DE7FCFB9230}">
                <p14:media xmlns:p14="http://schemas.microsoft.com/office/powerpoint/2010/main" r:embed="rId1"/>
              </p:ext>
            </p:extLst>
          </p:nvPr>
        </p:nvPicPr>
        <p:blipFill>
          <a:blip r:embed="rId5"/>
          <a:srcRect t="259" r="-1" b="-1"/>
          <a:stretch>
            <a:fillRect/>
          </a:stretch>
        </p:blipFill>
        <p:spPr>
          <a:xfrm>
            <a:off x="20" y="10"/>
            <a:ext cx="12188932" cy="6857990"/>
          </a:xfrm>
          <a:prstGeom prst="rect">
            <a:avLst/>
          </a:prstGeom>
        </p:spPr>
      </p:pic>
      <p:sp>
        <p:nvSpPr>
          <p:cNvPr id="11" name="Rectangle 10">
            <a:extLst>
              <a:ext uri="{FF2B5EF4-FFF2-40B4-BE49-F238E27FC236}">
                <a16:creationId xmlns:a16="http://schemas.microsoft.com/office/drawing/2014/main" id="{ECF0998E-D577-43EA-A7B8-E3EC67F759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389239" y="-389238"/>
            <a:ext cx="6858000" cy="7636476"/>
          </a:xfrm>
          <a:prstGeom prst="rect">
            <a:avLst/>
          </a:prstGeom>
          <a:gradFill>
            <a:gsLst>
              <a:gs pos="100000">
                <a:srgbClr val="000000">
                  <a:alpha val="0"/>
                </a:srgbClr>
              </a:gs>
              <a:gs pos="0">
                <a:schemeClr val="tx1"/>
              </a:gs>
              <a:gs pos="0">
                <a:srgbClr val="000000">
                  <a:alpha val="70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B2C335F7-F61C-4EB4-80F2-4B1438FE66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5021183" cy="149279"/>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E7DC364D-882B-4786-89FB-1703C1A5CF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524" y="3205874"/>
            <a:ext cx="12188952" cy="3652125"/>
          </a:xfrm>
          <a:prstGeom prst="rect">
            <a:avLst/>
          </a:prstGeom>
          <a:gradFill>
            <a:gsLst>
              <a:gs pos="100000">
                <a:srgbClr val="000000">
                  <a:alpha val="0"/>
                </a:srgbClr>
              </a:gs>
              <a:gs pos="0">
                <a:schemeClr val="tx1"/>
              </a:gs>
              <a:gs pos="0">
                <a:srgbClr val="000000">
                  <a:alpha val="70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E79CFCC-90E3-D121-082A-229CC0202061}"/>
              </a:ext>
            </a:extLst>
          </p:cNvPr>
          <p:cNvSpPr>
            <a:spLocks noGrp="1"/>
          </p:cNvSpPr>
          <p:nvPr>
            <p:ph type="ctrTitle"/>
          </p:nvPr>
        </p:nvSpPr>
        <p:spPr>
          <a:xfrm>
            <a:off x="517870" y="978408"/>
            <a:ext cx="5021182" cy="2620670"/>
          </a:xfrm>
        </p:spPr>
        <p:txBody>
          <a:bodyPr anchor="t">
            <a:normAutofit/>
          </a:bodyPr>
          <a:lstStyle/>
          <a:p>
            <a:pPr>
              <a:lnSpc>
                <a:spcPct val="90000"/>
              </a:lnSpc>
            </a:pPr>
            <a:r>
              <a:rPr lang="en-US" sz="4700">
                <a:solidFill>
                  <a:srgbClr val="FFFFFF"/>
                </a:solidFill>
              </a:rPr>
              <a:t>Prompt Engineering &amp; In-Context Learning</a:t>
            </a:r>
          </a:p>
        </p:txBody>
      </p:sp>
      <p:sp>
        <p:nvSpPr>
          <p:cNvPr id="3" name="Subtitle 2">
            <a:extLst>
              <a:ext uri="{FF2B5EF4-FFF2-40B4-BE49-F238E27FC236}">
                <a16:creationId xmlns:a16="http://schemas.microsoft.com/office/drawing/2014/main" id="{535FABFF-3C1E-FA64-4B40-9E11D95B9403}"/>
              </a:ext>
            </a:extLst>
          </p:cNvPr>
          <p:cNvSpPr>
            <a:spLocks noGrp="1"/>
          </p:cNvSpPr>
          <p:nvPr>
            <p:ph type="subTitle" idx="1"/>
          </p:nvPr>
        </p:nvSpPr>
        <p:spPr>
          <a:xfrm>
            <a:off x="6652366" y="4108182"/>
            <a:ext cx="5040785" cy="1828799"/>
          </a:xfrm>
        </p:spPr>
        <p:txBody>
          <a:bodyPr anchor="b">
            <a:normAutofit/>
          </a:bodyPr>
          <a:lstStyle/>
          <a:p>
            <a:r>
              <a:rPr lang="en-US" i="0" dirty="0"/>
              <a:t>Programming with English: From "Magic Words" to Robust Systems</a:t>
            </a:r>
            <a:endParaRPr lang="en-US" dirty="0">
              <a:solidFill>
                <a:srgbClr val="FFFFFF"/>
              </a:solidFill>
            </a:endParaRPr>
          </a:p>
        </p:txBody>
      </p:sp>
      <p:sp>
        <p:nvSpPr>
          <p:cNvPr id="17" name="Rectangle 16">
            <a:extLst>
              <a:ext uri="{FF2B5EF4-FFF2-40B4-BE49-F238E27FC236}">
                <a16:creationId xmlns:a16="http://schemas.microsoft.com/office/drawing/2014/main" id="{F1189494-2B67-46D2-93D6-A122A09BF6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62168" y="6300289"/>
            <a:ext cx="5021183" cy="45719"/>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1951308"/>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0010"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4"/>
                    </p:tgtEl>
                  </p:cond>
                </p:stCondLst>
                <p:endSync evt="end" delay="0">
                  <p:rtn val="all"/>
                </p:endSync>
                <p:childTnLst>
                  <p:par>
                    <p:cTn id="8" fill="hold">
                      <p:stCondLst>
                        <p:cond delay="0"/>
                      </p:stCondLst>
                      <p:childTnLst>
                        <p:par>
                          <p:cTn id="9" fill="hold">
                            <p:stCondLst>
                              <p:cond delay="0"/>
                            </p:stCondLst>
                            <p:childTnLst>
                              <p:par>
                                <p:cTn id="10" presetID="2" presetClass="mediacall" presetSubtype="0" fill="hold" nodeType="clickEffect">
                                  <p:stCondLst>
                                    <p:cond delay="0"/>
                                  </p:stCondLst>
                                  <p:childTnLst>
                                    <p:cmd type="call" cmd="togglePause">
                                      <p:cBhvr>
                                        <p:cTn id="11" dur="1" fill="hold"/>
                                        <p:tgtEl>
                                          <p:spTgt spid="4"/>
                                        </p:tgtEl>
                                      </p:cBhvr>
                                    </p:cmd>
                                  </p:childTnLst>
                                </p:cTn>
                              </p:par>
                            </p:childTnLst>
                          </p:cTn>
                        </p:par>
                      </p:childTnLst>
                    </p:cTn>
                  </p:par>
                </p:childTnLst>
              </p:cTn>
              <p:nextCondLst>
                <p:cond evt="onClick" delay="0">
                  <p:tgtEl>
                    <p:spTgt spid="4"/>
                  </p:tgtEl>
                </p:cond>
              </p:nextCondLst>
            </p:seq>
            <p:video>
              <p:cMediaNode mute="1">
                <p:cTn id="12" repeatCount="indefinite" fill="hold" display="0">
                  <p:stCondLst>
                    <p:cond delay="indefinite"/>
                  </p:stCondLst>
                </p:cTn>
                <p:tgtEl>
                  <p:spTgt spid="4"/>
                </p:tgtEl>
              </p:cMediaNode>
            </p:vide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2" name="Freeform: Shape 21">
            <a:extLst>
              <a:ext uri="{FF2B5EF4-FFF2-40B4-BE49-F238E27FC236}">
                <a16:creationId xmlns:a16="http://schemas.microsoft.com/office/drawing/2014/main" id="{774A975B-A886-5202-0489-6965514A0D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4" name="Rectangle 23">
            <a:extLst>
              <a:ext uri="{FF2B5EF4-FFF2-40B4-BE49-F238E27FC236}">
                <a16:creationId xmlns:a16="http://schemas.microsoft.com/office/drawing/2014/main" id="{AA083F47-750E-A41F-1E5A-EFB054507C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5021183"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Freeform: Shape 25">
            <a:extLst>
              <a:ext uri="{FF2B5EF4-FFF2-40B4-BE49-F238E27FC236}">
                <a16:creationId xmlns:a16="http://schemas.microsoft.com/office/drawing/2014/main" id="{EA67E988-5919-57BB-C7DE-D3EAD38A30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6209925"/>
            <a:ext cx="11155680" cy="45719"/>
          </a:xfrm>
          <a:custGeom>
            <a:avLst/>
            <a:gdLst/>
            <a:ahLst/>
            <a:cxnLst/>
            <a:rect l="l" t="t" r="r" b="b"/>
            <a:pathLst>
              <a:path w="8715708" h="45719">
                <a:moveTo>
                  <a:pt x="0" y="0"/>
                </a:moveTo>
                <a:lnTo>
                  <a:pt x="3694525" y="0"/>
                </a:lnTo>
                <a:lnTo>
                  <a:pt x="5021183" y="0"/>
                </a:lnTo>
                <a:lnTo>
                  <a:pt x="8715708" y="0"/>
                </a:lnTo>
                <a:lnTo>
                  <a:pt x="8715708" y="45719"/>
                </a:lnTo>
                <a:lnTo>
                  <a:pt x="5021183" y="45719"/>
                </a:lnTo>
                <a:lnTo>
                  <a:pt x="3694525" y="45719"/>
                </a:lnTo>
                <a:lnTo>
                  <a:pt x="0" y="4571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useBgFill="1">
        <p:nvSpPr>
          <p:cNvPr id="28" name="Rectangle 27">
            <a:extLst>
              <a:ext uri="{FF2B5EF4-FFF2-40B4-BE49-F238E27FC236}">
                <a16:creationId xmlns:a16="http://schemas.microsoft.com/office/drawing/2014/main" id="{E20BB609-EF92-42DB-836C-0699A590B5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extBox 1">
            <a:extLst>
              <a:ext uri="{FF2B5EF4-FFF2-40B4-BE49-F238E27FC236}">
                <a16:creationId xmlns:a16="http://schemas.microsoft.com/office/drawing/2014/main" id="{635CDFC5-8287-E8E4-8B1F-F498D1CF70D1}"/>
              </a:ext>
            </a:extLst>
          </p:cNvPr>
          <p:cNvSpPr txBox="1"/>
          <p:nvPr/>
        </p:nvSpPr>
        <p:spPr>
          <a:xfrm>
            <a:off x="517870" y="978408"/>
            <a:ext cx="6117661" cy="3578170"/>
          </a:xfrm>
          <a:prstGeom prst="rect">
            <a:avLst/>
          </a:prstGeom>
        </p:spPr>
        <p:txBody>
          <a:bodyPr vert="horz" lIns="91440" tIns="45720" rIns="91440" bIns="45720" rtlCol="0" anchor="t">
            <a:normAutofit/>
          </a:bodyPr>
          <a:lstStyle/>
          <a:p>
            <a:pPr>
              <a:spcBef>
                <a:spcPct val="0"/>
              </a:spcBef>
              <a:spcAft>
                <a:spcPts val="600"/>
              </a:spcAft>
            </a:pPr>
            <a:r>
              <a:rPr lang="en-US" sz="6600" b="1">
                <a:latin typeface="+mj-lt"/>
                <a:ea typeface="+mj-ea"/>
                <a:cs typeface="+mj-cs"/>
              </a:rPr>
              <a:t>The New Paradigm</a:t>
            </a:r>
          </a:p>
        </p:txBody>
      </p:sp>
      <p:sp>
        <p:nvSpPr>
          <p:cNvPr id="30" name="Rectangle 29">
            <a:extLst>
              <a:ext uri="{FF2B5EF4-FFF2-40B4-BE49-F238E27FC236}">
                <a16:creationId xmlns:a16="http://schemas.microsoft.com/office/drawing/2014/main" id="{B2C335F7-F61C-4EB4-80F2-4B1438FE66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6126480"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648319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FF58D7-97D4-DB6D-6D2D-4139E5FBBD27}"/>
              </a:ext>
            </a:extLst>
          </p:cNvPr>
          <p:cNvSpPr>
            <a:spLocks noGrp="1"/>
          </p:cNvSpPr>
          <p:nvPr>
            <p:ph type="title"/>
          </p:nvPr>
        </p:nvSpPr>
        <p:spPr/>
        <p:txBody>
          <a:bodyPr/>
          <a:lstStyle/>
          <a:p>
            <a:r>
              <a:rPr lang="en-US" dirty="0"/>
              <a:t> The Mental Shift (2023 vs. 2025)</a:t>
            </a:r>
          </a:p>
        </p:txBody>
      </p:sp>
      <p:sp>
        <p:nvSpPr>
          <p:cNvPr id="3" name="Content Placeholder 2">
            <a:extLst>
              <a:ext uri="{FF2B5EF4-FFF2-40B4-BE49-F238E27FC236}">
                <a16:creationId xmlns:a16="http://schemas.microsoft.com/office/drawing/2014/main" id="{798D1F88-6697-CE58-34A0-96B4B09D76CB}"/>
              </a:ext>
            </a:extLst>
          </p:cNvPr>
          <p:cNvSpPr>
            <a:spLocks noGrp="1"/>
          </p:cNvSpPr>
          <p:nvPr>
            <p:ph idx="1"/>
          </p:nvPr>
        </p:nvSpPr>
        <p:spPr/>
        <p:txBody>
          <a:bodyPr>
            <a:normAutofit lnSpcReduction="10000"/>
          </a:bodyPr>
          <a:lstStyle/>
          <a:p>
            <a:r>
              <a:rPr lang="en-US" sz="2800" b="1" dirty="0"/>
              <a:t>2023 Mindset (The "Whisperer"):</a:t>
            </a:r>
            <a:r>
              <a:rPr lang="en-US" sz="2800" dirty="0"/>
              <a:t> "If I ask politely and use the word 'please', the AI works better." (Subjective, fragile).</a:t>
            </a:r>
          </a:p>
          <a:p>
            <a:r>
              <a:rPr lang="en-US" sz="2800" b="1" dirty="0"/>
              <a:t>2025 Mindset (The Engineer):</a:t>
            </a:r>
            <a:r>
              <a:rPr lang="en-US" sz="2800" dirty="0"/>
              <a:t> "I need to optimize the context window, structure the output schema (JSON/XML), and evaluate reliability." (Objective, robust).</a:t>
            </a:r>
          </a:p>
          <a:p>
            <a:r>
              <a:rPr lang="en-US" sz="2800" b="1" dirty="0"/>
              <a:t>Key Concept:</a:t>
            </a:r>
            <a:r>
              <a:rPr lang="en-US" sz="2800" dirty="0"/>
              <a:t> </a:t>
            </a:r>
            <a:r>
              <a:rPr lang="en-US" sz="2800" b="1" dirty="0"/>
              <a:t>In-Context Learning.</a:t>
            </a:r>
            <a:r>
              <a:rPr lang="en-US" sz="2800" dirty="0"/>
              <a:t> The model isn't "learning" permanently (like fine-tuning); it is "learning" </a:t>
            </a:r>
            <a:r>
              <a:rPr lang="en-US" sz="2800" b="1" dirty="0"/>
              <a:t>temporarily</a:t>
            </a:r>
            <a:r>
              <a:rPr lang="en-US" sz="2800" dirty="0"/>
              <a:t> from the data you put in the prompt.</a:t>
            </a:r>
          </a:p>
          <a:p>
            <a:endParaRPr lang="en-US" sz="2800" dirty="0"/>
          </a:p>
        </p:txBody>
      </p:sp>
    </p:spTree>
    <p:extLst>
      <p:ext uri="{BB962C8B-B14F-4D97-AF65-F5344CB8AC3E}">
        <p14:creationId xmlns:p14="http://schemas.microsoft.com/office/powerpoint/2010/main" val="3085404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FCA973-5A43-FECC-3CEF-D120DDDC85A2}"/>
              </a:ext>
            </a:extLst>
          </p:cNvPr>
          <p:cNvSpPr>
            <a:spLocks noGrp="1"/>
          </p:cNvSpPr>
          <p:nvPr>
            <p:ph type="title"/>
          </p:nvPr>
        </p:nvSpPr>
        <p:spPr/>
        <p:txBody>
          <a:bodyPr/>
          <a:lstStyle/>
          <a:p>
            <a:r>
              <a:rPr lang="en-US" dirty="0"/>
              <a:t> Prompt Engineering is "Soft Programming"</a:t>
            </a:r>
          </a:p>
        </p:txBody>
      </p:sp>
      <p:sp>
        <p:nvSpPr>
          <p:cNvPr id="3" name="Content Placeholder 2">
            <a:extLst>
              <a:ext uri="{FF2B5EF4-FFF2-40B4-BE49-F238E27FC236}">
                <a16:creationId xmlns:a16="http://schemas.microsoft.com/office/drawing/2014/main" id="{D596B075-D17D-A009-7D2B-464ACC0A8044}"/>
              </a:ext>
            </a:extLst>
          </p:cNvPr>
          <p:cNvSpPr>
            <a:spLocks noGrp="1"/>
          </p:cNvSpPr>
          <p:nvPr>
            <p:ph idx="1"/>
          </p:nvPr>
        </p:nvSpPr>
        <p:spPr/>
        <p:txBody>
          <a:bodyPr>
            <a:normAutofit lnSpcReduction="10000"/>
          </a:bodyPr>
          <a:lstStyle/>
          <a:p>
            <a:r>
              <a:rPr lang="en-US" sz="2800" b="1" dirty="0"/>
              <a:t>Analogy:</a:t>
            </a:r>
            <a:endParaRPr lang="en-US" sz="2800" dirty="0"/>
          </a:p>
          <a:p>
            <a:pPr lvl="1"/>
            <a:r>
              <a:rPr lang="en-US" sz="2400" b="1" dirty="0"/>
              <a:t>Variables</a:t>
            </a:r>
            <a:r>
              <a:rPr lang="en-US" sz="2400" dirty="0"/>
              <a:t> = The Context (Documents, User History).</a:t>
            </a:r>
          </a:p>
          <a:p>
            <a:pPr lvl="1"/>
            <a:r>
              <a:rPr lang="en-US" sz="2400" b="1" dirty="0"/>
              <a:t>Functions</a:t>
            </a:r>
            <a:r>
              <a:rPr lang="en-US" sz="2400" dirty="0"/>
              <a:t> = The Instructions ("Summarize this", "Extract entities").</a:t>
            </a:r>
          </a:p>
          <a:p>
            <a:pPr lvl="1"/>
            <a:r>
              <a:rPr lang="en-US" sz="2400" b="1" dirty="0"/>
              <a:t>Return Type</a:t>
            </a:r>
            <a:r>
              <a:rPr lang="en-US" sz="2400" dirty="0"/>
              <a:t> = The Output Format (JSON, List, Markdown).</a:t>
            </a:r>
          </a:p>
          <a:p>
            <a:r>
              <a:rPr lang="en-US" sz="2800" b="1" dirty="0"/>
              <a:t>The Code:</a:t>
            </a:r>
            <a:r>
              <a:rPr lang="en-US" sz="2800" dirty="0"/>
              <a:t> In standard programming, you write function(x). In Prompt Engineering, you write:</a:t>
            </a:r>
          </a:p>
          <a:p>
            <a:r>
              <a:rPr lang="en-US" sz="2800" dirty="0"/>
              <a:t>"You are a function that takes 'x' and returns 'y'. Do not output anything else."</a:t>
            </a:r>
          </a:p>
          <a:p>
            <a:endParaRPr lang="en-US" sz="2800" dirty="0"/>
          </a:p>
        </p:txBody>
      </p:sp>
    </p:spTree>
    <p:extLst>
      <p:ext uri="{BB962C8B-B14F-4D97-AF65-F5344CB8AC3E}">
        <p14:creationId xmlns:p14="http://schemas.microsoft.com/office/powerpoint/2010/main" val="35585093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74AD57-1395-3D9F-9AD9-B10CAE5ABE54}"/>
              </a:ext>
            </a:extLst>
          </p:cNvPr>
          <p:cNvSpPr>
            <a:spLocks noGrp="1"/>
          </p:cNvSpPr>
          <p:nvPr>
            <p:ph type="title"/>
          </p:nvPr>
        </p:nvSpPr>
        <p:spPr/>
        <p:txBody>
          <a:bodyPr/>
          <a:lstStyle/>
          <a:p>
            <a:r>
              <a:rPr lang="en-US" dirty="0"/>
              <a:t>The 4 Components of a Perfect Prompt</a:t>
            </a:r>
            <a:br>
              <a:rPr lang="en-US" sz="1800" b="0" dirty="0"/>
            </a:br>
            <a:r>
              <a:rPr lang="en-US" sz="1800" b="0" dirty="0"/>
              <a:t>(there are many actually)</a:t>
            </a:r>
            <a:endParaRPr lang="en-US" b="0" dirty="0"/>
          </a:p>
        </p:txBody>
      </p:sp>
      <p:sp>
        <p:nvSpPr>
          <p:cNvPr id="3" name="Content Placeholder 2">
            <a:extLst>
              <a:ext uri="{FF2B5EF4-FFF2-40B4-BE49-F238E27FC236}">
                <a16:creationId xmlns:a16="http://schemas.microsoft.com/office/drawing/2014/main" id="{C9A9B45D-EBD7-42FF-E991-98E5594A8FCC}"/>
              </a:ext>
            </a:extLst>
          </p:cNvPr>
          <p:cNvSpPr>
            <a:spLocks noGrp="1"/>
          </p:cNvSpPr>
          <p:nvPr>
            <p:ph idx="1"/>
          </p:nvPr>
        </p:nvSpPr>
        <p:spPr/>
        <p:txBody>
          <a:bodyPr>
            <a:normAutofit/>
          </a:bodyPr>
          <a:lstStyle/>
          <a:p>
            <a:r>
              <a:rPr lang="en-US" sz="2800" b="1" dirty="0"/>
              <a:t>Role/Persona:</a:t>
            </a:r>
            <a:r>
              <a:rPr lang="en-US" sz="2800" dirty="0"/>
              <a:t> "You are a Senior Robotics Engineer..." (Sets the latent space).</a:t>
            </a:r>
          </a:p>
          <a:p>
            <a:r>
              <a:rPr lang="en-US" sz="2800" b="1" dirty="0"/>
              <a:t>Instruction:</a:t>
            </a:r>
            <a:r>
              <a:rPr lang="en-US" sz="2800" dirty="0"/>
              <a:t> "Analyze the following log file..." (The core task).</a:t>
            </a:r>
          </a:p>
          <a:p>
            <a:r>
              <a:rPr lang="en-US" sz="2800" b="1" dirty="0"/>
              <a:t>Context/Constraint:</a:t>
            </a:r>
            <a:r>
              <a:rPr lang="en-US" sz="2800" dirty="0"/>
              <a:t> "Use only the data provided below. Output in valid JSON." (Guardrails)</a:t>
            </a:r>
          </a:p>
          <a:p>
            <a:r>
              <a:rPr lang="en-US" sz="2800" b="1" dirty="0"/>
              <a:t>Few-Shot Examples:</a:t>
            </a:r>
            <a:r>
              <a:rPr lang="en-US" sz="2800" dirty="0"/>
              <a:t> "Here is an example of a good input and output..." (The gold standard).</a:t>
            </a:r>
          </a:p>
          <a:p>
            <a:endParaRPr lang="en-US" sz="2800" dirty="0"/>
          </a:p>
        </p:txBody>
      </p:sp>
    </p:spTree>
    <p:extLst>
      <p:ext uri="{BB962C8B-B14F-4D97-AF65-F5344CB8AC3E}">
        <p14:creationId xmlns:p14="http://schemas.microsoft.com/office/powerpoint/2010/main" val="14596495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0B7BFA1D-8E65-4C02-98F5-56BCCB53813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67000" y="0"/>
            <a:ext cx="685800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487615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774A975B-A886-5202-0489-6965514A0D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0" name="Freeform: Shape 9">
            <a:extLst>
              <a:ext uri="{FF2B5EF4-FFF2-40B4-BE49-F238E27FC236}">
                <a16:creationId xmlns:a16="http://schemas.microsoft.com/office/drawing/2014/main" id="{EA67E988-5919-57BB-C7DE-D3EAD38A30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6209925"/>
            <a:ext cx="11155680" cy="45719"/>
          </a:xfrm>
          <a:custGeom>
            <a:avLst/>
            <a:gdLst/>
            <a:ahLst/>
            <a:cxnLst/>
            <a:rect l="l" t="t" r="r" b="b"/>
            <a:pathLst>
              <a:path w="8715708" h="45719">
                <a:moveTo>
                  <a:pt x="0" y="0"/>
                </a:moveTo>
                <a:lnTo>
                  <a:pt x="3694525" y="0"/>
                </a:lnTo>
                <a:lnTo>
                  <a:pt x="5021183" y="0"/>
                </a:lnTo>
                <a:lnTo>
                  <a:pt x="8715708" y="0"/>
                </a:lnTo>
                <a:lnTo>
                  <a:pt x="8715708" y="45719"/>
                </a:lnTo>
                <a:lnTo>
                  <a:pt x="5021183" y="45719"/>
                </a:lnTo>
                <a:lnTo>
                  <a:pt x="3694525" y="45719"/>
                </a:lnTo>
                <a:lnTo>
                  <a:pt x="0" y="4571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useBgFill="1">
        <p:nvSpPr>
          <p:cNvPr id="12" name="Rectangle 11">
            <a:extLst>
              <a:ext uri="{FF2B5EF4-FFF2-40B4-BE49-F238E27FC236}">
                <a16:creationId xmlns:a16="http://schemas.microsoft.com/office/drawing/2014/main" id="{33E93247-6229-44AB-A550-739E971E69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pic>
        <p:nvPicPr>
          <p:cNvPr id="4" name="Picture 3" descr="Top view of a labyrinth">
            <a:extLst>
              <a:ext uri="{FF2B5EF4-FFF2-40B4-BE49-F238E27FC236}">
                <a16:creationId xmlns:a16="http://schemas.microsoft.com/office/drawing/2014/main" id="{98315DCC-CEAF-12EE-7A3A-B4E316D20894}"/>
              </a:ext>
            </a:extLst>
          </p:cNvPr>
          <p:cNvPicPr>
            <a:picLocks noChangeAspect="1"/>
          </p:cNvPicPr>
          <p:nvPr/>
        </p:nvPicPr>
        <p:blipFill>
          <a:blip r:embed="rId2"/>
          <a:srcRect t="9764" b="5966"/>
          <a:stretch>
            <a:fillRect/>
          </a:stretch>
        </p:blipFill>
        <p:spPr>
          <a:xfrm>
            <a:off x="20" y="10"/>
            <a:ext cx="12191979" cy="6857990"/>
          </a:xfrm>
          <a:prstGeom prst="rect">
            <a:avLst/>
          </a:prstGeom>
        </p:spPr>
      </p:pic>
      <p:sp>
        <p:nvSpPr>
          <p:cNvPr id="14" name="Rectangle 13">
            <a:extLst>
              <a:ext uri="{FF2B5EF4-FFF2-40B4-BE49-F238E27FC236}">
                <a16:creationId xmlns:a16="http://schemas.microsoft.com/office/drawing/2014/main" id="{AAB476BF-4EE2-5243-CABB-6CC72C39BF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5507179" y="173181"/>
            <a:ext cx="6858002" cy="6511640"/>
          </a:xfrm>
          <a:prstGeom prst="rect">
            <a:avLst/>
          </a:prstGeom>
          <a:gradFill>
            <a:gsLst>
              <a:gs pos="0">
                <a:schemeClr val="bg1">
                  <a:alpha val="0"/>
                </a:schemeClr>
              </a:gs>
              <a:gs pos="46000">
                <a:schemeClr val="bg1">
                  <a:alpha val="30000"/>
                </a:schemeClr>
              </a:gs>
              <a:gs pos="26000">
                <a:schemeClr val="bg1">
                  <a:alpha val="17000"/>
                </a:schemeClr>
              </a:gs>
              <a:gs pos="100000">
                <a:schemeClr val="bg1">
                  <a:alpha val="45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Neue Haas Grotesk Text Pro"/>
              <a:ea typeface="+mn-ea"/>
              <a:cs typeface="+mn-cs"/>
            </a:endParaRPr>
          </a:p>
        </p:txBody>
      </p:sp>
      <p:sp>
        <p:nvSpPr>
          <p:cNvPr id="2" name="TextBox 1">
            <a:extLst>
              <a:ext uri="{FF2B5EF4-FFF2-40B4-BE49-F238E27FC236}">
                <a16:creationId xmlns:a16="http://schemas.microsoft.com/office/drawing/2014/main" id="{3575157B-7FD8-D7D2-1449-6960640CF203}"/>
              </a:ext>
            </a:extLst>
          </p:cNvPr>
          <p:cNvSpPr txBox="1"/>
          <p:nvPr/>
        </p:nvSpPr>
        <p:spPr>
          <a:xfrm>
            <a:off x="7306780" y="978409"/>
            <a:ext cx="4496529" cy="3678268"/>
          </a:xfrm>
          <a:prstGeom prst="rect">
            <a:avLst/>
          </a:prstGeom>
        </p:spPr>
        <p:txBody>
          <a:bodyPr vert="horz" lIns="91440" tIns="45720" rIns="91440" bIns="45720" rtlCol="0" anchor="t">
            <a:normAutofit/>
          </a:bodyPr>
          <a:lstStyle/>
          <a:p>
            <a:pPr>
              <a:spcBef>
                <a:spcPct val="0"/>
              </a:spcBef>
              <a:spcAft>
                <a:spcPts val="600"/>
              </a:spcAft>
            </a:pPr>
            <a:r>
              <a:rPr lang="en-US" sz="6000" b="1">
                <a:latin typeface="+mj-lt"/>
                <a:ea typeface="+mj-ea"/>
                <a:cs typeface="+mj-cs"/>
              </a:rPr>
              <a:t>Core Techniques</a:t>
            </a:r>
          </a:p>
        </p:txBody>
      </p:sp>
      <p:sp>
        <p:nvSpPr>
          <p:cNvPr id="16" name="Rectangle 15">
            <a:extLst>
              <a:ext uri="{FF2B5EF4-FFF2-40B4-BE49-F238E27FC236}">
                <a16:creationId xmlns:a16="http://schemas.microsoft.com/office/drawing/2014/main" id="{20D28EA4-6F96-F7C6-1D07-5BA5C27387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306781" y="508090"/>
            <a:ext cx="4492754"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sp>
        <p:nvSpPr>
          <p:cNvPr id="18" name="Rectangle 17">
            <a:extLst>
              <a:ext uri="{FF2B5EF4-FFF2-40B4-BE49-F238E27FC236}">
                <a16:creationId xmlns:a16="http://schemas.microsoft.com/office/drawing/2014/main" id="{FDFF93C5-0576-D227-80A7-4CFBA8791A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310119" y="6209925"/>
            <a:ext cx="4492754"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spTree>
    <p:extLst>
      <p:ext uri="{BB962C8B-B14F-4D97-AF65-F5344CB8AC3E}">
        <p14:creationId xmlns:p14="http://schemas.microsoft.com/office/powerpoint/2010/main" val="2276397910"/>
      </p:ext>
    </p:extLst>
  </p:cSld>
  <p:clrMapOvr>
    <a:overrideClrMapping bg1="dk1" tx1="lt1" bg2="dk2" tx2="lt2" accent1="accent1" accent2="accent2" accent3="accent3" accent4="accent4" accent5="accent5" accent6="accent6" hlink="hlink" folHlink="folHlink"/>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EF8740-2538-5419-87D3-35B73B90F288}"/>
              </a:ext>
            </a:extLst>
          </p:cNvPr>
          <p:cNvSpPr>
            <a:spLocks noGrp="1"/>
          </p:cNvSpPr>
          <p:nvPr>
            <p:ph type="title"/>
          </p:nvPr>
        </p:nvSpPr>
        <p:spPr/>
        <p:txBody>
          <a:bodyPr/>
          <a:lstStyle/>
          <a:p>
            <a:r>
              <a:rPr lang="en-US" dirty="0"/>
              <a:t>Level 1: Zero-Shot vs. Few-Shot</a:t>
            </a:r>
          </a:p>
        </p:txBody>
      </p:sp>
      <p:sp>
        <p:nvSpPr>
          <p:cNvPr id="3" name="Content Placeholder 2">
            <a:extLst>
              <a:ext uri="{FF2B5EF4-FFF2-40B4-BE49-F238E27FC236}">
                <a16:creationId xmlns:a16="http://schemas.microsoft.com/office/drawing/2014/main" id="{031DC06A-787E-CB2F-93A5-983BA1415706}"/>
              </a:ext>
            </a:extLst>
          </p:cNvPr>
          <p:cNvSpPr>
            <a:spLocks noGrp="1"/>
          </p:cNvSpPr>
          <p:nvPr>
            <p:ph idx="1"/>
          </p:nvPr>
        </p:nvSpPr>
        <p:spPr/>
        <p:txBody>
          <a:bodyPr>
            <a:normAutofit fontScale="92500"/>
          </a:bodyPr>
          <a:lstStyle/>
          <a:p>
            <a:r>
              <a:rPr lang="en-US" sz="2800" b="1" dirty="0"/>
              <a:t>Zero-Shot:</a:t>
            </a:r>
            <a:r>
              <a:rPr lang="en-US" sz="2800" dirty="0"/>
              <a:t> Asking blindly.</a:t>
            </a:r>
          </a:p>
          <a:p>
            <a:pPr lvl="1"/>
            <a:r>
              <a:rPr lang="en-US" sz="2400" i="1" dirty="0"/>
              <a:t>Input:</a:t>
            </a:r>
            <a:r>
              <a:rPr lang="en-US" sz="2400" dirty="0"/>
              <a:t> "Classify this review: 'The battery died in 5 minutes.'" -&gt; </a:t>
            </a:r>
            <a:r>
              <a:rPr lang="en-US" sz="2400" i="1" dirty="0"/>
              <a:t>Output:</a:t>
            </a:r>
            <a:r>
              <a:rPr lang="en-US" sz="2400" dirty="0"/>
              <a:t> "Negative."</a:t>
            </a:r>
          </a:p>
          <a:p>
            <a:r>
              <a:rPr lang="en-US" sz="2800" b="1" dirty="0"/>
              <a:t>Few-Shot (In-Context Learning):</a:t>
            </a:r>
            <a:r>
              <a:rPr lang="en-US" sz="2800" dirty="0"/>
              <a:t> </a:t>
            </a:r>
            <a:r>
              <a:rPr lang="en-US" sz="2800" dirty="0">
                <a:solidFill>
                  <a:schemeClr val="accent4">
                    <a:lumMod val="75000"/>
                  </a:schemeClr>
                </a:solidFill>
              </a:rPr>
              <a:t>Giving examples to set the pattern</a:t>
            </a:r>
            <a:r>
              <a:rPr lang="en-US" sz="2800" dirty="0"/>
              <a:t>.</a:t>
            </a:r>
          </a:p>
          <a:p>
            <a:pPr lvl="1"/>
            <a:r>
              <a:rPr lang="en-US" sz="2400" i="1" dirty="0"/>
              <a:t>Input:</a:t>
            </a:r>
            <a:br>
              <a:rPr lang="en-US" sz="2400" dirty="0"/>
            </a:br>
            <a:r>
              <a:rPr lang="en-US" sz="2400" dirty="0"/>
              <a:t>"Review: 'Great motor.' -&gt; Label: </a:t>
            </a:r>
            <a:r>
              <a:rPr lang="en-US" sz="2400" dirty="0" err="1"/>
              <a:t>Hardware_Positive</a:t>
            </a:r>
            <a:r>
              <a:rPr lang="en-US" sz="2400" dirty="0"/>
              <a:t>"</a:t>
            </a:r>
            <a:br>
              <a:rPr lang="en-US" sz="2400" dirty="0"/>
            </a:br>
            <a:r>
              <a:rPr lang="en-US" sz="2400" dirty="0"/>
              <a:t>"Review: 'Software crashed.' -&gt; Label: </a:t>
            </a:r>
            <a:r>
              <a:rPr lang="en-US" sz="2400" dirty="0" err="1"/>
              <a:t>Software_Negative</a:t>
            </a:r>
            <a:r>
              <a:rPr lang="en-US" sz="2400" dirty="0"/>
              <a:t>"</a:t>
            </a:r>
            <a:br>
              <a:rPr lang="en-US" sz="2400" dirty="0"/>
            </a:br>
            <a:r>
              <a:rPr lang="en-US" sz="2400" dirty="0"/>
              <a:t>"Review: 'The battery died.' -&gt; Label: ?"</a:t>
            </a:r>
          </a:p>
          <a:p>
            <a:pPr lvl="1"/>
            <a:r>
              <a:rPr lang="en-US" sz="2400" i="1" dirty="0"/>
              <a:t>Why it wins:</a:t>
            </a:r>
            <a:r>
              <a:rPr lang="en-US" sz="2400" dirty="0"/>
              <a:t> It teaches the </a:t>
            </a:r>
            <a:r>
              <a:rPr lang="en-US" sz="2400" i="1" dirty="0"/>
              <a:t>format</a:t>
            </a:r>
            <a:r>
              <a:rPr lang="en-US" sz="2400" dirty="0"/>
              <a:t> and the </a:t>
            </a:r>
            <a:r>
              <a:rPr lang="en-US" sz="2400" i="1" dirty="0"/>
              <a:t>nuance</a:t>
            </a:r>
            <a:r>
              <a:rPr lang="en-US" sz="2400" dirty="0"/>
              <a:t> instantly without training.</a:t>
            </a:r>
          </a:p>
          <a:p>
            <a:endParaRPr lang="en-US" sz="2800" dirty="0"/>
          </a:p>
        </p:txBody>
      </p:sp>
    </p:spTree>
    <p:extLst>
      <p:ext uri="{BB962C8B-B14F-4D97-AF65-F5344CB8AC3E}">
        <p14:creationId xmlns:p14="http://schemas.microsoft.com/office/powerpoint/2010/main" val="323946825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08CDF3-AE8B-5B42-16E3-981FB9D3D1B8}"/>
              </a:ext>
            </a:extLst>
          </p:cNvPr>
          <p:cNvSpPr>
            <a:spLocks noGrp="1"/>
          </p:cNvSpPr>
          <p:nvPr>
            <p:ph type="title"/>
          </p:nvPr>
        </p:nvSpPr>
        <p:spPr/>
        <p:txBody>
          <a:bodyPr/>
          <a:lstStyle/>
          <a:p>
            <a:r>
              <a:rPr lang="en-US" dirty="0"/>
              <a:t>Level 2: Chain-of-Thought (</a:t>
            </a:r>
            <a:r>
              <a:rPr lang="en-US" dirty="0" err="1"/>
              <a:t>CoT</a:t>
            </a:r>
            <a:r>
              <a:rPr lang="en-US" dirty="0"/>
              <a:t>)</a:t>
            </a:r>
          </a:p>
        </p:txBody>
      </p:sp>
      <p:sp>
        <p:nvSpPr>
          <p:cNvPr id="3" name="Content Placeholder 2">
            <a:extLst>
              <a:ext uri="{FF2B5EF4-FFF2-40B4-BE49-F238E27FC236}">
                <a16:creationId xmlns:a16="http://schemas.microsoft.com/office/drawing/2014/main" id="{AD150AFD-D0AD-5E66-5A64-93049BE84490}"/>
              </a:ext>
            </a:extLst>
          </p:cNvPr>
          <p:cNvSpPr>
            <a:spLocks noGrp="1"/>
          </p:cNvSpPr>
          <p:nvPr>
            <p:ph idx="1"/>
          </p:nvPr>
        </p:nvSpPr>
        <p:spPr/>
        <p:txBody>
          <a:bodyPr>
            <a:normAutofit fontScale="92500" lnSpcReduction="20000"/>
          </a:bodyPr>
          <a:lstStyle/>
          <a:p>
            <a:r>
              <a:rPr lang="en-US" sz="2400" b="1" dirty="0"/>
              <a:t>The Breakthrough:</a:t>
            </a:r>
            <a:r>
              <a:rPr lang="en-US" sz="2400" dirty="0"/>
              <a:t> LLMs are bad at math/logic if they answer immediately. They need "thinking time."</a:t>
            </a:r>
          </a:p>
          <a:p>
            <a:r>
              <a:rPr lang="en-US" sz="2400" b="1" dirty="0"/>
              <a:t>The Technique:</a:t>
            </a:r>
            <a:r>
              <a:rPr lang="en-US" sz="2400" dirty="0"/>
              <a:t> Force the model to generate intermediate steps.</a:t>
            </a:r>
          </a:p>
          <a:p>
            <a:r>
              <a:rPr lang="en-US" sz="2400" b="1" dirty="0"/>
              <a:t>Standard Prompt:</a:t>
            </a:r>
            <a:r>
              <a:rPr lang="en-US" sz="2400" dirty="0"/>
              <a:t> "How many wheels do 3 cars and 2 bikes have?" -&gt; </a:t>
            </a:r>
            <a:r>
              <a:rPr lang="en-US" sz="2400" i="1" dirty="0"/>
              <a:t>Model might guess.</a:t>
            </a:r>
            <a:endParaRPr lang="en-US" sz="2400" dirty="0"/>
          </a:p>
          <a:p>
            <a:r>
              <a:rPr lang="en-US" sz="2400" b="1" dirty="0" err="1"/>
              <a:t>CoT</a:t>
            </a:r>
            <a:r>
              <a:rPr lang="en-US" sz="2400" b="1" dirty="0"/>
              <a:t> Prompt:</a:t>
            </a:r>
            <a:r>
              <a:rPr lang="en-US" sz="2400" dirty="0"/>
              <a:t> "</a:t>
            </a:r>
            <a:r>
              <a:rPr lang="en-US" sz="2400" dirty="0">
                <a:solidFill>
                  <a:schemeClr val="accent4">
                    <a:lumMod val="75000"/>
                  </a:schemeClr>
                </a:solidFill>
              </a:rPr>
              <a:t>Think step-by-step</a:t>
            </a:r>
            <a:r>
              <a:rPr lang="en-US" sz="2400" dirty="0"/>
              <a:t>. First count car wheels, then bike wheels, then sum them."</a:t>
            </a:r>
          </a:p>
          <a:p>
            <a:pPr lvl="1"/>
            <a:r>
              <a:rPr lang="en-US" sz="2000" i="1" dirty="0"/>
              <a:t>Step 1:</a:t>
            </a:r>
            <a:r>
              <a:rPr lang="en-US" sz="2000" dirty="0"/>
              <a:t> 3 cars * 4 = 12.</a:t>
            </a:r>
          </a:p>
          <a:p>
            <a:pPr lvl="1"/>
            <a:r>
              <a:rPr lang="en-US" sz="2000" i="1" dirty="0"/>
              <a:t>Step 2:</a:t>
            </a:r>
            <a:r>
              <a:rPr lang="en-US" sz="2000" dirty="0"/>
              <a:t> 2 bikes * 2 = 4.</a:t>
            </a:r>
          </a:p>
          <a:p>
            <a:pPr lvl="1"/>
            <a:r>
              <a:rPr lang="en-US" sz="2000" i="1" dirty="0"/>
              <a:t>Step 3:</a:t>
            </a:r>
            <a:r>
              <a:rPr lang="en-US" sz="2000" dirty="0"/>
              <a:t> 12 + 4 = 16.</a:t>
            </a:r>
          </a:p>
          <a:p>
            <a:endParaRPr lang="en-US" sz="2400" dirty="0"/>
          </a:p>
        </p:txBody>
      </p:sp>
    </p:spTree>
    <p:extLst>
      <p:ext uri="{BB962C8B-B14F-4D97-AF65-F5344CB8AC3E}">
        <p14:creationId xmlns:p14="http://schemas.microsoft.com/office/powerpoint/2010/main" val="14061887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4DBF49-8E92-BB06-C802-738002C6ABC0}"/>
              </a:ext>
            </a:extLst>
          </p:cNvPr>
          <p:cNvSpPr>
            <a:spLocks noGrp="1"/>
          </p:cNvSpPr>
          <p:nvPr>
            <p:ph type="title"/>
          </p:nvPr>
        </p:nvSpPr>
        <p:spPr/>
        <p:txBody>
          <a:bodyPr/>
          <a:lstStyle/>
          <a:p>
            <a:r>
              <a:rPr lang="en-US" dirty="0"/>
              <a:t>Level 3: Tree-of-Thoughts &amp; Self-Consistency</a:t>
            </a:r>
          </a:p>
        </p:txBody>
      </p:sp>
      <p:sp>
        <p:nvSpPr>
          <p:cNvPr id="3" name="Content Placeholder 2">
            <a:extLst>
              <a:ext uri="{FF2B5EF4-FFF2-40B4-BE49-F238E27FC236}">
                <a16:creationId xmlns:a16="http://schemas.microsoft.com/office/drawing/2014/main" id="{F29C7E7E-B6EF-7C4B-25A6-838FCFA0761D}"/>
              </a:ext>
            </a:extLst>
          </p:cNvPr>
          <p:cNvSpPr>
            <a:spLocks noGrp="1"/>
          </p:cNvSpPr>
          <p:nvPr>
            <p:ph idx="1"/>
          </p:nvPr>
        </p:nvSpPr>
        <p:spPr/>
        <p:txBody>
          <a:bodyPr>
            <a:normAutofit/>
          </a:bodyPr>
          <a:lstStyle/>
          <a:p>
            <a:r>
              <a:rPr lang="en-US" sz="2800" b="1" dirty="0"/>
              <a:t>Advanced Reasoning (2025 Standard):</a:t>
            </a:r>
            <a:endParaRPr lang="en-US" sz="2800" dirty="0"/>
          </a:p>
          <a:p>
            <a:pPr lvl="1"/>
            <a:r>
              <a:rPr lang="en-US" sz="2400" b="1" dirty="0"/>
              <a:t>Self-Consistency:</a:t>
            </a:r>
            <a:r>
              <a:rPr lang="en-US" sz="2400" dirty="0"/>
              <a:t> Ask the same question 5 times. If 4 answers are "A" and 1 is "B", pick "A".</a:t>
            </a:r>
          </a:p>
          <a:p>
            <a:pPr lvl="1"/>
            <a:r>
              <a:rPr lang="en-US" sz="2400" b="1" dirty="0"/>
              <a:t>Tree-of-Thoughts:</a:t>
            </a:r>
            <a:r>
              <a:rPr lang="en-US" sz="2400" dirty="0"/>
              <a:t> Ask the model to </a:t>
            </a:r>
            <a:r>
              <a:rPr lang="en-US" sz="2400" dirty="0">
                <a:solidFill>
                  <a:schemeClr val="accent4">
                    <a:lumMod val="75000"/>
                  </a:schemeClr>
                </a:solidFill>
              </a:rPr>
              <a:t>generate three </a:t>
            </a:r>
            <a:r>
              <a:rPr lang="en-US" sz="2400" i="1" dirty="0">
                <a:solidFill>
                  <a:schemeClr val="accent4">
                    <a:lumMod val="75000"/>
                  </a:schemeClr>
                </a:solidFill>
              </a:rPr>
              <a:t>possible</a:t>
            </a:r>
            <a:r>
              <a:rPr lang="en-US" sz="2400" dirty="0">
                <a:solidFill>
                  <a:schemeClr val="accent4">
                    <a:lumMod val="75000"/>
                  </a:schemeClr>
                </a:solidFill>
              </a:rPr>
              <a:t> plans, critique each one, and pick the best path before solving</a:t>
            </a:r>
            <a:r>
              <a:rPr lang="en-US" sz="2400" dirty="0"/>
              <a:t>.</a:t>
            </a:r>
          </a:p>
          <a:p>
            <a:r>
              <a:rPr lang="en-US" sz="2800" b="1" dirty="0"/>
              <a:t>Robotics Use Case:</a:t>
            </a:r>
            <a:r>
              <a:rPr lang="en-US" sz="2800" dirty="0"/>
              <a:t> "Plan a path for the robot. Path A is short but rocky. Path B is long but smooth. Evaluate risks of both."</a:t>
            </a:r>
          </a:p>
          <a:p>
            <a:endParaRPr lang="en-US" sz="2800" dirty="0"/>
          </a:p>
        </p:txBody>
      </p:sp>
    </p:spTree>
    <p:extLst>
      <p:ext uri="{BB962C8B-B14F-4D97-AF65-F5344CB8AC3E}">
        <p14:creationId xmlns:p14="http://schemas.microsoft.com/office/powerpoint/2010/main" val="19956691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44310F-144A-A2A8-D0E3-188C27990642}"/>
              </a:ext>
            </a:extLst>
          </p:cNvPr>
          <p:cNvSpPr>
            <a:spLocks noGrp="1"/>
          </p:cNvSpPr>
          <p:nvPr>
            <p:ph type="title"/>
          </p:nvPr>
        </p:nvSpPr>
        <p:spPr/>
        <p:txBody>
          <a:bodyPr/>
          <a:lstStyle/>
          <a:p>
            <a:r>
              <a:rPr lang="en-US" dirty="0"/>
              <a:t>Level 4: Structured Output (JSON Mode)</a:t>
            </a:r>
          </a:p>
        </p:txBody>
      </p:sp>
      <p:sp>
        <p:nvSpPr>
          <p:cNvPr id="3" name="Content Placeholder 2">
            <a:extLst>
              <a:ext uri="{FF2B5EF4-FFF2-40B4-BE49-F238E27FC236}">
                <a16:creationId xmlns:a16="http://schemas.microsoft.com/office/drawing/2014/main" id="{BAA856C4-3D06-FC80-A3A6-F19571ABAD74}"/>
              </a:ext>
            </a:extLst>
          </p:cNvPr>
          <p:cNvSpPr>
            <a:spLocks noGrp="1"/>
          </p:cNvSpPr>
          <p:nvPr>
            <p:ph idx="1"/>
          </p:nvPr>
        </p:nvSpPr>
        <p:spPr/>
        <p:txBody>
          <a:bodyPr>
            <a:normAutofit/>
          </a:bodyPr>
          <a:lstStyle/>
          <a:p>
            <a:r>
              <a:rPr lang="en-US" sz="2800" b="1" dirty="0"/>
              <a:t>The Problem:</a:t>
            </a:r>
            <a:r>
              <a:rPr lang="en-US" sz="2800" dirty="0"/>
              <a:t> You can't code with "Sure! Here is the list..."</a:t>
            </a:r>
          </a:p>
          <a:p>
            <a:r>
              <a:rPr lang="en-US" sz="2800" b="1" dirty="0"/>
              <a:t>The Fix:</a:t>
            </a:r>
            <a:r>
              <a:rPr lang="en-US" sz="2800" dirty="0"/>
              <a:t> </a:t>
            </a:r>
            <a:r>
              <a:rPr lang="en-US" sz="2800" dirty="0">
                <a:solidFill>
                  <a:schemeClr val="accent4">
                    <a:lumMod val="75000"/>
                  </a:schemeClr>
                </a:solidFill>
              </a:rPr>
              <a:t>Enforcing Schemas</a:t>
            </a:r>
            <a:r>
              <a:rPr lang="en-US" sz="2800" dirty="0"/>
              <a:t>.</a:t>
            </a:r>
          </a:p>
          <a:p>
            <a:r>
              <a:rPr lang="en-US" sz="2800" b="1" dirty="0"/>
              <a:t>Prompt:</a:t>
            </a:r>
            <a:r>
              <a:rPr lang="en-US" sz="2800" dirty="0"/>
              <a:t> "Output strictly in JSON format matching this schema: { 'sentiment': float, 'entities': list }."</a:t>
            </a:r>
          </a:p>
          <a:p>
            <a:r>
              <a:rPr lang="en-US" sz="2800" b="1" dirty="0"/>
              <a:t>Why:</a:t>
            </a:r>
            <a:r>
              <a:rPr lang="en-US" sz="2800" dirty="0"/>
              <a:t> This allows you to plug the LLM directly into Python code (</a:t>
            </a:r>
            <a:r>
              <a:rPr lang="en-US" sz="2800" dirty="0" err="1"/>
              <a:t>json.loads</a:t>
            </a:r>
            <a:r>
              <a:rPr lang="en-US" sz="2800" dirty="0"/>
              <a:t>(response)).</a:t>
            </a:r>
          </a:p>
          <a:p>
            <a:endParaRPr lang="en-US" sz="2800" dirty="0"/>
          </a:p>
        </p:txBody>
      </p:sp>
    </p:spTree>
    <p:extLst>
      <p:ext uri="{BB962C8B-B14F-4D97-AF65-F5344CB8AC3E}">
        <p14:creationId xmlns:p14="http://schemas.microsoft.com/office/powerpoint/2010/main" val="359901566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2E918C-DCE4-1657-8064-9034BE4597AF}"/>
              </a:ext>
            </a:extLst>
          </p:cNvPr>
          <p:cNvSpPr>
            <a:spLocks noGrp="1"/>
          </p:cNvSpPr>
          <p:nvPr>
            <p:ph type="title"/>
          </p:nvPr>
        </p:nvSpPr>
        <p:spPr/>
        <p:txBody>
          <a:bodyPr/>
          <a:lstStyle/>
          <a:p>
            <a:r>
              <a:rPr lang="en-US" dirty="0"/>
              <a:t> "Context Engineering" (The Window)</a:t>
            </a:r>
          </a:p>
        </p:txBody>
      </p:sp>
      <p:sp>
        <p:nvSpPr>
          <p:cNvPr id="3" name="Content Placeholder 2">
            <a:extLst>
              <a:ext uri="{FF2B5EF4-FFF2-40B4-BE49-F238E27FC236}">
                <a16:creationId xmlns:a16="http://schemas.microsoft.com/office/drawing/2014/main" id="{D54879B7-757F-6B7C-9B2D-52642AB5B761}"/>
              </a:ext>
            </a:extLst>
          </p:cNvPr>
          <p:cNvSpPr>
            <a:spLocks noGrp="1"/>
          </p:cNvSpPr>
          <p:nvPr>
            <p:ph idx="1"/>
          </p:nvPr>
        </p:nvSpPr>
        <p:spPr/>
        <p:txBody>
          <a:bodyPr>
            <a:normAutofit/>
          </a:bodyPr>
          <a:lstStyle/>
          <a:p>
            <a:r>
              <a:rPr lang="en-US" sz="3200" b="1" dirty="0"/>
              <a:t>The "Needle in a Haystack" Problem:</a:t>
            </a:r>
            <a:r>
              <a:rPr lang="en-US" sz="3200" dirty="0"/>
              <a:t> Putting important info in the middle of a long prompt often gets lost.</a:t>
            </a:r>
          </a:p>
          <a:p>
            <a:r>
              <a:rPr lang="en-US" sz="3200" b="1" dirty="0"/>
              <a:t>Best Practice:</a:t>
            </a:r>
            <a:endParaRPr lang="en-US" sz="3200" dirty="0"/>
          </a:p>
          <a:p>
            <a:pPr lvl="1"/>
            <a:r>
              <a:rPr lang="en-US" sz="2800" dirty="0"/>
              <a:t>System Instructions (Start).</a:t>
            </a:r>
          </a:p>
          <a:p>
            <a:pPr lvl="1"/>
            <a:r>
              <a:rPr lang="en-US" sz="2800" dirty="0">
                <a:solidFill>
                  <a:schemeClr val="accent4">
                    <a:lumMod val="75000"/>
                  </a:schemeClr>
                </a:solidFill>
              </a:rPr>
              <a:t>Context/Data </a:t>
            </a:r>
            <a:r>
              <a:rPr lang="en-US" sz="2800" dirty="0"/>
              <a:t>(Middle).</a:t>
            </a:r>
          </a:p>
          <a:p>
            <a:pPr lvl="1"/>
            <a:r>
              <a:rPr lang="en-US" sz="2800" dirty="0"/>
              <a:t>Specific Task/Question (End - "Recency Bias" helps here).</a:t>
            </a:r>
          </a:p>
          <a:p>
            <a:endParaRPr lang="en-US" sz="3200" dirty="0"/>
          </a:p>
        </p:txBody>
      </p:sp>
    </p:spTree>
    <p:extLst>
      <p:ext uri="{BB962C8B-B14F-4D97-AF65-F5344CB8AC3E}">
        <p14:creationId xmlns:p14="http://schemas.microsoft.com/office/powerpoint/2010/main" val="85880118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2050" name="Picture 2">
            <a:extLst>
              <a:ext uri="{FF2B5EF4-FFF2-40B4-BE49-F238E27FC236}">
                <a16:creationId xmlns:a16="http://schemas.microsoft.com/office/drawing/2014/main" id="{125D54F5-3C33-91E9-739E-3BF3056D63A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67000" y="0"/>
            <a:ext cx="685800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7164206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A diagram of a project">
            <a:extLst>
              <a:ext uri="{FF2B5EF4-FFF2-40B4-BE49-F238E27FC236}">
                <a16:creationId xmlns:a16="http://schemas.microsoft.com/office/drawing/2014/main" id="{9E9D7142-5862-9821-98D4-CE89211A7E9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98B18952-03F0-AE6C-7F51-B49672164978}"/>
              </a:ext>
            </a:extLst>
          </p:cNvPr>
          <p:cNvSpPr txBox="1"/>
          <p:nvPr/>
        </p:nvSpPr>
        <p:spPr>
          <a:xfrm>
            <a:off x="-80362" y="6488668"/>
            <a:ext cx="7248077" cy="369332"/>
          </a:xfrm>
          <a:prstGeom prst="rect">
            <a:avLst/>
          </a:prstGeom>
          <a:noFill/>
        </p:spPr>
        <p:txBody>
          <a:bodyPr wrap="square">
            <a:spAutoFit/>
          </a:bodyPr>
          <a:lstStyle/>
          <a:p>
            <a:r>
              <a:rPr lang="en-US" dirty="0"/>
              <a:t>https://x.com/femke_plantinga/status/1993666171447513571/photo/1</a:t>
            </a:r>
          </a:p>
        </p:txBody>
      </p:sp>
    </p:spTree>
    <p:extLst>
      <p:ext uri="{BB962C8B-B14F-4D97-AF65-F5344CB8AC3E}">
        <p14:creationId xmlns:p14="http://schemas.microsoft.com/office/powerpoint/2010/main" val="323762881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774A975B-A886-5202-0489-6965514A0D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9" name="Rectangle 8">
            <a:extLst>
              <a:ext uri="{FF2B5EF4-FFF2-40B4-BE49-F238E27FC236}">
                <a16:creationId xmlns:a16="http://schemas.microsoft.com/office/drawing/2014/main" id="{AA083F47-750E-A41F-1E5A-EFB054507C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5021183"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EA67E988-5919-57BB-C7DE-D3EAD38A30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6209925"/>
            <a:ext cx="11155680" cy="45719"/>
          </a:xfrm>
          <a:custGeom>
            <a:avLst/>
            <a:gdLst/>
            <a:ahLst/>
            <a:cxnLst/>
            <a:rect l="l" t="t" r="r" b="b"/>
            <a:pathLst>
              <a:path w="8715708" h="45719">
                <a:moveTo>
                  <a:pt x="0" y="0"/>
                </a:moveTo>
                <a:lnTo>
                  <a:pt x="3694525" y="0"/>
                </a:lnTo>
                <a:lnTo>
                  <a:pt x="5021183" y="0"/>
                </a:lnTo>
                <a:lnTo>
                  <a:pt x="8715708" y="0"/>
                </a:lnTo>
                <a:lnTo>
                  <a:pt x="8715708" y="45719"/>
                </a:lnTo>
                <a:lnTo>
                  <a:pt x="5021183" y="45719"/>
                </a:lnTo>
                <a:lnTo>
                  <a:pt x="3694525" y="45719"/>
                </a:lnTo>
                <a:lnTo>
                  <a:pt x="0" y="4571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useBgFill="1">
        <p:nvSpPr>
          <p:cNvPr id="13" name="Rectangle 12">
            <a:extLst>
              <a:ext uri="{FF2B5EF4-FFF2-40B4-BE49-F238E27FC236}">
                <a16:creationId xmlns:a16="http://schemas.microsoft.com/office/drawing/2014/main" id="{E73AF435-44C8-C44B-9352-ACFA393E2F2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extBox 1">
            <a:extLst>
              <a:ext uri="{FF2B5EF4-FFF2-40B4-BE49-F238E27FC236}">
                <a16:creationId xmlns:a16="http://schemas.microsoft.com/office/drawing/2014/main" id="{C0E4DCBE-6B61-AB2E-5E63-8FF7BBED8EB3}"/>
              </a:ext>
            </a:extLst>
          </p:cNvPr>
          <p:cNvSpPr txBox="1"/>
          <p:nvPr/>
        </p:nvSpPr>
        <p:spPr>
          <a:xfrm>
            <a:off x="3493826" y="978407"/>
            <a:ext cx="8180339" cy="3296703"/>
          </a:xfrm>
          <a:prstGeom prst="rect">
            <a:avLst/>
          </a:prstGeom>
        </p:spPr>
        <p:txBody>
          <a:bodyPr vert="horz" lIns="91440" tIns="45720" rIns="91440" bIns="45720" rtlCol="0" anchor="t">
            <a:normAutofit/>
          </a:bodyPr>
          <a:lstStyle/>
          <a:p>
            <a:pPr>
              <a:spcBef>
                <a:spcPct val="0"/>
              </a:spcBef>
              <a:spcAft>
                <a:spcPts val="600"/>
              </a:spcAft>
            </a:pPr>
            <a:r>
              <a:rPr lang="en-US" sz="6600" b="1">
                <a:latin typeface="+mj-lt"/>
                <a:ea typeface="+mj-ea"/>
                <a:cs typeface="+mj-cs"/>
              </a:rPr>
              <a:t>The Frontier – DSPy &amp; Programming</a:t>
            </a:r>
          </a:p>
        </p:txBody>
      </p:sp>
      <p:sp>
        <p:nvSpPr>
          <p:cNvPr id="15" name="Rectangle 14">
            <a:extLst>
              <a:ext uri="{FF2B5EF4-FFF2-40B4-BE49-F238E27FC236}">
                <a16:creationId xmlns:a16="http://schemas.microsoft.com/office/drawing/2014/main" id="{9AD8A78E-AAB6-C125-6A57-5B031A873E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581401" y="508090"/>
            <a:ext cx="8075078"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BBFC5193-1606-67C6-6571-CC04CF2343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581400" y="6209925"/>
            <a:ext cx="8101950" cy="45719"/>
          </a:xfrm>
          <a:custGeom>
            <a:avLst/>
            <a:gdLst>
              <a:gd name="connsiteX0" fmla="*/ 0 w 8715708"/>
              <a:gd name="connsiteY0" fmla="*/ 0 h 45719"/>
              <a:gd name="connsiteX1" fmla="*/ 3694525 w 8715708"/>
              <a:gd name="connsiteY1" fmla="*/ 0 h 45719"/>
              <a:gd name="connsiteX2" fmla="*/ 5021183 w 8715708"/>
              <a:gd name="connsiteY2" fmla="*/ 0 h 45719"/>
              <a:gd name="connsiteX3" fmla="*/ 8715708 w 8715708"/>
              <a:gd name="connsiteY3" fmla="*/ 0 h 45719"/>
              <a:gd name="connsiteX4" fmla="*/ 8715708 w 8715708"/>
              <a:gd name="connsiteY4" fmla="*/ 45719 h 45719"/>
              <a:gd name="connsiteX5" fmla="*/ 5021183 w 8715708"/>
              <a:gd name="connsiteY5" fmla="*/ 45719 h 45719"/>
              <a:gd name="connsiteX6" fmla="*/ 3694525 w 8715708"/>
              <a:gd name="connsiteY6" fmla="*/ 45719 h 45719"/>
              <a:gd name="connsiteX7" fmla="*/ 0 w 8715708"/>
              <a:gd name="connsiteY7" fmla="*/ 45719 h 45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715708" h="45719">
                <a:moveTo>
                  <a:pt x="0" y="0"/>
                </a:moveTo>
                <a:lnTo>
                  <a:pt x="3694525" y="0"/>
                </a:lnTo>
                <a:lnTo>
                  <a:pt x="5021183" y="0"/>
                </a:lnTo>
                <a:lnTo>
                  <a:pt x="8715708" y="0"/>
                </a:lnTo>
                <a:lnTo>
                  <a:pt x="8715708" y="45719"/>
                </a:lnTo>
                <a:lnTo>
                  <a:pt x="5021183" y="45719"/>
                </a:lnTo>
                <a:lnTo>
                  <a:pt x="3694525" y="45719"/>
                </a:lnTo>
                <a:lnTo>
                  <a:pt x="0" y="4571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5664297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0570D4-FE72-101A-4B4B-92BD42C966CF}"/>
              </a:ext>
            </a:extLst>
          </p:cNvPr>
          <p:cNvSpPr>
            <a:spLocks noGrp="1"/>
          </p:cNvSpPr>
          <p:nvPr>
            <p:ph type="title"/>
          </p:nvPr>
        </p:nvSpPr>
        <p:spPr/>
        <p:txBody>
          <a:bodyPr/>
          <a:lstStyle/>
          <a:p>
            <a:r>
              <a:rPr lang="en-US" dirty="0"/>
              <a:t>"Don't Write Prompts, Compile Them"</a:t>
            </a:r>
          </a:p>
        </p:txBody>
      </p:sp>
      <p:sp>
        <p:nvSpPr>
          <p:cNvPr id="3" name="Content Placeholder 2">
            <a:extLst>
              <a:ext uri="{FF2B5EF4-FFF2-40B4-BE49-F238E27FC236}">
                <a16:creationId xmlns:a16="http://schemas.microsoft.com/office/drawing/2014/main" id="{3F7EAD4B-DDCF-3A2D-633C-F9403149CCDD}"/>
              </a:ext>
            </a:extLst>
          </p:cNvPr>
          <p:cNvSpPr>
            <a:spLocks noGrp="1"/>
          </p:cNvSpPr>
          <p:nvPr>
            <p:ph idx="1"/>
          </p:nvPr>
        </p:nvSpPr>
        <p:spPr/>
        <p:txBody>
          <a:bodyPr>
            <a:normAutofit fontScale="92500" lnSpcReduction="10000"/>
          </a:bodyPr>
          <a:lstStyle/>
          <a:p>
            <a:r>
              <a:rPr lang="en-US" sz="3200" b="1" dirty="0"/>
              <a:t>Introduction to </a:t>
            </a:r>
            <a:r>
              <a:rPr lang="en-US" sz="3200" b="1" dirty="0" err="1">
                <a:hlinkClick r:id="rId2"/>
              </a:rPr>
              <a:t>DSPy</a:t>
            </a:r>
            <a:r>
              <a:rPr lang="en-US" sz="3200" b="1" dirty="0"/>
              <a:t> (Declarative Self-Improving Python):</a:t>
            </a:r>
            <a:r>
              <a:rPr lang="en-US" sz="3200" dirty="0"/>
              <a:t> A Stanford framework that is replacing manual prompt engineering.</a:t>
            </a:r>
          </a:p>
          <a:p>
            <a:r>
              <a:rPr lang="en-US" sz="3200" b="1" dirty="0"/>
              <a:t>The Concept:</a:t>
            </a:r>
            <a:endParaRPr lang="en-US" sz="3200" dirty="0"/>
          </a:p>
          <a:p>
            <a:pPr lvl="1"/>
            <a:r>
              <a:rPr lang="en-US" sz="2800" dirty="0"/>
              <a:t>You define the </a:t>
            </a:r>
            <a:r>
              <a:rPr lang="en-US" sz="2800" b="1" dirty="0"/>
              <a:t>Goal</a:t>
            </a:r>
            <a:r>
              <a:rPr lang="en-US" sz="2800" dirty="0"/>
              <a:t>: "Answer questions based on context."</a:t>
            </a:r>
          </a:p>
          <a:p>
            <a:pPr lvl="1"/>
            <a:r>
              <a:rPr lang="en-US" sz="2800" dirty="0"/>
              <a:t>You define the </a:t>
            </a:r>
            <a:r>
              <a:rPr lang="en-US" sz="2800" b="1" dirty="0"/>
              <a:t>Metric</a:t>
            </a:r>
            <a:r>
              <a:rPr lang="en-US" sz="2800" dirty="0"/>
              <a:t>: "Answer must match the fact sheet."</a:t>
            </a:r>
          </a:p>
          <a:p>
            <a:pPr lvl="1"/>
            <a:r>
              <a:rPr lang="en-US" sz="2800" b="1" dirty="0" err="1"/>
              <a:t>DSPy</a:t>
            </a:r>
            <a:r>
              <a:rPr lang="en-US" sz="2800" b="1" dirty="0"/>
              <a:t> Optimizes the Prompt:</a:t>
            </a:r>
            <a:r>
              <a:rPr lang="en-US" sz="2800" dirty="0"/>
              <a:t> It acts like a compiler. It tries 50 different variations of the prompt to see which one gets the highest score, then saves the best one.</a:t>
            </a:r>
          </a:p>
          <a:p>
            <a:endParaRPr lang="en-US" sz="3200" dirty="0"/>
          </a:p>
        </p:txBody>
      </p:sp>
    </p:spTree>
    <p:extLst>
      <p:ext uri="{BB962C8B-B14F-4D97-AF65-F5344CB8AC3E}">
        <p14:creationId xmlns:p14="http://schemas.microsoft.com/office/powerpoint/2010/main" val="316353968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FEF7ED-CED6-988E-E701-812CCC03B26F}"/>
              </a:ext>
            </a:extLst>
          </p:cNvPr>
          <p:cNvSpPr>
            <a:spLocks noGrp="1"/>
          </p:cNvSpPr>
          <p:nvPr>
            <p:ph type="title"/>
          </p:nvPr>
        </p:nvSpPr>
        <p:spPr/>
        <p:txBody>
          <a:bodyPr/>
          <a:lstStyle/>
          <a:p>
            <a:r>
              <a:rPr lang="en-US" dirty="0"/>
              <a:t> System 2 Reasoning Models</a:t>
            </a:r>
          </a:p>
        </p:txBody>
      </p:sp>
      <p:sp>
        <p:nvSpPr>
          <p:cNvPr id="3" name="Content Placeholder 2">
            <a:extLst>
              <a:ext uri="{FF2B5EF4-FFF2-40B4-BE49-F238E27FC236}">
                <a16:creationId xmlns:a16="http://schemas.microsoft.com/office/drawing/2014/main" id="{68E4B864-3FFA-C985-4C9D-01935D84A8DF}"/>
              </a:ext>
            </a:extLst>
          </p:cNvPr>
          <p:cNvSpPr>
            <a:spLocks noGrp="1"/>
          </p:cNvSpPr>
          <p:nvPr>
            <p:ph idx="1"/>
          </p:nvPr>
        </p:nvSpPr>
        <p:spPr/>
        <p:txBody>
          <a:bodyPr>
            <a:normAutofit/>
          </a:bodyPr>
          <a:lstStyle/>
          <a:p>
            <a:r>
              <a:rPr lang="en-US" sz="2800" b="1" dirty="0"/>
              <a:t>New in 2025:</a:t>
            </a:r>
            <a:r>
              <a:rPr lang="en-US" sz="2800" dirty="0"/>
              <a:t> Models that </a:t>
            </a:r>
            <a:r>
              <a:rPr lang="en-US" sz="2800" i="1" dirty="0"/>
              <a:t>automatically</a:t>
            </a:r>
            <a:r>
              <a:rPr lang="en-US" sz="2800" dirty="0"/>
              <a:t> do Chain-of-Thought without you asking. OpenAI – “o’ models, GPT5, GPT-5.1, Google Gemini3, Claude-Sonnet-4-5, Claude-Opus-4-5, DeepSeek, Kimi-Max and many more.</a:t>
            </a:r>
          </a:p>
          <a:p>
            <a:r>
              <a:rPr lang="en-US" sz="2800" b="1" dirty="0"/>
              <a:t>Implication:</a:t>
            </a:r>
            <a:r>
              <a:rPr lang="en-US" sz="2800" dirty="0"/>
              <a:t> For these models, "simple" prompts are often better. The model manages its own thinking process.</a:t>
            </a:r>
          </a:p>
          <a:p>
            <a:endParaRPr lang="en-US" sz="2800" dirty="0"/>
          </a:p>
        </p:txBody>
      </p:sp>
    </p:spTree>
    <p:extLst>
      <p:ext uri="{BB962C8B-B14F-4D97-AF65-F5344CB8AC3E}">
        <p14:creationId xmlns:p14="http://schemas.microsoft.com/office/powerpoint/2010/main" val="45871273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79" name="Rectangle 3078">
            <a:extLst>
              <a:ext uri="{FF2B5EF4-FFF2-40B4-BE49-F238E27FC236}">
                <a16:creationId xmlns:a16="http://schemas.microsoft.com/office/drawing/2014/main" id="{E20BB609-EF92-42DB-836C-0699A590B5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074" name="Picture 2" descr="No alternative text description for this image">
            <a:extLst>
              <a:ext uri="{FF2B5EF4-FFF2-40B4-BE49-F238E27FC236}">
                <a16:creationId xmlns:a16="http://schemas.microsoft.com/office/drawing/2014/main" id="{D1EB46CD-86AE-CCE1-3D19-33AD081BD3C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t="6164" r="-1" b="1976"/>
          <a:stretch>
            <a:fillRect/>
          </a:stretch>
        </p:blipFill>
        <p:spPr bwMode="auto">
          <a:xfrm>
            <a:off x="20" y="10"/>
            <a:ext cx="12188932" cy="6857990"/>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50FCBBE4-0ABB-832E-FC3F-79F68A74402B}"/>
              </a:ext>
            </a:extLst>
          </p:cNvPr>
          <p:cNvSpPr txBox="1"/>
          <p:nvPr/>
        </p:nvSpPr>
        <p:spPr>
          <a:xfrm>
            <a:off x="5720673" y="6488658"/>
            <a:ext cx="3393830" cy="369332"/>
          </a:xfrm>
          <a:prstGeom prst="rect">
            <a:avLst/>
          </a:prstGeom>
          <a:noFill/>
        </p:spPr>
        <p:txBody>
          <a:bodyPr wrap="square">
            <a:spAutoFit/>
          </a:bodyPr>
          <a:lstStyle/>
          <a:p>
            <a:r>
              <a:rPr lang="en-US" dirty="0">
                <a:solidFill>
                  <a:schemeClr val="bg1">
                    <a:lumMod val="65000"/>
                  </a:schemeClr>
                </a:solidFill>
              </a:rPr>
              <a:t>https://arxiv.org/abs/2303.18223</a:t>
            </a:r>
          </a:p>
        </p:txBody>
      </p:sp>
    </p:spTree>
    <p:extLst>
      <p:ext uri="{BB962C8B-B14F-4D97-AF65-F5344CB8AC3E}">
        <p14:creationId xmlns:p14="http://schemas.microsoft.com/office/powerpoint/2010/main" val="197559236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No alternative text description for this image">
            <a:extLst>
              <a:ext uri="{FF2B5EF4-FFF2-40B4-BE49-F238E27FC236}">
                <a16:creationId xmlns:a16="http://schemas.microsoft.com/office/drawing/2014/main" id="{209441C7-B9A3-9EF3-0854-B95E26EF9D0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862013"/>
            <a:ext cx="12192000" cy="5133975"/>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D7AD760C-1E63-9B62-E014-33658D28D18E}"/>
              </a:ext>
            </a:extLst>
          </p:cNvPr>
          <p:cNvSpPr txBox="1"/>
          <p:nvPr/>
        </p:nvSpPr>
        <p:spPr>
          <a:xfrm>
            <a:off x="8650686" y="6410000"/>
            <a:ext cx="3393830" cy="369332"/>
          </a:xfrm>
          <a:prstGeom prst="rect">
            <a:avLst/>
          </a:prstGeom>
          <a:noFill/>
        </p:spPr>
        <p:txBody>
          <a:bodyPr wrap="square">
            <a:spAutoFit/>
          </a:bodyPr>
          <a:lstStyle/>
          <a:p>
            <a:r>
              <a:rPr lang="en-US" dirty="0">
                <a:solidFill>
                  <a:schemeClr val="bg1">
                    <a:lumMod val="65000"/>
                  </a:schemeClr>
                </a:solidFill>
              </a:rPr>
              <a:t>https://arxiv.org/abs/2303.18223</a:t>
            </a:r>
          </a:p>
        </p:txBody>
      </p:sp>
    </p:spTree>
    <p:extLst>
      <p:ext uri="{BB962C8B-B14F-4D97-AF65-F5344CB8AC3E}">
        <p14:creationId xmlns:p14="http://schemas.microsoft.com/office/powerpoint/2010/main" val="142022267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descr="No alternative text description for this image">
            <a:extLst>
              <a:ext uri="{FF2B5EF4-FFF2-40B4-BE49-F238E27FC236}">
                <a16:creationId xmlns:a16="http://schemas.microsoft.com/office/drawing/2014/main" id="{5DB15927-3B6F-5D99-9E51-D33CAF3699F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06425"/>
            <a:ext cx="12192000" cy="5645150"/>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117A5362-2E94-66BF-8F69-E17E6530213E}"/>
              </a:ext>
            </a:extLst>
          </p:cNvPr>
          <p:cNvSpPr txBox="1"/>
          <p:nvPr/>
        </p:nvSpPr>
        <p:spPr>
          <a:xfrm>
            <a:off x="8650686" y="6410000"/>
            <a:ext cx="3393830" cy="369332"/>
          </a:xfrm>
          <a:prstGeom prst="rect">
            <a:avLst/>
          </a:prstGeom>
          <a:noFill/>
        </p:spPr>
        <p:txBody>
          <a:bodyPr wrap="square">
            <a:spAutoFit/>
          </a:bodyPr>
          <a:lstStyle/>
          <a:p>
            <a:r>
              <a:rPr lang="en-US" dirty="0">
                <a:solidFill>
                  <a:schemeClr val="bg1">
                    <a:lumMod val="65000"/>
                  </a:schemeClr>
                </a:solidFill>
              </a:rPr>
              <a:t>https://arxiv.org/abs/2303.18223</a:t>
            </a:r>
          </a:p>
        </p:txBody>
      </p:sp>
    </p:spTree>
    <p:extLst>
      <p:ext uri="{BB962C8B-B14F-4D97-AF65-F5344CB8AC3E}">
        <p14:creationId xmlns:p14="http://schemas.microsoft.com/office/powerpoint/2010/main" val="266639263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descr="No alternative text description for this image">
            <a:extLst>
              <a:ext uri="{FF2B5EF4-FFF2-40B4-BE49-F238E27FC236}">
                <a16:creationId xmlns:a16="http://schemas.microsoft.com/office/drawing/2014/main" id="{6F45D9DD-DBE4-DF64-8024-10BEC5619CB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65425" y="0"/>
            <a:ext cx="6661150"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2F9586A9-A22E-E051-5805-BC155B0BAEBE}"/>
              </a:ext>
            </a:extLst>
          </p:cNvPr>
          <p:cNvSpPr txBox="1"/>
          <p:nvPr/>
        </p:nvSpPr>
        <p:spPr>
          <a:xfrm>
            <a:off x="8650686" y="6410000"/>
            <a:ext cx="3393830" cy="369332"/>
          </a:xfrm>
          <a:prstGeom prst="rect">
            <a:avLst/>
          </a:prstGeom>
          <a:noFill/>
        </p:spPr>
        <p:txBody>
          <a:bodyPr wrap="square">
            <a:spAutoFit/>
          </a:bodyPr>
          <a:lstStyle/>
          <a:p>
            <a:r>
              <a:rPr lang="en-US" dirty="0">
                <a:solidFill>
                  <a:schemeClr val="bg1">
                    <a:lumMod val="65000"/>
                  </a:schemeClr>
                </a:solidFill>
              </a:rPr>
              <a:t>https://arxiv.org/abs/2303.18223</a:t>
            </a:r>
          </a:p>
        </p:txBody>
      </p:sp>
    </p:spTree>
    <p:extLst>
      <p:ext uri="{BB962C8B-B14F-4D97-AF65-F5344CB8AC3E}">
        <p14:creationId xmlns:p14="http://schemas.microsoft.com/office/powerpoint/2010/main" val="383719139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774A975B-A886-5202-0489-6965514A0D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9" name="Rectangle 8">
            <a:extLst>
              <a:ext uri="{FF2B5EF4-FFF2-40B4-BE49-F238E27FC236}">
                <a16:creationId xmlns:a16="http://schemas.microsoft.com/office/drawing/2014/main" id="{AA083F47-750E-A41F-1E5A-EFB054507C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5021183"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EA67E988-5919-57BB-C7DE-D3EAD38A30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6209925"/>
            <a:ext cx="11155680" cy="45719"/>
          </a:xfrm>
          <a:custGeom>
            <a:avLst/>
            <a:gdLst/>
            <a:ahLst/>
            <a:cxnLst/>
            <a:rect l="l" t="t" r="r" b="b"/>
            <a:pathLst>
              <a:path w="8715708" h="45719">
                <a:moveTo>
                  <a:pt x="0" y="0"/>
                </a:moveTo>
                <a:lnTo>
                  <a:pt x="3694525" y="0"/>
                </a:lnTo>
                <a:lnTo>
                  <a:pt x="5021183" y="0"/>
                </a:lnTo>
                <a:lnTo>
                  <a:pt x="8715708" y="0"/>
                </a:lnTo>
                <a:lnTo>
                  <a:pt x="8715708" y="45719"/>
                </a:lnTo>
                <a:lnTo>
                  <a:pt x="5021183" y="45719"/>
                </a:lnTo>
                <a:lnTo>
                  <a:pt x="3694525" y="45719"/>
                </a:lnTo>
                <a:lnTo>
                  <a:pt x="0" y="4571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useBgFill="1">
        <p:nvSpPr>
          <p:cNvPr id="13" name="Rectangle 12">
            <a:extLst>
              <a:ext uri="{FF2B5EF4-FFF2-40B4-BE49-F238E27FC236}">
                <a16:creationId xmlns:a16="http://schemas.microsoft.com/office/drawing/2014/main" id="{DCF2551A-9BF2-8941-138F-1BC8030077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41B7A130-814C-F936-CE9D-9D02FF1D39B2}"/>
              </a:ext>
            </a:extLst>
          </p:cNvPr>
          <p:cNvSpPr txBox="1"/>
          <p:nvPr/>
        </p:nvSpPr>
        <p:spPr>
          <a:xfrm>
            <a:off x="517869" y="462838"/>
            <a:ext cx="8393218" cy="3727025"/>
          </a:xfrm>
          <a:prstGeom prst="rect">
            <a:avLst/>
          </a:prstGeom>
        </p:spPr>
        <p:txBody>
          <a:bodyPr vert="horz" lIns="91440" tIns="45720" rIns="91440" bIns="45720" rtlCol="0" anchor="t">
            <a:normAutofit/>
          </a:bodyPr>
          <a:lstStyle/>
          <a:p>
            <a:pPr>
              <a:spcBef>
                <a:spcPct val="0"/>
              </a:spcBef>
              <a:spcAft>
                <a:spcPts val="600"/>
              </a:spcAft>
            </a:pPr>
            <a:r>
              <a:rPr lang="en-US" sz="8000" b="1">
                <a:latin typeface="+mj-lt"/>
                <a:ea typeface="+mj-ea"/>
                <a:cs typeface="+mj-cs"/>
              </a:rPr>
              <a:t>Lab</a:t>
            </a:r>
          </a:p>
        </p:txBody>
      </p:sp>
      <p:sp>
        <p:nvSpPr>
          <p:cNvPr id="15" name="Freeform: Shape 14">
            <a:extLst>
              <a:ext uri="{FF2B5EF4-FFF2-40B4-BE49-F238E27FC236}">
                <a16:creationId xmlns:a16="http://schemas.microsoft.com/office/drawing/2014/main" id="{2CFEB66D-D958-4734-9DDE-0C683FD5D4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8" y="6209925"/>
            <a:ext cx="11165482" cy="45719"/>
          </a:xfrm>
          <a:custGeom>
            <a:avLst/>
            <a:gdLst>
              <a:gd name="connsiteX0" fmla="*/ 0 w 11165482"/>
              <a:gd name="connsiteY0" fmla="*/ 0 h 45719"/>
              <a:gd name="connsiteX1" fmla="*/ 3694525 w 11165482"/>
              <a:gd name="connsiteY1" fmla="*/ 0 h 45719"/>
              <a:gd name="connsiteX2" fmla="*/ 5021183 w 11165482"/>
              <a:gd name="connsiteY2" fmla="*/ 0 h 45719"/>
              <a:gd name="connsiteX3" fmla="*/ 6144299 w 11165482"/>
              <a:gd name="connsiteY3" fmla="*/ 0 h 45719"/>
              <a:gd name="connsiteX4" fmla="*/ 8715708 w 11165482"/>
              <a:gd name="connsiteY4" fmla="*/ 0 h 45719"/>
              <a:gd name="connsiteX5" fmla="*/ 11165482 w 11165482"/>
              <a:gd name="connsiteY5" fmla="*/ 0 h 45719"/>
              <a:gd name="connsiteX6" fmla="*/ 11165482 w 11165482"/>
              <a:gd name="connsiteY6" fmla="*/ 45719 h 45719"/>
              <a:gd name="connsiteX7" fmla="*/ 8715708 w 11165482"/>
              <a:gd name="connsiteY7" fmla="*/ 45719 h 45719"/>
              <a:gd name="connsiteX8" fmla="*/ 6144299 w 11165482"/>
              <a:gd name="connsiteY8" fmla="*/ 45719 h 45719"/>
              <a:gd name="connsiteX9" fmla="*/ 5021183 w 11165482"/>
              <a:gd name="connsiteY9" fmla="*/ 45719 h 45719"/>
              <a:gd name="connsiteX10" fmla="*/ 3694525 w 11165482"/>
              <a:gd name="connsiteY10" fmla="*/ 45719 h 45719"/>
              <a:gd name="connsiteX11" fmla="*/ 0 w 11165482"/>
              <a:gd name="connsiteY11" fmla="*/ 45719 h 45719"/>
              <a:gd name="connsiteX0" fmla="*/ 0 w 11165482"/>
              <a:gd name="connsiteY0" fmla="*/ 0 h 45719"/>
              <a:gd name="connsiteX1" fmla="*/ 3694525 w 11165482"/>
              <a:gd name="connsiteY1" fmla="*/ 0 h 45719"/>
              <a:gd name="connsiteX2" fmla="*/ 6144299 w 11165482"/>
              <a:gd name="connsiteY2" fmla="*/ 0 h 45719"/>
              <a:gd name="connsiteX3" fmla="*/ 8715708 w 11165482"/>
              <a:gd name="connsiteY3" fmla="*/ 0 h 45719"/>
              <a:gd name="connsiteX4" fmla="*/ 11165482 w 11165482"/>
              <a:gd name="connsiteY4" fmla="*/ 0 h 45719"/>
              <a:gd name="connsiteX5" fmla="*/ 11165482 w 11165482"/>
              <a:gd name="connsiteY5" fmla="*/ 45719 h 45719"/>
              <a:gd name="connsiteX6" fmla="*/ 8715708 w 11165482"/>
              <a:gd name="connsiteY6" fmla="*/ 45719 h 45719"/>
              <a:gd name="connsiteX7" fmla="*/ 6144299 w 11165482"/>
              <a:gd name="connsiteY7" fmla="*/ 45719 h 45719"/>
              <a:gd name="connsiteX8" fmla="*/ 5021183 w 11165482"/>
              <a:gd name="connsiteY8" fmla="*/ 45719 h 45719"/>
              <a:gd name="connsiteX9" fmla="*/ 3694525 w 11165482"/>
              <a:gd name="connsiteY9" fmla="*/ 45719 h 45719"/>
              <a:gd name="connsiteX10" fmla="*/ 0 w 11165482"/>
              <a:gd name="connsiteY10" fmla="*/ 45719 h 45719"/>
              <a:gd name="connsiteX11" fmla="*/ 0 w 11165482"/>
              <a:gd name="connsiteY11" fmla="*/ 0 h 45719"/>
              <a:gd name="connsiteX0" fmla="*/ 0 w 11165482"/>
              <a:gd name="connsiteY0" fmla="*/ 0 h 45719"/>
              <a:gd name="connsiteX1" fmla="*/ 3694525 w 11165482"/>
              <a:gd name="connsiteY1" fmla="*/ 0 h 45719"/>
              <a:gd name="connsiteX2" fmla="*/ 6144299 w 11165482"/>
              <a:gd name="connsiteY2" fmla="*/ 0 h 45719"/>
              <a:gd name="connsiteX3" fmla="*/ 8715708 w 11165482"/>
              <a:gd name="connsiteY3" fmla="*/ 0 h 45719"/>
              <a:gd name="connsiteX4" fmla="*/ 11165482 w 11165482"/>
              <a:gd name="connsiteY4" fmla="*/ 0 h 45719"/>
              <a:gd name="connsiteX5" fmla="*/ 11165482 w 11165482"/>
              <a:gd name="connsiteY5" fmla="*/ 45719 h 45719"/>
              <a:gd name="connsiteX6" fmla="*/ 8715708 w 11165482"/>
              <a:gd name="connsiteY6" fmla="*/ 45719 h 45719"/>
              <a:gd name="connsiteX7" fmla="*/ 6144299 w 11165482"/>
              <a:gd name="connsiteY7" fmla="*/ 45719 h 45719"/>
              <a:gd name="connsiteX8" fmla="*/ 5021183 w 11165482"/>
              <a:gd name="connsiteY8" fmla="*/ 45719 h 45719"/>
              <a:gd name="connsiteX9" fmla="*/ 0 w 11165482"/>
              <a:gd name="connsiteY9" fmla="*/ 45719 h 45719"/>
              <a:gd name="connsiteX10" fmla="*/ 0 w 11165482"/>
              <a:gd name="connsiteY10" fmla="*/ 0 h 45719"/>
              <a:gd name="connsiteX0" fmla="*/ 0 w 11165482"/>
              <a:gd name="connsiteY0" fmla="*/ 0 h 45719"/>
              <a:gd name="connsiteX1" fmla="*/ 6144299 w 11165482"/>
              <a:gd name="connsiteY1" fmla="*/ 0 h 45719"/>
              <a:gd name="connsiteX2" fmla="*/ 8715708 w 11165482"/>
              <a:gd name="connsiteY2" fmla="*/ 0 h 45719"/>
              <a:gd name="connsiteX3" fmla="*/ 11165482 w 11165482"/>
              <a:gd name="connsiteY3" fmla="*/ 0 h 45719"/>
              <a:gd name="connsiteX4" fmla="*/ 11165482 w 11165482"/>
              <a:gd name="connsiteY4" fmla="*/ 45719 h 45719"/>
              <a:gd name="connsiteX5" fmla="*/ 8715708 w 11165482"/>
              <a:gd name="connsiteY5" fmla="*/ 45719 h 45719"/>
              <a:gd name="connsiteX6" fmla="*/ 6144299 w 11165482"/>
              <a:gd name="connsiteY6" fmla="*/ 45719 h 45719"/>
              <a:gd name="connsiteX7" fmla="*/ 5021183 w 11165482"/>
              <a:gd name="connsiteY7" fmla="*/ 45719 h 45719"/>
              <a:gd name="connsiteX8" fmla="*/ 0 w 11165482"/>
              <a:gd name="connsiteY8" fmla="*/ 45719 h 45719"/>
              <a:gd name="connsiteX9" fmla="*/ 0 w 11165482"/>
              <a:gd name="connsiteY9" fmla="*/ 0 h 45719"/>
              <a:gd name="connsiteX0" fmla="*/ 0 w 11165482"/>
              <a:gd name="connsiteY0" fmla="*/ 0 h 45719"/>
              <a:gd name="connsiteX1" fmla="*/ 6144299 w 11165482"/>
              <a:gd name="connsiteY1" fmla="*/ 0 h 45719"/>
              <a:gd name="connsiteX2" fmla="*/ 8715708 w 11165482"/>
              <a:gd name="connsiteY2" fmla="*/ 0 h 45719"/>
              <a:gd name="connsiteX3" fmla="*/ 11165482 w 11165482"/>
              <a:gd name="connsiteY3" fmla="*/ 0 h 45719"/>
              <a:gd name="connsiteX4" fmla="*/ 11165482 w 11165482"/>
              <a:gd name="connsiteY4" fmla="*/ 45719 h 45719"/>
              <a:gd name="connsiteX5" fmla="*/ 8715708 w 11165482"/>
              <a:gd name="connsiteY5" fmla="*/ 45719 h 45719"/>
              <a:gd name="connsiteX6" fmla="*/ 5021183 w 11165482"/>
              <a:gd name="connsiteY6" fmla="*/ 45719 h 45719"/>
              <a:gd name="connsiteX7" fmla="*/ 0 w 11165482"/>
              <a:gd name="connsiteY7" fmla="*/ 45719 h 45719"/>
              <a:gd name="connsiteX8" fmla="*/ 0 w 11165482"/>
              <a:gd name="connsiteY8" fmla="*/ 0 h 45719"/>
              <a:gd name="connsiteX0" fmla="*/ 0 w 11165482"/>
              <a:gd name="connsiteY0" fmla="*/ 0 h 45719"/>
              <a:gd name="connsiteX1" fmla="*/ 8715708 w 11165482"/>
              <a:gd name="connsiteY1" fmla="*/ 0 h 45719"/>
              <a:gd name="connsiteX2" fmla="*/ 11165482 w 11165482"/>
              <a:gd name="connsiteY2" fmla="*/ 0 h 45719"/>
              <a:gd name="connsiteX3" fmla="*/ 11165482 w 11165482"/>
              <a:gd name="connsiteY3" fmla="*/ 45719 h 45719"/>
              <a:gd name="connsiteX4" fmla="*/ 8715708 w 11165482"/>
              <a:gd name="connsiteY4" fmla="*/ 45719 h 45719"/>
              <a:gd name="connsiteX5" fmla="*/ 5021183 w 11165482"/>
              <a:gd name="connsiteY5" fmla="*/ 45719 h 45719"/>
              <a:gd name="connsiteX6" fmla="*/ 0 w 11165482"/>
              <a:gd name="connsiteY6" fmla="*/ 45719 h 45719"/>
              <a:gd name="connsiteX7" fmla="*/ 0 w 11165482"/>
              <a:gd name="connsiteY7" fmla="*/ 0 h 45719"/>
              <a:gd name="connsiteX0" fmla="*/ 0 w 11165482"/>
              <a:gd name="connsiteY0" fmla="*/ 0 h 45719"/>
              <a:gd name="connsiteX1" fmla="*/ 8715708 w 11165482"/>
              <a:gd name="connsiteY1" fmla="*/ 0 h 45719"/>
              <a:gd name="connsiteX2" fmla="*/ 11165482 w 11165482"/>
              <a:gd name="connsiteY2" fmla="*/ 0 h 45719"/>
              <a:gd name="connsiteX3" fmla="*/ 11165482 w 11165482"/>
              <a:gd name="connsiteY3" fmla="*/ 45719 h 45719"/>
              <a:gd name="connsiteX4" fmla="*/ 8715708 w 11165482"/>
              <a:gd name="connsiteY4" fmla="*/ 45719 h 45719"/>
              <a:gd name="connsiteX5" fmla="*/ 0 w 11165482"/>
              <a:gd name="connsiteY5" fmla="*/ 45719 h 45719"/>
              <a:gd name="connsiteX6" fmla="*/ 0 w 11165482"/>
              <a:gd name="connsiteY6" fmla="*/ 0 h 45719"/>
              <a:gd name="connsiteX0" fmla="*/ 0 w 11165482"/>
              <a:gd name="connsiteY0" fmla="*/ 0 h 45719"/>
              <a:gd name="connsiteX1" fmla="*/ 8715708 w 11165482"/>
              <a:gd name="connsiteY1" fmla="*/ 0 h 45719"/>
              <a:gd name="connsiteX2" fmla="*/ 11165482 w 11165482"/>
              <a:gd name="connsiteY2" fmla="*/ 0 h 45719"/>
              <a:gd name="connsiteX3" fmla="*/ 11165482 w 11165482"/>
              <a:gd name="connsiteY3" fmla="*/ 45719 h 45719"/>
              <a:gd name="connsiteX4" fmla="*/ 0 w 11165482"/>
              <a:gd name="connsiteY4" fmla="*/ 45719 h 45719"/>
              <a:gd name="connsiteX5" fmla="*/ 0 w 11165482"/>
              <a:gd name="connsiteY5" fmla="*/ 0 h 45719"/>
              <a:gd name="connsiteX0" fmla="*/ 0 w 11165482"/>
              <a:gd name="connsiteY0" fmla="*/ 0 h 45719"/>
              <a:gd name="connsiteX1" fmla="*/ 11165482 w 11165482"/>
              <a:gd name="connsiteY1" fmla="*/ 0 h 45719"/>
              <a:gd name="connsiteX2" fmla="*/ 11165482 w 11165482"/>
              <a:gd name="connsiteY2" fmla="*/ 45719 h 45719"/>
              <a:gd name="connsiteX3" fmla="*/ 0 w 11165482"/>
              <a:gd name="connsiteY3" fmla="*/ 45719 h 45719"/>
              <a:gd name="connsiteX4" fmla="*/ 0 w 11165482"/>
              <a:gd name="connsiteY4" fmla="*/ 0 h 457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165482" h="45719">
                <a:moveTo>
                  <a:pt x="0" y="0"/>
                </a:moveTo>
                <a:lnTo>
                  <a:pt x="11165482" y="0"/>
                </a:lnTo>
                <a:lnTo>
                  <a:pt x="11165482" y="45719"/>
                </a:lnTo>
                <a:lnTo>
                  <a:pt x="0" y="45719"/>
                </a:lnTo>
                <a:lnTo>
                  <a:pt x="0" y="0"/>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139288375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E5D3D4-08B4-35B0-2765-119BF78CCF2A}"/>
              </a:ext>
            </a:extLst>
          </p:cNvPr>
          <p:cNvSpPr>
            <a:spLocks noGrp="1"/>
          </p:cNvSpPr>
          <p:nvPr>
            <p:ph type="title"/>
          </p:nvPr>
        </p:nvSpPr>
        <p:spPr/>
        <p:txBody>
          <a:bodyPr/>
          <a:lstStyle/>
          <a:p>
            <a:r>
              <a:rPr lang="en-US" dirty="0"/>
              <a:t>Prompting &amp; LLM as a Judge</a:t>
            </a:r>
          </a:p>
        </p:txBody>
      </p:sp>
      <p:sp>
        <p:nvSpPr>
          <p:cNvPr id="3" name="Text Placeholder 2">
            <a:extLst>
              <a:ext uri="{FF2B5EF4-FFF2-40B4-BE49-F238E27FC236}">
                <a16:creationId xmlns:a16="http://schemas.microsoft.com/office/drawing/2014/main" id="{23F78320-BF55-F27D-8981-99C95CED3D74}"/>
              </a:ext>
            </a:extLst>
          </p:cNvPr>
          <p:cNvSpPr>
            <a:spLocks noGrp="1"/>
          </p:cNvSpPr>
          <p:nvPr>
            <p:ph type="body" idx="1"/>
          </p:nvPr>
        </p:nvSpPr>
        <p:spPr/>
        <p:txBody>
          <a:bodyPr>
            <a:normAutofit fontScale="92500" lnSpcReduction="20000"/>
          </a:bodyPr>
          <a:lstStyle/>
          <a:p>
            <a:r>
              <a:rPr lang="en-US" dirty="0"/>
              <a:t>Prompt Battle (</a:t>
            </a:r>
            <a:r>
              <a:rPr lang="en-US" dirty="0" err="1"/>
              <a:t>LMArena</a:t>
            </a:r>
            <a:r>
              <a:rPr lang="en-US" dirty="0"/>
              <a:t> or any other provider)</a:t>
            </a:r>
          </a:p>
        </p:txBody>
      </p:sp>
      <p:sp>
        <p:nvSpPr>
          <p:cNvPr id="4" name="Content Placeholder 3">
            <a:extLst>
              <a:ext uri="{FF2B5EF4-FFF2-40B4-BE49-F238E27FC236}">
                <a16:creationId xmlns:a16="http://schemas.microsoft.com/office/drawing/2014/main" id="{FB1B79B5-1CD2-8CBF-CA60-5DA12F5E3907}"/>
              </a:ext>
            </a:extLst>
          </p:cNvPr>
          <p:cNvSpPr>
            <a:spLocks noGrp="1"/>
          </p:cNvSpPr>
          <p:nvPr>
            <p:ph sz="half" idx="2"/>
          </p:nvPr>
        </p:nvSpPr>
        <p:spPr/>
        <p:txBody>
          <a:bodyPr/>
          <a:lstStyle/>
          <a:p>
            <a:r>
              <a:rPr lang="en-US" b="1" dirty="0"/>
              <a:t>The Mission:</a:t>
            </a:r>
            <a:r>
              <a:rPr lang="en-US" dirty="0"/>
              <a:t> You have a dataset of 50 "tricky" customer service emails (sarcasm, mixed languages, subtle complaints) or any other dataset. </a:t>
            </a:r>
            <a:r>
              <a:rPr lang="en-US" u="sng" dirty="0"/>
              <a:t>Note</a:t>
            </a:r>
            <a:r>
              <a:rPr lang="en-US" dirty="0"/>
              <a:t>: </a:t>
            </a:r>
            <a:r>
              <a:rPr lang="en-US" dirty="0" err="1"/>
              <a:t>HuggingFace</a:t>
            </a:r>
            <a:r>
              <a:rPr lang="en-US" dirty="0"/>
              <a:t> datasets.</a:t>
            </a:r>
          </a:p>
          <a:p>
            <a:r>
              <a:rPr lang="en-US" b="1" dirty="0"/>
              <a:t>The Goal:</a:t>
            </a:r>
            <a:r>
              <a:rPr lang="en-US" dirty="0"/>
              <a:t> Extract the </a:t>
            </a:r>
            <a:r>
              <a:rPr lang="en-US" b="1" dirty="0"/>
              <a:t>Core Issue</a:t>
            </a:r>
            <a:r>
              <a:rPr lang="en-US" dirty="0"/>
              <a:t> and </a:t>
            </a:r>
            <a:r>
              <a:rPr lang="en-US" b="1" dirty="0"/>
              <a:t>Sentiment</a:t>
            </a:r>
            <a:r>
              <a:rPr lang="en-US" dirty="0"/>
              <a:t> with 100% accuracy.</a:t>
            </a:r>
          </a:p>
          <a:p>
            <a:r>
              <a:rPr lang="en-US" b="1" dirty="0"/>
              <a:t>The Constraint:</a:t>
            </a:r>
            <a:r>
              <a:rPr lang="en-US" dirty="0"/>
              <a:t> You cannot change the model (e.g., Llama 3.2 or GPT-5-mini). You can only change the </a:t>
            </a:r>
            <a:r>
              <a:rPr lang="en-US" i="1" dirty="0"/>
              <a:t>Prompt</a:t>
            </a:r>
            <a:r>
              <a:rPr lang="en-US" dirty="0"/>
              <a:t>. [ Use your own LLM model]</a:t>
            </a:r>
          </a:p>
          <a:p>
            <a:pPr marL="0" indent="0">
              <a:buNone/>
            </a:pPr>
            <a:endParaRPr lang="en-US" dirty="0"/>
          </a:p>
        </p:txBody>
      </p:sp>
      <p:sp>
        <p:nvSpPr>
          <p:cNvPr id="5" name="Text Placeholder 4">
            <a:extLst>
              <a:ext uri="{FF2B5EF4-FFF2-40B4-BE49-F238E27FC236}">
                <a16:creationId xmlns:a16="http://schemas.microsoft.com/office/drawing/2014/main" id="{049501B0-AA4D-38CB-0F05-0373AFAB9325}"/>
              </a:ext>
            </a:extLst>
          </p:cNvPr>
          <p:cNvSpPr>
            <a:spLocks noGrp="1"/>
          </p:cNvSpPr>
          <p:nvPr>
            <p:ph type="body" sz="quarter" idx="3"/>
          </p:nvPr>
        </p:nvSpPr>
        <p:spPr/>
        <p:txBody>
          <a:bodyPr>
            <a:normAutofit fontScale="92500" lnSpcReduction="20000"/>
          </a:bodyPr>
          <a:lstStyle/>
          <a:p>
            <a:r>
              <a:rPr lang="en-US" dirty="0"/>
              <a:t>LLM as a Judge</a:t>
            </a:r>
          </a:p>
        </p:txBody>
      </p:sp>
      <p:sp>
        <p:nvSpPr>
          <p:cNvPr id="6" name="Content Placeholder 5">
            <a:extLst>
              <a:ext uri="{FF2B5EF4-FFF2-40B4-BE49-F238E27FC236}">
                <a16:creationId xmlns:a16="http://schemas.microsoft.com/office/drawing/2014/main" id="{04D04C9F-A216-8690-42A1-25BBE4026E52}"/>
              </a:ext>
            </a:extLst>
          </p:cNvPr>
          <p:cNvSpPr>
            <a:spLocks noGrp="1"/>
          </p:cNvSpPr>
          <p:nvPr>
            <p:ph sz="quarter" idx="4"/>
          </p:nvPr>
        </p:nvSpPr>
        <p:spPr/>
        <p:txBody>
          <a:bodyPr/>
          <a:lstStyle/>
          <a:p>
            <a:r>
              <a:rPr lang="en-US" b="1" dirty="0"/>
              <a:t>How we grade:</a:t>
            </a:r>
            <a:r>
              <a:rPr lang="en-US" dirty="0"/>
              <a:t> We won't grade manually. We will use LLM as the "Judge."</a:t>
            </a:r>
          </a:p>
          <a:p>
            <a:r>
              <a:rPr lang="en-US" b="1" dirty="0"/>
              <a:t>The Rubric (Code Provided):</a:t>
            </a:r>
            <a:endParaRPr lang="en-US" dirty="0"/>
          </a:p>
          <a:p>
            <a:pPr lvl="1"/>
            <a:r>
              <a:rPr lang="en-US" i="1" dirty="0"/>
              <a:t>Correctness (1-5):</a:t>
            </a:r>
            <a:r>
              <a:rPr lang="en-US" dirty="0"/>
              <a:t> Did it identify the right product?</a:t>
            </a:r>
          </a:p>
          <a:p>
            <a:pPr lvl="1"/>
            <a:r>
              <a:rPr lang="en-US" i="1" dirty="0"/>
              <a:t>Format (Pass/Fail):</a:t>
            </a:r>
            <a:r>
              <a:rPr lang="en-US" dirty="0"/>
              <a:t> Is it valid JSON?</a:t>
            </a:r>
          </a:p>
          <a:p>
            <a:pPr lvl="1"/>
            <a:r>
              <a:rPr lang="en-US" i="1" dirty="0"/>
              <a:t>Reasoning:</a:t>
            </a:r>
            <a:r>
              <a:rPr lang="en-US" dirty="0"/>
              <a:t> Did it explain why?</a:t>
            </a:r>
          </a:p>
          <a:p>
            <a:r>
              <a:rPr lang="en-US" b="1" dirty="0"/>
              <a:t>Why this matters:</a:t>
            </a:r>
            <a:r>
              <a:rPr lang="en-US" dirty="0"/>
              <a:t> This is how industry evaluates AI systems at scale</a:t>
            </a:r>
          </a:p>
          <a:p>
            <a:pPr marL="0" indent="0">
              <a:buNone/>
            </a:pPr>
            <a:endParaRPr lang="en-US" dirty="0"/>
          </a:p>
        </p:txBody>
      </p:sp>
    </p:spTree>
    <p:extLst>
      <p:ext uri="{BB962C8B-B14F-4D97-AF65-F5344CB8AC3E}">
        <p14:creationId xmlns:p14="http://schemas.microsoft.com/office/powerpoint/2010/main" val="4267563119"/>
      </p:ext>
    </p:extLst>
  </p:cSld>
  <p:clrMapOvr>
    <a:masterClrMapping/>
  </p:clrMapOvr>
</p:sld>
</file>

<file path=ppt/theme/theme1.xml><?xml version="1.0" encoding="utf-8"?>
<a:theme xmlns:a="http://schemas.openxmlformats.org/drawingml/2006/main" name="GestaltVTI">
  <a:themeElements>
    <a:clrScheme name="Gestalt">
      <a:dk1>
        <a:srgbClr val="000000"/>
      </a:dk1>
      <a:lt1>
        <a:sysClr val="window" lastClr="FFFFFF"/>
      </a:lt1>
      <a:dk2>
        <a:srgbClr val="262626"/>
      </a:dk2>
      <a:lt2>
        <a:srgbClr val="F7F7F7"/>
      </a:lt2>
      <a:accent1>
        <a:srgbClr val="EBA000"/>
      </a:accent1>
      <a:accent2>
        <a:srgbClr val="00BAC8"/>
      </a:accent2>
      <a:accent3>
        <a:srgbClr val="E64823"/>
      </a:accent3>
      <a:accent4>
        <a:srgbClr val="4D5AFF"/>
      </a:accent4>
      <a:accent5>
        <a:srgbClr val="FE5D21"/>
      </a:accent5>
      <a:accent6>
        <a:srgbClr val="00C777"/>
      </a:accent6>
      <a:hlink>
        <a:srgbClr val="2998E3"/>
      </a:hlink>
      <a:folHlink>
        <a:srgbClr val="939393"/>
      </a:folHlink>
    </a:clrScheme>
    <a:fontScheme name="Gestalt">
      <a:majorFont>
        <a:latin typeface="Bierstadt"/>
        <a:ea typeface=""/>
        <a:cs typeface=""/>
      </a:majorFont>
      <a:minorFont>
        <a:latin typeface="Bierstad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GestaltVTI" id="{4F87C71D-53D1-4B71-BF97-FD0EA4B25665}" vid="{A110AFC4-8D8A-4C02-8885-7BA370B379B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133</TotalTime>
  <Words>1553</Words>
  <Application>Microsoft Office PowerPoint</Application>
  <PresentationFormat>Widescreen</PresentationFormat>
  <Paragraphs>110</Paragraphs>
  <Slides>23</Slides>
  <Notes>5</Notes>
  <HiddenSlides>0</HiddenSlides>
  <MMClips>1</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23</vt:i4>
      </vt:variant>
    </vt:vector>
  </HeadingPairs>
  <TitlesOfParts>
    <vt:vector size="28" baseType="lpstr">
      <vt:lpstr>Aptos</vt:lpstr>
      <vt:lpstr>Arial</vt:lpstr>
      <vt:lpstr>Bierstadt</vt:lpstr>
      <vt:lpstr>Neue Haas Grotesk Text Pro</vt:lpstr>
      <vt:lpstr>GestaltVTI</vt:lpstr>
      <vt:lpstr>Prompt Engineering &amp; In-Context Learning</vt:lpstr>
      <vt:lpstr>PowerPoint Presentation</vt:lpstr>
      <vt:lpstr> The Mental Shift (2023 vs. 2025)</vt:lpstr>
      <vt:lpstr> Prompt Engineering is "Soft Programming"</vt:lpstr>
      <vt:lpstr>The 4 Components of a Perfect Prompt (there are many actually)</vt:lpstr>
      <vt:lpstr>PowerPoint Presentation</vt:lpstr>
      <vt:lpstr>PowerPoint Presentation</vt:lpstr>
      <vt:lpstr>Level 1: Zero-Shot vs. Few-Shot</vt:lpstr>
      <vt:lpstr>Level 2: Chain-of-Thought (CoT)</vt:lpstr>
      <vt:lpstr>Level 3: Tree-of-Thoughts &amp; Self-Consistency</vt:lpstr>
      <vt:lpstr>Level 4: Structured Output (JSON Mode)</vt:lpstr>
      <vt:lpstr> "Context Engineering" (The Window)</vt:lpstr>
      <vt:lpstr>PowerPoint Presentation</vt:lpstr>
      <vt:lpstr>PowerPoint Presentation</vt:lpstr>
      <vt:lpstr>PowerPoint Presentation</vt:lpstr>
      <vt:lpstr>"Don't Write Prompts, Compile Them"</vt:lpstr>
      <vt:lpstr> System 2 Reasoning Models</vt:lpstr>
      <vt:lpstr>PowerPoint Presentation</vt:lpstr>
      <vt:lpstr>PowerPoint Presentation</vt:lpstr>
      <vt:lpstr>PowerPoint Presentation</vt:lpstr>
      <vt:lpstr>PowerPoint Presentation</vt:lpstr>
      <vt:lpstr>PowerPoint Presentation</vt:lpstr>
      <vt:lpstr>Prompting &amp; LLM as a Judge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Srikanth Bhakthan</dc:creator>
  <cp:lastModifiedBy>Srikanth Bhakthan</cp:lastModifiedBy>
  <cp:revision>8</cp:revision>
  <dcterms:created xsi:type="dcterms:W3CDTF">2025-11-26T00:05:48Z</dcterms:created>
  <dcterms:modified xsi:type="dcterms:W3CDTF">2025-12-01T15:00:24Z</dcterms:modified>
</cp:coreProperties>
</file>