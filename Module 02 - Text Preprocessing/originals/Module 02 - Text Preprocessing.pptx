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9" r:id="rId14"/>
    <p:sldId id="268" r:id="rId15"/>
    <p:sldId id="270" r:id="rId16"/>
    <p:sldId id="271" r:id="rId17"/>
    <p:sldId id="272" r:id="rId18"/>
    <p:sldId id="274" r:id="rId19"/>
    <p:sldId id="277" r:id="rId20"/>
    <p:sldId id="275" r:id="rId21"/>
    <p:sldId id="276" r:id="rId22"/>
    <p:sldId id="273" r:id="rId23"/>
    <p:sldId id="282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90191-4A91-44CD-A492-D680BDCE8F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E04E32-4FDD-4045-8574-B0D6C5CC1D66}">
      <dgm:prSet/>
      <dgm:spPr/>
      <dgm:t>
        <a:bodyPr/>
        <a:lstStyle/>
        <a:p>
          <a:r>
            <a:rPr lang="en-US"/>
            <a:t>How Machines "Read" – From Cleaning Text to Vector Spaces</a:t>
          </a:r>
        </a:p>
      </dgm:t>
    </dgm:pt>
    <dgm:pt modelId="{CDD6DC0D-3049-49AC-9904-362B54ECC4F3}" type="parTrans" cxnId="{4419E7F5-18FC-4DA2-9E20-C1A2C8BDB972}">
      <dgm:prSet/>
      <dgm:spPr/>
      <dgm:t>
        <a:bodyPr/>
        <a:lstStyle/>
        <a:p>
          <a:endParaRPr lang="en-US"/>
        </a:p>
      </dgm:t>
    </dgm:pt>
    <dgm:pt modelId="{B5B3ACA1-2EA3-4CEA-82A8-A053B67E6D2B}" type="sibTrans" cxnId="{4419E7F5-18FC-4DA2-9E20-C1A2C8BDB972}">
      <dgm:prSet/>
      <dgm:spPr/>
      <dgm:t>
        <a:bodyPr/>
        <a:lstStyle/>
        <a:p>
          <a:endParaRPr lang="en-US"/>
        </a:p>
      </dgm:t>
    </dgm:pt>
    <dgm:pt modelId="{027DE8BC-477C-4C71-B0BF-0A19BE0FD47D}">
      <dgm:prSet/>
      <dgm:spPr/>
      <dgm:t>
        <a:bodyPr/>
        <a:lstStyle/>
        <a:p>
          <a:r>
            <a:rPr lang="en-US" b="1" dirty="0"/>
            <a:t>Imagine:</a:t>
          </a:r>
          <a:r>
            <a:rPr lang="en-US" dirty="0"/>
            <a:t> A sentence passing through a prism and turning into a stream of binary/vectors.</a:t>
          </a:r>
        </a:p>
      </dgm:t>
    </dgm:pt>
    <dgm:pt modelId="{EC1909E5-5590-4668-9143-C16BBBF002F4}" type="parTrans" cxnId="{BB9593D4-79A4-4283-8871-046BD5E5D457}">
      <dgm:prSet/>
      <dgm:spPr/>
      <dgm:t>
        <a:bodyPr/>
        <a:lstStyle/>
        <a:p>
          <a:endParaRPr lang="en-US"/>
        </a:p>
      </dgm:t>
    </dgm:pt>
    <dgm:pt modelId="{37A20C42-E9FA-43F5-ACE1-5993DFFF8359}" type="sibTrans" cxnId="{BB9593D4-79A4-4283-8871-046BD5E5D457}">
      <dgm:prSet/>
      <dgm:spPr/>
      <dgm:t>
        <a:bodyPr/>
        <a:lstStyle/>
        <a:p>
          <a:endParaRPr lang="en-US"/>
        </a:p>
      </dgm:t>
    </dgm:pt>
    <dgm:pt modelId="{5BE9775A-D6FC-4FA7-98FC-BD6402964433}" type="pres">
      <dgm:prSet presAssocID="{37B90191-4A91-44CD-A492-D680BDCE8F0D}" presName="root" presStyleCnt="0">
        <dgm:presLayoutVars>
          <dgm:dir/>
          <dgm:resizeHandles val="exact"/>
        </dgm:presLayoutVars>
      </dgm:prSet>
      <dgm:spPr/>
    </dgm:pt>
    <dgm:pt modelId="{D9C20033-6885-4338-B333-AC3167C9756F}" type="pres">
      <dgm:prSet presAssocID="{7EE04E32-4FDD-4045-8574-B0D6C5CC1D66}" presName="compNode" presStyleCnt="0"/>
      <dgm:spPr/>
    </dgm:pt>
    <dgm:pt modelId="{E3778A88-31D1-442D-B7D3-6CCB88F490A1}" type="pres">
      <dgm:prSet presAssocID="{7EE04E32-4FDD-4045-8574-B0D6C5CC1D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89035569-D6DE-4E12-ABC0-9DA0E73A9DB6}" type="pres">
      <dgm:prSet presAssocID="{7EE04E32-4FDD-4045-8574-B0D6C5CC1D66}" presName="spaceRect" presStyleCnt="0"/>
      <dgm:spPr/>
    </dgm:pt>
    <dgm:pt modelId="{5AC27FA7-C1D6-44D4-B9D0-AABBA81342C6}" type="pres">
      <dgm:prSet presAssocID="{7EE04E32-4FDD-4045-8574-B0D6C5CC1D66}" presName="textRect" presStyleLbl="revTx" presStyleIdx="0" presStyleCnt="2">
        <dgm:presLayoutVars>
          <dgm:chMax val="1"/>
          <dgm:chPref val="1"/>
        </dgm:presLayoutVars>
      </dgm:prSet>
      <dgm:spPr/>
    </dgm:pt>
    <dgm:pt modelId="{5EEDD777-59AD-4563-AB16-0071DE0B48FD}" type="pres">
      <dgm:prSet presAssocID="{B5B3ACA1-2EA3-4CEA-82A8-A053B67E6D2B}" presName="sibTrans" presStyleCnt="0"/>
      <dgm:spPr/>
    </dgm:pt>
    <dgm:pt modelId="{D55F508B-88F5-49D7-98DE-F71CA8D46D39}" type="pres">
      <dgm:prSet presAssocID="{027DE8BC-477C-4C71-B0BF-0A19BE0FD47D}" presName="compNode" presStyleCnt="0"/>
      <dgm:spPr/>
    </dgm:pt>
    <dgm:pt modelId="{298615FC-C009-44BA-B8C0-3ACD2D92F062}" type="pres">
      <dgm:prSet presAssocID="{027DE8BC-477C-4C71-B0BF-0A19BE0FD47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41913B95-7DD3-43DE-8CB4-34E09D9CD779}" type="pres">
      <dgm:prSet presAssocID="{027DE8BC-477C-4C71-B0BF-0A19BE0FD47D}" presName="spaceRect" presStyleCnt="0"/>
      <dgm:spPr/>
    </dgm:pt>
    <dgm:pt modelId="{9173BF73-4145-4A1E-A898-E41D737BDEA6}" type="pres">
      <dgm:prSet presAssocID="{027DE8BC-477C-4C71-B0BF-0A19BE0FD47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A363A2C-8835-4BD6-BA90-6C179567D0EA}" type="presOf" srcId="{027DE8BC-477C-4C71-B0BF-0A19BE0FD47D}" destId="{9173BF73-4145-4A1E-A898-E41D737BDEA6}" srcOrd="0" destOrd="0" presId="urn:microsoft.com/office/officeart/2018/2/layout/IconLabelList"/>
    <dgm:cxn modelId="{4D489069-9A68-464F-A5D6-F3E6354280EA}" type="presOf" srcId="{37B90191-4A91-44CD-A492-D680BDCE8F0D}" destId="{5BE9775A-D6FC-4FA7-98FC-BD6402964433}" srcOrd="0" destOrd="0" presId="urn:microsoft.com/office/officeart/2018/2/layout/IconLabelList"/>
    <dgm:cxn modelId="{5260C587-294F-4505-A88C-9FA593B211EC}" type="presOf" srcId="{7EE04E32-4FDD-4045-8574-B0D6C5CC1D66}" destId="{5AC27FA7-C1D6-44D4-B9D0-AABBA81342C6}" srcOrd="0" destOrd="0" presId="urn:microsoft.com/office/officeart/2018/2/layout/IconLabelList"/>
    <dgm:cxn modelId="{BB9593D4-79A4-4283-8871-046BD5E5D457}" srcId="{37B90191-4A91-44CD-A492-D680BDCE8F0D}" destId="{027DE8BC-477C-4C71-B0BF-0A19BE0FD47D}" srcOrd="1" destOrd="0" parTransId="{EC1909E5-5590-4668-9143-C16BBBF002F4}" sibTransId="{37A20C42-E9FA-43F5-ACE1-5993DFFF8359}"/>
    <dgm:cxn modelId="{4419E7F5-18FC-4DA2-9E20-C1A2C8BDB972}" srcId="{37B90191-4A91-44CD-A492-D680BDCE8F0D}" destId="{7EE04E32-4FDD-4045-8574-B0D6C5CC1D66}" srcOrd="0" destOrd="0" parTransId="{CDD6DC0D-3049-49AC-9904-362B54ECC4F3}" sibTransId="{B5B3ACA1-2EA3-4CEA-82A8-A053B67E6D2B}"/>
    <dgm:cxn modelId="{92A7D096-7684-42F0-B77F-8EEE23728FCF}" type="presParOf" srcId="{5BE9775A-D6FC-4FA7-98FC-BD6402964433}" destId="{D9C20033-6885-4338-B333-AC3167C9756F}" srcOrd="0" destOrd="0" presId="urn:microsoft.com/office/officeart/2018/2/layout/IconLabelList"/>
    <dgm:cxn modelId="{4747F9E4-B54B-4BD4-92BF-E1B098AEDC64}" type="presParOf" srcId="{D9C20033-6885-4338-B333-AC3167C9756F}" destId="{E3778A88-31D1-442D-B7D3-6CCB88F490A1}" srcOrd="0" destOrd="0" presId="urn:microsoft.com/office/officeart/2018/2/layout/IconLabelList"/>
    <dgm:cxn modelId="{632B97C1-F229-4186-882E-D00B8F5B1661}" type="presParOf" srcId="{D9C20033-6885-4338-B333-AC3167C9756F}" destId="{89035569-D6DE-4E12-ABC0-9DA0E73A9DB6}" srcOrd="1" destOrd="0" presId="urn:microsoft.com/office/officeart/2018/2/layout/IconLabelList"/>
    <dgm:cxn modelId="{3D5171D2-575A-4FD5-A56E-55345EC94BB3}" type="presParOf" srcId="{D9C20033-6885-4338-B333-AC3167C9756F}" destId="{5AC27FA7-C1D6-44D4-B9D0-AABBA81342C6}" srcOrd="2" destOrd="0" presId="urn:microsoft.com/office/officeart/2018/2/layout/IconLabelList"/>
    <dgm:cxn modelId="{461F864C-C659-4898-BE4C-11CE9ECBB221}" type="presParOf" srcId="{5BE9775A-D6FC-4FA7-98FC-BD6402964433}" destId="{5EEDD777-59AD-4563-AB16-0071DE0B48FD}" srcOrd="1" destOrd="0" presId="urn:microsoft.com/office/officeart/2018/2/layout/IconLabelList"/>
    <dgm:cxn modelId="{6CA58B13-B8C9-4C81-AA09-F08C9AF0DCFF}" type="presParOf" srcId="{5BE9775A-D6FC-4FA7-98FC-BD6402964433}" destId="{D55F508B-88F5-49D7-98DE-F71CA8D46D39}" srcOrd="2" destOrd="0" presId="urn:microsoft.com/office/officeart/2018/2/layout/IconLabelList"/>
    <dgm:cxn modelId="{09756AF7-F8CD-4392-BE71-3693F006BF18}" type="presParOf" srcId="{D55F508B-88F5-49D7-98DE-F71CA8D46D39}" destId="{298615FC-C009-44BA-B8C0-3ACD2D92F062}" srcOrd="0" destOrd="0" presId="urn:microsoft.com/office/officeart/2018/2/layout/IconLabelList"/>
    <dgm:cxn modelId="{048D0843-BB72-4E9A-830D-DF251B68989D}" type="presParOf" srcId="{D55F508B-88F5-49D7-98DE-F71CA8D46D39}" destId="{41913B95-7DD3-43DE-8CB4-34E09D9CD779}" srcOrd="1" destOrd="0" presId="urn:microsoft.com/office/officeart/2018/2/layout/IconLabelList"/>
    <dgm:cxn modelId="{942A04FE-7BD5-4D6E-BC89-E799C0DF44F4}" type="presParOf" srcId="{D55F508B-88F5-49D7-98DE-F71CA8D46D39}" destId="{9173BF73-4145-4A1E-A898-E41D737BDE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B2B40B-8E58-4E8B-8EA2-FD11DEA014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6809DE-F091-4622-8153-072CDB07D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Computers don't speak English.</a:t>
          </a:r>
          <a:r>
            <a:rPr lang="en-US"/>
            <a:t> They speak Math (Matrix operations).</a:t>
          </a:r>
        </a:p>
      </dgm:t>
    </dgm:pt>
    <dgm:pt modelId="{C3FCD3E0-3655-43D2-9770-2D2F36215018}" type="parTrans" cxnId="{378B1357-01FA-4ED0-B038-7E7A44B2DB40}">
      <dgm:prSet/>
      <dgm:spPr/>
      <dgm:t>
        <a:bodyPr/>
        <a:lstStyle/>
        <a:p>
          <a:endParaRPr lang="en-US"/>
        </a:p>
      </dgm:t>
    </dgm:pt>
    <dgm:pt modelId="{89E19DD4-670F-422F-B377-42DC139C1DF1}" type="sibTrans" cxnId="{378B1357-01FA-4ED0-B038-7E7A44B2DB40}">
      <dgm:prSet/>
      <dgm:spPr/>
      <dgm:t>
        <a:bodyPr/>
        <a:lstStyle/>
        <a:p>
          <a:endParaRPr lang="en-US"/>
        </a:p>
      </dgm:t>
    </dgm:pt>
    <dgm:pt modelId="{F7B401C5-8F1F-4856-A1FB-7ECB9A84E1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Challenge:</a:t>
          </a:r>
          <a:r>
            <a:rPr lang="en-US"/>
            <a:t> How do we convert variable-length, messy text strings into fixed-size numerical vectors?</a:t>
          </a:r>
        </a:p>
      </dgm:t>
    </dgm:pt>
    <dgm:pt modelId="{4F109C73-4A58-4E2F-925E-E82F7BA552B6}" type="parTrans" cxnId="{392CB1EC-1437-4C4A-88B6-BF778769EEB9}">
      <dgm:prSet/>
      <dgm:spPr/>
      <dgm:t>
        <a:bodyPr/>
        <a:lstStyle/>
        <a:p>
          <a:endParaRPr lang="en-US"/>
        </a:p>
      </dgm:t>
    </dgm:pt>
    <dgm:pt modelId="{D4DB83D6-5FDE-4F57-92C4-799BCC6C9E20}" type="sibTrans" cxnId="{392CB1EC-1437-4C4A-88B6-BF778769EEB9}">
      <dgm:prSet/>
      <dgm:spPr/>
      <dgm:t>
        <a:bodyPr/>
        <a:lstStyle/>
        <a:p>
          <a:endParaRPr lang="en-US"/>
        </a:p>
      </dgm:t>
    </dgm:pt>
    <dgm:pt modelId="{99E5D14E-FCF9-4925-A2FD-B9693BA749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Pipeline:</a:t>
          </a:r>
          <a:endParaRPr lang="en-US"/>
        </a:p>
      </dgm:t>
    </dgm:pt>
    <dgm:pt modelId="{2B7AFA49-10A3-4F7F-9E2B-C98EDC27B42E}" type="parTrans" cxnId="{C32C8E39-6D66-4E0A-A4BD-FE3CA334777C}">
      <dgm:prSet/>
      <dgm:spPr/>
      <dgm:t>
        <a:bodyPr/>
        <a:lstStyle/>
        <a:p>
          <a:endParaRPr lang="en-US"/>
        </a:p>
      </dgm:t>
    </dgm:pt>
    <dgm:pt modelId="{D75219BC-229B-40D6-B45B-F5A862BD8C16}" type="sibTrans" cxnId="{C32C8E39-6D66-4E0A-A4BD-FE3CA334777C}">
      <dgm:prSet/>
      <dgm:spPr/>
      <dgm:t>
        <a:bodyPr/>
        <a:lstStyle/>
        <a:p>
          <a:endParaRPr lang="en-US"/>
        </a:p>
      </dgm:t>
    </dgm:pt>
    <dgm:pt modelId="{607ABBA1-14B0-4F4E-B785-69ACAE2ED1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>
              <a:solidFill>
                <a:schemeClr val="bg2">
                  <a:lumMod val="50000"/>
                </a:schemeClr>
              </a:solidFill>
            </a:rPr>
            <a:t>Clean</a:t>
          </a:r>
          <a:r>
            <a:rPr lang="en-US" sz="1500" b="1" dirty="0"/>
            <a:t>:</a:t>
          </a:r>
          <a:r>
            <a:rPr lang="en-US" sz="1500" dirty="0"/>
            <a:t> Remove noise (Preprocessing).</a:t>
          </a:r>
        </a:p>
      </dgm:t>
    </dgm:pt>
    <dgm:pt modelId="{5AC54FD4-F7FA-4478-8B5D-9C98691A4283}" type="parTrans" cxnId="{51A5C60E-0343-4702-AD71-A626E1B0C5E4}">
      <dgm:prSet/>
      <dgm:spPr/>
      <dgm:t>
        <a:bodyPr/>
        <a:lstStyle/>
        <a:p>
          <a:endParaRPr lang="en-US"/>
        </a:p>
      </dgm:t>
    </dgm:pt>
    <dgm:pt modelId="{E9200392-0359-4C35-A1C6-10E49EC8CCD2}" type="sibTrans" cxnId="{51A5C60E-0343-4702-AD71-A626E1B0C5E4}">
      <dgm:prSet/>
      <dgm:spPr/>
      <dgm:t>
        <a:bodyPr/>
        <a:lstStyle/>
        <a:p>
          <a:endParaRPr lang="en-US"/>
        </a:p>
      </dgm:t>
    </dgm:pt>
    <dgm:pt modelId="{D8FBEF83-0702-4A45-AACD-B92412A476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>
              <a:solidFill>
                <a:schemeClr val="bg2">
                  <a:lumMod val="50000"/>
                </a:schemeClr>
              </a:solidFill>
            </a:rPr>
            <a:t>Tokenize</a:t>
          </a:r>
          <a:r>
            <a:rPr lang="en-US" sz="1500" b="1" dirty="0"/>
            <a:t>:</a:t>
          </a:r>
          <a:r>
            <a:rPr lang="en-US" sz="1500" dirty="0"/>
            <a:t> Chop into units.</a:t>
          </a:r>
        </a:p>
      </dgm:t>
    </dgm:pt>
    <dgm:pt modelId="{CE387519-482C-4A85-A035-669FBA1389AF}" type="parTrans" cxnId="{BB27D28B-668D-4AE2-BCB0-F8BC18C36EA8}">
      <dgm:prSet/>
      <dgm:spPr/>
      <dgm:t>
        <a:bodyPr/>
        <a:lstStyle/>
        <a:p>
          <a:endParaRPr lang="en-US"/>
        </a:p>
      </dgm:t>
    </dgm:pt>
    <dgm:pt modelId="{EC3F82C2-83C0-476F-A047-152555285C12}" type="sibTrans" cxnId="{BB27D28B-668D-4AE2-BCB0-F8BC18C36EA8}">
      <dgm:prSet/>
      <dgm:spPr/>
      <dgm:t>
        <a:bodyPr/>
        <a:lstStyle/>
        <a:p>
          <a:endParaRPr lang="en-US"/>
        </a:p>
      </dgm:t>
    </dgm:pt>
    <dgm:pt modelId="{564E2B7E-13B3-4E7A-B7F4-0A696D898B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>
              <a:solidFill>
                <a:schemeClr val="bg2">
                  <a:lumMod val="50000"/>
                </a:schemeClr>
              </a:solidFill>
            </a:rPr>
            <a:t>Vectorize</a:t>
          </a:r>
          <a:r>
            <a:rPr lang="en-US" sz="1500" b="1" dirty="0"/>
            <a:t>:</a:t>
          </a:r>
          <a:r>
            <a:rPr lang="en-US" sz="1500" dirty="0"/>
            <a:t> Turn units into numbers.</a:t>
          </a:r>
        </a:p>
      </dgm:t>
    </dgm:pt>
    <dgm:pt modelId="{AE0A38D2-5983-45BD-81F1-C52B60F4C72B}" type="parTrans" cxnId="{02A5CA33-2C67-475E-984D-2CCAE906085C}">
      <dgm:prSet/>
      <dgm:spPr/>
      <dgm:t>
        <a:bodyPr/>
        <a:lstStyle/>
        <a:p>
          <a:endParaRPr lang="en-US"/>
        </a:p>
      </dgm:t>
    </dgm:pt>
    <dgm:pt modelId="{85B57C63-FBD7-4C1A-A978-67D1CF323C04}" type="sibTrans" cxnId="{02A5CA33-2C67-475E-984D-2CCAE906085C}">
      <dgm:prSet/>
      <dgm:spPr/>
      <dgm:t>
        <a:bodyPr/>
        <a:lstStyle/>
        <a:p>
          <a:endParaRPr lang="en-US"/>
        </a:p>
      </dgm:t>
    </dgm:pt>
    <dgm:pt modelId="{64EB8AE5-E803-44E3-B523-AEE7C00F41F4}" type="pres">
      <dgm:prSet presAssocID="{1EB2B40B-8E58-4E8B-8EA2-FD11DEA0140A}" presName="root" presStyleCnt="0">
        <dgm:presLayoutVars>
          <dgm:dir/>
          <dgm:resizeHandles val="exact"/>
        </dgm:presLayoutVars>
      </dgm:prSet>
      <dgm:spPr/>
    </dgm:pt>
    <dgm:pt modelId="{C252CB3D-92F6-4D9E-B779-C1FF77C7CA53}" type="pres">
      <dgm:prSet presAssocID="{946809DE-F091-4622-8153-072CDB07D077}" presName="compNode" presStyleCnt="0"/>
      <dgm:spPr/>
    </dgm:pt>
    <dgm:pt modelId="{AA609061-B24B-4BF5-83EB-543BD6EFB863}" type="pres">
      <dgm:prSet presAssocID="{946809DE-F091-4622-8153-072CDB07D077}" presName="bgRect" presStyleLbl="bgShp" presStyleIdx="0" presStyleCnt="3"/>
      <dgm:spPr/>
    </dgm:pt>
    <dgm:pt modelId="{AE7650DD-88C9-4314-B49D-9E78F6361E4B}" type="pres">
      <dgm:prSet presAssocID="{946809DE-F091-4622-8153-072CDB07D0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ED2C450-27A8-4D57-8C28-AFE0290EFA1D}" type="pres">
      <dgm:prSet presAssocID="{946809DE-F091-4622-8153-072CDB07D077}" presName="spaceRect" presStyleCnt="0"/>
      <dgm:spPr/>
    </dgm:pt>
    <dgm:pt modelId="{AE3ED47A-3A45-451D-9D8E-06EB5FFAD844}" type="pres">
      <dgm:prSet presAssocID="{946809DE-F091-4622-8153-072CDB07D077}" presName="parTx" presStyleLbl="revTx" presStyleIdx="0" presStyleCnt="4">
        <dgm:presLayoutVars>
          <dgm:chMax val="0"/>
          <dgm:chPref val="0"/>
        </dgm:presLayoutVars>
      </dgm:prSet>
      <dgm:spPr/>
    </dgm:pt>
    <dgm:pt modelId="{263BE562-FAC1-43A3-80C3-DD1EF138443E}" type="pres">
      <dgm:prSet presAssocID="{89E19DD4-670F-422F-B377-42DC139C1DF1}" presName="sibTrans" presStyleCnt="0"/>
      <dgm:spPr/>
    </dgm:pt>
    <dgm:pt modelId="{4E54A7E6-7196-46D7-9CB0-53E9BE31DFFD}" type="pres">
      <dgm:prSet presAssocID="{F7B401C5-8F1F-4856-A1FB-7ECB9A84E1AD}" presName="compNode" presStyleCnt="0"/>
      <dgm:spPr/>
    </dgm:pt>
    <dgm:pt modelId="{A1B661C4-BDED-4C8E-92B7-F82C9B8060E6}" type="pres">
      <dgm:prSet presAssocID="{F7B401C5-8F1F-4856-A1FB-7ECB9A84E1AD}" presName="bgRect" presStyleLbl="bgShp" presStyleIdx="1" presStyleCnt="3"/>
      <dgm:spPr/>
    </dgm:pt>
    <dgm:pt modelId="{A61A665B-E488-424B-915C-08FE0BC70BB3}" type="pres">
      <dgm:prSet presAssocID="{F7B401C5-8F1F-4856-A1FB-7ECB9A84E1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D68648DC-CD02-4A72-847C-23852CD82E3D}" type="pres">
      <dgm:prSet presAssocID="{F7B401C5-8F1F-4856-A1FB-7ECB9A84E1AD}" presName="spaceRect" presStyleCnt="0"/>
      <dgm:spPr/>
    </dgm:pt>
    <dgm:pt modelId="{7B6EC100-6BD6-4CD6-A0DE-BFD7146AEFB4}" type="pres">
      <dgm:prSet presAssocID="{F7B401C5-8F1F-4856-A1FB-7ECB9A84E1AD}" presName="parTx" presStyleLbl="revTx" presStyleIdx="1" presStyleCnt="4">
        <dgm:presLayoutVars>
          <dgm:chMax val="0"/>
          <dgm:chPref val="0"/>
        </dgm:presLayoutVars>
      </dgm:prSet>
      <dgm:spPr/>
    </dgm:pt>
    <dgm:pt modelId="{9E618A20-0B2A-492C-9AC9-5F4FA977178D}" type="pres">
      <dgm:prSet presAssocID="{D4DB83D6-5FDE-4F57-92C4-799BCC6C9E20}" presName="sibTrans" presStyleCnt="0"/>
      <dgm:spPr/>
    </dgm:pt>
    <dgm:pt modelId="{EF5899A5-3AEE-4FAD-BBC2-68A69E6C072B}" type="pres">
      <dgm:prSet presAssocID="{99E5D14E-FCF9-4925-A2FD-B9693BA74965}" presName="compNode" presStyleCnt="0"/>
      <dgm:spPr/>
    </dgm:pt>
    <dgm:pt modelId="{0A77A805-BA78-4399-A5F1-7D477B5DD01F}" type="pres">
      <dgm:prSet presAssocID="{99E5D14E-FCF9-4925-A2FD-B9693BA74965}" presName="bgRect" presStyleLbl="bgShp" presStyleIdx="2" presStyleCnt="3"/>
      <dgm:spPr/>
    </dgm:pt>
    <dgm:pt modelId="{CF012EE4-30EF-4EA7-9207-F1DCF6601778}" type="pres">
      <dgm:prSet presAssocID="{99E5D14E-FCF9-4925-A2FD-B9693BA749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A486C585-6ECE-44E0-94FA-9F52CECEDCDA}" type="pres">
      <dgm:prSet presAssocID="{99E5D14E-FCF9-4925-A2FD-B9693BA74965}" presName="spaceRect" presStyleCnt="0"/>
      <dgm:spPr/>
    </dgm:pt>
    <dgm:pt modelId="{C4338A72-3621-434D-8730-94CEEBC534E7}" type="pres">
      <dgm:prSet presAssocID="{99E5D14E-FCF9-4925-A2FD-B9693BA74965}" presName="parTx" presStyleLbl="revTx" presStyleIdx="2" presStyleCnt="4">
        <dgm:presLayoutVars>
          <dgm:chMax val="0"/>
          <dgm:chPref val="0"/>
        </dgm:presLayoutVars>
      </dgm:prSet>
      <dgm:spPr/>
    </dgm:pt>
    <dgm:pt modelId="{A2D4A6A7-46BE-47D6-8000-AC403D54E756}" type="pres">
      <dgm:prSet presAssocID="{99E5D14E-FCF9-4925-A2FD-B9693BA74965}" presName="desTx" presStyleLbl="revTx" presStyleIdx="3" presStyleCnt="4">
        <dgm:presLayoutVars/>
      </dgm:prSet>
      <dgm:spPr/>
    </dgm:pt>
  </dgm:ptLst>
  <dgm:cxnLst>
    <dgm:cxn modelId="{83373F0A-31DD-46C4-8CCE-E84D09366705}" type="presOf" srcId="{946809DE-F091-4622-8153-072CDB07D077}" destId="{AE3ED47A-3A45-451D-9D8E-06EB5FFAD844}" srcOrd="0" destOrd="0" presId="urn:microsoft.com/office/officeart/2018/2/layout/IconVerticalSolidList"/>
    <dgm:cxn modelId="{51A5C60E-0343-4702-AD71-A626E1B0C5E4}" srcId="{99E5D14E-FCF9-4925-A2FD-B9693BA74965}" destId="{607ABBA1-14B0-4F4E-B785-69ACAE2ED1DF}" srcOrd="0" destOrd="0" parTransId="{5AC54FD4-F7FA-4478-8B5D-9C98691A4283}" sibTransId="{E9200392-0359-4C35-A1C6-10E49EC8CCD2}"/>
    <dgm:cxn modelId="{4431A21E-EF7B-40C0-AA9A-6B0CAB933072}" type="presOf" srcId="{D8FBEF83-0702-4A45-AACD-B92412A476F1}" destId="{A2D4A6A7-46BE-47D6-8000-AC403D54E756}" srcOrd="0" destOrd="1" presId="urn:microsoft.com/office/officeart/2018/2/layout/IconVerticalSolidList"/>
    <dgm:cxn modelId="{36B43720-F118-49BD-B6A6-8B5E3DFBE96B}" type="presOf" srcId="{99E5D14E-FCF9-4925-A2FD-B9693BA74965}" destId="{C4338A72-3621-434D-8730-94CEEBC534E7}" srcOrd="0" destOrd="0" presId="urn:microsoft.com/office/officeart/2018/2/layout/IconVerticalSolidList"/>
    <dgm:cxn modelId="{195C1632-30BD-442D-8C5B-2FF6CAAE0016}" type="presOf" srcId="{564E2B7E-13B3-4E7A-B7F4-0A696D898BD2}" destId="{A2D4A6A7-46BE-47D6-8000-AC403D54E756}" srcOrd="0" destOrd="2" presId="urn:microsoft.com/office/officeart/2018/2/layout/IconVerticalSolidList"/>
    <dgm:cxn modelId="{02A5CA33-2C67-475E-984D-2CCAE906085C}" srcId="{99E5D14E-FCF9-4925-A2FD-B9693BA74965}" destId="{564E2B7E-13B3-4E7A-B7F4-0A696D898BD2}" srcOrd="2" destOrd="0" parTransId="{AE0A38D2-5983-45BD-81F1-C52B60F4C72B}" sibTransId="{85B57C63-FBD7-4C1A-A978-67D1CF323C04}"/>
    <dgm:cxn modelId="{C32C8E39-6D66-4E0A-A4BD-FE3CA334777C}" srcId="{1EB2B40B-8E58-4E8B-8EA2-FD11DEA0140A}" destId="{99E5D14E-FCF9-4925-A2FD-B9693BA74965}" srcOrd="2" destOrd="0" parTransId="{2B7AFA49-10A3-4F7F-9E2B-C98EDC27B42E}" sibTransId="{D75219BC-229B-40D6-B45B-F5A862BD8C16}"/>
    <dgm:cxn modelId="{F5E4E94A-27E0-41F6-8DED-C19B9E1FC669}" type="presOf" srcId="{1EB2B40B-8E58-4E8B-8EA2-FD11DEA0140A}" destId="{64EB8AE5-E803-44E3-B523-AEE7C00F41F4}" srcOrd="0" destOrd="0" presId="urn:microsoft.com/office/officeart/2018/2/layout/IconVerticalSolidList"/>
    <dgm:cxn modelId="{378B1357-01FA-4ED0-B038-7E7A44B2DB40}" srcId="{1EB2B40B-8E58-4E8B-8EA2-FD11DEA0140A}" destId="{946809DE-F091-4622-8153-072CDB07D077}" srcOrd="0" destOrd="0" parTransId="{C3FCD3E0-3655-43D2-9770-2D2F36215018}" sibTransId="{89E19DD4-670F-422F-B377-42DC139C1DF1}"/>
    <dgm:cxn modelId="{BA193B58-D12E-4215-9737-4A51A5478199}" type="presOf" srcId="{607ABBA1-14B0-4F4E-B785-69ACAE2ED1DF}" destId="{A2D4A6A7-46BE-47D6-8000-AC403D54E756}" srcOrd="0" destOrd="0" presId="urn:microsoft.com/office/officeart/2018/2/layout/IconVerticalSolidList"/>
    <dgm:cxn modelId="{BB27D28B-668D-4AE2-BCB0-F8BC18C36EA8}" srcId="{99E5D14E-FCF9-4925-A2FD-B9693BA74965}" destId="{D8FBEF83-0702-4A45-AACD-B92412A476F1}" srcOrd="1" destOrd="0" parTransId="{CE387519-482C-4A85-A035-669FBA1389AF}" sibTransId="{EC3F82C2-83C0-476F-A047-152555285C12}"/>
    <dgm:cxn modelId="{392CB1EC-1437-4C4A-88B6-BF778769EEB9}" srcId="{1EB2B40B-8E58-4E8B-8EA2-FD11DEA0140A}" destId="{F7B401C5-8F1F-4856-A1FB-7ECB9A84E1AD}" srcOrd="1" destOrd="0" parTransId="{4F109C73-4A58-4E2F-925E-E82F7BA552B6}" sibTransId="{D4DB83D6-5FDE-4F57-92C4-799BCC6C9E20}"/>
    <dgm:cxn modelId="{425553FE-9544-4C1D-A1BA-4CE8F69CF838}" type="presOf" srcId="{F7B401C5-8F1F-4856-A1FB-7ECB9A84E1AD}" destId="{7B6EC100-6BD6-4CD6-A0DE-BFD7146AEFB4}" srcOrd="0" destOrd="0" presId="urn:microsoft.com/office/officeart/2018/2/layout/IconVerticalSolidList"/>
    <dgm:cxn modelId="{0DF2A484-4C9A-4CC9-89C1-DCD9FC9DE390}" type="presParOf" srcId="{64EB8AE5-E803-44E3-B523-AEE7C00F41F4}" destId="{C252CB3D-92F6-4D9E-B779-C1FF77C7CA53}" srcOrd="0" destOrd="0" presId="urn:microsoft.com/office/officeart/2018/2/layout/IconVerticalSolidList"/>
    <dgm:cxn modelId="{DB8EA2AD-C01F-4A48-9ECC-AC701AB6B0D8}" type="presParOf" srcId="{C252CB3D-92F6-4D9E-B779-C1FF77C7CA53}" destId="{AA609061-B24B-4BF5-83EB-543BD6EFB863}" srcOrd="0" destOrd="0" presId="urn:microsoft.com/office/officeart/2018/2/layout/IconVerticalSolidList"/>
    <dgm:cxn modelId="{B4CA53B1-3C73-49D2-A503-FEB728530492}" type="presParOf" srcId="{C252CB3D-92F6-4D9E-B779-C1FF77C7CA53}" destId="{AE7650DD-88C9-4314-B49D-9E78F6361E4B}" srcOrd="1" destOrd="0" presId="urn:microsoft.com/office/officeart/2018/2/layout/IconVerticalSolidList"/>
    <dgm:cxn modelId="{246C3FEB-6C79-4E20-A149-564EC5133B14}" type="presParOf" srcId="{C252CB3D-92F6-4D9E-B779-C1FF77C7CA53}" destId="{5ED2C450-27A8-4D57-8C28-AFE0290EFA1D}" srcOrd="2" destOrd="0" presId="urn:microsoft.com/office/officeart/2018/2/layout/IconVerticalSolidList"/>
    <dgm:cxn modelId="{F9EC9D9A-8EA3-40AB-A152-DCC8C508D009}" type="presParOf" srcId="{C252CB3D-92F6-4D9E-B779-C1FF77C7CA53}" destId="{AE3ED47A-3A45-451D-9D8E-06EB5FFAD844}" srcOrd="3" destOrd="0" presId="urn:microsoft.com/office/officeart/2018/2/layout/IconVerticalSolidList"/>
    <dgm:cxn modelId="{A555561B-0134-4446-A5C8-67CA1292DD90}" type="presParOf" srcId="{64EB8AE5-E803-44E3-B523-AEE7C00F41F4}" destId="{263BE562-FAC1-43A3-80C3-DD1EF138443E}" srcOrd="1" destOrd="0" presId="urn:microsoft.com/office/officeart/2018/2/layout/IconVerticalSolidList"/>
    <dgm:cxn modelId="{DFC25606-2F85-4C3C-9FDC-9E72793F8926}" type="presParOf" srcId="{64EB8AE5-E803-44E3-B523-AEE7C00F41F4}" destId="{4E54A7E6-7196-46D7-9CB0-53E9BE31DFFD}" srcOrd="2" destOrd="0" presId="urn:microsoft.com/office/officeart/2018/2/layout/IconVerticalSolidList"/>
    <dgm:cxn modelId="{B6A50BDC-6264-4926-BD97-760CCAE70530}" type="presParOf" srcId="{4E54A7E6-7196-46D7-9CB0-53E9BE31DFFD}" destId="{A1B661C4-BDED-4C8E-92B7-F82C9B8060E6}" srcOrd="0" destOrd="0" presId="urn:microsoft.com/office/officeart/2018/2/layout/IconVerticalSolidList"/>
    <dgm:cxn modelId="{56D281D1-A38D-40B2-9F0C-D210CCA62012}" type="presParOf" srcId="{4E54A7E6-7196-46D7-9CB0-53E9BE31DFFD}" destId="{A61A665B-E488-424B-915C-08FE0BC70BB3}" srcOrd="1" destOrd="0" presId="urn:microsoft.com/office/officeart/2018/2/layout/IconVerticalSolidList"/>
    <dgm:cxn modelId="{D99FFE97-8335-4A43-8300-6D8592C29913}" type="presParOf" srcId="{4E54A7E6-7196-46D7-9CB0-53E9BE31DFFD}" destId="{D68648DC-CD02-4A72-847C-23852CD82E3D}" srcOrd="2" destOrd="0" presId="urn:microsoft.com/office/officeart/2018/2/layout/IconVerticalSolidList"/>
    <dgm:cxn modelId="{3E01F642-7083-4228-9410-A06922FFC5D1}" type="presParOf" srcId="{4E54A7E6-7196-46D7-9CB0-53E9BE31DFFD}" destId="{7B6EC100-6BD6-4CD6-A0DE-BFD7146AEFB4}" srcOrd="3" destOrd="0" presId="urn:microsoft.com/office/officeart/2018/2/layout/IconVerticalSolidList"/>
    <dgm:cxn modelId="{65B75F48-CC93-4ADD-A8E5-F0818AED5345}" type="presParOf" srcId="{64EB8AE5-E803-44E3-B523-AEE7C00F41F4}" destId="{9E618A20-0B2A-492C-9AC9-5F4FA977178D}" srcOrd="3" destOrd="0" presId="urn:microsoft.com/office/officeart/2018/2/layout/IconVerticalSolidList"/>
    <dgm:cxn modelId="{A002AE90-EF1D-468F-A2F0-F54BBBC52041}" type="presParOf" srcId="{64EB8AE5-E803-44E3-B523-AEE7C00F41F4}" destId="{EF5899A5-3AEE-4FAD-BBC2-68A69E6C072B}" srcOrd="4" destOrd="0" presId="urn:microsoft.com/office/officeart/2018/2/layout/IconVerticalSolidList"/>
    <dgm:cxn modelId="{35E637F1-DB69-448A-8C1C-36E53044737A}" type="presParOf" srcId="{EF5899A5-3AEE-4FAD-BBC2-68A69E6C072B}" destId="{0A77A805-BA78-4399-A5F1-7D477B5DD01F}" srcOrd="0" destOrd="0" presId="urn:microsoft.com/office/officeart/2018/2/layout/IconVerticalSolidList"/>
    <dgm:cxn modelId="{47EBE6E3-BA4B-41FC-8B71-9E7AA9CE7BD1}" type="presParOf" srcId="{EF5899A5-3AEE-4FAD-BBC2-68A69E6C072B}" destId="{CF012EE4-30EF-4EA7-9207-F1DCF6601778}" srcOrd="1" destOrd="0" presId="urn:microsoft.com/office/officeart/2018/2/layout/IconVerticalSolidList"/>
    <dgm:cxn modelId="{6BB44BAB-5983-41D5-BB14-BFF50C764562}" type="presParOf" srcId="{EF5899A5-3AEE-4FAD-BBC2-68A69E6C072B}" destId="{A486C585-6ECE-44E0-94FA-9F52CECEDCDA}" srcOrd="2" destOrd="0" presId="urn:microsoft.com/office/officeart/2018/2/layout/IconVerticalSolidList"/>
    <dgm:cxn modelId="{CEB1FA58-E9D0-474D-8441-564ED4775416}" type="presParOf" srcId="{EF5899A5-3AEE-4FAD-BBC2-68A69E6C072B}" destId="{C4338A72-3621-434D-8730-94CEEBC534E7}" srcOrd="3" destOrd="0" presId="urn:microsoft.com/office/officeart/2018/2/layout/IconVerticalSolidList"/>
    <dgm:cxn modelId="{5374B853-B420-41B9-BCE0-3707781B20EE}" type="presParOf" srcId="{EF5899A5-3AEE-4FAD-BBC2-68A69E6C072B}" destId="{A2D4A6A7-46BE-47D6-8000-AC403D54E75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D58E1E-57FE-47BD-AC7D-18177CA2864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E60572-6F6A-4D7E-9FC4-9212577060C0}">
      <dgm:prSet custT="1"/>
      <dgm:spPr/>
      <dgm:t>
        <a:bodyPr/>
        <a:lstStyle/>
        <a:p>
          <a:r>
            <a:rPr lang="en-US" sz="1400" b="1" dirty="0">
              <a:solidFill>
                <a:schemeClr val="bg2">
                  <a:lumMod val="50000"/>
                </a:schemeClr>
              </a:solidFill>
            </a:rPr>
            <a:t>Why it matters</a:t>
          </a:r>
          <a:r>
            <a:rPr lang="en-US" sz="1400" b="1" dirty="0"/>
            <a:t>:</a:t>
          </a:r>
          <a:r>
            <a:rPr lang="en-US" sz="1400" dirty="0"/>
            <a:t> Garbage In, Garbage Out.</a:t>
          </a:r>
        </a:p>
      </dgm:t>
    </dgm:pt>
    <dgm:pt modelId="{73644E66-B6AB-4454-BC18-800D27117942}" type="parTrans" cxnId="{65B2884C-BCC6-4E1A-818C-9CFFC5C7EBCA}">
      <dgm:prSet/>
      <dgm:spPr/>
      <dgm:t>
        <a:bodyPr/>
        <a:lstStyle/>
        <a:p>
          <a:endParaRPr lang="en-US"/>
        </a:p>
      </dgm:t>
    </dgm:pt>
    <dgm:pt modelId="{6242006A-BBE4-42A9-BADD-65A6FC9A4EBF}" type="sibTrans" cxnId="{65B2884C-BCC6-4E1A-818C-9CFFC5C7EBCA}">
      <dgm:prSet/>
      <dgm:spPr/>
      <dgm:t>
        <a:bodyPr/>
        <a:lstStyle/>
        <a:p>
          <a:endParaRPr lang="en-US"/>
        </a:p>
      </dgm:t>
    </dgm:pt>
    <dgm:pt modelId="{A6002D05-DD9C-4C26-922B-020E92C3320D}">
      <dgm:prSet custT="1"/>
      <dgm:spPr/>
      <dgm:t>
        <a:bodyPr/>
        <a:lstStyle/>
        <a:p>
          <a:r>
            <a:rPr lang="en-US" sz="1400" b="1" dirty="0">
              <a:solidFill>
                <a:schemeClr val="bg2">
                  <a:lumMod val="50000"/>
                </a:schemeClr>
              </a:solidFill>
            </a:rPr>
            <a:t>Techniques</a:t>
          </a:r>
          <a:r>
            <a:rPr lang="en-US" sz="1400" b="1" dirty="0"/>
            <a:t>:</a:t>
          </a:r>
          <a:endParaRPr lang="en-US" sz="1400" dirty="0"/>
        </a:p>
      </dgm:t>
    </dgm:pt>
    <dgm:pt modelId="{DCE01C7B-6DA5-46E0-B66E-D16B64942C8E}" type="parTrans" cxnId="{C7EE1478-E57C-44E6-AB24-2765B87B0C1E}">
      <dgm:prSet/>
      <dgm:spPr/>
      <dgm:t>
        <a:bodyPr/>
        <a:lstStyle/>
        <a:p>
          <a:endParaRPr lang="en-US"/>
        </a:p>
      </dgm:t>
    </dgm:pt>
    <dgm:pt modelId="{22058FBB-BC65-4562-B350-A067866B020C}" type="sibTrans" cxnId="{C7EE1478-E57C-44E6-AB24-2765B87B0C1E}">
      <dgm:prSet/>
      <dgm:spPr/>
      <dgm:t>
        <a:bodyPr/>
        <a:lstStyle/>
        <a:p>
          <a:endParaRPr lang="en-US"/>
        </a:p>
      </dgm:t>
    </dgm:pt>
    <dgm:pt modelId="{487C3836-3377-4DE9-A7FB-95A5313EC9AD}">
      <dgm:prSet custT="1"/>
      <dgm:spPr/>
      <dgm:t>
        <a:bodyPr/>
        <a:lstStyle/>
        <a:p>
          <a:r>
            <a:rPr lang="en-US" sz="1400" b="1" dirty="0">
              <a:solidFill>
                <a:schemeClr val="bg2">
                  <a:lumMod val="50000"/>
                </a:schemeClr>
              </a:solidFill>
            </a:rPr>
            <a:t>Lowercasing</a:t>
          </a:r>
          <a:r>
            <a:rPr lang="en-US" sz="1100" b="1" dirty="0"/>
            <a:t>:</a:t>
          </a:r>
          <a:r>
            <a:rPr lang="en-US" sz="1100" dirty="0"/>
            <a:t> "Robot" == "robot".</a:t>
          </a:r>
        </a:p>
      </dgm:t>
    </dgm:pt>
    <dgm:pt modelId="{5BE58DD9-5FA3-4A52-93DB-E09EB8B50136}" type="parTrans" cxnId="{4320FED8-D0CA-4F37-B8EF-80235CC64839}">
      <dgm:prSet/>
      <dgm:spPr/>
      <dgm:t>
        <a:bodyPr/>
        <a:lstStyle/>
        <a:p>
          <a:endParaRPr lang="en-US"/>
        </a:p>
      </dgm:t>
    </dgm:pt>
    <dgm:pt modelId="{D047D584-8AD5-4DFC-A933-BC2395CC8D0F}" type="sibTrans" cxnId="{4320FED8-D0CA-4F37-B8EF-80235CC64839}">
      <dgm:prSet/>
      <dgm:spPr/>
      <dgm:t>
        <a:bodyPr/>
        <a:lstStyle/>
        <a:p>
          <a:endParaRPr lang="en-US"/>
        </a:p>
      </dgm:t>
    </dgm:pt>
    <dgm:pt modelId="{F9BB7924-EFB6-49FD-B7FC-87207F719F24}">
      <dgm:prSet/>
      <dgm:spPr/>
      <dgm:t>
        <a:bodyPr/>
        <a:lstStyle/>
        <a:p>
          <a:r>
            <a:rPr lang="en-US" b="1" dirty="0">
              <a:solidFill>
                <a:schemeClr val="bg2">
                  <a:lumMod val="50000"/>
                </a:schemeClr>
              </a:solidFill>
            </a:rPr>
            <a:t>Noise Removal</a:t>
          </a:r>
          <a:r>
            <a:rPr lang="en-US" b="1" dirty="0"/>
            <a:t>:</a:t>
          </a:r>
          <a:r>
            <a:rPr lang="en-US" dirty="0"/>
            <a:t> Removing HTML tags, URLs, special characters (#, @... or do we keep them? </a:t>
          </a:r>
          <a:r>
            <a:rPr lang="en-US" i="1" dirty="0"/>
            <a:t>Discussion: In Sentiment Analysis, #happy matters!</a:t>
          </a:r>
          <a:r>
            <a:rPr lang="en-US" dirty="0"/>
            <a:t>).</a:t>
          </a:r>
        </a:p>
      </dgm:t>
    </dgm:pt>
    <dgm:pt modelId="{800F870B-A084-4B39-9198-CF1C8F2CF56C}" type="parTrans" cxnId="{92A3EFA3-2CD6-4C66-ABBE-CD8A313E7200}">
      <dgm:prSet/>
      <dgm:spPr/>
      <dgm:t>
        <a:bodyPr/>
        <a:lstStyle/>
        <a:p>
          <a:endParaRPr lang="en-US"/>
        </a:p>
      </dgm:t>
    </dgm:pt>
    <dgm:pt modelId="{3FB7DD98-A44F-49FA-B910-04ACC2FBAF9E}" type="sibTrans" cxnId="{92A3EFA3-2CD6-4C66-ABBE-CD8A313E7200}">
      <dgm:prSet/>
      <dgm:spPr/>
      <dgm:t>
        <a:bodyPr/>
        <a:lstStyle/>
        <a:p>
          <a:endParaRPr lang="en-US"/>
        </a:p>
      </dgm:t>
    </dgm:pt>
    <dgm:pt modelId="{A9AA0E83-DDD5-4244-A6C2-63B6627C4E96}">
      <dgm:prSet custT="1"/>
      <dgm:spPr/>
      <dgm:t>
        <a:bodyPr/>
        <a:lstStyle/>
        <a:p>
          <a:r>
            <a:rPr lang="en-US" sz="1400" b="1" dirty="0">
              <a:solidFill>
                <a:schemeClr val="bg2">
                  <a:lumMod val="50000"/>
                </a:schemeClr>
              </a:solidFill>
            </a:rPr>
            <a:t>Stop Word Removal</a:t>
          </a:r>
          <a:r>
            <a:rPr lang="en-US" sz="1400" b="1" dirty="0"/>
            <a:t>:</a:t>
          </a:r>
          <a:r>
            <a:rPr lang="en-US" sz="1400" dirty="0"/>
            <a:t> Removing "the", "is", "at".</a:t>
          </a:r>
        </a:p>
      </dgm:t>
    </dgm:pt>
    <dgm:pt modelId="{D48738AE-134E-4344-A100-C4F34F7C394C}" type="parTrans" cxnId="{D6B7AFDF-2057-4E5C-9431-A13513B68B30}">
      <dgm:prSet/>
      <dgm:spPr/>
      <dgm:t>
        <a:bodyPr/>
        <a:lstStyle/>
        <a:p>
          <a:endParaRPr lang="en-US"/>
        </a:p>
      </dgm:t>
    </dgm:pt>
    <dgm:pt modelId="{704AB3EE-F0DF-4572-8749-75CC169B3F58}" type="sibTrans" cxnId="{D6B7AFDF-2057-4E5C-9431-A13513B68B30}">
      <dgm:prSet/>
      <dgm:spPr/>
      <dgm:t>
        <a:bodyPr/>
        <a:lstStyle/>
        <a:p>
          <a:endParaRPr lang="en-US"/>
        </a:p>
      </dgm:t>
    </dgm:pt>
    <dgm:pt modelId="{A9F34DF7-1DCB-4B6F-8B2A-F453DC650CD0}">
      <dgm:prSet custT="1"/>
      <dgm:spPr/>
      <dgm:t>
        <a:bodyPr/>
        <a:lstStyle/>
        <a:p>
          <a:r>
            <a:rPr lang="en-US" sz="1400" i="1" dirty="0"/>
            <a:t>2025 Perspective:</a:t>
          </a:r>
          <a:r>
            <a:rPr lang="en-US" sz="1400" dirty="0"/>
            <a:t> For </a:t>
          </a:r>
          <a:r>
            <a:rPr lang="en-US" sz="1400" b="1" dirty="0">
              <a:solidFill>
                <a:schemeClr val="bg2">
                  <a:lumMod val="50000"/>
                </a:schemeClr>
              </a:solidFill>
            </a:rPr>
            <a:t>TF-IDF</a:t>
          </a:r>
          <a:r>
            <a:rPr lang="en-US" sz="1400" dirty="0"/>
            <a:t>, we remove them (they are noise). For LLMs (BERT/GPT), we </a:t>
          </a:r>
          <a:r>
            <a:rPr lang="en-US" sz="1400" b="1" dirty="0"/>
            <a:t>keep</a:t>
          </a:r>
          <a:r>
            <a:rPr lang="en-US" sz="1400" dirty="0"/>
            <a:t> them (they provide structure/</a:t>
          </a:r>
          <a:r>
            <a:rPr lang="en-US" sz="1600" dirty="0"/>
            <a:t>flow</a:t>
          </a:r>
          <a:r>
            <a:rPr lang="en-US" sz="1400" dirty="0"/>
            <a:t>).</a:t>
          </a:r>
        </a:p>
      </dgm:t>
    </dgm:pt>
    <dgm:pt modelId="{182D54CC-AD1D-41E7-87A2-36C408E55709}" type="parTrans" cxnId="{A46ABC94-4497-4A1B-B243-570419933070}">
      <dgm:prSet/>
      <dgm:spPr/>
      <dgm:t>
        <a:bodyPr/>
        <a:lstStyle/>
        <a:p>
          <a:endParaRPr lang="en-US"/>
        </a:p>
      </dgm:t>
    </dgm:pt>
    <dgm:pt modelId="{83BAD520-5D66-46AC-80DA-52F17A860D53}" type="sibTrans" cxnId="{A46ABC94-4497-4A1B-B243-570419933070}">
      <dgm:prSet/>
      <dgm:spPr/>
      <dgm:t>
        <a:bodyPr/>
        <a:lstStyle/>
        <a:p>
          <a:endParaRPr lang="en-US"/>
        </a:p>
      </dgm:t>
    </dgm:pt>
    <dgm:pt modelId="{9E80C808-64ED-4BB6-B843-DB2AA2553134}" type="pres">
      <dgm:prSet presAssocID="{39D58E1E-57FE-47BD-AC7D-18177CA286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8AEF92-D1D0-4FAA-A320-A59006A370DC}" type="pres">
      <dgm:prSet presAssocID="{03E60572-6F6A-4D7E-9FC4-9212577060C0}" presName="hierRoot1" presStyleCnt="0"/>
      <dgm:spPr/>
    </dgm:pt>
    <dgm:pt modelId="{D4E15096-3213-4D3B-8C4D-AE74A2C9FAC2}" type="pres">
      <dgm:prSet presAssocID="{03E60572-6F6A-4D7E-9FC4-9212577060C0}" presName="composite" presStyleCnt="0"/>
      <dgm:spPr/>
    </dgm:pt>
    <dgm:pt modelId="{81747949-7E5C-4342-B4C6-D31B3CA78C23}" type="pres">
      <dgm:prSet presAssocID="{03E60572-6F6A-4D7E-9FC4-9212577060C0}" presName="background" presStyleLbl="node0" presStyleIdx="0" presStyleCnt="2"/>
      <dgm:spPr/>
    </dgm:pt>
    <dgm:pt modelId="{F940CAEA-2631-44D1-93AB-59EE86E94CDA}" type="pres">
      <dgm:prSet presAssocID="{03E60572-6F6A-4D7E-9FC4-9212577060C0}" presName="text" presStyleLbl="fgAcc0" presStyleIdx="0" presStyleCnt="2" custScaleX="297321">
        <dgm:presLayoutVars>
          <dgm:chPref val="3"/>
        </dgm:presLayoutVars>
      </dgm:prSet>
      <dgm:spPr/>
    </dgm:pt>
    <dgm:pt modelId="{708B99B7-BB0A-4EBC-8B12-E10898648EBB}" type="pres">
      <dgm:prSet presAssocID="{03E60572-6F6A-4D7E-9FC4-9212577060C0}" presName="hierChild2" presStyleCnt="0"/>
      <dgm:spPr/>
    </dgm:pt>
    <dgm:pt modelId="{3BF72CB4-C3ED-4DE5-8110-9B3901B2C93B}" type="pres">
      <dgm:prSet presAssocID="{A6002D05-DD9C-4C26-922B-020E92C3320D}" presName="hierRoot1" presStyleCnt="0"/>
      <dgm:spPr/>
    </dgm:pt>
    <dgm:pt modelId="{5369C6CD-A54A-4123-B34D-87C34F5959CB}" type="pres">
      <dgm:prSet presAssocID="{A6002D05-DD9C-4C26-922B-020E92C3320D}" presName="composite" presStyleCnt="0"/>
      <dgm:spPr/>
    </dgm:pt>
    <dgm:pt modelId="{0793297B-AC5D-47DD-A428-72EEFD4BDC4E}" type="pres">
      <dgm:prSet presAssocID="{A6002D05-DD9C-4C26-922B-020E92C3320D}" presName="background" presStyleLbl="node0" presStyleIdx="1" presStyleCnt="2"/>
      <dgm:spPr/>
    </dgm:pt>
    <dgm:pt modelId="{C3AB1FF2-DC0A-44C0-9B5C-033E47D7CD29}" type="pres">
      <dgm:prSet presAssocID="{A6002D05-DD9C-4C26-922B-020E92C3320D}" presName="text" presStyleLbl="fgAcc0" presStyleIdx="1" presStyleCnt="2">
        <dgm:presLayoutVars>
          <dgm:chPref val="3"/>
        </dgm:presLayoutVars>
      </dgm:prSet>
      <dgm:spPr/>
    </dgm:pt>
    <dgm:pt modelId="{903E9716-C4E6-4BD4-8B69-0A629E6AA140}" type="pres">
      <dgm:prSet presAssocID="{A6002D05-DD9C-4C26-922B-020E92C3320D}" presName="hierChild2" presStyleCnt="0"/>
      <dgm:spPr/>
    </dgm:pt>
    <dgm:pt modelId="{FCDCCE27-C4CB-4D3E-BC62-107506BF6764}" type="pres">
      <dgm:prSet presAssocID="{5BE58DD9-5FA3-4A52-93DB-E09EB8B50136}" presName="Name10" presStyleLbl="parChTrans1D2" presStyleIdx="0" presStyleCnt="3"/>
      <dgm:spPr/>
    </dgm:pt>
    <dgm:pt modelId="{B12C739B-1F59-47E4-A683-2003722EC6B5}" type="pres">
      <dgm:prSet presAssocID="{487C3836-3377-4DE9-A7FB-95A5313EC9AD}" presName="hierRoot2" presStyleCnt="0"/>
      <dgm:spPr/>
    </dgm:pt>
    <dgm:pt modelId="{0AEDE366-35D0-44F8-80F8-74E02D5EDA08}" type="pres">
      <dgm:prSet presAssocID="{487C3836-3377-4DE9-A7FB-95A5313EC9AD}" presName="composite2" presStyleCnt="0"/>
      <dgm:spPr/>
    </dgm:pt>
    <dgm:pt modelId="{0861087F-0DBC-4D39-A574-AAF5B15ED477}" type="pres">
      <dgm:prSet presAssocID="{487C3836-3377-4DE9-A7FB-95A5313EC9AD}" presName="background2" presStyleLbl="node2" presStyleIdx="0" presStyleCnt="3"/>
      <dgm:spPr/>
    </dgm:pt>
    <dgm:pt modelId="{419B3B3C-8441-41C8-B76D-370BC0ECF748}" type="pres">
      <dgm:prSet presAssocID="{487C3836-3377-4DE9-A7FB-95A5313EC9AD}" presName="text2" presStyleLbl="fgAcc2" presStyleIdx="0" presStyleCnt="3" custScaleX="251151">
        <dgm:presLayoutVars>
          <dgm:chPref val="3"/>
        </dgm:presLayoutVars>
      </dgm:prSet>
      <dgm:spPr/>
    </dgm:pt>
    <dgm:pt modelId="{A8559C38-B273-4B98-83C1-20933D07EAF1}" type="pres">
      <dgm:prSet presAssocID="{487C3836-3377-4DE9-A7FB-95A5313EC9AD}" presName="hierChild3" presStyleCnt="0"/>
      <dgm:spPr/>
    </dgm:pt>
    <dgm:pt modelId="{0FC2A19E-B4A8-401B-9EFE-338B343F0CB8}" type="pres">
      <dgm:prSet presAssocID="{800F870B-A084-4B39-9198-CF1C8F2CF56C}" presName="Name10" presStyleLbl="parChTrans1D2" presStyleIdx="1" presStyleCnt="3"/>
      <dgm:spPr/>
    </dgm:pt>
    <dgm:pt modelId="{7D65DD24-452E-4AE9-BD9C-367F58BBE767}" type="pres">
      <dgm:prSet presAssocID="{F9BB7924-EFB6-49FD-B7FC-87207F719F24}" presName="hierRoot2" presStyleCnt="0"/>
      <dgm:spPr/>
    </dgm:pt>
    <dgm:pt modelId="{795B763C-99E8-48BA-A02F-8664DB25FB81}" type="pres">
      <dgm:prSet presAssocID="{F9BB7924-EFB6-49FD-B7FC-87207F719F24}" presName="composite2" presStyleCnt="0"/>
      <dgm:spPr/>
    </dgm:pt>
    <dgm:pt modelId="{B97F1310-436A-437E-85FA-64E236C3D70D}" type="pres">
      <dgm:prSet presAssocID="{F9BB7924-EFB6-49FD-B7FC-87207F719F24}" presName="background2" presStyleLbl="node2" presStyleIdx="1" presStyleCnt="3"/>
      <dgm:spPr/>
    </dgm:pt>
    <dgm:pt modelId="{2FA9A723-4E8D-43C6-88F6-AB5AA00A338D}" type="pres">
      <dgm:prSet presAssocID="{F9BB7924-EFB6-49FD-B7FC-87207F719F24}" presName="text2" presStyleLbl="fgAcc2" presStyleIdx="1" presStyleCnt="3" custScaleX="224563">
        <dgm:presLayoutVars>
          <dgm:chPref val="3"/>
        </dgm:presLayoutVars>
      </dgm:prSet>
      <dgm:spPr/>
    </dgm:pt>
    <dgm:pt modelId="{74FB93E2-7302-4278-8C4E-9549D3E7ECC6}" type="pres">
      <dgm:prSet presAssocID="{F9BB7924-EFB6-49FD-B7FC-87207F719F24}" presName="hierChild3" presStyleCnt="0"/>
      <dgm:spPr/>
    </dgm:pt>
    <dgm:pt modelId="{DA318F96-6D0C-4FC5-AF7D-E7F79C7ECE29}" type="pres">
      <dgm:prSet presAssocID="{D48738AE-134E-4344-A100-C4F34F7C394C}" presName="Name10" presStyleLbl="parChTrans1D2" presStyleIdx="2" presStyleCnt="3"/>
      <dgm:spPr/>
    </dgm:pt>
    <dgm:pt modelId="{02519ABE-7C93-43B2-92D4-F8F3282F3583}" type="pres">
      <dgm:prSet presAssocID="{A9AA0E83-DDD5-4244-A6C2-63B6627C4E96}" presName="hierRoot2" presStyleCnt="0"/>
      <dgm:spPr/>
    </dgm:pt>
    <dgm:pt modelId="{329C5B72-1715-4879-96A3-775C409A427A}" type="pres">
      <dgm:prSet presAssocID="{A9AA0E83-DDD5-4244-A6C2-63B6627C4E96}" presName="composite2" presStyleCnt="0"/>
      <dgm:spPr/>
    </dgm:pt>
    <dgm:pt modelId="{497982C1-4069-40A2-A677-0E7A501CF1B3}" type="pres">
      <dgm:prSet presAssocID="{A9AA0E83-DDD5-4244-A6C2-63B6627C4E96}" presName="background2" presStyleLbl="node2" presStyleIdx="2" presStyleCnt="3"/>
      <dgm:spPr/>
    </dgm:pt>
    <dgm:pt modelId="{5585CC7E-C1DD-4D30-83E1-A3B8E46BEF2B}" type="pres">
      <dgm:prSet presAssocID="{A9AA0E83-DDD5-4244-A6C2-63B6627C4E96}" presName="text2" presStyleLbl="fgAcc2" presStyleIdx="2" presStyleCnt="3" custScaleX="218707">
        <dgm:presLayoutVars>
          <dgm:chPref val="3"/>
        </dgm:presLayoutVars>
      </dgm:prSet>
      <dgm:spPr/>
    </dgm:pt>
    <dgm:pt modelId="{980BCEAC-A8CF-4496-91EE-CD161B86D14D}" type="pres">
      <dgm:prSet presAssocID="{A9AA0E83-DDD5-4244-A6C2-63B6627C4E96}" presName="hierChild3" presStyleCnt="0"/>
      <dgm:spPr/>
    </dgm:pt>
    <dgm:pt modelId="{D344B73B-3EAC-4EC7-8FCB-232B26B17A4D}" type="pres">
      <dgm:prSet presAssocID="{182D54CC-AD1D-41E7-87A2-36C408E55709}" presName="Name17" presStyleLbl="parChTrans1D3" presStyleIdx="0" presStyleCnt="1"/>
      <dgm:spPr/>
    </dgm:pt>
    <dgm:pt modelId="{CD8F9792-609D-4D03-95A4-0CA369C2E2AD}" type="pres">
      <dgm:prSet presAssocID="{A9F34DF7-1DCB-4B6F-8B2A-F453DC650CD0}" presName="hierRoot3" presStyleCnt="0"/>
      <dgm:spPr/>
    </dgm:pt>
    <dgm:pt modelId="{B3435598-D77B-4773-9717-B5219EA270B8}" type="pres">
      <dgm:prSet presAssocID="{A9F34DF7-1DCB-4B6F-8B2A-F453DC650CD0}" presName="composite3" presStyleCnt="0"/>
      <dgm:spPr/>
    </dgm:pt>
    <dgm:pt modelId="{DE7AA47D-1980-4CD0-AD00-BEC932582F25}" type="pres">
      <dgm:prSet presAssocID="{A9F34DF7-1DCB-4B6F-8B2A-F453DC650CD0}" presName="background3" presStyleLbl="node3" presStyleIdx="0" presStyleCnt="1"/>
      <dgm:spPr/>
    </dgm:pt>
    <dgm:pt modelId="{9E2A8DF1-EEFB-43FE-A610-91405EC992BA}" type="pres">
      <dgm:prSet presAssocID="{A9F34DF7-1DCB-4B6F-8B2A-F453DC650CD0}" presName="text3" presStyleLbl="fgAcc3" presStyleIdx="0" presStyleCnt="1" custScaleX="240759" custScaleY="152156">
        <dgm:presLayoutVars>
          <dgm:chPref val="3"/>
        </dgm:presLayoutVars>
      </dgm:prSet>
      <dgm:spPr/>
    </dgm:pt>
    <dgm:pt modelId="{C2FD5035-89BB-465C-91E5-63765CE58183}" type="pres">
      <dgm:prSet presAssocID="{A9F34DF7-1DCB-4B6F-8B2A-F453DC650CD0}" presName="hierChild4" presStyleCnt="0"/>
      <dgm:spPr/>
    </dgm:pt>
  </dgm:ptLst>
  <dgm:cxnLst>
    <dgm:cxn modelId="{A9887B29-71C0-436D-8B9D-55696C169753}" type="presOf" srcId="{A9F34DF7-1DCB-4B6F-8B2A-F453DC650CD0}" destId="{9E2A8DF1-EEFB-43FE-A610-91405EC992BA}" srcOrd="0" destOrd="0" presId="urn:microsoft.com/office/officeart/2005/8/layout/hierarchy1"/>
    <dgm:cxn modelId="{E409632A-7DCD-47C5-AE62-EA0ECE5E092E}" type="presOf" srcId="{182D54CC-AD1D-41E7-87A2-36C408E55709}" destId="{D344B73B-3EAC-4EC7-8FCB-232B26B17A4D}" srcOrd="0" destOrd="0" presId="urn:microsoft.com/office/officeart/2005/8/layout/hierarchy1"/>
    <dgm:cxn modelId="{B893BC2F-415B-4613-9C90-4D8E89493626}" type="presOf" srcId="{03E60572-6F6A-4D7E-9FC4-9212577060C0}" destId="{F940CAEA-2631-44D1-93AB-59EE86E94CDA}" srcOrd="0" destOrd="0" presId="urn:microsoft.com/office/officeart/2005/8/layout/hierarchy1"/>
    <dgm:cxn modelId="{8F734F32-4D93-4EE7-BD66-5798134CA993}" type="presOf" srcId="{800F870B-A084-4B39-9198-CF1C8F2CF56C}" destId="{0FC2A19E-B4A8-401B-9EFE-338B343F0CB8}" srcOrd="0" destOrd="0" presId="urn:microsoft.com/office/officeart/2005/8/layout/hierarchy1"/>
    <dgm:cxn modelId="{65B2884C-BCC6-4E1A-818C-9CFFC5C7EBCA}" srcId="{39D58E1E-57FE-47BD-AC7D-18177CA28641}" destId="{03E60572-6F6A-4D7E-9FC4-9212577060C0}" srcOrd="0" destOrd="0" parTransId="{73644E66-B6AB-4454-BC18-800D27117942}" sibTransId="{6242006A-BBE4-42A9-BADD-65A6FC9A4EBF}"/>
    <dgm:cxn modelId="{C7EE1478-E57C-44E6-AB24-2765B87B0C1E}" srcId="{39D58E1E-57FE-47BD-AC7D-18177CA28641}" destId="{A6002D05-DD9C-4C26-922B-020E92C3320D}" srcOrd="1" destOrd="0" parTransId="{DCE01C7B-6DA5-46E0-B66E-D16B64942C8E}" sibTransId="{22058FBB-BC65-4562-B350-A067866B020C}"/>
    <dgm:cxn modelId="{CF572485-0271-4C6C-97CD-AFBE37435F9F}" type="presOf" srcId="{F9BB7924-EFB6-49FD-B7FC-87207F719F24}" destId="{2FA9A723-4E8D-43C6-88F6-AB5AA00A338D}" srcOrd="0" destOrd="0" presId="urn:microsoft.com/office/officeart/2005/8/layout/hierarchy1"/>
    <dgm:cxn modelId="{1031C78B-0473-44B6-9341-EAC93095805D}" type="presOf" srcId="{A9AA0E83-DDD5-4244-A6C2-63B6627C4E96}" destId="{5585CC7E-C1DD-4D30-83E1-A3B8E46BEF2B}" srcOrd="0" destOrd="0" presId="urn:microsoft.com/office/officeart/2005/8/layout/hierarchy1"/>
    <dgm:cxn modelId="{60A7468D-A9A1-4324-8916-F5AD7A172C16}" type="presOf" srcId="{A6002D05-DD9C-4C26-922B-020E92C3320D}" destId="{C3AB1FF2-DC0A-44C0-9B5C-033E47D7CD29}" srcOrd="0" destOrd="0" presId="urn:microsoft.com/office/officeart/2005/8/layout/hierarchy1"/>
    <dgm:cxn modelId="{A46ABC94-4497-4A1B-B243-570419933070}" srcId="{A9AA0E83-DDD5-4244-A6C2-63B6627C4E96}" destId="{A9F34DF7-1DCB-4B6F-8B2A-F453DC650CD0}" srcOrd="0" destOrd="0" parTransId="{182D54CC-AD1D-41E7-87A2-36C408E55709}" sibTransId="{83BAD520-5D66-46AC-80DA-52F17A860D53}"/>
    <dgm:cxn modelId="{92A3EFA3-2CD6-4C66-ABBE-CD8A313E7200}" srcId="{A6002D05-DD9C-4C26-922B-020E92C3320D}" destId="{F9BB7924-EFB6-49FD-B7FC-87207F719F24}" srcOrd="1" destOrd="0" parTransId="{800F870B-A084-4B39-9198-CF1C8F2CF56C}" sibTransId="{3FB7DD98-A44F-49FA-B910-04ACC2FBAF9E}"/>
    <dgm:cxn modelId="{197742AB-B42F-40EB-867F-1AB74CD48C46}" type="presOf" srcId="{D48738AE-134E-4344-A100-C4F34F7C394C}" destId="{DA318F96-6D0C-4FC5-AF7D-E7F79C7ECE29}" srcOrd="0" destOrd="0" presId="urn:microsoft.com/office/officeart/2005/8/layout/hierarchy1"/>
    <dgm:cxn modelId="{5C2FD3B4-3B92-4AA2-8950-E619C1079A62}" type="presOf" srcId="{5BE58DD9-5FA3-4A52-93DB-E09EB8B50136}" destId="{FCDCCE27-C4CB-4D3E-BC62-107506BF6764}" srcOrd="0" destOrd="0" presId="urn:microsoft.com/office/officeart/2005/8/layout/hierarchy1"/>
    <dgm:cxn modelId="{9558D2CB-E0F0-42C2-8AE3-D37BC8594F1A}" type="presOf" srcId="{487C3836-3377-4DE9-A7FB-95A5313EC9AD}" destId="{419B3B3C-8441-41C8-B76D-370BC0ECF748}" srcOrd="0" destOrd="0" presId="urn:microsoft.com/office/officeart/2005/8/layout/hierarchy1"/>
    <dgm:cxn modelId="{4320FED8-D0CA-4F37-B8EF-80235CC64839}" srcId="{A6002D05-DD9C-4C26-922B-020E92C3320D}" destId="{487C3836-3377-4DE9-A7FB-95A5313EC9AD}" srcOrd="0" destOrd="0" parTransId="{5BE58DD9-5FA3-4A52-93DB-E09EB8B50136}" sibTransId="{D047D584-8AD5-4DFC-A933-BC2395CC8D0F}"/>
    <dgm:cxn modelId="{D6B7AFDF-2057-4E5C-9431-A13513B68B30}" srcId="{A6002D05-DD9C-4C26-922B-020E92C3320D}" destId="{A9AA0E83-DDD5-4244-A6C2-63B6627C4E96}" srcOrd="2" destOrd="0" parTransId="{D48738AE-134E-4344-A100-C4F34F7C394C}" sibTransId="{704AB3EE-F0DF-4572-8749-75CC169B3F58}"/>
    <dgm:cxn modelId="{989B86E1-3DA1-4FD4-A502-89456CA9E04E}" type="presOf" srcId="{39D58E1E-57FE-47BD-AC7D-18177CA28641}" destId="{9E80C808-64ED-4BB6-B843-DB2AA2553134}" srcOrd="0" destOrd="0" presId="urn:microsoft.com/office/officeart/2005/8/layout/hierarchy1"/>
    <dgm:cxn modelId="{C4713015-CD05-4A5D-A1A1-DBFF65110ED1}" type="presParOf" srcId="{9E80C808-64ED-4BB6-B843-DB2AA2553134}" destId="{EE8AEF92-D1D0-4FAA-A320-A59006A370DC}" srcOrd="0" destOrd="0" presId="urn:microsoft.com/office/officeart/2005/8/layout/hierarchy1"/>
    <dgm:cxn modelId="{3E3B3ABD-40D9-4D14-8A8E-15819A768232}" type="presParOf" srcId="{EE8AEF92-D1D0-4FAA-A320-A59006A370DC}" destId="{D4E15096-3213-4D3B-8C4D-AE74A2C9FAC2}" srcOrd="0" destOrd="0" presId="urn:microsoft.com/office/officeart/2005/8/layout/hierarchy1"/>
    <dgm:cxn modelId="{E54836A9-3F7B-4583-9DC3-D18B7A84B478}" type="presParOf" srcId="{D4E15096-3213-4D3B-8C4D-AE74A2C9FAC2}" destId="{81747949-7E5C-4342-B4C6-D31B3CA78C23}" srcOrd="0" destOrd="0" presId="urn:microsoft.com/office/officeart/2005/8/layout/hierarchy1"/>
    <dgm:cxn modelId="{B21A8C9C-F76E-41EE-94AE-D0E9CA11CDBE}" type="presParOf" srcId="{D4E15096-3213-4D3B-8C4D-AE74A2C9FAC2}" destId="{F940CAEA-2631-44D1-93AB-59EE86E94CDA}" srcOrd="1" destOrd="0" presId="urn:microsoft.com/office/officeart/2005/8/layout/hierarchy1"/>
    <dgm:cxn modelId="{CF8EA485-D21C-4C7C-87DE-B741A573E76A}" type="presParOf" srcId="{EE8AEF92-D1D0-4FAA-A320-A59006A370DC}" destId="{708B99B7-BB0A-4EBC-8B12-E10898648EBB}" srcOrd="1" destOrd="0" presId="urn:microsoft.com/office/officeart/2005/8/layout/hierarchy1"/>
    <dgm:cxn modelId="{22309127-83D6-412F-B2C7-3DD35B73A1D0}" type="presParOf" srcId="{9E80C808-64ED-4BB6-B843-DB2AA2553134}" destId="{3BF72CB4-C3ED-4DE5-8110-9B3901B2C93B}" srcOrd="1" destOrd="0" presId="urn:microsoft.com/office/officeart/2005/8/layout/hierarchy1"/>
    <dgm:cxn modelId="{10E01FD7-E1E4-4E51-9CF1-68FAE0FABCA8}" type="presParOf" srcId="{3BF72CB4-C3ED-4DE5-8110-9B3901B2C93B}" destId="{5369C6CD-A54A-4123-B34D-87C34F5959CB}" srcOrd="0" destOrd="0" presId="urn:microsoft.com/office/officeart/2005/8/layout/hierarchy1"/>
    <dgm:cxn modelId="{804E1E22-626A-4D90-9F7C-EBC854DC4AA1}" type="presParOf" srcId="{5369C6CD-A54A-4123-B34D-87C34F5959CB}" destId="{0793297B-AC5D-47DD-A428-72EEFD4BDC4E}" srcOrd="0" destOrd="0" presId="urn:microsoft.com/office/officeart/2005/8/layout/hierarchy1"/>
    <dgm:cxn modelId="{B362D752-7066-438D-A5F6-7C9C8394C7FF}" type="presParOf" srcId="{5369C6CD-A54A-4123-B34D-87C34F5959CB}" destId="{C3AB1FF2-DC0A-44C0-9B5C-033E47D7CD29}" srcOrd="1" destOrd="0" presId="urn:microsoft.com/office/officeart/2005/8/layout/hierarchy1"/>
    <dgm:cxn modelId="{F47BD61A-216B-473F-8F7A-A6DAD4B65651}" type="presParOf" srcId="{3BF72CB4-C3ED-4DE5-8110-9B3901B2C93B}" destId="{903E9716-C4E6-4BD4-8B69-0A629E6AA140}" srcOrd="1" destOrd="0" presId="urn:microsoft.com/office/officeart/2005/8/layout/hierarchy1"/>
    <dgm:cxn modelId="{40AE25E0-C255-45A7-8FBB-10526D499018}" type="presParOf" srcId="{903E9716-C4E6-4BD4-8B69-0A629E6AA140}" destId="{FCDCCE27-C4CB-4D3E-BC62-107506BF6764}" srcOrd="0" destOrd="0" presId="urn:microsoft.com/office/officeart/2005/8/layout/hierarchy1"/>
    <dgm:cxn modelId="{2454E0E9-E315-48D3-8005-DE3A1AA46A04}" type="presParOf" srcId="{903E9716-C4E6-4BD4-8B69-0A629E6AA140}" destId="{B12C739B-1F59-47E4-A683-2003722EC6B5}" srcOrd="1" destOrd="0" presId="urn:microsoft.com/office/officeart/2005/8/layout/hierarchy1"/>
    <dgm:cxn modelId="{F1AF0219-6018-40A4-BADD-BAF631DFB4CC}" type="presParOf" srcId="{B12C739B-1F59-47E4-A683-2003722EC6B5}" destId="{0AEDE366-35D0-44F8-80F8-74E02D5EDA08}" srcOrd="0" destOrd="0" presId="urn:microsoft.com/office/officeart/2005/8/layout/hierarchy1"/>
    <dgm:cxn modelId="{1DCE1622-B732-48B3-B413-ADE880A9CB80}" type="presParOf" srcId="{0AEDE366-35D0-44F8-80F8-74E02D5EDA08}" destId="{0861087F-0DBC-4D39-A574-AAF5B15ED477}" srcOrd="0" destOrd="0" presId="urn:microsoft.com/office/officeart/2005/8/layout/hierarchy1"/>
    <dgm:cxn modelId="{6C5A9FE1-B23F-49A7-98C3-3EFC92553E89}" type="presParOf" srcId="{0AEDE366-35D0-44F8-80F8-74E02D5EDA08}" destId="{419B3B3C-8441-41C8-B76D-370BC0ECF748}" srcOrd="1" destOrd="0" presId="urn:microsoft.com/office/officeart/2005/8/layout/hierarchy1"/>
    <dgm:cxn modelId="{23A65C5D-CF64-438D-B9C2-8A6DF6A475E7}" type="presParOf" srcId="{B12C739B-1F59-47E4-A683-2003722EC6B5}" destId="{A8559C38-B273-4B98-83C1-20933D07EAF1}" srcOrd="1" destOrd="0" presId="urn:microsoft.com/office/officeart/2005/8/layout/hierarchy1"/>
    <dgm:cxn modelId="{FA686CAD-CFF0-47AE-906E-426A2141B2EF}" type="presParOf" srcId="{903E9716-C4E6-4BD4-8B69-0A629E6AA140}" destId="{0FC2A19E-B4A8-401B-9EFE-338B343F0CB8}" srcOrd="2" destOrd="0" presId="urn:microsoft.com/office/officeart/2005/8/layout/hierarchy1"/>
    <dgm:cxn modelId="{DE907174-74FA-4C9F-B571-21F500C9104A}" type="presParOf" srcId="{903E9716-C4E6-4BD4-8B69-0A629E6AA140}" destId="{7D65DD24-452E-4AE9-BD9C-367F58BBE767}" srcOrd="3" destOrd="0" presId="urn:microsoft.com/office/officeart/2005/8/layout/hierarchy1"/>
    <dgm:cxn modelId="{B53F4ED0-39C6-4523-B622-C624D3447A1E}" type="presParOf" srcId="{7D65DD24-452E-4AE9-BD9C-367F58BBE767}" destId="{795B763C-99E8-48BA-A02F-8664DB25FB81}" srcOrd="0" destOrd="0" presId="urn:microsoft.com/office/officeart/2005/8/layout/hierarchy1"/>
    <dgm:cxn modelId="{7AB65AB1-6C0D-475C-ABB5-9D615F7975C1}" type="presParOf" srcId="{795B763C-99E8-48BA-A02F-8664DB25FB81}" destId="{B97F1310-436A-437E-85FA-64E236C3D70D}" srcOrd="0" destOrd="0" presId="urn:microsoft.com/office/officeart/2005/8/layout/hierarchy1"/>
    <dgm:cxn modelId="{536B1F5E-529F-42EB-BFDF-2059B09D6986}" type="presParOf" srcId="{795B763C-99E8-48BA-A02F-8664DB25FB81}" destId="{2FA9A723-4E8D-43C6-88F6-AB5AA00A338D}" srcOrd="1" destOrd="0" presId="urn:microsoft.com/office/officeart/2005/8/layout/hierarchy1"/>
    <dgm:cxn modelId="{9A5A11F2-41F1-43F7-A0E8-79AF3FB536B0}" type="presParOf" srcId="{7D65DD24-452E-4AE9-BD9C-367F58BBE767}" destId="{74FB93E2-7302-4278-8C4E-9549D3E7ECC6}" srcOrd="1" destOrd="0" presId="urn:microsoft.com/office/officeart/2005/8/layout/hierarchy1"/>
    <dgm:cxn modelId="{3EDF031F-7C74-4658-8566-F5E172D8146A}" type="presParOf" srcId="{903E9716-C4E6-4BD4-8B69-0A629E6AA140}" destId="{DA318F96-6D0C-4FC5-AF7D-E7F79C7ECE29}" srcOrd="4" destOrd="0" presId="urn:microsoft.com/office/officeart/2005/8/layout/hierarchy1"/>
    <dgm:cxn modelId="{7D12A27D-C9B2-41D3-8C10-D0DC0402FBF0}" type="presParOf" srcId="{903E9716-C4E6-4BD4-8B69-0A629E6AA140}" destId="{02519ABE-7C93-43B2-92D4-F8F3282F3583}" srcOrd="5" destOrd="0" presId="urn:microsoft.com/office/officeart/2005/8/layout/hierarchy1"/>
    <dgm:cxn modelId="{EF514CF5-59D4-40A4-9CB7-130E331876EE}" type="presParOf" srcId="{02519ABE-7C93-43B2-92D4-F8F3282F3583}" destId="{329C5B72-1715-4879-96A3-775C409A427A}" srcOrd="0" destOrd="0" presId="urn:microsoft.com/office/officeart/2005/8/layout/hierarchy1"/>
    <dgm:cxn modelId="{AD0231E4-B963-406C-A0D7-BA3530B6282C}" type="presParOf" srcId="{329C5B72-1715-4879-96A3-775C409A427A}" destId="{497982C1-4069-40A2-A677-0E7A501CF1B3}" srcOrd="0" destOrd="0" presId="urn:microsoft.com/office/officeart/2005/8/layout/hierarchy1"/>
    <dgm:cxn modelId="{4A812E9D-E184-4683-853D-226B55505E43}" type="presParOf" srcId="{329C5B72-1715-4879-96A3-775C409A427A}" destId="{5585CC7E-C1DD-4D30-83E1-A3B8E46BEF2B}" srcOrd="1" destOrd="0" presId="urn:microsoft.com/office/officeart/2005/8/layout/hierarchy1"/>
    <dgm:cxn modelId="{2ACD4F46-3AB1-4E55-8601-A505B22D0A32}" type="presParOf" srcId="{02519ABE-7C93-43B2-92D4-F8F3282F3583}" destId="{980BCEAC-A8CF-4496-91EE-CD161B86D14D}" srcOrd="1" destOrd="0" presId="urn:microsoft.com/office/officeart/2005/8/layout/hierarchy1"/>
    <dgm:cxn modelId="{9AB80D19-A89A-4BDA-80F2-E38E74252095}" type="presParOf" srcId="{980BCEAC-A8CF-4496-91EE-CD161B86D14D}" destId="{D344B73B-3EAC-4EC7-8FCB-232B26B17A4D}" srcOrd="0" destOrd="0" presId="urn:microsoft.com/office/officeart/2005/8/layout/hierarchy1"/>
    <dgm:cxn modelId="{D128F4D7-D0E9-47C8-9051-E352B6332BCB}" type="presParOf" srcId="{980BCEAC-A8CF-4496-91EE-CD161B86D14D}" destId="{CD8F9792-609D-4D03-95A4-0CA369C2E2AD}" srcOrd="1" destOrd="0" presId="urn:microsoft.com/office/officeart/2005/8/layout/hierarchy1"/>
    <dgm:cxn modelId="{3FD968C9-3A13-4C64-AA96-E1EE5A24ED80}" type="presParOf" srcId="{CD8F9792-609D-4D03-95A4-0CA369C2E2AD}" destId="{B3435598-D77B-4773-9717-B5219EA270B8}" srcOrd="0" destOrd="0" presId="urn:microsoft.com/office/officeart/2005/8/layout/hierarchy1"/>
    <dgm:cxn modelId="{3138265C-8345-490F-BFF8-76C53D87A81F}" type="presParOf" srcId="{B3435598-D77B-4773-9717-B5219EA270B8}" destId="{DE7AA47D-1980-4CD0-AD00-BEC932582F25}" srcOrd="0" destOrd="0" presId="urn:microsoft.com/office/officeart/2005/8/layout/hierarchy1"/>
    <dgm:cxn modelId="{8C480A66-DD3B-4154-9659-A61B1F9C2BD3}" type="presParOf" srcId="{B3435598-D77B-4773-9717-B5219EA270B8}" destId="{9E2A8DF1-EEFB-43FE-A610-91405EC992BA}" srcOrd="1" destOrd="0" presId="urn:microsoft.com/office/officeart/2005/8/layout/hierarchy1"/>
    <dgm:cxn modelId="{BC9765D0-E037-4F4E-B368-6BABE77F96F2}" type="presParOf" srcId="{CD8F9792-609D-4D03-95A4-0CA369C2E2AD}" destId="{C2FD5035-89BB-465C-91E5-63765CE5818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814E4D-821A-4303-9774-F937D2E32AC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DA4396-CF97-44F8-B01D-63298EBFE1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Concept:</a:t>
          </a:r>
          <a:r>
            <a:rPr lang="en-US" sz="2000" dirty="0"/>
            <a:t> Instead of counting words, let's represent them as coordinates in a multi-dimensional space.</a:t>
          </a:r>
        </a:p>
      </dgm:t>
    </dgm:pt>
    <dgm:pt modelId="{2B830E5E-6884-42DC-B310-F9077C4195E4}" type="parTrans" cxnId="{7A56A94B-0C85-4D21-B701-7F4AC2D83BF1}">
      <dgm:prSet/>
      <dgm:spPr/>
      <dgm:t>
        <a:bodyPr/>
        <a:lstStyle/>
        <a:p>
          <a:endParaRPr lang="en-US"/>
        </a:p>
      </dgm:t>
    </dgm:pt>
    <dgm:pt modelId="{3BC4AD8B-A2CB-4824-9232-39B37CEC81D3}" type="sibTrans" cxnId="{7A56A94B-0C85-4D21-B701-7F4AC2D83B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5EA5CC-52AF-4CE3-8B6C-7840ED70D6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Hypothesis:</a:t>
          </a:r>
          <a:r>
            <a:rPr lang="en-US"/>
            <a:t> "You shall know a word by the company it keeps" (Firth, 1957).</a:t>
          </a:r>
        </a:p>
      </dgm:t>
    </dgm:pt>
    <dgm:pt modelId="{C4E4FEB5-6A3C-4848-86A0-95957F0F8A35}" type="parTrans" cxnId="{029E22D5-A6E5-4537-8D78-170A8EF5C465}">
      <dgm:prSet/>
      <dgm:spPr/>
      <dgm:t>
        <a:bodyPr/>
        <a:lstStyle/>
        <a:p>
          <a:endParaRPr lang="en-US"/>
        </a:p>
      </dgm:t>
    </dgm:pt>
    <dgm:pt modelId="{643515C8-055C-49C2-AA1E-312A17DA3200}" type="sibTrans" cxnId="{029E22D5-A6E5-4537-8D78-170A8EF5C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1F378E-8B48-4FF9-ABB5-7D2257593C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Static Embeddings:</a:t>
          </a:r>
          <a:r>
            <a:rPr lang="en-US"/>
            <a:t> Word2Vec &amp; GloVe.</a:t>
          </a:r>
        </a:p>
      </dgm:t>
    </dgm:pt>
    <dgm:pt modelId="{0601ADCB-8B1A-410D-8CAE-CF31A643160F}" type="parTrans" cxnId="{9DB11BA1-92B2-49D7-AE9F-BC7FA92541D4}">
      <dgm:prSet/>
      <dgm:spPr/>
      <dgm:t>
        <a:bodyPr/>
        <a:lstStyle/>
        <a:p>
          <a:endParaRPr lang="en-US"/>
        </a:p>
      </dgm:t>
    </dgm:pt>
    <dgm:pt modelId="{29206C4B-8E2A-46D9-ABFF-347A67B34B4D}" type="sibTrans" cxnId="{9DB11BA1-92B2-49D7-AE9F-BC7FA92541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4B9782-DF01-480D-8D21-A5C0FE9F36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Visual:</a:t>
          </a:r>
          <a:r>
            <a:rPr lang="en-US" dirty="0"/>
            <a:t> A 3D plot showing "Dog" and "Cat" close together, and "Car" far away.</a:t>
          </a:r>
        </a:p>
      </dgm:t>
    </dgm:pt>
    <dgm:pt modelId="{AAC97EBA-F3F0-46A1-9CAD-34209DE4C579}" type="parTrans" cxnId="{65D5D825-4005-473F-A7F8-BE3FEF329444}">
      <dgm:prSet/>
      <dgm:spPr/>
      <dgm:t>
        <a:bodyPr/>
        <a:lstStyle/>
        <a:p>
          <a:endParaRPr lang="en-US"/>
        </a:p>
      </dgm:t>
    </dgm:pt>
    <dgm:pt modelId="{8C574608-5B01-4CE0-AD00-21264E648B1A}" type="sibTrans" cxnId="{65D5D825-4005-473F-A7F8-BE3FEF329444}">
      <dgm:prSet/>
      <dgm:spPr/>
      <dgm:t>
        <a:bodyPr/>
        <a:lstStyle/>
        <a:p>
          <a:endParaRPr lang="en-US"/>
        </a:p>
      </dgm:t>
    </dgm:pt>
    <dgm:pt modelId="{F508134A-3F57-4DEA-A5AE-751C34BCA54F}" type="pres">
      <dgm:prSet presAssocID="{33814E4D-821A-4303-9774-F937D2E32ACB}" presName="root" presStyleCnt="0">
        <dgm:presLayoutVars>
          <dgm:dir/>
          <dgm:resizeHandles val="exact"/>
        </dgm:presLayoutVars>
      </dgm:prSet>
      <dgm:spPr/>
    </dgm:pt>
    <dgm:pt modelId="{7B962D72-2DC1-44CB-BCA9-43ED07FB07C9}" type="pres">
      <dgm:prSet presAssocID="{33814E4D-821A-4303-9774-F937D2E32ACB}" presName="container" presStyleCnt="0">
        <dgm:presLayoutVars>
          <dgm:dir/>
          <dgm:resizeHandles val="exact"/>
        </dgm:presLayoutVars>
      </dgm:prSet>
      <dgm:spPr/>
    </dgm:pt>
    <dgm:pt modelId="{689468FB-0A39-4FA2-A95C-B0517D279C07}" type="pres">
      <dgm:prSet presAssocID="{D5DA4396-CF97-44F8-B01D-63298EBFE17A}" presName="compNode" presStyleCnt="0"/>
      <dgm:spPr/>
    </dgm:pt>
    <dgm:pt modelId="{F19C48B4-C7EC-481B-9CF4-A7AA51438224}" type="pres">
      <dgm:prSet presAssocID="{D5DA4396-CF97-44F8-B01D-63298EBFE17A}" presName="iconBgRect" presStyleLbl="bgShp" presStyleIdx="0" presStyleCnt="4"/>
      <dgm:spPr/>
    </dgm:pt>
    <dgm:pt modelId="{FC582643-50FF-43CA-9CD8-B90CDCDA0687}" type="pres">
      <dgm:prSet presAssocID="{D5DA4396-CF97-44F8-B01D-63298EBFE1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8DF6EE2B-5144-4B0F-9F2D-9F2E8C3EA00F}" type="pres">
      <dgm:prSet presAssocID="{D5DA4396-CF97-44F8-B01D-63298EBFE17A}" presName="spaceRect" presStyleCnt="0"/>
      <dgm:spPr/>
    </dgm:pt>
    <dgm:pt modelId="{02400F27-B819-462F-81BD-37B22076FFF8}" type="pres">
      <dgm:prSet presAssocID="{D5DA4396-CF97-44F8-B01D-63298EBFE17A}" presName="textRect" presStyleLbl="revTx" presStyleIdx="0" presStyleCnt="4">
        <dgm:presLayoutVars>
          <dgm:chMax val="1"/>
          <dgm:chPref val="1"/>
        </dgm:presLayoutVars>
      </dgm:prSet>
      <dgm:spPr/>
    </dgm:pt>
    <dgm:pt modelId="{93493367-7809-42F7-8008-0F64F4DF5ED5}" type="pres">
      <dgm:prSet presAssocID="{3BC4AD8B-A2CB-4824-9232-39B37CEC81D3}" presName="sibTrans" presStyleLbl="sibTrans2D1" presStyleIdx="0" presStyleCnt="0"/>
      <dgm:spPr/>
    </dgm:pt>
    <dgm:pt modelId="{1242071A-2F98-47F3-AC9B-00BA8B146AB6}" type="pres">
      <dgm:prSet presAssocID="{EA5EA5CC-52AF-4CE3-8B6C-7840ED70D610}" presName="compNode" presStyleCnt="0"/>
      <dgm:spPr/>
    </dgm:pt>
    <dgm:pt modelId="{115FCDBE-75D5-4300-91CB-81E6FDCDD26E}" type="pres">
      <dgm:prSet presAssocID="{EA5EA5CC-52AF-4CE3-8B6C-7840ED70D610}" presName="iconBgRect" presStyleLbl="bgShp" presStyleIdx="1" presStyleCnt="4"/>
      <dgm:spPr/>
    </dgm:pt>
    <dgm:pt modelId="{86DCEA98-F43E-4DB5-9E0C-CE0BFB7E588C}" type="pres">
      <dgm:prSet presAssocID="{EA5EA5CC-52AF-4CE3-8B6C-7840ED70D6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und"/>
        </a:ext>
      </dgm:extLst>
    </dgm:pt>
    <dgm:pt modelId="{5799DAEA-1477-42C1-8371-E5F6C7D02B45}" type="pres">
      <dgm:prSet presAssocID="{EA5EA5CC-52AF-4CE3-8B6C-7840ED70D610}" presName="spaceRect" presStyleCnt="0"/>
      <dgm:spPr/>
    </dgm:pt>
    <dgm:pt modelId="{FDCEB773-2AD8-4ABD-A563-0ACB6E08BD0B}" type="pres">
      <dgm:prSet presAssocID="{EA5EA5CC-52AF-4CE3-8B6C-7840ED70D610}" presName="textRect" presStyleLbl="revTx" presStyleIdx="1" presStyleCnt="4">
        <dgm:presLayoutVars>
          <dgm:chMax val="1"/>
          <dgm:chPref val="1"/>
        </dgm:presLayoutVars>
      </dgm:prSet>
      <dgm:spPr/>
    </dgm:pt>
    <dgm:pt modelId="{2A557ACE-9004-4050-9E7D-DDFD96578D1C}" type="pres">
      <dgm:prSet presAssocID="{643515C8-055C-49C2-AA1E-312A17DA3200}" presName="sibTrans" presStyleLbl="sibTrans2D1" presStyleIdx="0" presStyleCnt="0"/>
      <dgm:spPr/>
    </dgm:pt>
    <dgm:pt modelId="{B79B10E9-A7A6-4469-AACC-478DF04FFB1F}" type="pres">
      <dgm:prSet presAssocID="{271F378E-8B48-4FF9-ABB5-7D2257593CD6}" presName="compNode" presStyleCnt="0"/>
      <dgm:spPr/>
    </dgm:pt>
    <dgm:pt modelId="{107AD0CA-20B1-402B-A505-AC13E39528AB}" type="pres">
      <dgm:prSet presAssocID="{271F378E-8B48-4FF9-ABB5-7D2257593CD6}" presName="iconBgRect" presStyleLbl="bgShp" presStyleIdx="2" presStyleCnt="4"/>
      <dgm:spPr/>
    </dgm:pt>
    <dgm:pt modelId="{210EAA3C-153A-4F95-9612-19D070C47AC8}" type="pres">
      <dgm:prSet presAssocID="{271F378E-8B48-4FF9-ABB5-7D2257593C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61AACA0D-20E5-47E6-AA8C-D318B2205C72}" type="pres">
      <dgm:prSet presAssocID="{271F378E-8B48-4FF9-ABB5-7D2257593CD6}" presName="spaceRect" presStyleCnt="0"/>
      <dgm:spPr/>
    </dgm:pt>
    <dgm:pt modelId="{82AA8AF5-9196-4E49-B3AB-9F73ECAAB959}" type="pres">
      <dgm:prSet presAssocID="{271F378E-8B48-4FF9-ABB5-7D2257593CD6}" presName="textRect" presStyleLbl="revTx" presStyleIdx="2" presStyleCnt="4">
        <dgm:presLayoutVars>
          <dgm:chMax val="1"/>
          <dgm:chPref val="1"/>
        </dgm:presLayoutVars>
      </dgm:prSet>
      <dgm:spPr/>
    </dgm:pt>
    <dgm:pt modelId="{ADCF7085-B26D-419F-9182-772C76D73369}" type="pres">
      <dgm:prSet presAssocID="{29206C4B-8E2A-46D9-ABFF-347A67B34B4D}" presName="sibTrans" presStyleLbl="sibTrans2D1" presStyleIdx="0" presStyleCnt="0"/>
      <dgm:spPr/>
    </dgm:pt>
    <dgm:pt modelId="{EEBEB0D7-C100-4F53-9601-47DB07375C0E}" type="pres">
      <dgm:prSet presAssocID="{9F4B9782-DF01-480D-8D21-A5C0FE9F36AE}" presName="compNode" presStyleCnt="0"/>
      <dgm:spPr/>
    </dgm:pt>
    <dgm:pt modelId="{91AC3354-C6DF-45A4-A333-937A7909F4DD}" type="pres">
      <dgm:prSet presAssocID="{9F4B9782-DF01-480D-8D21-A5C0FE9F36AE}" presName="iconBgRect" presStyleLbl="bgShp" presStyleIdx="3" presStyleCnt="4"/>
      <dgm:spPr/>
    </dgm:pt>
    <dgm:pt modelId="{812FEFCA-BD8A-475F-93C4-4F132538EF05}" type="pres">
      <dgm:prSet presAssocID="{9F4B9782-DF01-480D-8D21-A5C0FE9F36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7D35AB3E-32B0-464B-85B4-B7A0679978D7}" type="pres">
      <dgm:prSet presAssocID="{9F4B9782-DF01-480D-8D21-A5C0FE9F36AE}" presName="spaceRect" presStyleCnt="0"/>
      <dgm:spPr/>
    </dgm:pt>
    <dgm:pt modelId="{9EE2FF2E-5189-420E-B48D-58A9E565358C}" type="pres">
      <dgm:prSet presAssocID="{9F4B9782-DF01-480D-8D21-A5C0FE9F36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908722-F111-4C8C-BC59-7FFFF8A08FC4}" type="presOf" srcId="{643515C8-055C-49C2-AA1E-312A17DA3200}" destId="{2A557ACE-9004-4050-9E7D-DDFD96578D1C}" srcOrd="0" destOrd="0" presId="urn:microsoft.com/office/officeart/2018/2/layout/IconCircleList"/>
    <dgm:cxn modelId="{65D5D825-4005-473F-A7F8-BE3FEF329444}" srcId="{33814E4D-821A-4303-9774-F937D2E32ACB}" destId="{9F4B9782-DF01-480D-8D21-A5C0FE9F36AE}" srcOrd="3" destOrd="0" parTransId="{AAC97EBA-F3F0-46A1-9CAD-34209DE4C579}" sibTransId="{8C574608-5B01-4CE0-AD00-21264E648B1A}"/>
    <dgm:cxn modelId="{46B59549-8174-4C27-BEBE-60C108B38A0F}" type="presOf" srcId="{33814E4D-821A-4303-9774-F937D2E32ACB}" destId="{F508134A-3F57-4DEA-A5AE-751C34BCA54F}" srcOrd="0" destOrd="0" presId="urn:microsoft.com/office/officeart/2018/2/layout/IconCircleList"/>
    <dgm:cxn modelId="{7A56A94B-0C85-4D21-B701-7F4AC2D83BF1}" srcId="{33814E4D-821A-4303-9774-F937D2E32ACB}" destId="{D5DA4396-CF97-44F8-B01D-63298EBFE17A}" srcOrd="0" destOrd="0" parTransId="{2B830E5E-6884-42DC-B310-F9077C4195E4}" sibTransId="{3BC4AD8B-A2CB-4824-9232-39B37CEC81D3}"/>
    <dgm:cxn modelId="{985B494E-A5B6-4417-9C50-7CA54075A1A5}" type="presOf" srcId="{9F4B9782-DF01-480D-8D21-A5C0FE9F36AE}" destId="{9EE2FF2E-5189-420E-B48D-58A9E565358C}" srcOrd="0" destOrd="0" presId="urn:microsoft.com/office/officeart/2018/2/layout/IconCircleList"/>
    <dgm:cxn modelId="{3B7ECC70-7E79-4905-8071-18F0E2314193}" type="presOf" srcId="{D5DA4396-CF97-44F8-B01D-63298EBFE17A}" destId="{02400F27-B819-462F-81BD-37B22076FFF8}" srcOrd="0" destOrd="0" presId="urn:microsoft.com/office/officeart/2018/2/layout/IconCircleList"/>
    <dgm:cxn modelId="{64CAB659-C806-4C65-8D97-3775C21A9F76}" type="presOf" srcId="{3BC4AD8B-A2CB-4824-9232-39B37CEC81D3}" destId="{93493367-7809-42F7-8008-0F64F4DF5ED5}" srcOrd="0" destOrd="0" presId="urn:microsoft.com/office/officeart/2018/2/layout/IconCircleList"/>
    <dgm:cxn modelId="{9DB11BA1-92B2-49D7-AE9F-BC7FA92541D4}" srcId="{33814E4D-821A-4303-9774-F937D2E32ACB}" destId="{271F378E-8B48-4FF9-ABB5-7D2257593CD6}" srcOrd="2" destOrd="0" parTransId="{0601ADCB-8B1A-410D-8CAE-CF31A643160F}" sibTransId="{29206C4B-8E2A-46D9-ABFF-347A67B34B4D}"/>
    <dgm:cxn modelId="{4C4C8CAC-7A12-4FAE-B4ED-8CCD6A764806}" type="presOf" srcId="{271F378E-8B48-4FF9-ABB5-7D2257593CD6}" destId="{82AA8AF5-9196-4E49-B3AB-9F73ECAAB959}" srcOrd="0" destOrd="0" presId="urn:microsoft.com/office/officeart/2018/2/layout/IconCircleList"/>
    <dgm:cxn modelId="{4FC9B4D4-CE61-49EB-BE1E-998A148808DC}" type="presOf" srcId="{29206C4B-8E2A-46D9-ABFF-347A67B34B4D}" destId="{ADCF7085-B26D-419F-9182-772C76D73369}" srcOrd="0" destOrd="0" presId="urn:microsoft.com/office/officeart/2018/2/layout/IconCircleList"/>
    <dgm:cxn modelId="{029E22D5-A6E5-4537-8D78-170A8EF5C465}" srcId="{33814E4D-821A-4303-9774-F937D2E32ACB}" destId="{EA5EA5CC-52AF-4CE3-8B6C-7840ED70D610}" srcOrd="1" destOrd="0" parTransId="{C4E4FEB5-6A3C-4848-86A0-95957F0F8A35}" sibTransId="{643515C8-055C-49C2-AA1E-312A17DA3200}"/>
    <dgm:cxn modelId="{FAE0D0DB-442B-4480-B368-14F7CB5A1262}" type="presOf" srcId="{EA5EA5CC-52AF-4CE3-8B6C-7840ED70D610}" destId="{FDCEB773-2AD8-4ABD-A563-0ACB6E08BD0B}" srcOrd="0" destOrd="0" presId="urn:microsoft.com/office/officeart/2018/2/layout/IconCircleList"/>
    <dgm:cxn modelId="{BD487954-B10F-43AE-A5E8-F9CF0D8F8265}" type="presParOf" srcId="{F508134A-3F57-4DEA-A5AE-751C34BCA54F}" destId="{7B962D72-2DC1-44CB-BCA9-43ED07FB07C9}" srcOrd="0" destOrd="0" presId="urn:microsoft.com/office/officeart/2018/2/layout/IconCircleList"/>
    <dgm:cxn modelId="{1B4E6FA4-887D-42B9-88E2-7E0153CFEA23}" type="presParOf" srcId="{7B962D72-2DC1-44CB-BCA9-43ED07FB07C9}" destId="{689468FB-0A39-4FA2-A95C-B0517D279C07}" srcOrd="0" destOrd="0" presId="urn:microsoft.com/office/officeart/2018/2/layout/IconCircleList"/>
    <dgm:cxn modelId="{1EA5098E-1FC8-466C-BD8A-42A4A48C5A4D}" type="presParOf" srcId="{689468FB-0A39-4FA2-A95C-B0517D279C07}" destId="{F19C48B4-C7EC-481B-9CF4-A7AA51438224}" srcOrd="0" destOrd="0" presId="urn:microsoft.com/office/officeart/2018/2/layout/IconCircleList"/>
    <dgm:cxn modelId="{A84AAACC-8E98-4F31-9536-17636D2CF0DF}" type="presParOf" srcId="{689468FB-0A39-4FA2-A95C-B0517D279C07}" destId="{FC582643-50FF-43CA-9CD8-B90CDCDA0687}" srcOrd="1" destOrd="0" presId="urn:microsoft.com/office/officeart/2018/2/layout/IconCircleList"/>
    <dgm:cxn modelId="{DECAB35F-5913-4106-9F5F-129CBC574223}" type="presParOf" srcId="{689468FB-0A39-4FA2-A95C-B0517D279C07}" destId="{8DF6EE2B-5144-4B0F-9F2D-9F2E8C3EA00F}" srcOrd="2" destOrd="0" presId="urn:microsoft.com/office/officeart/2018/2/layout/IconCircleList"/>
    <dgm:cxn modelId="{3D92EA00-161A-430F-A4F6-0D0D6436F378}" type="presParOf" srcId="{689468FB-0A39-4FA2-A95C-B0517D279C07}" destId="{02400F27-B819-462F-81BD-37B22076FFF8}" srcOrd="3" destOrd="0" presId="urn:microsoft.com/office/officeart/2018/2/layout/IconCircleList"/>
    <dgm:cxn modelId="{9A24E157-4376-4773-8419-9C769E915EC1}" type="presParOf" srcId="{7B962D72-2DC1-44CB-BCA9-43ED07FB07C9}" destId="{93493367-7809-42F7-8008-0F64F4DF5ED5}" srcOrd="1" destOrd="0" presId="urn:microsoft.com/office/officeart/2018/2/layout/IconCircleList"/>
    <dgm:cxn modelId="{161B5436-7495-42F3-BDC4-91AE140BA3B4}" type="presParOf" srcId="{7B962D72-2DC1-44CB-BCA9-43ED07FB07C9}" destId="{1242071A-2F98-47F3-AC9B-00BA8B146AB6}" srcOrd="2" destOrd="0" presId="urn:microsoft.com/office/officeart/2018/2/layout/IconCircleList"/>
    <dgm:cxn modelId="{C1AA753D-1F4F-4B1E-A81D-2BF0F5A3DCD5}" type="presParOf" srcId="{1242071A-2F98-47F3-AC9B-00BA8B146AB6}" destId="{115FCDBE-75D5-4300-91CB-81E6FDCDD26E}" srcOrd="0" destOrd="0" presId="urn:microsoft.com/office/officeart/2018/2/layout/IconCircleList"/>
    <dgm:cxn modelId="{FA4C0E54-B714-4A65-9078-F27FA750566F}" type="presParOf" srcId="{1242071A-2F98-47F3-AC9B-00BA8B146AB6}" destId="{86DCEA98-F43E-4DB5-9E0C-CE0BFB7E588C}" srcOrd="1" destOrd="0" presId="urn:microsoft.com/office/officeart/2018/2/layout/IconCircleList"/>
    <dgm:cxn modelId="{8EFC8A88-4A44-4739-9206-662A09FCE8A9}" type="presParOf" srcId="{1242071A-2F98-47F3-AC9B-00BA8B146AB6}" destId="{5799DAEA-1477-42C1-8371-E5F6C7D02B45}" srcOrd="2" destOrd="0" presId="urn:microsoft.com/office/officeart/2018/2/layout/IconCircleList"/>
    <dgm:cxn modelId="{F39FC62E-044D-4548-B6AE-35F79EAE6940}" type="presParOf" srcId="{1242071A-2F98-47F3-AC9B-00BA8B146AB6}" destId="{FDCEB773-2AD8-4ABD-A563-0ACB6E08BD0B}" srcOrd="3" destOrd="0" presId="urn:microsoft.com/office/officeart/2018/2/layout/IconCircleList"/>
    <dgm:cxn modelId="{2CEFD5C3-239C-49AD-9D5C-6B4748828380}" type="presParOf" srcId="{7B962D72-2DC1-44CB-BCA9-43ED07FB07C9}" destId="{2A557ACE-9004-4050-9E7D-DDFD96578D1C}" srcOrd="3" destOrd="0" presId="urn:microsoft.com/office/officeart/2018/2/layout/IconCircleList"/>
    <dgm:cxn modelId="{2BF08E0B-F233-4B50-B0D8-512C14BFC60D}" type="presParOf" srcId="{7B962D72-2DC1-44CB-BCA9-43ED07FB07C9}" destId="{B79B10E9-A7A6-4469-AACC-478DF04FFB1F}" srcOrd="4" destOrd="0" presId="urn:microsoft.com/office/officeart/2018/2/layout/IconCircleList"/>
    <dgm:cxn modelId="{A297776B-D939-40D3-A89F-8B3F4847848C}" type="presParOf" srcId="{B79B10E9-A7A6-4469-AACC-478DF04FFB1F}" destId="{107AD0CA-20B1-402B-A505-AC13E39528AB}" srcOrd="0" destOrd="0" presId="urn:microsoft.com/office/officeart/2018/2/layout/IconCircleList"/>
    <dgm:cxn modelId="{07C6ECD8-24B3-45DB-9D5E-A430C036F93C}" type="presParOf" srcId="{B79B10E9-A7A6-4469-AACC-478DF04FFB1F}" destId="{210EAA3C-153A-4F95-9612-19D070C47AC8}" srcOrd="1" destOrd="0" presId="urn:microsoft.com/office/officeart/2018/2/layout/IconCircleList"/>
    <dgm:cxn modelId="{BC6CFA1F-5678-415B-AB71-D9528F23483D}" type="presParOf" srcId="{B79B10E9-A7A6-4469-AACC-478DF04FFB1F}" destId="{61AACA0D-20E5-47E6-AA8C-D318B2205C72}" srcOrd="2" destOrd="0" presId="urn:microsoft.com/office/officeart/2018/2/layout/IconCircleList"/>
    <dgm:cxn modelId="{2057E70A-4891-4B19-8C77-4052AA665CBC}" type="presParOf" srcId="{B79B10E9-A7A6-4469-AACC-478DF04FFB1F}" destId="{82AA8AF5-9196-4E49-B3AB-9F73ECAAB959}" srcOrd="3" destOrd="0" presId="urn:microsoft.com/office/officeart/2018/2/layout/IconCircleList"/>
    <dgm:cxn modelId="{229F061B-2AB2-447F-BDE2-B9D5DF2BF327}" type="presParOf" srcId="{7B962D72-2DC1-44CB-BCA9-43ED07FB07C9}" destId="{ADCF7085-B26D-419F-9182-772C76D73369}" srcOrd="5" destOrd="0" presId="urn:microsoft.com/office/officeart/2018/2/layout/IconCircleList"/>
    <dgm:cxn modelId="{6C50C7E1-99C6-41FE-A933-5E4429848AE9}" type="presParOf" srcId="{7B962D72-2DC1-44CB-BCA9-43ED07FB07C9}" destId="{EEBEB0D7-C100-4F53-9601-47DB07375C0E}" srcOrd="6" destOrd="0" presId="urn:microsoft.com/office/officeart/2018/2/layout/IconCircleList"/>
    <dgm:cxn modelId="{33FE3484-6D0A-4CB8-AFEB-BEEB8A183921}" type="presParOf" srcId="{EEBEB0D7-C100-4F53-9601-47DB07375C0E}" destId="{91AC3354-C6DF-45A4-A333-937A7909F4DD}" srcOrd="0" destOrd="0" presId="urn:microsoft.com/office/officeart/2018/2/layout/IconCircleList"/>
    <dgm:cxn modelId="{B16F00E1-50B4-46C9-AEBB-72F75D9F1B9D}" type="presParOf" srcId="{EEBEB0D7-C100-4F53-9601-47DB07375C0E}" destId="{812FEFCA-BD8A-475F-93C4-4F132538EF05}" srcOrd="1" destOrd="0" presId="urn:microsoft.com/office/officeart/2018/2/layout/IconCircleList"/>
    <dgm:cxn modelId="{CC81E447-DC37-4F91-93E4-20B031CCCC9E}" type="presParOf" srcId="{EEBEB0D7-C100-4F53-9601-47DB07375C0E}" destId="{7D35AB3E-32B0-464B-85B4-B7A0679978D7}" srcOrd="2" destOrd="0" presId="urn:microsoft.com/office/officeart/2018/2/layout/IconCircleList"/>
    <dgm:cxn modelId="{52ABCB47-6368-49CF-BF07-CADEEC1DCF69}" type="presParOf" srcId="{EEBEB0D7-C100-4F53-9601-47DB07375C0E}" destId="{9EE2FF2E-5189-420E-B48D-58A9E565358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FCC3BF-887B-41F1-A8B1-589ACC7B0452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C26F41-5242-4A71-82E5-96DFB7C7AF1F}">
      <dgm:prSet custT="1"/>
      <dgm:spPr/>
      <dgm:t>
        <a:bodyPr/>
        <a:lstStyle/>
        <a:p>
          <a:r>
            <a:rPr lang="en-US" sz="1800" b="1"/>
            <a:t>Vector Arithmetic:</a:t>
          </a:r>
          <a:r>
            <a:rPr lang="en-US" sz="1800"/>
            <a:t> We can do math with meaning!</a:t>
          </a:r>
        </a:p>
      </dgm:t>
    </dgm:pt>
    <dgm:pt modelId="{BC9DB66F-1A5C-47AB-8611-6F2B3685F627}" type="parTrans" cxnId="{FF9272D6-00E6-4C4C-BEE7-DF38C158CF63}">
      <dgm:prSet/>
      <dgm:spPr/>
      <dgm:t>
        <a:bodyPr/>
        <a:lstStyle/>
        <a:p>
          <a:endParaRPr lang="en-US"/>
        </a:p>
      </dgm:t>
    </dgm:pt>
    <dgm:pt modelId="{BB4EAB7F-6BF7-4D03-A528-3F44285B49FD}" type="sibTrans" cxnId="{FF9272D6-00E6-4C4C-BEE7-DF38C158CF63}">
      <dgm:prSet/>
      <dgm:spPr/>
      <dgm:t>
        <a:bodyPr/>
        <a:lstStyle/>
        <a:p>
          <a:endParaRPr lang="en-US"/>
        </a:p>
      </dgm:t>
    </dgm:pt>
    <dgm:pt modelId="{18F3986F-E0A0-43F6-BF26-03F170E1396E}">
      <dgm:prSet/>
      <dgm:spPr/>
      <dgm:t>
        <a:bodyPr/>
        <a:lstStyle/>
        <a:p>
          <a:r>
            <a:rPr lang="en-US" b="1"/>
            <a:t>The Classic Analogy:</a:t>
          </a:r>
          <a:endParaRPr lang="en-US"/>
        </a:p>
      </dgm:t>
    </dgm:pt>
    <dgm:pt modelId="{76DAD23A-3C58-48C8-9683-CE5790F3DB5D}" type="parTrans" cxnId="{77323113-EC4B-4C5F-A4BB-54DDF5671BFB}">
      <dgm:prSet/>
      <dgm:spPr/>
      <dgm:t>
        <a:bodyPr/>
        <a:lstStyle/>
        <a:p>
          <a:endParaRPr lang="en-US"/>
        </a:p>
      </dgm:t>
    </dgm:pt>
    <dgm:pt modelId="{91A23B62-E2F1-4102-B271-5727C9AB1706}" type="sibTrans" cxnId="{77323113-EC4B-4C5F-A4BB-54DDF5671BFB}">
      <dgm:prSet/>
      <dgm:spPr/>
      <dgm:t>
        <a:bodyPr/>
        <a:lstStyle/>
        <a:p>
          <a:endParaRPr lang="en-US"/>
        </a:p>
      </dgm:t>
    </dgm:pt>
    <dgm:pt modelId="{F7A914A3-47C7-4A39-B318-103A000A82FC}">
      <dgm:prSet custT="1"/>
      <dgm:spPr/>
      <dgm:t>
        <a:bodyPr/>
        <a:lstStyle/>
        <a:p>
          <a:r>
            <a:rPr lang="en-US" sz="1600" dirty="0"/>
            <a:t>Take the vector for </a:t>
          </a:r>
          <a:r>
            <a:rPr lang="en-US" sz="1600" b="1" dirty="0"/>
            <a:t>King</a:t>
          </a:r>
          <a:r>
            <a:rPr lang="en-US" sz="1600" dirty="0"/>
            <a:t>.</a:t>
          </a:r>
        </a:p>
      </dgm:t>
    </dgm:pt>
    <dgm:pt modelId="{B15263E4-A68F-4225-A917-8402AF7C6360}" type="parTrans" cxnId="{CDE1D309-1416-4932-9025-24FE366B76D5}">
      <dgm:prSet/>
      <dgm:spPr/>
      <dgm:t>
        <a:bodyPr/>
        <a:lstStyle/>
        <a:p>
          <a:endParaRPr lang="en-US"/>
        </a:p>
      </dgm:t>
    </dgm:pt>
    <dgm:pt modelId="{C8422DB5-A4FE-45ED-A4E6-5C187B04C7C0}" type="sibTrans" cxnId="{CDE1D309-1416-4932-9025-24FE366B76D5}">
      <dgm:prSet/>
      <dgm:spPr/>
      <dgm:t>
        <a:bodyPr/>
        <a:lstStyle/>
        <a:p>
          <a:endParaRPr lang="en-US"/>
        </a:p>
      </dgm:t>
    </dgm:pt>
    <dgm:pt modelId="{6F654C5A-5115-46BB-B0F2-67BB9FADAEB3}">
      <dgm:prSet custT="1"/>
      <dgm:spPr/>
      <dgm:t>
        <a:bodyPr/>
        <a:lstStyle/>
        <a:p>
          <a:r>
            <a:rPr lang="en-US" sz="1400" dirty="0"/>
            <a:t>Subtract the vector for </a:t>
          </a:r>
          <a:r>
            <a:rPr lang="en-US" sz="1400" b="1" dirty="0"/>
            <a:t>Man</a:t>
          </a:r>
          <a:r>
            <a:rPr lang="en-US" sz="1400" dirty="0"/>
            <a:t> (removing masculinity).</a:t>
          </a:r>
        </a:p>
      </dgm:t>
    </dgm:pt>
    <dgm:pt modelId="{AB8FC6F9-F477-409B-8A9B-DFF0B11BF123}" type="parTrans" cxnId="{9EA54862-5519-4557-9770-B38726124CC6}">
      <dgm:prSet/>
      <dgm:spPr/>
      <dgm:t>
        <a:bodyPr/>
        <a:lstStyle/>
        <a:p>
          <a:endParaRPr lang="en-US"/>
        </a:p>
      </dgm:t>
    </dgm:pt>
    <dgm:pt modelId="{E2F0ABF9-E922-4F43-8E4B-BE903A9915F4}" type="sibTrans" cxnId="{9EA54862-5519-4557-9770-B38726124CC6}">
      <dgm:prSet/>
      <dgm:spPr/>
      <dgm:t>
        <a:bodyPr/>
        <a:lstStyle/>
        <a:p>
          <a:endParaRPr lang="en-US"/>
        </a:p>
      </dgm:t>
    </dgm:pt>
    <dgm:pt modelId="{D3AD5C29-3ACD-4819-9B43-3B7AB044D413}">
      <dgm:prSet/>
      <dgm:spPr/>
      <dgm:t>
        <a:bodyPr/>
        <a:lstStyle/>
        <a:p>
          <a:r>
            <a:rPr lang="en-US" dirty="0"/>
            <a:t>Add the vector for </a:t>
          </a:r>
          <a:r>
            <a:rPr lang="en-US" b="1" dirty="0"/>
            <a:t>Woman</a:t>
          </a:r>
          <a:r>
            <a:rPr lang="en-US" dirty="0"/>
            <a:t> (adding femininity).</a:t>
          </a:r>
        </a:p>
      </dgm:t>
    </dgm:pt>
    <dgm:pt modelId="{7F228530-F9C4-4E17-AAB6-93985FD494CE}" type="parTrans" cxnId="{E2EB7BCC-175D-4BF0-90C4-7C4931C575FE}">
      <dgm:prSet/>
      <dgm:spPr/>
      <dgm:t>
        <a:bodyPr/>
        <a:lstStyle/>
        <a:p>
          <a:endParaRPr lang="en-US"/>
        </a:p>
      </dgm:t>
    </dgm:pt>
    <dgm:pt modelId="{D5B6F961-785C-46ED-9451-E8F76C8F084E}" type="sibTrans" cxnId="{E2EB7BCC-175D-4BF0-90C4-7C4931C575FE}">
      <dgm:prSet/>
      <dgm:spPr/>
      <dgm:t>
        <a:bodyPr/>
        <a:lstStyle/>
        <a:p>
          <a:endParaRPr lang="en-US"/>
        </a:p>
      </dgm:t>
    </dgm:pt>
    <dgm:pt modelId="{70C898D9-1AE9-4C3D-8FF1-3110933719C6}">
      <dgm:prSet custT="1"/>
      <dgm:spPr/>
      <dgm:t>
        <a:bodyPr/>
        <a:lstStyle/>
        <a:p>
          <a:r>
            <a:rPr lang="en-US" sz="1600" b="1" dirty="0"/>
            <a:t>Result:</a:t>
          </a:r>
          <a:r>
            <a:rPr lang="en-US" sz="1600" dirty="0"/>
            <a:t> The closest vector is </a:t>
          </a:r>
          <a:r>
            <a:rPr lang="en-US" sz="1600" b="1" dirty="0"/>
            <a:t>Queen</a:t>
          </a:r>
          <a:r>
            <a:rPr lang="en-US" sz="1600" dirty="0"/>
            <a:t>.</a:t>
          </a:r>
        </a:p>
      </dgm:t>
    </dgm:pt>
    <dgm:pt modelId="{B0E64C2B-A87D-400E-9F88-3EE4F05C6C83}" type="parTrans" cxnId="{70E5C208-B0C2-4E0B-AF47-8EEE1A721657}">
      <dgm:prSet/>
      <dgm:spPr/>
      <dgm:t>
        <a:bodyPr/>
        <a:lstStyle/>
        <a:p>
          <a:endParaRPr lang="en-US"/>
        </a:p>
      </dgm:t>
    </dgm:pt>
    <dgm:pt modelId="{C6E2DCA7-9185-42D0-B194-79CDB87B2BB1}" type="sibTrans" cxnId="{70E5C208-B0C2-4E0B-AF47-8EEE1A721657}">
      <dgm:prSet/>
      <dgm:spPr/>
      <dgm:t>
        <a:bodyPr/>
        <a:lstStyle/>
        <a:p>
          <a:endParaRPr lang="en-US"/>
        </a:p>
      </dgm:t>
    </dgm:pt>
    <dgm:pt modelId="{2358AF20-E7D7-444F-A82E-AB48203501F5}">
      <dgm:prSet custT="1"/>
      <dgm:spPr/>
      <dgm:t>
        <a:bodyPr/>
        <a:lstStyle/>
        <a:p>
          <a:r>
            <a:rPr lang="en-US" sz="1800" b="1" dirty="0"/>
            <a:t>Why this was revolutionary:</a:t>
          </a:r>
          <a:r>
            <a:rPr lang="en-US" sz="1800" dirty="0"/>
            <a:t> The model "learned" gender relationships without being explicitly taught.</a:t>
          </a:r>
        </a:p>
      </dgm:t>
    </dgm:pt>
    <dgm:pt modelId="{01CCFB45-3081-473F-BEEB-5E9E5637377F}" type="parTrans" cxnId="{F6002DA9-A156-4760-B7C2-BE9A6D6C3D70}">
      <dgm:prSet/>
      <dgm:spPr/>
      <dgm:t>
        <a:bodyPr/>
        <a:lstStyle/>
        <a:p>
          <a:endParaRPr lang="en-US"/>
        </a:p>
      </dgm:t>
    </dgm:pt>
    <dgm:pt modelId="{EFFB6462-9BCA-43E9-BBF5-F35E9CB4263B}" type="sibTrans" cxnId="{F6002DA9-A156-4760-B7C2-BE9A6D6C3D70}">
      <dgm:prSet/>
      <dgm:spPr/>
      <dgm:t>
        <a:bodyPr/>
        <a:lstStyle/>
        <a:p>
          <a:endParaRPr lang="en-US"/>
        </a:p>
      </dgm:t>
    </dgm:pt>
    <dgm:pt modelId="{1A6A840B-1163-4C1F-9D2B-352F37F661F8}" type="pres">
      <dgm:prSet presAssocID="{F0FCC3BF-887B-41F1-A8B1-589ACC7B0452}" presName="Name0" presStyleCnt="0">
        <dgm:presLayoutVars>
          <dgm:dir/>
          <dgm:animLvl val="lvl"/>
          <dgm:resizeHandles val="exact"/>
        </dgm:presLayoutVars>
      </dgm:prSet>
      <dgm:spPr/>
    </dgm:pt>
    <dgm:pt modelId="{F78FAC65-F2F4-4483-8399-1CA4B13865A1}" type="pres">
      <dgm:prSet presAssocID="{2358AF20-E7D7-444F-A82E-AB48203501F5}" presName="boxAndChildren" presStyleCnt="0"/>
      <dgm:spPr/>
    </dgm:pt>
    <dgm:pt modelId="{6F8D43CB-2529-4B36-AE3B-974DB9DCF35A}" type="pres">
      <dgm:prSet presAssocID="{2358AF20-E7D7-444F-A82E-AB48203501F5}" presName="parentTextBox" presStyleLbl="node1" presStyleIdx="0" presStyleCnt="3"/>
      <dgm:spPr/>
    </dgm:pt>
    <dgm:pt modelId="{24AB04BD-FD7C-4B1B-B5D0-D6E0B4EDFAF9}" type="pres">
      <dgm:prSet presAssocID="{91A23B62-E2F1-4102-B271-5727C9AB1706}" presName="sp" presStyleCnt="0"/>
      <dgm:spPr/>
    </dgm:pt>
    <dgm:pt modelId="{C6D51450-28CC-4507-AB97-255BE9694E9B}" type="pres">
      <dgm:prSet presAssocID="{18F3986F-E0A0-43F6-BF26-03F170E1396E}" presName="arrowAndChildren" presStyleCnt="0"/>
      <dgm:spPr/>
    </dgm:pt>
    <dgm:pt modelId="{19211CEE-533B-4B78-8D36-795DAF2C03DD}" type="pres">
      <dgm:prSet presAssocID="{18F3986F-E0A0-43F6-BF26-03F170E1396E}" presName="parentTextArrow" presStyleLbl="node1" presStyleIdx="0" presStyleCnt="3"/>
      <dgm:spPr/>
    </dgm:pt>
    <dgm:pt modelId="{CEE3F91D-42CE-4ABA-AF49-7BE6A2EFEB33}" type="pres">
      <dgm:prSet presAssocID="{18F3986F-E0A0-43F6-BF26-03F170E1396E}" presName="arrow" presStyleLbl="node1" presStyleIdx="1" presStyleCnt="3"/>
      <dgm:spPr/>
    </dgm:pt>
    <dgm:pt modelId="{1BD7E617-F820-43D6-9616-08137C3DBD62}" type="pres">
      <dgm:prSet presAssocID="{18F3986F-E0A0-43F6-BF26-03F170E1396E}" presName="descendantArrow" presStyleCnt="0"/>
      <dgm:spPr/>
    </dgm:pt>
    <dgm:pt modelId="{66532094-4E5C-4C72-82B7-B66DF379A97B}" type="pres">
      <dgm:prSet presAssocID="{F7A914A3-47C7-4A39-B318-103A000A82FC}" presName="childTextArrow" presStyleLbl="fgAccFollowNode1" presStyleIdx="0" presStyleCnt="4">
        <dgm:presLayoutVars>
          <dgm:bulletEnabled val="1"/>
        </dgm:presLayoutVars>
      </dgm:prSet>
      <dgm:spPr/>
    </dgm:pt>
    <dgm:pt modelId="{233B8905-2197-4FA5-B971-DE6BB23B00CB}" type="pres">
      <dgm:prSet presAssocID="{6F654C5A-5115-46BB-B0F2-67BB9FADAEB3}" presName="childTextArrow" presStyleLbl="fgAccFollowNode1" presStyleIdx="1" presStyleCnt="4">
        <dgm:presLayoutVars>
          <dgm:bulletEnabled val="1"/>
        </dgm:presLayoutVars>
      </dgm:prSet>
      <dgm:spPr/>
    </dgm:pt>
    <dgm:pt modelId="{9EA2DF8E-5316-413E-8CC3-AF08976BB465}" type="pres">
      <dgm:prSet presAssocID="{D3AD5C29-3ACD-4819-9B43-3B7AB044D413}" presName="childTextArrow" presStyleLbl="fgAccFollowNode1" presStyleIdx="2" presStyleCnt="4">
        <dgm:presLayoutVars>
          <dgm:bulletEnabled val="1"/>
        </dgm:presLayoutVars>
      </dgm:prSet>
      <dgm:spPr/>
    </dgm:pt>
    <dgm:pt modelId="{08EF28F4-CE11-4878-B439-2449E09D17F8}" type="pres">
      <dgm:prSet presAssocID="{70C898D9-1AE9-4C3D-8FF1-3110933719C6}" presName="childTextArrow" presStyleLbl="fgAccFollowNode1" presStyleIdx="3" presStyleCnt="4">
        <dgm:presLayoutVars>
          <dgm:bulletEnabled val="1"/>
        </dgm:presLayoutVars>
      </dgm:prSet>
      <dgm:spPr/>
    </dgm:pt>
    <dgm:pt modelId="{41D2C50F-06CA-453D-9F00-49D350ABE379}" type="pres">
      <dgm:prSet presAssocID="{BB4EAB7F-6BF7-4D03-A528-3F44285B49FD}" presName="sp" presStyleCnt="0"/>
      <dgm:spPr/>
    </dgm:pt>
    <dgm:pt modelId="{9E580BDD-3E12-42A3-B569-90A0764D6EB5}" type="pres">
      <dgm:prSet presAssocID="{9EC26F41-5242-4A71-82E5-96DFB7C7AF1F}" presName="arrowAndChildren" presStyleCnt="0"/>
      <dgm:spPr/>
    </dgm:pt>
    <dgm:pt modelId="{BE6615DD-A5E8-40D4-8659-C08DDB07772C}" type="pres">
      <dgm:prSet presAssocID="{9EC26F41-5242-4A71-82E5-96DFB7C7AF1F}" presName="parentTextArrow" presStyleLbl="node1" presStyleIdx="2" presStyleCnt="3"/>
      <dgm:spPr/>
    </dgm:pt>
  </dgm:ptLst>
  <dgm:cxnLst>
    <dgm:cxn modelId="{70E5C208-B0C2-4E0B-AF47-8EEE1A721657}" srcId="{18F3986F-E0A0-43F6-BF26-03F170E1396E}" destId="{70C898D9-1AE9-4C3D-8FF1-3110933719C6}" srcOrd="3" destOrd="0" parTransId="{B0E64C2B-A87D-400E-9F88-3EE4F05C6C83}" sibTransId="{C6E2DCA7-9185-42D0-B194-79CDB87B2BB1}"/>
    <dgm:cxn modelId="{CDE1D309-1416-4932-9025-24FE366B76D5}" srcId="{18F3986F-E0A0-43F6-BF26-03F170E1396E}" destId="{F7A914A3-47C7-4A39-B318-103A000A82FC}" srcOrd="0" destOrd="0" parTransId="{B15263E4-A68F-4225-A917-8402AF7C6360}" sibTransId="{C8422DB5-A4FE-45ED-A4E6-5C187B04C7C0}"/>
    <dgm:cxn modelId="{77323113-EC4B-4C5F-A4BB-54DDF5671BFB}" srcId="{F0FCC3BF-887B-41F1-A8B1-589ACC7B0452}" destId="{18F3986F-E0A0-43F6-BF26-03F170E1396E}" srcOrd="1" destOrd="0" parTransId="{76DAD23A-3C58-48C8-9683-CE5790F3DB5D}" sibTransId="{91A23B62-E2F1-4102-B271-5727C9AB1706}"/>
    <dgm:cxn modelId="{04760B3E-5B07-4AFF-A61B-FE24BBBC1010}" type="presOf" srcId="{9EC26F41-5242-4A71-82E5-96DFB7C7AF1F}" destId="{BE6615DD-A5E8-40D4-8659-C08DDB07772C}" srcOrd="0" destOrd="0" presId="urn:microsoft.com/office/officeart/2005/8/layout/process4"/>
    <dgm:cxn modelId="{3D11B15B-72D1-4E02-9600-38FFBD0144FA}" type="presOf" srcId="{18F3986F-E0A0-43F6-BF26-03F170E1396E}" destId="{19211CEE-533B-4B78-8D36-795DAF2C03DD}" srcOrd="0" destOrd="0" presId="urn:microsoft.com/office/officeart/2005/8/layout/process4"/>
    <dgm:cxn modelId="{9EA54862-5519-4557-9770-B38726124CC6}" srcId="{18F3986F-E0A0-43F6-BF26-03F170E1396E}" destId="{6F654C5A-5115-46BB-B0F2-67BB9FADAEB3}" srcOrd="1" destOrd="0" parTransId="{AB8FC6F9-F477-409B-8A9B-DFF0B11BF123}" sibTransId="{E2F0ABF9-E922-4F43-8E4B-BE903A9915F4}"/>
    <dgm:cxn modelId="{B713D06D-DCAD-4749-B8B7-2182E18AB758}" type="presOf" srcId="{F0FCC3BF-887B-41F1-A8B1-589ACC7B0452}" destId="{1A6A840B-1163-4C1F-9D2B-352F37F661F8}" srcOrd="0" destOrd="0" presId="urn:microsoft.com/office/officeart/2005/8/layout/process4"/>
    <dgm:cxn modelId="{F13C7050-993F-45C2-A808-F6F216A6D9FE}" type="presOf" srcId="{70C898D9-1AE9-4C3D-8FF1-3110933719C6}" destId="{08EF28F4-CE11-4878-B439-2449E09D17F8}" srcOrd="0" destOrd="0" presId="urn:microsoft.com/office/officeart/2005/8/layout/process4"/>
    <dgm:cxn modelId="{23C48188-B086-474A-97BE-98B3F41DFB7F}" type="presOf" srcId="{18F3986F-E0A0-43F6-BF26-03F170E1396E}" destId="{CEE3F91D-42CE-4ABA-AF49-7BE6A2EFEB33}" srcOrd="1" destOrd="0" presId="urn:microsoft.com/office/officeart/2005/8/layout/process4"/>
    <dgm:cxn modelId="{F6002DA9-A156-4760-B7C2-BE9A6D6C3D70}" srcId="{F0FCC3BF-887B-41F1-A8B1-589ACC7B0452}" destId="{2358AF20-E7D7-444F-A82E-AB48203501F5}" srcOrd="2" destOrd="0" parTransId="{01CCFB45-3081-473F-BEEB-5E9E5637377F}" sibTransId="{EFFB6462-9BCA-43E9-BBF5-F35E9CB4263B}"/>
    <dgm:cxn modelId="{2C1F81B5-9976-4F31-85E9-B9D818EBB9A8}" type="presOf" srcId="{6F654C5A-5115-46BB-B0F2-67BB9FADAEB3}" destId="{233B8905-2197-4FA5-B971-DE6BB23B00CB}" srcOrd="0" destOrd="0" presId="urn:microsoft.com/office/officeart/2005/8/layout/process4"/>
    <dgm:cxn modelId="{763DBDB7-A697-42E5-AE31-29337DBFD4F2}" type="presOf" srcId="{F7A914A3-47C7-4A39-B318-103A000A82FC}" destId="{66532094-4E5C-4C72-82B7-B66DF379A97B}" srcOrd="0" destOrd="0" presId="urn:microsoft.com/office/officeart/2005/8/layout/process4"/>
    <dgm:cxn modelId="{B46822C1-4A47-4FD1-A631-0E429EE58E81}" type="presOf" srcId="{D3AD5C29-3ACD-4819-9B43-3B7AB044D413}" destId="{9EA2DF8E-5316-413E-8CC3-AF08976BB465}" srcOrd="0" destOrd="0" presId="urn:microsoft.com/office/officeart/2005/8/layout/process4"/>
    <dgm:cxn modelId="{E2EB7BCC-175D-4BF0-90C4-7C4931C575FE}" srcId="{18F3986F-E0A0-43F6-BF26-03F170E1396E}" destId="{D3AD5C29-3ACD-4819-9B43-3B7AB044D413}" srcOrd="2" destOrd="0" parTransId="{7F228530-F9C4-4E17-AAB6-93985FD494CE}" sibTransId="{D5B6F961-785C-46ED-9451-E8F76C8F084E}"/>
    <dgm:cxn modelId="{FF9272D6-00E6-4C4C-BEE7-DF38C158CF63}" srcId="{F0FCC3BF-887B-41F1-A8B1-589ACC7B0452}" destId="{9EC26F41-5242-4A71-82E5-96DFB7C7AF1F}" srcOrd="0" destOrd="0" parTransId="{BC9DB66F-1A5C-47AB-8611-6F2B3685F627}" sibTransId="{BB4EAB7F-6BF7-4D03-A528-3F44285B49FD}"/>
    <dgm:cxn modelId="{3E7D21E0-1FC9-440C-A86D-CD13381EFDD0}" type="presOf" srcId="{2358AF20-E7D7-444F-A82E-AB48203501F5}" destId="{6F8D43CB-2529-4B36-AE3B-974DB9DCF35A}" srcOrd="0" destOrd="0" presId="urn:microsoft.com/office/officeart/2005/8/layout/process4"/>
    <dgm:cxn modelId="{77353CFB-13E4-4B69-AFF5-FE6D9AA13A4E}" type="presParOf" srcId="{1A6A840B-1163-4C1F-9D2B-352F37F661F8}" destId="{F78FAC65-F2F4-4483-8399-1CA4B13865A1}" srcOrd="0" destOrd="0" presId="urn:microsoft.com/office/officeart/2005/8/layout/process4"/>
    <dgm:cxn modelId="{7925D79F-EF8F-456E-B939-388A382131CC}" type="presParOf" srcId="{F78FAC65-F2F4-4483-8399-1CA4B13865A1}" destId="{6F8D43CB-2529-4B36-AE3B-974DB9DCF35A}" srcOrd="0" destOrd="0" presId="urn:microsoft.com/office/officeart/2005/8/layout/process4"/>
    <dgm:cxn modelId="{BB7F13DB-7641-4761-AE87-94F30DCAB9FF}" type="presParOf" srcId="{1A6A840B-1163-4C1F-9D2B-352F37F661F8}" destId="{24AB04BD-FD7C-4B1B-B5D0-D6E0B4EDFAF9}" srcOrd="1" destOrd="0" presId="urn:microsoft.com/office/officeart/2005/8/layout/process4"/>
    <dgm:cxn modelId="{AA516882-96D9-4A90-94AC-E4B42FA7C3DE}" type="presParOf" srcId="{1A6A840B-1163-4C1F-9D2B-352F37F661F8}" destId="{C6D51450-28CC-4507-AB97-255BE9694E9B}" srcOrd="2" destOrd="0" presId="urn:microsoft.com/office/officeart/2005/8/layout/process4"/>
    <dgm:cxn modelId="{7F8D6A6A-114B-4CDB-8E21-1D8F3D29DB1E}" type="presParOf" srcId="{C6D51450-28CC-4507-AB97-255BE9694E9B}" destId="{19211CEE-533B-4B78-8D36-795DAF2C03DD}" srcOrd="0" destOrd="0" presId="urn:microsoft.com/office/officeart/2005/8/layout/process4"/>
    <dgm:cxn modelId="{B2C2BE4F-3B22-424A-98F2-ECBAAF29223C}" type="presParOf" srcId="{C6D51450-28CC-4507-AB97-255BE9694E9B}" destId="{CEE3F91D-42CE-4ABA-AF49-7BE6A2EFEB33}" srcOrd="1" destOrd="0" presId="urn:microsoft.com/office/officeart/2005/8/layout/process4"/>
    <dgm:cxn modelId="{CE9D11C6-041F-4597-AB86-3EE5681C0226}" type="presParOf" srcId="{C6D51450-28CC-4507-AB97-255BE9694E9B}" destId="{1BD7E617-F820-43D6-9616-08137C3DBD62}" srcOrd="2" destOrd="0" presId="urn:microsoft.com/office/officeart/2005/8/layout/process4"/>
    <dgm:cxn modelId="{A1A8C07A-3D88-42A6-8829-B2767E6FC367}" type="presParOf" srcId="{1BD7E617-F820-43D6-9616-08137C3DBD62}" destId="{66532094-4E5C-4C72-82B7-B66DF379A97B}" srcOrd="0" destOrd="0" presId="urn:microsoft.com/office/officeart/2005/8/layout/process4"/>
    <dgm:cxn modelId="{7C15402D-5CCE-479C-B4D7-890BE13B29E6}" type="presParOf" srcId="{1BD7E617-F820-43D6-9616-08137C3DBD62}" destId="{233B8905-2197-4FA5-B971-DE6BB23B00CB}" srcOrd="1" destOrd="0" presId="urn:microsoft.com/office/officeart/2005/8/layout/process4"/>
    <dgm:cxn modelId="{497E044D-6ECF-4A8C-ACE0-FC2FA92FB3FD}" type="presParOf" srcId="{1BD7E617-F820-43D6-9616-08137C3DBD62}" destId="{9EA2DF8E-5316-413E-8CC3-AF08976BB465}" srcOrd="2" destOrd="0" presId="urn:microsoft.com/office/officeart/2005/8/layout/process4"/>
    <dgm:cxn modelId="{7DDCAA2D-D84D-4C4C-8C7E-C50920117F66}" type="presParOf" srcId="{1BD7E617-F820-43D6-9616-08137C3DBD62}" destId="{08EF28F4-CE11-4878-B439-2449E09D17F8}" srcOrd="3" destOrd="0" presId="urn:microsoft.com/office/officeart/2005/8/layout/process4"/>
    <dgm:cxn modelId="{A8C3F33E-D13A-4C90-AB46-61FF2E8DF0E3}" type="presParOf" srcId="{1A6A840B-1163-4C1F-9D2B-352F37F661F8}" destId="{41D2C50F-06CA-453D-9F00-49D350ABE379}" srcOrd="3" destOrd="0" presId="urn:microsoft.com/office/officeart/2005/8/layout/process4"/>
    <dgm:cxn modelId="{880BD11A-1F36-4D7E-96F7-FC0F960556EA}" type="presParOf" srcId="{1A6A840B-1163-4C1F-9D2B-352F37F661F8}" destId="{9E580BDD-3E12-42A3-B569-90A0764D6EB5}" srcOrd="4" destOrd="0" presId="urn:microsoft.com/office/officeart/2005/8/layout/process4"/>
    <dgm:cxn modelId="{9CCEE5BC-92A1-4CD3-AC4B-E7522FC4B336}" type="presParOf" srcId="{9E580BDD-3E12-42A3-B569-90A0764D6EB5}" destId="{BE6615DD-A5E8-40D4-8659-C08DDB07772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6C9AF1-7959-455C-B975-AB3E585189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36D010-FF76-4E55-B84E-1B08198D71FD}">
      <dgm:prSet/>
      <dgm:spPr/>
      <dgm:t>
        <a:bodyPr/>
        <a:lstStyle/>
        <a:p>
          <a:r>
            <a:rPr lang="en-US" b="1" dirty="0"/>
            <a:t>The Problem:</a:t>
          </a:r>
          <a:r>
            <a:rPr lang="en-US" dirty="0"/>
            <a:t> Static models </a:t>
          </a:r>
          <a:r>
            <a:rPr lang="en-US" dirty="0">
              <a:solidFill>
                <a:schemeClr val="accent1"/>
              </a:solidFill>
            </a:rPr>
            <a:t>assign ONE vector per word.</a:t>
          </a:r>
        </a:p>
      </dgm:t>
    </dgm:pt>
    <dgm:pt modelId="{299CCA88-1FBB-4168-8DA0-F63D210F8A25}" type="parTrans" cxnId="{4BE47720-FE55-48C0-A8E2-9F6F6B5ED62A}">
      <dgm:prSet/>
      <dgm:spPr/>
      <dgm:t>
        <a:bodyPr/>
        <a:lstStyle/>
        <a:p>
          <a:endParaRPr lang="en-US"/>
        </a:p>
      </dgm:t>
    </dgm:pt>
    <dgm:pt modelId="{A11CA0CB-B67F-4E89-BF8A-F1CDE14EB054}" type="sibTrans" cxnId="{4BE47720-FE55-48C0-A8E2-9F6F6B5ED62A}">
      <dgm:prSet/>
      <dgm:spPr/>
      <dgm:t>
        <a:bodyPr/>
        <a:lstStyle/>
        <a:p>
          <a:endParaRPr lang="en-US"/>
        </a:p>
      </dgm:t>
    </dgm:pt>
    <dgm:pt modelId="{C54734FB-0682-4C19-82EF-E06545096069}">
      <dgm:prSet/>
      <dgm:spPr/>
      <dgm:t>
        <a:bodyPr/>
        <a:lstStyle/>
        <a:p>
          <a:r>
            <a:rPr lang="en-US" b="1"/>
            <a:t>Example:</a:t>
          </a:r>
          <a:r>
            <a:rPr lang="en-US"/>
            <a:t> "Bank"</a:t>
          </a:r>
        </a:p>
      </dgm:t>
    </dgm:pt>
    <dgm:pt modelId="{6905E894-C4E5-454E-83B1-1673A9F7FCF8}" type="parTrans" cxnId="{BC39898D-B1F9-4403-87B5-C5FD86EA7576}">
      <dgm:prSet/>
      <dgm:spPr/>
      <dgm:t>
        <a:bodyPr/>
        <a:lstStyle/>
        <a:p>
          <a:endParaRPr lang="en-US"/>
        </a:p>
      </dgm:t>
    </dgm:pt>
    <dgm:pt modelId="{67C117C8-2EAC-4CEA-88F7-4E25E1DD6CE5}" type="sibTrans" cxnId="{BC39898D-B1F9-4403-87B5-C5FD86EA7576}">
      <dgm:prSet/>
      <dgm:spPr/>
      <dgm:t>
        <a:bodyPr/>
        <a:lstStyle/>
        <a:p>
          <a:endParaRPr lang="en-US"/>
        </a:p>
      </dgm:t>
    </dgm:pt>
    <dgm:pt modelId="{8DCDD950-9992-4066-B89C-666722E911CF}">
      <dgm:prSet custT="1"/>
      <dgm:spPr/>
      <dgm:t>
        <a:bodyPr/>
        <a:lstStyle/>
        <a:p>
          <a:r>
            <a:rPr lang="en-US" sz="1600"/>
            <a:t>"I sat by the river </a:t>
          </a:r>
          <a:r>
            <a:rPr lang="en-US" sz="1600" b="1"/>
            <a:t>bank</a:t>
          </a:r>
          <a:r>
            <a:rPr lang="en-US" sz="1600"/>
            <a:t>."</a:t>
          </a:r>
        </a:p>
      </dgm:t>
    </dgm:pt>
    <dgm:pt modelId="{473568B9-C3F8-4778-A3D3-76E4B1364C22}" type="parTrans" cxnId="{B87058DB-FF08-415C-97A1-6BB404107B3D}">
      <dgm:prSet/>
      <dgm:spPr/>
      <dgm:t>
        <a:bodyPr/>
        <a:lstStyle/>
        <a:p>
          <a:endParaRPr lang="en-US"/>
        </a:p>
      </dgm:t>
    </dgm:pt>
    <dgm:pt modelId="{621753FC-DE71-490B-B513-C6C9FA175878}" type="sibTrans" cxnId="{B87058DB-FF08-415C-97A1-6BB404107B3D}">
      <dgm:prSet/>
      <dgm:spPr/>
      <dgm:t>
        <a:bodyPr/>
        <a:lstStyle/>
        <a:p>
          <a:endParaRPr lang="en-US"/>
        </a:p>
      </dgm:t>
    </dgm:pt>
    <dgm:pt modelId="{506F3DF9-4D94-4073-A735-AF2686EF0374}">
      <dgm:prSet custT="1"/>
      <dgm:spPr/>
      <dgm:t>
        <a:bodyPr/>
        <a:lstStyle/>
        <a:p>
          <a:r>
            <a:rPr lang="en-US" sz="1600" dirty="0"/>
            <a:t>"I went to the </a:t>
          </a:r>
          <a:r>
            <a:rPr lang="en-US" sz="1600" b="1" dirty="0"/>
            <a:t>bank</a:t>
          </a:r>
          <a:r>
            <a:rPr lang="en-US" sz="1600" dirty="0"/>
            <a:t> to deposit money."</a:t>
          </a:r>
        </a:p>
      </dgm:t>
    </dgm:pt>
    <dgm:pt modelId="{4809F787-3847-47E3-ABF5-2E20E099B896}" type="parTrans" cxnId="{5355264B-6DE9-4B51-8039-85B99FC00B0B}">
      <dgm:prSet/>
      <dgm:spPr/>
      <dgm:t>
        <a:bodyPr/>
        <a:lstStyle/>
        <a:p>
          <a:endParaRPr lang="en-US"/>
        </a:p>
      </dgm:t>
    </dgm:pt>
    <dgm:pt modelId="{1671DA7C-C799-4157-BC1F-7AAB91E16A81}" type="sibTrans" cxnId="{5355264B-6DE9-4B51-8039-85B99FC00B0B}">
      <dgm:prSet/>
      <dgm:spPr/>
      <dgm:t>
        <a:bodyPr/>
        <a:lstStyle/>
        <a:p>
          <a:endParaRPr lang="en-US"/>
        </a:p>
      </dgm:t>
    </dgm:pt>
    <dgm:pt modelId="{7ECCB21F-D39D-4137-880B-CAD6A6ECF136}">
      <dgm:prSet/>
      <dgm:spPr/>
      <dgm:t>
        <a:bodyPr/>
        <a:lstStyle/>
        <a:p>
          <a:r>
            <a:rPr lang="en-US" b="1" dirty="0"/>
            <a:t>Word2Vec:</a:t>
          </a:r>
          <a:r>
            <a:rPr lang="en-US" dirty="0"/>
            <a:t> Averages these two meanings into one confusing vector. The model doesn't know </a:t>
          </a:r>
          <a:r>
            <a:rPr lang="en-US" b="1" dirty="0">
              <a:solidFill>
                <a:srgbClr val="0070C0"/>
              </a:solidFill>
            </a:rPr>
            <a:t>which one you mean</a:t>
          </a:r>
        </a:p>
      </dgm:t>
    </dgm:pt>
    <dgm:pt modelId="{08DE3203-ACB7-4C09-A0E4-690D30378BE4}" type="parTrans" cxnId="{BAC1ABA1-AEE7-4385-B2B4-621D9994B679}">
      <dgm:prSet/>
      <dgm:spPr/>
      <dgm:t>
        <a:bodyPr/>
        <a:lstStyle/>
        <a:p>
          <a:endParaRPr lang="en-US"/>
        </a:p>
      </dgm:t>
    </dgm:pt>
    <dgm:pt modelId="{DE4BD60D-7279-4113-B94D-AE278F812B59}" type="sibTrans" cxnId="{BAC1ABA1-AEE7-4385-B2B4-621D9994B679}">
      <dgm:prSet/>
      <dgm:spPr/>
      <dgm:t>
        <a:bodyPr/>
        <a:lstStyle/>
        <a:p>
          <a:endParaRPr lang="en-US"/>
        </a:p>
      </dgm:t>
    </dgm:pt>
    <dgm:pt modelId="{4B5DA628-8050-4685-A52E-220AE225B889}" type="pres">
      <dgm:prSet presAssocID="{916C9AF1-7959-455C-B975-AB3E5851891D}" presName="root" presStyleCnt="0">
        <dgm:presLayoutVars>
          <dgm:dir/>
          <dgm:resizeHandles val="exact"/>
        </dgm:presLayoutVars>
      </dgm:prSet>
      <dgm:spPr/>
    </dgm:pt>
    <dgm:pt modelId="{76992ECC-7C46-4CE7-B48C-9FC750246B79}" type="pres">
      <dgm:prSet presAssocID="{3936D010-FF76-4E55-B84E-1B08198D71FD}" presName="compNode" presStyleCnt="0"/>
      <dgm:spPr/>
    </dgm:pt>
    <dgm:pt modelId="{5E4CE063-3BB2-4D7D-BB9C-407CC482A4A3}" type="pres">
      <dgm:prSet presAssocID="{3936D010-FF76-4E55-B84E-1B08198D71FD}" presName="bgRect" presStyleLbl="bgShp" presStyleIdx="0" presStyleCnt="3"/>
      <dgm:spPr/>
    </dgm:pt>
    <dgm:pt modelId="{3852FB96-C4B2-4983-B7C8-DDE33AFD3BE4}" type="pres">
      <dgm:prSet presAssocID="{3936D010-FF76-4E55-B84E-1B08198D71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9476999-0D64-4FC0-AE3A-E735B11CFBB1}" type="pres">
      <dgm:prSet presAssocID="{3936D010-FF76-4E55-B84E-1B08198D71FD}" presName="spaceRect" presStyleCnt="0"/>
      <dgm:spPr/>
    </dgm:pt>
    <dgm:pt modelId="{3F874EC2-6CA6-4B8F-9625-71C1B270A36B}" type="pres">
      <dgm:prSet presAssocID="{3936D010-FF76-4E55-B84E-1B08198D71FD}" presName="parTx" presStyleLbl="revTx" presStyleIdx="0" presStyleCnt="4">
        <dgm:presLayoutVars>
          <dgm:chMax val="0"/>
          <dgm:chPref val="0"/>
        </dgm:presLayoutVars>
      </dgm:prSet>
      <dgm:spPr/>
    </dgm:pt>
    <dgm:pt modelId="{D718E340-4058-4687-9FEE-3330DB8D3C8F}" type="pres">
      <dgm:prSet presAssocID="{A11CA0CB-B67F-4E89-BF8A-F1CDE14EB054}" presName="sibTrans" presStyleCnt="0"/>
      <dgm:spPr/>
    </dgm:pt>
    <dgm:pt modelId="{11E7F28E-321B-4A5C-AF50-6ACF9E19D227}" type="pres">
      <dgm:prSet presAssocID="{C54734FB-0682-4C19-82EF-E06545096069}" presName="compNode" presStyleCnt="0"/>
      <dgm:spPr/>
    </dgm:pt>
    <dgm:pt modelId="{AEBF5042-1131-4941-AB52-CC31B02E57E7}" type="pres">
      <dgm:prSet presAssocID="{C54734FB-0682-4C19-82EF-E06545096069}" presName="bgRect" presStyleLbl="bgShp" presStyleIdx="1" presStyleCnt="3"/>
      <dgm:spPr/>
    </dgm:pt>
    <dgm:pt modelId="{8F511DF1-880A-41D3-AF01-E6C9C54C3D52}" type="pres">
      <dgm:prSet presAssocID="{C54734FB-0682-4C19-82EF-E065450960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48179636-08AA-4E95-B257-213F8B4DCF02}" type="pres">
      <dgm:prSet presAssocID="{C54734FB-0682-4C19-82EF-E06545096069}" presName="spaceRect" presStyleCnt="0"/>
      <dgm:spPr/>
    </dgm:pt>
    <dgm:pt modelId="{2177A54E-568D-4274-8DD5-A6A9BBF3ACA0}" type="pres">
      <dgm:prSet presAssocID="{C54734FB-0682-4C19-82EF-E06545096069}" presName="parTx" presStyleLbl="revTx" presStyleIdx="1" presStyleCnt="4">
        <dgm:presLayoutVars>
          <dgm:chMax val="0"/>
          <dgm:chPref val="0"/>
        </dgm:presLayoutVars>
      </dgm:prSet>
      <dgm:spPr/>
    </dgm:pt>
    <dgm:pt modelId="{D65353AC-9A80-4BFE-A887-61E334E5242E}" type="pres">
      <dgm:prSet presAssocID="{C54734FB-0682-4C19-82EF-E06545096069}" presName="desTx" presStyleLbl="revTx" presStyleIdx="2" presStyleCnt="4">
        <dgm:presLayoutVars/>
      </dgm:prSet>
      <dgm:spPr/>
    </dgm:pt>
    <dgm:pt modelId="{102570AC-9C42-4F90-A456-3203FFFEEF43}" type="pres">
      <dgm:prSet presAssocID="{67C117C8-2EAC-4CEA-88F7-4E25E1DD6CE5}" presName="sibTrans" presStyleCnt="0"/>
      <dgm:spPr/>
    </dgm:pt>
    <dgm:pt modelId="{0A35C628-644D-46FE-81CE-95884581430A}" type="pres">
      <dgm:prSet presAssocID="{7ECCB21F-D39D-4137-880B-CAD6A6ECF136}" presName="compNode" presStyleCnt="0"/>
      <dgm:spPr/>
    </dgm:pt>
    <dgm:pt modelId="{5F59F823-66B9-46B9-8E5F-447C4E13F177}" type="pres">
      <dgm:prSet presAssocID="{7ECCB21F-D39D-4137-880B-CAD6A6ECF136}" presName="bgRect" presStyleLbl="bgShp" presStyleIdx="2" presStyleCnt="3"/>
      <dgm:spPr/>
    </dgm:pt>
    <dgm:pt modelId="{C334315E-2C4A-45CA-B8B6-2481040E6AE1}" type="pres">
      <dgm:prSet presAssocID="{7ECCB21F-D39D-4137-880B-CAD6A6ECF1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3D8701B5-5806-463C-B80A-9431D9194EC5}" type="pres">
      <dgm:prSet presAssocID="{7ECCB21F-D39D-4137-880B-CAD6A6ECF136}" presName="spaceRect" presStyleCnt="0"/>
      <dgm:spPr/>
    </dgm:pt>
    <dgm:pt modelId="{210893A5-F577-430E-A5C2-8ADC6EE880CA}" type="pres">
      <dgm:prSet presAssocID="{7ECCB21F-D39D-4137-880B-CAD6A6ECF1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F88100-A89E-4E92-A40D-603CF5739C9E}" type="presOf" srcId="{916C9AF1-7959-455C-B975-AB3E5851891D}" destId="{4B5DA628-8050-4685-A52E-220AE225B889}" srcOrd="0" destOrd="0" presId="urn:microsoft.com/office/officeart/2018/2/layout/IconVerticalSolidList"/>
    <dgm:cxn modelId="{7458AC01-C80D-4850-863E-95C7EF540620}" type="presOf" srcId="{7ECCB21F-D39D-4137-880B-CAD6A6ECF136}" destId="{210893A5-F577-430E-A5C2-8ADC6EE880CA}" srcOrd="0" destOrd="0" presId="urn:microsoft.com/office/officeart/2018/2/layout/IconVerticalSolidList"/>
    <dgm:cxn modelId="{4BE47720-FE55-48C0-A8E2-9F6F6B5ED62A}" srcId="{916C9AF1-7959-455C-B975-AB3E5851891D}" destId="{3936D010-FF76-4E55-B84E-1B08198D71FD}" srcOrd="0" destOrd="0" parTransId="{299CCA88-1FBB-4168-8DA0-F63D210F8A25}" sibTransId="{A11CA0CB-B67F-4E89-BF8A-F1CDE14EB054}"/>
    <dgm:cxn modelId="{5355264B-6DE9-4B51-8039-85B99FC00B0B}" srcId="{C54734FB-0682-4C19-82EF-E06545096069}" destId="{506F3DF9-4D94-4073-A735-AF2686EF0374}" srcOrd="1" destOrd="0" parTransId="{4809F787-3847-47E3-ABF5-2E20E099B896}" sibTransId="{1671DA7C-C799-4157-BC1F-7AAB91E16A81}"/>
    <dgm:cxn modelId="{16677651-9909-4918-9A0E-D3D2B161CADF}" type="presOf" srcId="{506F3DF9-4D94-4073-A735-AF2686EF0374}" destId="{D65353AC-9A80-4BFE-A887-61E334E5242E}" srcOrd="0" destOrd="1" presId="urn:microsoft.com/office/officeart/2018/2/layout/IconVerticalSolidList"/>
    <dgm:cxn modelId="{B3B72B8B-1E58-46F6-8525-BC9C2E33D6F1}" type="presOf" srcId="{8DCDD950-9992-4066-B89C-666722E911CF}" destId="{D65353AC-9A80-4BFE-A887-61E334E5242E}" srcOrd="0" destOrd="0" presId="urn:microsoft.com/office/officeart/2018/2/layout/IconVerticalSolidList"/>
    <dgm:cxn modelId="{BC39898D-B1F9-4403-87B5-C5FD86EA7576}" srcId="{916C9AF1-7959-455C-B975-AB3E5851891D}" destId="{C54734FB-0682-4C19-82EF-E06545096069}" srcOrd="1" destOrd="0" parTransId="{6905E894-C4E5-454E-83B1-1673A9F7FCF8}" sibTransId="{67C117C8-2EAC-4CEA-88F7-4E25E1DD6CE5}"/>
    <dgm:cxn modelId="{54D59591-6CF0-4B02-B282-5EBB3112E2B5}" type="presOf" srcId="{3936D010-FF76-4E55-B84E-1B08198D71FD}" destId="{3F874EC2-6CA6-4B8F-9625-71C1B270A36B}" srcOrd="0" destOrd="0" presId="urn:microsoft.com/office/officeart/2018/2/layout/IconVerticalSolidList"/>
    <dgm:cxn modelId="{BAC1ABA1-AEE7-4385-B2B4-621D9994B679}" srcId="{916C9AF1-7959-455C-B975-AB3E5851891D}" destId="{7ECCB21F-D39D-4137-880B-CAD6A6ECF136}" srcOrd="2" destOrd="0" parTransId="{08DE3203-ACB7-4C09-A0E4-690D30378BE4}" sibTransId="{DE4BD60D-7279-4113-B94D-AE278F812B59}"/>
    <dgm:cxn modelId="{B87058DB-FF08-415C-97A1-6BB404107B3D}" srcId="{C54734FB-0682-4C19-82EF-E06545096069}" destId="{8DCDD950-9992-4066-B89C-666722E911CF}" srcOrd="0" destOrd="0" parTransId="{473568B9-C3F8-4778-A3D3-76E4B1364C22}" sibTransId="{621753FC-DE71-490B-B513-C6C9FA175878}"/>
    <dgm:cxn modelId="{B8606CFB-BEDA-4848-BD1A-89DDD66FB9F5}" type="presOf" srcId="{C54734FB-0682-4C19-82EF-E06545096069}" destId="{2177A54E-568D-4274-8DD5-A6A9BBF3ACA0}" srcOrd="0" destOrd="0" presId="urn:microsoft.com/office/officeart/2018/2/layout/IconVerticalSolidList"/>
    <dgm:cxn modelId="{81F39F81-BCBA-4FFB-AACC-219E42B0E6D7}" type="presParOf" srcId="{4B5DA628-8050-4685-A52E-220AE225B889}" destId="{76992ECC-7C46-4CE7-B48C-9FC750246B79}" srcOrd="0" destOrd="0" presId="urn:microsoft.com/office/officeart/2018/2/layout/IconVerticalSolidList"/>
    <dgm:cxn modelId="{F8B0D1DE-B8FF-45DA-AFBA-27138464BB9A}" type="presParOf" srcId="{76992ECC-7C46-4CE7-B48C-9FC750246B79}" destId="{5E4CE063-3BB2-4D7D-BB9C-407CC482A4A3}" srcOrd="0" destOrd="0" presId="urn:microsoft.com/office/officeart/2018/2/layout/IconVerticalSolidList"/>
    <dgm:cxn modelId="{FE22C7FD-D579-4E0C-956A-CBAF409C358E}" type="presParOf" srcId="{76992ECC-7C46-4CE7-B48C-9FC750246B79}" destId="{3852FB96-C4B2-4983-B7C8-DDE33AFD3BE4}" srcOrd="1" destOrd="0" presId="urn:microsoft.com/office/officeart/2018/2/layout/IconVerticalSolidList"/>
    <dgm:cxn modelId="{2F89EAA3-7DC5-43F5-BE0F-BD5586B68F30}" type="presParOf" srcId="{76992ECC-7C46-4CE7-B48C-9FC750246B79}" destId="{E9476999-0D64-4FC0-AE3A-E735B11CFBB1}" srcOrd="2" destOrd="0" presId="urn:microsoft.com/office/officeart/2018/2/layout/IconVerticalSolidList"/>
    <dgm:cxn modelId="{6CE020EC-17EF-4602-90B0-4E60FCF74FEC}" type="presParOf" srcId="{76992ECC-7C46-4CE7-B48C-9FC750246B79}" destId="{3F874EC2-6CA6-4B8F-9625-71C1B270A36B}" srcOrd="3" destOrd="0" presId="urn:microsoft.com/office/officeart/2018/2/layout/IconVerticalSolidList"/>
    <dgm:cxn modelId="{D250C8BB-714A-43CC-AB82-658FE9483B0D}" type="presParOf" srcId="{4B5DA628-8050-4685-A52E-220AE225B889}" destId="{D718E340-4058-4687-9FEE-3330DB8D3C8F}" srcOrd="1" destOrd="0" presId="urn:microsoft.com/office/officeart/2018/2/layout/IconVerticalSolidList"/>
    <dgm:cxn modelId="{1B22A04A-9422-49C1-B56D-2CB3818FF08F}" type="presParOf" srcId="{4B5DA628-8050-4685-A52E-220AE225B889}" destId="{11E7F28E-321B-4A5C-AF50-6ACF9E19D227}" srcOrd="2" destOrd="0" presId="urn:microsoft.com/office/officeart/2018/2/layout/IconVerticalSolidList"/>
    <dgm:cxn modelId="{06B29792-392B-4C4C-9CB8-A8591A117987}" type="presParOf" srcId="{11E7F28E-321B-4A5C-AF50-6ACF9E19D227}" destId="{AEBF5042-1131-4941-AB52-CC31B02E57E7}" srcOrd="0" destOrd="0" presId="urn:microsoft.com/office/officeart/2018/2/layout/IconVerticalSolidList"/>
    <dgm:cxn modelId="{892362CD-00D8-47B3-B080-3B5A4E1EC588}" type="presParOf" srcId="{11E7F28E-321B-4A5C-AF50-6ACF9E19D227}" destId="{8F511DF1-880A-41D3-AF01-E6C9C54C3D52}" srcOrd="1" destOrd="0" presId="urn:microsoft.com/office/officeart/2018/2/layout/IconVerticalSolidList"/>
    <dgm:cxn modelId="{39DC91AC-63BC-4687-BDE7-DDBFF0AD97E9}" type="presParOf" srcId="{11E7F28E-321B-4A5C-AF50-6ACF9E19D227}" destId="{48179636-08AA-4E95-B257-213F8B4DCF02}" srcOrd="2" destOrd="0" presId="urn:microsoft.com/office/officeart/2018/2/layout/IconVerticalSolidList"/>
    <dgm:cxn modelId="{A7D13469-D445-4798-BF34-DAA879F324D1}" type="presParOf" srcId="{11E7F28E-321B-4A5C-AF50-6ACF9E19D227}" destId="{2177A54E-568D-4274-8DD5-A6A9BBF3ACA0}" srcOrd="3" destOrd="0" presId="urn:microsoft.com/office/officeart/2018/2/layout/IconVerticalSolidList"/>
    <dgm:cxn modelId="{B2446050-5F68-4C94-9F20-7AF4DBC43308}" type="presParOf" srcId="{11E7F28E-321B-4A5C-AF50-6ACF9E19D227}" destId="{D65353AC-9A80-4BFE-A887-61E334E5242E}" srcOrd="4" destOrd="0" presId="urn:microsoft.com/office/officeart/2018/2/layout/IconVerticalSolidList"/>
    <dgm:cxn modelId="{C14F1F72-D064-47D7-B283-431435954208}" type="presParOf" srcId="{4B5DA628-8050-4685-A52E-220AE225B889}" destId="{102570AC-9C42-4F90-A456-3203FFFEEF43}" srcOrd="3" destOrd="0" presId="urn:microsoft.com/office/officeart/2018/2/layout/IconVerticalSolidList"/>
    <dgm:cxn modelId="{8FCD3FDD-30C0-4AF5-80C0-2BCD283241C5}" type="presParOf" srcId="{4B5DA628-8050-4685-A52E-220AE225B889}" destId="{0A35C628-644D-46FE-81CE-95884581430A}" srcOrd="4" destOrd="0" presId="urn:microsoft.com/office/officeart/2018/2/layout/IconVerticalSolidList"/>
    <dgm:cxn modelId="{04B416AB-F03D-4766-8967-4F74570E192E}" type="presParOf" srcId="{0A35C628-644D-46FE-81CE-95884581430A}" destId="{5F59F823-66B9-46B9-8E5F-447C4E13F177}" srcOrd="0" destOrd="0" presId="urn:microsoft.com/office/officeart/2018/2/layout/IconVerticalSolidList"/>
    <dgm:cxn modelId="{84DDF4BA-0C77-4B68-A524-9A2556D7ABB4}" type="presParOf" srcId="{0A35C628-644D-46FE-81CE-95884581430A}" destId="{C334315E-2C4A-45CA-B8B6-2481040E6AE1}" srcOrd="1" destOrd="0" presId="urn:microsoft.com/office/officeart/2018/2/layout/IconVerticalSolidList"/>
    <dgm:cxn modelId="{3AC085D3-F821-4123-9970-CC1BF0F5C2A6}" type="presParOf" srcId="{0A35C628-644D-46FE-81CE-95884581430A}" destId="{3D8701B5-5806-463C-B80A-9431D9194EC5}" srcOrd="2" destOrd="0" presId="urn:microsoft.com/office/officeart/2018/2/layout/IconVerticalSolidList"/>
    <dgm:cxn modelId="{1AD0C5D2-6239-4967-8C7B-57C17123EB12}" type="presParOf" srcId="{0A35C628-644D-46FE-81CE-95884581430A}" destId="{210893A5-F577-430E-A5C2-8ADC6EE880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78A88-31D1-442D-B7D3-6CCB88F490A1}">
      <dsp:nvSpPr>
        <dsp:cNvPr id="0" name=""/>
        <dsp:cNvSpPr/>
      </dsp:nvSpPr>
      <dsp:spPr>
        <a:xfrm>
          <a:off x="1804949" y="36173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27FA7-C1D6-44D4-B9D0-AABBA81342C6}">
      <dsp:nvSpPr>
        <dsp:cNvPr id="0" name=""/>
        <dsp:cNvSpPr/>
      </dsp:nvSpPr>
      <dsp:spPr>
        <a:xfrm>
          <a:off x="616949" y="27758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How Machines "Read" – From Cleaning Text to Vector Spaces</a:t>
          </a:r>
        </a:p>
      </dsp:txBody>
      <dsp:txXfrm>
        <a:off x="616949" y="2775887"/>
        <a:ext cx="4320000" cy="720000"/>
      </dsp:txXfrm>
    </dsp:sp>
    <dsp:sp modelId="{298615FC-C009-44BA-B8C0-3ACD2D92F062}">
      <dsp:nvSpPr>
        <dsp:cNvPr id="0" name=""/>
        <dsp:cNvSpPr/>
      </dsp:nvSpPr>
      <dsp:spPr>
        <a:xfrm>
          <a:off x="6880950" y="36173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3BF73-4145-4A1E-A898-E41D737BDEA6}">
      <dsp:nvSpPr>
        <dsp:cNvPr id="0" name=""/>
        <dsp:cNvSpPr/>
      </dsp:nvSpPr>
      <dsp:spPr>
        <a:xfrm>
          <a:off x="5692949" y="27758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Imagine:</a:t>
          </a:r>
          <a:r>
            <a:rPr lang="en-US" sz="1800" kern="1200" dirty="0"/>
            <a:t> A sentence passing through a prism and turning into a stream of binary/vectors.</a:t>
          </a:r>
        </a:p>
      </dsp:txBody>
      <dsp:txXfrm>
        <a:off x="5692949" y="2775887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09061-B24B-4BF5-83EB-543BD6EFB863}">
      <dsp:nvSpPr>
        <dsp:cNvPr id="0" name=""/>
        <dsp:cNvSpPr/>
      </dsp:nvSpPr>
      <dsp:spPr>
        <a:xfrm>
          <a:off x="0" y="2282"/>
          <a:ext cx="10691265" cy="1067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650DD-88C9-4314-B49D-9E78F6361E4B}">
      <dsp:nvSpPr>
        <dsp:cNvPr id="0" name=""/>
        <dsp:cNvSpPr/>
      </dsp:nvSpPr>
      <dsp:spPr>
        <a:xfrm>
          <a:off x="322839" y="242410"/>
          <a:ext cx="586980" cy="5869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ED47A-3A45-451D-9D8E-06EB5FFAD844}">
      <dsp:nvSpPr>
        <dsp:cNvPr id="0" name=""/>
        <dsp:cNvSpPr/>
      </dsp:nvSpPr>
      <dsp:spPr>
        <a:xfrm>
          <a:off x="1232659" y="2282"/>
          <a:ext cx="9457400" cy="106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49" tIns="112949" rIns="112949" bIns="1129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Computers don't speak English.</a:t>
          </a:r>
          <a:r>
            <a:rPr lang="en-US" sz="2500" kern="1200"/>
            <a:t> They speak Math (Matrix operations).</a:t>
          </a:r>
        </a:p>
      </dsp:txBody>
      <dsp:txXfrm>
        <a:off x="1232659" y="2282"/>
        <a:ext cx="9457400" cy="1067237"/>
      </dsp:txXfrm>
    </dsp:sp>
    <dsp:sp modelId="{A1B661C4-BDED-4C8E-92B7-F82C9B8060E6}">
      <dsp:nvSpPr>
        <dsp:cNvPr id="0" name=""/>
        <dsp:cNvSpPr/>
      </dsp:nvSpPr>
      <dsp:spPr>
        <a:xfrm>
          <a:off x="0" y="1336329"/>
          <a:ext cx="10691265" cy="1067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A665B-E488-424B-915C-08FE0BC70BB3}">
      <dsp:nvSpPr>
        <dsp:cNvPr id="0" name=""/>
        <dsp:cNvSpPr/>
      </dsp:nvSpPr>
      <dsp:spPr>
        <a:xfrm>
          <a:off x="322839" y="1576457"/>
          <a:ext cx="586980" cy="5869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EC100-6BD6-4CD6-A0DE-BFD7146AEFB4}">
      <dsp:nvSpPr>
        <dsp:cNvPr id="0" name=""/>
        <dsp:cNvSpPr/>
      </dsp:nvSpPr>
      <dsp:spPr>
        <a:xfrm>
          <a:off x="1232659" y="1336329"/>
          <a:ext cx="9457400" cy="106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49" tIns="112949" rIns="112949" bIns="1129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The Challenge:</a:t>
          </a:r>
          <a:r>
            <a:rPr lang="en-US" sz="2500" kern="1200"/>
            <a:t> How do we convert variable-length, messy text strings into fixed-size numerical vectors?</a:t>
          </a:r>
        </a:p>
      </dsp:txBody>
      <dsp:txXfrm>
        <a:off x="1232659" y="1336329"/>
        <a:ext cx="9457400" cy="1067237"/>
      </dsp:txXfrm>
    </dsp:sp>
    <dsp:sp modelId="{0A77A805-BA78-4399-A5F1-7D477B5DD01F}">
      <dsp:nvSpPr>
        <dsp:cNvPr id="0" name=""/>
        <dsp:cNvSpPr/>
      </dsp:nvSpPr>
      <dsp:spPr>
        <a:xfrm>
          <a:off x="0" y="2670376"/>
          <a:ext cx="10691265" cy="1067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12EE4-30EF-4EA7-9207-F1DCF6601778}">
      <dsp:nvSpPr>
        <dsp:cNvPr id="0" name=""/>
        <dsp:cNvSpPr/>
      </dsp:nvSpPr>
      <dsp:spPr>
        <a:xfrm>
          <a:off x="322839" y="2910504"/>
          <a:ext cx="586980" cy="5869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38A72-3621-434D-8730-94CEEBC534E7}">
      <dsp:nvSpPr>
        <dsp:cNvPr id="0" name=""/>
        <dsp:cNvSpPr/>
      </dsp:nvSpPr>
      <dsp:spPr>
        <a:xfrm>
          <a:off x="1232659" y="2670376"/>
          <a:ext cx="4811069" cy="106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49" tIns="112949" rIns="112949" bIns="1129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The Pipeline:</a:t>
          </a:r>
          <a:endParaRPr lang="en-US" sz="2500" kern="1200"/>
        </a:p>
      </dsp:txBody>
      <dsp:txXfrm>
        <a:off x="1232659" y="2670376"/>
        <a:ext cx="4811069" cy="1067237"/>
      </dsp:txXfrm>
    </dsp:sp>
    <dsp:sp modelId="{A2D4A6A7-46BE-47D6-8000-AC403D54E756}">
      <dsp:nvSpPr>
        <dsp:cNvPr id="0" name=""/>
        <dsp:cNvSpPr/>
      </dsp:nvSpPr>
      <dsp:spPr>
        <a:xfrm>
          <a:off x="6043728" y="2670376"/>
          <a:ext cx="4646331" cy="1067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49" tIns="112949" rIns="112949" bIns="11294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2">
                  <a:lumMod val="50000"/>
                </a:schemeClr>
              </a:solidFill>
            </a:rPr>
            <a:t>Clean</a:t>
          </a:r>
          <a:r>
            <a:rPr lang="en-US" sz="1500" b="1" kern="1200" dirty="0"/>
            <a:t>:</a:t>
          </a:r>
          <a:r>
            <a:rPr lang="en-US" sz="1500" kern="1200" dirty="0"/>
            <a:t> Remove noise (Preprocessing).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2">
                  <a:lumMod val="50000"/>
                </a:schemeClr>
              </a:solidFill>
            </a:rPr>
            <a:t>Tokenize</a:t>
          </a:r>
          <a:r>
            <a:rPr lang="en-US" sz="1500" b="1" kern="1200" dirty="0"/>
            <a:t>:</a:t>
          </a:r>
          <a:r>
            <a:rPr lang="en-US" sz="1500" kern="1200" dirty="0"/>
            <a:t> Chop into units.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2">
                  <a:lumMod val="50000"/>
                </a:schemeClr>
              </a:solidFill>
            </a:rPr>
            <a:t>Vectorize</a:t>
          </a:r>
          <a:r>
            <a:rPr lang="en-US" sz="1500" b="1" kern="1200" dirty="0"/>
            <a:t>:</a:t>
          </a:r>
          <a:r>
            <a:rPr lang="en-US" sz="1500" kern="1200" dirty="0"/>
            <a:t> Turn units into numbers.</a:t>
          </a:r>
        </a:p>
      </dsp:txBody>
      <dsp:txXfrm>
        <a:off x="6043728" y="2670376"/>
        <a:ext cx="4646331" cy="1067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4B73B-3EAC-4EC7-8FCB-232B26B17A4D}">
      <dsp:nvSpPr>
        <dsp:cNvPr id="0" name=""/>
        <dsp:cNvSpPr/>
      </dsp:nvSpPr>
      <dsp:spPr>
        <a:xfrm>
          <a:off x="8550221" y="2059394"/>
          <a:ext cx="91440" cy="3831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31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18F96-6D0C-4FC5-AF7D-E7F79C7ECE29}">
      <dsp:nvSpPr>
        <dsp:cNvPr id="0" name=""/>
        <dsp:cNvSpPr/>
      </dsp:nvSpPr>
      <dsp:spPr>
        <a:xfrm>
          <a:off x="5169869" y="839777"/>
          <a:ext cx="3426072" cy="3831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085"/>
              </a:lnTo>
              <a:lnTo>
                <a:pt x="3426072" y="261085"/>
              </a:lnTo>
              <a:lnTo>
                <a:pt x="3426072" y="3831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2A19E-B4A8-401B-9EFE-338B343F0CB8}">
      <dsp:nvSpPr>
        <dsp:cNvPr id="0" name=""/>
        <dsp:cNvSpPr/>
      </dsp:nvSpPr>
      <dsp:spPr>
        <a:xfrm>
          <a:off x="5169869" y="839777"/>
          <a:ext cx="213695" cy="3831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085"/>
              </a:lnTo>
              <a:lnTo>
                <a:pt x="213695" y="261085"/>
              </a:lnTo>
              <a:lnTo>
                <a:pt x="213695" y="3831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CCE27-C4CB-4D3E-BC62-107506BF6764}">
      <dsp:nvSpPr>
        <dsp:cNvPr id="0" name=""/>
        <dsp:cNvSpPr/>
      </dsp:nvSpPr>
      <dsp:spPr>
        <a:xfrm>
          <a:off x="1957492" y="839777"/>
          <a:ext cx="3212376" cy="383120"/>
        </a:xfrm>
        <a:custGeom>
          <a:avLst/>
          <a:gdLst/>
          <a:ahLst/>
          <a:cxnLst/>
          <a:rect l="0" t="0" r="0" b="0"/>
          <a:pathLst>
            <a:path>
              <a:moveTo>
                <a:pt x="3212376" y="0"/>
              </a:moveTo>
              <a:lnTo>
                <a:pt x="3212376" y="261085"/>
              </a:lnTo>
              <a:lnTo>
                <a:pt x="0" y="261085"/>
              </a:lnTo>
              <a:lnTo>
                <a:pt x="0" y="3831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47949-7E5C-4342-B4C6-D31B3CA78C23}">
      <dsp:nvSpPr>
        <dsp:cNvPr id="0" name=""/>
        <dsp:cNvSpPr/>
      </dsp:nvSpPr>
      <dsp:spPr>
        <a:xfrm>
          <a:off x="301807" y="3279"/>
          <a:ext cx="3916665" cy="836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0CAEA-2631-44D1-93AB-59EE86E94CDA}">
      <dsp:nvSpPr>
        <dsp:cNvPr id="0" name=""/>
        <dsp:cNvSpPr/>
      </dsp:nvSpPr>
      <dsp:spPr>
        <a:xfrm>
          <a:off x="448176" y="142330"/>
          <a:ext cx="3916665" cy="836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>
                  <a:lumMod val="50000"/>
                </a:schemeClr>
              </a:solidFill>
            </a:rPr>
            <a:t>Why it matters</a:t>
          </a:r>
          <a:r>
            <a:rPr lang="en-US" sz="1400" b="1" kern="1200" dirty="0"/>
            <a:t>:</a:t>
          </a:r>
          <a:r>
            <a:rPr lang="en-US" sz="1400" kern="1200" dirty="0"/>
            <a:t> Garbage In, Garbage Out.</a:t>
          </a:r>
        </a:p>
      </dsp:txBody>
      <dsp:txXfrm>
        <a:off x="472676" y="166830"/>
        <a:ext cx="3867665" cy="787497"/>
      </dsp:txXfrm>
    </dsp:sp>
    <dsp:sp modelId="{0793297B-AC5D-47DD-A428-72EEFD4BDC4E}">
      <dsp:nvSpPr>
        <dsp:cNvPr id="0" name=""/>
        <dsp:cNvSpPr/>
      </dsp:nvSpPr>
      <dsp:spPr>
        <a:xfrm>
          <a:off x="4511210" y="3279"/>
          <a:ext cx="1317318" cy="836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B1FF2-DC0A-44C0-9B5C-033E47D7CD29}">
      <dsp:nvSpPr>
        <dsp:cNvPr id="0" name=""/>
        <dsp:cNvSpPr/>
      </dsp:nvSpPr>
      <dsp:spPr>
        <a:xfrm>
          <a:off x="4657579" y="142330"/>
          <a:ext cx="1317318" cy="836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>
                  <a:lumMod val="50000"/>
                </a:schemeClr>
              </a:solidFill>
            </a:rPr>
            <a:t>Techniques</a:t>
          </a:r>
          <a:r>
            <a:rPr lang="en-US" sz="1400" b="1" kern="1200" dirty="0"/>
            <a:t>:</a:t>
          </a:r>
          <a:endParaRPr lang="en-US" sz="1400" kern="1200" dirty="0"/>
        </a:p>
      </dsp:txBody>
      <dsp:txXfrm>
        <a:off x="4682079" y="166830"/>
        <a:ext cx="1268318" cy="787497"/>
      </dsp:txXfrm>
    </dsp:sp>
    <dsp:sp modelId="{0861087F-0DBC-4D39-A574-AAF5B15ED477}">
      <dsp:nvSpPr>
        <dsp:cNvPr id="0" name=""/>
        <dsp:cNvSpPr/>
      </dsp:nvSpPr>
      <dsp:spPr>
        <a:xfrm>
          <a:off x="303263" y="1222897"/>
          <a:ext cx="3308458" cy="836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B3B3C-8441-41C8-B76D-370BC0ECF748}">
      <dsp:nvSpPr>
        <dsp:cNvPr id="0" name=""/>
        <dsp:cNvSpPr/>
      </dsp:nvSpPr>
      <dsp:spPr>
        <a:xfrm>
          <a:off x="449632" y="1361947"/>
          <a:ext cx="3308458" cy="836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>
                  <a:lumMod val="50000"/>
                </a:schemeClr>
              </a:solidFill>
            </a:rPr>
            <a:t>Lowercasing</a:t>
          </a:r>
          <a:r>
            <a:rPr lang="en-US" sz="1100" b="1" kern="1200" dirty="0"/>
            <a:t>:</a:t>
          </a:r>
          <a:r>
            <a:rPr lang="en-US" sz="1100" kern="1200" dirty="0"/>
            <a:t> "Robot" == "robot".</a:t>
          </a:r>
        </a:p>
      </dsp:txBody>
      <dsp:txXfrm>
        <a:off x="474132" y="1386447"/>
        <a:ext cx="3259458" cy="787497"/>
      </dsp:txXfrm>
    </dsp:sp>
    <dsp:sp modelId="{B97F1310-436A-437E-85FA-64E236C3D70D}">
      <dsp:nvSpPr>
        <dsp:cNvPr id="0" name=""/>
        <dsp:cNvSpPr/>
      </dsp:nvSpPr>
      <dsp:spPr>
        <a:xfrm>
          <a:off x="3904459" y="1222897"/>
          <a:ext cx="2958210" cy="836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9A723-4E8D-43C6-88F6-AB5AA00A338D}">
      <dsp:nvSpPr>
        <dsp:cNvPr id="0" name=""/>
        <dsp:cNvSpPr/>
      </dsp:nvSpPr>
      <dsp:spPr>
        <a:xfrm>
          <a:off x="4050828" y="1361947"/>
          <a:ext cx="2958210" cy="836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2">
                  <a:lumMod val="50000"/>
                </a:schemeClr>
              </a:solidFill>
            </a:rPr>
            <a:t>Noise Removal</a:t>
          </a:r>
          <a:r>
            <a:rPr lang="en-US" sz="1200" b="1" kern="1200" dirty="0"/>
            <a:t>:</a:t>
          </a:r>
          <a:r>
            <a:rPr lang="en-US" sz="1200" kern="1200" dirty="0"/>
            <a:t> Removing HTML tags, URLs, special characters (#, @... or do we keep them? </a:t>
          </a:r>
          <a:r>
            <a:rPr lang="en-US" sz="1200" i="1" kern="1200" dirty="0"/>
            <a:t>Discussion: In Sentiment Analysis, #happy matters!</a:t>
          </a:r>
          <a:r>
            <a:rPr lang="en-US" sz="1200" kern="1200" dirty="0"/>
            <a:t>).</a:t>
          </a:r>
        </a:p>
      </dsp:txBody>
      <dsp:txXfrm>
        <a:off x="4075328" y="1386447"/>
        <a:ext cx="2909210" cy="787497"/>
      </dsp:txXfrm>
    </dsp:sp>
    <dsp:sp modelId="{497982C1-4069-40A2-A677-0E7A501CF1B3}">
      <dsp:nvSpPr>
        <dsp:cNvPr id="0" name=""/>
        <dsp:cNvSpPr/>
      </dsp:nvSpPr>
      <dsp:spPr>
        <a:xfrm>
          <a:off x="7155407" y="1222897"/>
          <a:ext cx="2881068" cy="836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5CC7E-C1DD-4D30-83E1-A3B8E46BEF2B}">
      <dsp:nvSpPr>
        <dsp:cNvPr id="0" name=""/>
        <dsp:cNvSpPr/>
      </dsp:nvSpPr>
      <dsp:spPr>
        <a:xfrm>
          <a:off x="7301776" y="1361947"/>
          <a:ext cx="2881068" cy="836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>
                  <a:lumMod val="50000"/>
                </a:schemeClr>
              </a:solidFill>
            </a:rPr>
            <a:t>Stop Word Removal</a:t>
          </a:r>
          <a:r>
            <a:rPr lang="en-US" sz="1400" b="1" kern="1200" dirty="0"/>
            <a:t>:</a:t>
          </a:r>
          <a:r>
            <a:rPr lang="en-US" sz="1400" kern="1200" dirty="0"/>
            <a:t> Removing "the", "is", "at".</a:t>
          </a:r>
        </a:p>
      </dsp:txBody>
      <dsp:txXfrm>
        <a:off x="7326276" y="1386447"/>
        <a:ext cx="2832068" cy="787497"/>
      </dsp:txXfrm>
    </dsp:sp>
    <dsp:sp modelId="{DE7AA47D-1980-4CD0-AD00-BEC932582F25}">
      <dsp:nvSpPr>
        <dsp:cNvPr id="0" name=""/>
        <dsp:cNvSpPr/>
      </dsp:nvSpPr>
      <dsp:spPr>
        <a:xfrm>
          <a:off x="7010160" y="2442514"/>
          <a:ext cx="3171563" cy="1272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A8DF1-EEFB-43FE-A610-91405EC992BA}">
      <dsp:nvSpPr>
        <dsp:cNvPr id="0" name=""/>
        <dsp:cNvSpPr/>
      </dsp:nvSpPr>
      <dsp:spPr>
        <a:xfrm>
          <a:off x="7156528" y="2581565"/>
          <a:ext cx="3171563" cy="12727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2025 Perspective:</a:t>
          </a:r>
          <a:r>
            <a:rPr lang="en-US" sz="1400" kern="1200" dirty="0"/>
            <a:t> For </a:t>
          </a:r>
          <a:r>
            <a:rPr lang="en-US" sz="1400" b="1" kern="1200" dirty="0">
              <a:solidFill>
                <a:schemeClr val="bg2">
                  <a:lumMod val="50000"/>
                </a:schemeClr>
              </a:solidFill>
            </a:rPr>
            <a:t>TF-IDF</a:t>
          </a:r>
          <a:r>
            <a:rPr lang="en-US" sz="1400" kern="1200" dirty="0"/>
            <a:t>, we remove them (they are noise). For LLMs (BERT/GPT), we </a:t>
          </a:r>
          <a:r>
            <a:rPr lang="en-US" sz="1400" b="1" kern="1200" dirty="0"/>
            <a:t>keep</a:t>
          </a:r>
          <a:r>
            <a:rPr lang="en-US" sz="1400" kern="1200" dirty="0"/>
            <a:t> them (they provide structure/</a:t>
          </a:r>
          <a:r>
            <a:rPr lang="en-US" sz="1600" kern="1200" dirty="0"/>
            <a:t>flow</a:t>
          </a:r>
          <a:r>
            <a:rPr lang="en-US" sz="1400" kern="1200" dirty="0"/>
            <a:t>).</a:t>
          </a:r>
        </a:p>
      </dsp:txBody>
      <dsp:txXfrm>
        <a:off x="7193806" y="2618843"/>
        <a:ext cx="3097007" cy="1198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C48B4-C7EC-481B-9CF4-A7AA51438224}">
      <dsp:nvSpPr>
        <dsp:cNvPr id="0" name=""/>
        <dsp:cNvSpPr/>
      </dsp:nvSpPr>
      <dsp:spPr>
        <a:xfrm>
          <a:off x="242116" y="372286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82643-50FF-43CA-9CD8-B90CDCDA0687}">
      <dsp:nvSpPr>
        <dsp:cNvPr id="0" name=""/>
        <dsp:cNvSpPr/>
      </dsp:nvSpPr>
      <dsp:spPr>
        <a:xfrm>
          <a:off x="525886" y="656056"/>
          <a:ext cx="783745" cy="78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00F27-B819-462F-81BD-37B22076FFF8}">
      <dsp:nvSpPr>
        <dsp:cNvPr id="0" name=""/>
        <dsp:cNvSpPr/>
      </dsp:nvSpPr>
      <dsp:spPr>
        <a:xfrm>
          <a:off x="1882962" y="372286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Concept:</a:t>
          </a:r>
          <a:r>
            <a:rPr lang="en-US" sz="2000" kern="1200" dirty="0"/>
            <a:t> Instead of counting words, let's represent them as coordinates in a multi-dimensional space.</a:t>
          </a:r>
        </a:p>
      </dsp:txBody>
      <dsp:txXfrm>
        <a:off x="1882962" y="372286"/>
        <a:ext cx="3185173" cy="1351285"/>
      </dsp:txXfrm>
    </dsp:sp>
    <dsp:sp modelId="{115FCDBE-75D5-4300-91CB-81E6FDCDD26E}">
      <dsp:nvSpPr>
        <dsp:cNvPr id="0" name=""/>
        <dsp:cNvSpPr/>
      </dsp:nvSpPr>
      <dsp:spPr>
        <a:xfrm>
          <a:off x="5623128" y="372286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CEA98-F43E-4DB5-9E0C-CE0BFB7E588C}">
      <dsp:nvSpPr>
        <dsp:cNvPr id="0" name=""/>
        <dsp:cNvSpPr/>
      </dsp:nvSpPr>
      <dsp:spPr>
        <a:xfrm>
          <a:off x="5906898" y="656056"/>
          <a:ext cx="783745" cy="78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EB773-2AD8-4ABD-A563-0ACB6E08BD0B}">
      <dsp:nvSpPr>
        <dsp:cNvPr id="0" name=""/>
        <dsp:cNvSpPr/>
      </dsp:nvSpPr>
      <dsp:spPr>
        <a:xfrm>
          <a:off x="7263975" y="372286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Hypothesis:</a:t>
          </a:r>
          <a:r>
            <a:rPr lang="en-US" sz="2200" kern="1200"/>
            <a:t> "You shall know a word by the company it keeps" (Firth, 1957).</a:t>
          </a:r>
        </a:p>
      </dsp:txBody>
      <dsp:txXfrm>
        <a:off x="7263975" y="372286"/>
        <a:ext cx="3185173" cy="1351285"/>
      </dsp:txXfrm>
    </dsp:sp>
    <dsp:sp modelId="{107AD0CA-20B1-402B-A505-AC13E39528AB}">
      <dsp:nvSpPr>
        <dsp:cNvPr id="0" name=""/>
        <dsp:cNvSpPr/>
      </dsp:nvSpPr>
      <dsp:spPr>
        <a:xfrm>
          <a:off x="242116" y="2429613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EAA3C-153A-4F95-9612-19D070C47AC8}">
      <dsp:nvSpPr>
        <dsp:cNvPr id="0" name=""/>
        <dsp:cNvSpPr/>
      </dsp:nvSpPr>
      <dsp:spPr>
        <a:xfrm>
          <a:off x="525886" y="2713383"/>
          <a:ext cx="783745" cy="78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A8AF5-9196-4E49-B3AB-9F73ECAAB959}">
      <dsp:nvSpPr>
        <dsp:cNvPr id="0" name=""/>
        <dsp:cNvSpPr/>
      </dsp:nvSpPr>
      <dsp:spPr>
        <a:xfrm>
          <a:off x="1882962" y="2429613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Static Embeddings:</a:t>
          </a:r>
          <a:r>
            <a:rPr lang="en-US" sz="2200" kern="1200"/>
            <a:t> Word2Vec &amp; GloVe.</a:t>
          </a:r>
        </a:p>
      </dsp:txBody>
      <dsp:txXfrm>
        <a:off x="1882962" y="2429613"/>
        <a:ext cx="3185173" cy="1351285"/>
      </dsp:txXfrm>
    </dsp:sp>
    <dsp:sp modelId="{91AC3354-C6DF-45A4-A333-937A7909F4DD}">
      <dsp:nvSpPr>
        <dsp:cNvPr id="0" name=""/>
        <dsp:cNvSpPr/>
      </dsp:nvSpPr>
      <dsp:spPr>
        <a:xfrm>
          <a:off x="5623128" y="2429613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FEFCA-BD8A-475F-93C4-4F132538EF05}">
      <dsp:nvSpPr>
        <dsp:cNvPr id="0" name=""/>
        <dsp:cNvSpPr/>
      </dsp:nvSpPr>
      <dsp:spPr>
        <a:xfrm>
          <a:off x="5906898" y="2713383"/>
          <a:ext cx="783745" cy="78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2FF2E-5189-420E-B48D-58A9E565358C}">
      <dsp:nvSpPr>
        <dsp:cNvPr id="0" name=""/>
        <dsp:cNvSpPr/>
      </dsp:nvSpPr>
      <dsp:spPr>
        <a:xfrm>
          <a:off x="7263975" y="2429613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Visual:</a:t>
          </a:r>
          <a:r>
            <a:rPr lang="en-US" sz="2200" kern="1200" dirty="0"/>
            <a:t> A 3D plot showing "Dog" and "Cat" close together, and "Car" far away.</a:t>
          </a:r>
        </a:p>
      </dsp:txBody>
      <dsp:txXfrm>
        <a:off x="7263975" y="2429613"/>
        <a:ext cx="3185173" cy="1351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D43CB-2529-4B36-AE3B-974DB9DCF35A}">
      <dsp:nvSpPr>
        <dsp:cNvPr id="0" name=""/>
        <dsp:cNvSpPr/>
      </dsp:nvSpPr>
      <dsp:spPr>
        <a:xfrm>
          <a:off x="0" y="2815217"/>
          <a:ext cx="10691265" cy="924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Why this was revolutionary:</a:t>
          </a:r>
          <a:r>
            <a:rPr lang="en-US" sz="1800" kern="1200" dirty="0"/>
            <a:t> The model "learned" gender relationships without being explicitly taught.</a:t>
          </a:r>
        </a:p>
      </dsp:txBody>
      <dsp:txXfrm>
        <a:off x="0" y="2815217"/>
        <a:ext cx="10691265" cy="924017"/>
      </dsp:txXfrm>
    </dsp:sp>
    <dsp:sp modelId="{CEE3F91D-42CE-4ABA-AF49-7BE6A2EFEB33}">
      <dsp:nvSpPr>
        <dsp:cNvPr id="0" name=""/>
        <dsp:cNvSpPr/>
      </dsp:nvSpPr>
      <dsp:spPr>
        <a:xfrm rot="10800000">
          <a:off x="0" y="1407939"/>
          <a:ext cx="10691265" cy="142113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The Classic Analogy:</a:t>
          </a:r>
          <a:endParaRPr lang="en-US" sz="1700" kern="1200"/>
        </a:p>
      </dsp:txBody>
      <dsp:txXfrm rot="-10800000">
        <a:off x="0" y="1407939"/>
        <a:ext cx="10691265" cy="498819"/>
      </dsp:txXfrm>
    </dsp:sp>
    <dsp:sp modelId="{66532094-4E5C-4C72-82B7-B66DF379A97B}">
      <dsp:nvSpPr>
        <dsp:cNvPr id="0" name=""/>
        <dsp:cNvSpPr/>
      </dsp:nvSpPr>
      <dsp:spPr>
        <a:xfrm>
          <a:off x="0" y="1906759"/>
          <a:ext cx="2672816" cy="424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Take the vector for </a:t>
          </a:r>
          <a:r>
            <a:rPr lang="en-US" sz="1600" b="1" kern="1200" dirty="0"/>
            <a:t>King</a:t>
          </a:r>
          <a:r>
            <a:rPr lang="en-US" sz="1600" kern="1200" dirty="0"/>
            <a:t>.</a:t>
          </a:r>
        </a:p>
      </dsp:txBody>
      <dsp:txXfrm>
        <a:off x="0" y="1906759"/>
        <a:ext cx="2672816" cy="424920"/>
      </dsp:txXfrm>
    </dsp:sp>
    <dsp:sp modelId="{233B8905-2197-4FA5-B971-DE6BB23B00CB}">
      <dsp:nvSpPr>
        <dsp:cNvPr id="0" name=""/>
        <dsp:cNvSpPr/>
      </dsp:nvSpPr>
      <dsp:spPr>
        <a:xfrm>
          <a:off x="2672816" y="1906759"/>
          <a:ext cx="2672816" cy="424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Subtract the vector for </a:t>
          </a:r>
          <a:r>
            <a:rPr lang="en-US" sz="1400" b="1" kern="1200" dirty="0"/>
            <a:t>Man</a:t>
          </a:r>
          <a:r>
            <a:rPr lang="en-US" sz="1400" kern="1200" dirty="0"/>
            <a:t> (removing masculinity).</a:t>
          </a:r>
        </a:p>
      </dsp:txBody>
      <dsp:txXfrm>
        <a:off x="2672816" y="1906759"/>
        <a:ext cx="2672816" cy="424920"/>
      </dsp:txXfrm>
    </dsp:sp>
    <dsp:sp modelId="{9EA2DF8E-5316-413E-8CC3-AF08976BB465}">
      <dsp:nvSpPr>
        <dsp:cNvPr id="0" name=""/>
        <dsp:cNvSpPr/>
      </dsp:nvSpPr>
      <dsp:spPr>
        <a:xfrm>
          <a:off x="5345632" y="1906759"/>
          <a:ext cx="2672816" cy="424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the vector for </a:t>
          </a:r>
          <a:r>
            <a:rPr lang="en-US" sz="1400" b="1" kern="1200" dirty="0"/>
            <a:t>Woman</a:t>
          </a:r>
          <a:r>
            <a:rPr lang="en-US" sz="1400" kern="1200" dirty="0"/>
            <a:t> (adding femininity).</a:t>
          </a:r>
        </a:p>
      </dsp:txBody>
      <dsp:txXfrm>
        <a:off x="5345632" y="1906759"/>
        <a:ext cx="2672816" cy="424920"/>
      </dsp:txXfrm>
    </dsp:sp>
    <dsp:sp modelId="{08EF28F4-CE11-4878-B439-2449E09D17F8}">
      <dsp:nvSpPr>
        <dsp:cNvPr id="0" name=""/>
        <dsp:cNvSpPr/>
      </dsp:nvSpPr>
      <dsp:spPr>
        <a:xfrm>
          <a:off x="8018448" y="1906759"/>
          <a:ext cx="2672816" cy="424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Result:</a:t>
          </a:r>
          <a:r>
            <a:rPr lang="en-US" sz="1600" kern="1200" dirty="0"/>
            <a:t> The closest vector is </a:t>
          </a:r>
          <a:r>
            <a:rPr lang="en-US" sz="1600" b="1" kern="1200" dirty="0"/>
            <a:t>Queen</a:t>
          </a:r>
          <a:r>
            <a:rPr lang="en-US" sz="1600" kern="1200" dirty="0"/>
            <a:t>.</a:t>
          </a:r>
        </a:p>
      </dsp:txBody>
      <dsp:txXfrm>
        <a:off x="8018448" y="1906759"/>
        <a:ext cx="2672816" cy="424920"/>
      </dsp:txXfrm>
    </dsp:sp>
    <dsp:sp modelId="{BE6615DD-A5E8-40D4-8659-C08DDB07772C}">
      <dsp:nvSpPr>
        <dsp:cNvPr id="0" name=""/>
        <dsp:cNvSpPr/>
      </dsp:nvSpPr>
      <dsp:spPr>
        <a:xfrm rot="10800000">
          <a:off x="0" y="661"/>
          <a:ext cx="10691265" cy="142113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Vector Arithmetic:</a:t>
          </a:r>
          <a:r>
            <a:rPr lang="en-US" sz="1800" kern="1200"/>
            <a:t> We can do math with meaning!</a:t>
          </a:r>
        </a:p>
      </dsp:txBody>
      <dsp:txXfrm rot="10800000">
        <a:off x="0" y="661"/>
        <a:ext cx="10691265" cy="9234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CE063-3BB2-4D7D-BB9C-407CC482A4A3}">
      <dsp:nvSpPr>
        <dsp:cNvPr id="0" name=""/>
        <dsp:cNvSpPr/>
      </dsp:nvSpPr>
      <dsp:spPr>
        <a:xfrm>
          <a:off x="0" y="3355"/>
          <a:ext cx="6171948" cy="15692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2FB96-C4B2-4983-B7C8-DDE33AFD3BE4}">
      <dsp:nvSpPr>
        <dsp:cNvPr id="0" name=""/>
        <dsp:cNvSpPr/>
      </dsp:nvSpPr>
      <dsp:spPr>
        <a:xfrm>
          <a:off x="474699" y="356437"/>
          <a:ext cx="863089" cy="863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74EC2-6CA6-4B8F-9625-71C1B270A36B}">
      <dsp:nvSpPr>
        <dsp:cNvPr id="0" name=""/>
        <dsp:cNvSpPr/>
      </dsp:nvSpPr>
      <dsp:spPr>
        <a:xfrm>
          <a:off x="1812488" y="3355"/>
          <a:ext cx="4357688" cy="1569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79" tIns="166079" rIns="166079" bIns="16607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The Problem:</a:t>
          </a:r>
          <a:r>
            <a:rPr lang="en-US" sz="2300" kern="1200" dirty="0"/>
            <a:t> Static models </a:t>
          </a:r>
          <a:r>
            <a:rPr lang="en-US" sz="2300" kern="1200" dirty="0">
              <a:solidFill>
                <a:schemeClr val="accent1"/>
              </a:solidFill>
            </a:rPr>
            <a:t>assign ONE vector per word.</a:t>
          </a:r>
        </a:p>
      </dsp:txBody>
      <dsp:txXfrm>
        <a:off x="1812488" y="3355"/>
        <a:ext cx="4357688" cy="1569253"/>
      </dsp:txXfrm>
    </dsp:sp>
    <dsp:sp modelId="{AEBF5042-1131-4941-AB52-CC31B02E57E7}">
      <dsp:nvSpPr>
        <dsp:cNvPr id="0" name=""/>
        <dsp:cNvSpPr/>
      </dsp:nvSpPr>
      <dsp:spPr>
        <a:xfrm>
          <a:off x="0" y="1964923"/>
          <a:ext cx="6171948" cy="15692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11DF1-880A-41D3-AF01-E6C9C54C3D52}">
      <dsp:nvSpPr>
        <dsp:cNvPr id="0" name=""/>
        <dsp:cNvSpPr/>
      </dsp:nvSpPr>
      <dsp:spPr>
        <a:xfrm>
          <a:off x="474699" y="2318005"/>
          <a:ext cx="863089" cy="863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7A54E-568D-4274-8DD5-A6A9BBF3ACA0}">
      <dsp:nvSpPr>
        <dsp:cNvPr id="0" name=""/>
        <dsp:cNvSpPr/>
      </dsp:nvSpPr>
      <dsp:spPr>
        <a:xfrm>
          <a:off x="1812488" y="1964923"/>
          <a:ext cx="2777376" cy="1569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79" tIns="166079" rIns="166079" bIns="16607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Example:</a:t>
          </a:r>
          <a:r>
            <a:rPr lang="en-US" sz="2300" kern="1200"/>
            <a:t> "Bank"</a:t>
          </a:r>
        </a:p>
      </dsp:txBody>
      <dsp:txXfrm>
        <a:off x="1812488" y="1964923"/>
        <a:ext cx="2777376" cy="1569253"/>
      </dsp:txXfrm>
    </dsp:sp>
    <dsp:sp modelId="{D65353AC-9A80-4BFE-A887-61E334E5242E}">
      <dsp:nvSpPr>
        <dsp:cNvPr id="0" name=""/>
        <dsp:cNvSpPr/>
      </dsp:nvSpPr>
      <dsp:spPr>
        <a:xfrm>
          <a:off x="4589864" y="1964923"/>
          <a:ext cx="1580311" cy="1569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79" tIns="166079" rIns="166079" bIns="16607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"I sat by the river </a:t>
          </a:r>
          <a:r>
            <a:rPr lang="en-US" sz="1600" b="1" kern="1200"/>
            <a:t>bank</a:t>
          </a:r>
          <a:r>
            <a:rPr lang="en-US" sz="1600" kern="1200"/>
            <a:t>."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"I went to the </a:t>
          </a:r>
          <a:r>
            <a:rPr lang="en-US" sz="1600" b="1" kern="1200" dirty="0"/>
            <a:t>bank</a:t>
          </a:r>
          <a:r>
            <a:rPr lang="en-US" sz="1600" kern="1200" dirty="0"/>
            <a:t> to deposit money."</a:t>
          </a:r>
        </a:p>
      </dsp:txBody>
      <dsp:txXfrm>
        <a:off x="4589864" y="1964923"/>
        <a:ext cx="1580311" cy="1569253"/>
      </dsp:txXfrm>
    </dsp:sp>
    <dsp:sp modelId="{5F59F823-66B9-46B9-8E5F-447C4E13F177}">
      <dsp:nvSpPr>
        <dsp:cNvPr id="0" name=""/>
        <dsp:cNvSpPr/>
      </dsp:nvSpPr>
      <dsp:spPr>
        <a:xfrm>
          <a:off x="0" y="3926490"/>
          <a:ext cx="6171948" cy="15692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4315E-2C4A-45CA-B8B6-2481040E6AE1}">
      <dsp:nvSpPr>
        <dsp:cNvPr id="0" name=""/>
        <dsp:cNvSpPr/>
      </dsp:nvSpPr>
      <dsp:spPr>
        <a:xfrm>
          <a:off x="474699" y="4279572"/>
          <a:ext cx="863089" cy="863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893A5-F577-430E-A5C2-8ADC6EE880CA}">
      <dsp:nvSpPr>
        <dsp:cNvPr id="0" name=""/>
        <dsp:cNvSpPr/>
      </dsp:nvSpPr>
      <dsp:spPr>
        <a:xfrm>
          <a:off x="1812488" y="3926490"/>
          <a:ext cx="4357688" cy="1569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79" tIns="166079" rIns="166079" bIns="16607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Word2Vec:</a:t>
          </a:r>
          <a:r>
            <a:rPr lang="en-US" sz="2300" kern="1200" dirty="0"/>
            <a:t> Averages these two meanings into one confusing vector. The model doesn't know </a:t>
          </a:r>
          <a:r>
            <a:rPr lang="en-US" sz="2300" b="1" kern="1200" dirty="0">
              <a:solidFill>
                <a:srgbClr val="0070C0"/>
              </a:solidFill>
            </a:rPr>
            <a:t>which one you mean</a:t>
          </a:r>
        </a:p>
      </dsp:txBody>
      <dsp:txXfrm>
        <a:off x="1812488" y="3926490"/>
        <a:ext cx="4357688" cy="1569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CD57E-2CAA-46FB-A4A0-ED0B377803B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941B0-8873-44D6-93C8-9600883B6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8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design intertwines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fundamentals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(cleaning, TF-IDF) with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application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(embeddings, Transformers), explaining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old techniques still matter in the age of Generative AI (especially for RAG and data preparation).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64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TF_IDF – Term Frequency Inverse Document 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63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https://vizuara.substack.com/p/from-words-to-vectors-understanding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4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64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Illustration of word embeddings. https://medium.com/@manansuri/a-dummys-guide-to-word2vec-456444f3c673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94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5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“Take the slide and transform it to </a:t>
            </a:r>
            <a:r>
              <a:rPr lang="en-US"/>
              <a:t>a detailed </a:t>
            </a:r>
            <a:r>
              <a:rPr lang="en-US" dirty="0"/>
              <a:t>image that explains in whiteboard with diagrams, arrows, boxes and captions explaining the core idea visually. Use colors as well.”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50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BERT input representation. The input embeddings are the sum of the token embeddings, the segmentation embeddings and the position embeddings.</a:t>
            </a:r>
          </a:p>
          <a:p>
            <a:r>
              <a:rPr lang="en-US" dirty="0"/>
              <a:t>The first token of every sequence is always a special classification token ([CLS]). </a:t>
            </a:r>
            <a:br>
              <a:rPr lang="en-US" dirty="0"/>
            </a:br>
            <a:r>
              <a:rPr lang="en-US" dirty="0"/>
              <a:t>We differentiate the sentences in two ways. First, we separate them with a special token ([SEP]). Second, we add a learned embedding to every token indicating whether it belongs to sentence A or sentence B.</a:t>
            </a:r>
          </a:p>
          <a:p>
            <a:r>
              <a:rPr lang="en-US" dirty="0"/>
              <a:t>In order to train a deep bidirectional representation, we simply mask some percentage of the input tokens at random, and then predict those masked tokens. We refer to this procedure as a “masked LM” (MLM).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80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Survive, I Must Defect” – Jailbreaking LLMs via Game Theory - https://arxiv.org/pdf/2511.16278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38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Jupyter Notebook and Python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41B0-8873-44D6-93C8-9600883B67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8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6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3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9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5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5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1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8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1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0.04805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pdf/1810.04805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he-journey-of-a-token-what-really-happens-inside-a-transformer/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3D White Numbers">
            <a:extLst>
              <a:ext uri="{FF2B5EF4-FFF2-40B4-BE49-F238E27FC236}">
                <a16:creationId xmlns:a16="http://schemas.microsoft.com/office/drawing/2014/main" id="{16C27E86-B8DA-797E-E622-BBCB6D5A29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284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6CFA4-9FEA-4B6A-0C7A-895FF9D60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2373 - Module 2</a:t>
            </a:r>
            <a:br>
              <a:rPr lang="en-US" sz="5000">
                <a:solidFill>
                  <a:srgbClr val="FFFFFF"/>
                </a:solidFill>
              </a:rPr>
            </a:br>
            <a:r>
              <a:rPr lang="en-US" sz="5000">
                <a:solidFill>
                  <a:srgbClr val="FFFFFF"/>
                </a:solidFill>
              </a:rPr>
              <a:t>Text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0A60E-7C5D-F4F3-F193-8515F26A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Converting Language into Mathematics: From Counts to Context.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362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20CD44E-D174-4754-389E-801F8CE772CF}"/>
              </a:ext>
            </a:extLst>
          </p:cNvPr>
          <p:cNvSpPr txBox="1"/>
          <p:nvPr/>
        </p:nvSpPr>
        <p:spPr>
          <a:xfrm>
            <a:off x="700088" y="1557495"/>
            <a:ext cx="7258207" cy="4404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6600" b="1" dirty="0"/>
              <a:t>Section 1: The Raw Material – Text Preprocessing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600" dirty="0"/>
          </a:p>
        </p:txBody>
      </p:sp>
      <p:pic>
        <p:nvPicPr>
          <p:cNvPr id="6" name="Graphic 5" descr="Closed Quotation Mark">
            <a:extLst>
              <a:ext uri="{FF2B5EF4-FFF2-40B4-BE49-F238E27FC236}">
                <a16:creationId xmlns:a16="http://schemas.microsoft.com/office/drawing/2014/main" id="{A7337C68-09C9-9160-98D3-E190BB32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3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12BC7-50B9-DB3B-FD79-A55913EC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 Text Representation &amp; Preprocessing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E056B56-F3E5-AAE2-C805-F099781AF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45284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559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32F6-8DB3-FF7F-28B5-CD109DDC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Fundamental Problem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21BF27-769C-294B-0B4B-2FDAEBAB3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72230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427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812A9-BBB7-AF75-A8DC-6E81E63F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sz="3700" b="1" dirty="0"/>
              <a:t>Step 1: </a:t>
            </a:r>
            <a:r>
              <a:rPr lang="en-US" sz="3700" b="1" dirty="0">
                <a:solidFill>
                  <a:schemeClr val="bg2">
                    <a:lumMod val="50000"/>
                  </a:schemeClr>
                </a:solidFill>
              </a:rPr>
              <a:t>Clean</a:t>
            </a:r>
            <a:r>
              <a:rPr lang="en-US" sz="3700" b="1" dirty="0"/>
              <a:t>ing &amp; Normalization (The Hygiene)</a:t>
            </a:r>
            <a:endParaRPr lang="en-US" sz="3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AA2FA1-EB46-D5D1-FEEE-BADF51B5B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5206741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4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917B-A5E6-1621-E372-6BC3265F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Step 2: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Tokenization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C9E9A-7588-E787-324E-03EA04B5E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Definition</a:t>
            </a:r>
            <a:r>
              <a:rPr lang="en-US" b="1" dirty="0"/>
              <a:t>:</a:t>
            </a:r>
            <a:r>
              <a:rPr lang="en-US" dirty="0"/>
              <a:t> Breaking text into smaller units (Tokens).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Types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Word-Level:</a:t>
            </a:r>
            <a:r>
              <a:rPr lang="en-US" dirty="0"/>
              <a:t> ['I', 'love', 'AI'] (</a:t>
            </a:r>
            <a:r>
              <a:rPr lang="en-US" b="1" dirty="0"/>
              <a:t>NLTK</a:t>
            </a:r>
            <a:r>
              <a:rPr lang="en-US" dirty="0"/>
              <a:t>/</a:t>
            </a:r>
            <a:r>
              <a:rPr lang="en-US" b="1" dirty="0" err="1"/>
              <a:t>SpaCy</a:t>
            </a:r>
            <a:r>
              <a:rPr lang="en-US" dirty="0"/>
              <a:t> approach).</a:t>
            </a:r>
          </a:p>
          <a:p>
            <a:pPr lvl="1"/>
            <a:r>
              <a:rPr lang="en-US" b="1" dirty="0"/>
              <a:t>Sub-word Level (Modern):</a:t>
            </a:r>
            <a:r>
              <a:rPr lang="en-US" dirty="0"/>
              <a:t> ['Un', 'friend', 'li', 'ness'] 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BERT</a:t>
            </a:r>
            <a:r>
              <a:rPr lang="en-US" dirty="0"/>
              <a:t>/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GPT</a:t>
            </a:r>
            <a:r>
              <a:rPr lang="en-US" dirty="0"/>
              <a:t> approach).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Robotics Context</a:t>
            </a:r>
            <a:r>
              <a:rPr lang="en-US" b="1" dirty="0"/>
              <a:t>:</a:t>
            </a:r>
            <a:r>
              <a:rPr lang="en-US" dirty="0"/>
              <a:t> If a robot knows "walk", does it know "walking"? Sub-word tokenization helps it understand they are related.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5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5A0D-288F-164B-4407-8D5EA345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Stem</a:t>
            </a:r>
            <a:r>
              <a:rPr lang="en-US" b="1" dirty="0"/>
              <a:t>ming vs.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Lemma</a:t>
            </a:r>
            <a:r>
              <a:rPr lang="en-US" b="1" dirty="0"/>
              <a:t>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85E99-DEF6-C597-1913-E970299BF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Goal:</a:t>
            </a:r>
            <a:r>
              <a:rPr lang="en-US" dirty="0"/>
              <a:t> Reducing words to their base </a:t>
            </a:r>
            <a:r>
              <a:rPr lang="en-US" i="1" dirty="0"/>
              <a:t>root</a:t>
            </a:r>
            <a:r>
              <a:rPr lang="en-US" dirty="0"/>
              <a:t> to group similar meanings.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Stemming</a:t>
            </a:r>
            <a:r>
              <a:rPr lang="en-US" b="1" dirty="0"/>
              <a:t> (The Hatchet):</a:t>
            </a:r>
            <a:r>
              <a:rPr lang="en-US" dirty="0"/>
              <a:t> Chops off ends.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 "Running", "Runner" -&gt; "Run".</a:t>
            </a:r>
          </a:p>
          <a:p>
            <a:pPr lvl="1"/>
            <a:r>
              <a:rPr lang="en-US" i="1" dirty="0"/>
              <a:t>Fast, but crude.</a:t>
            </a:r>
            <a:r>
              <a:rPr lang="en-US" dirty="0"/>
              <a:t> (Can produce non-words).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Lemmatization</a:t>
            </a:r>
            <a:r>
              <a:rPr lang="en-US" b="1" dirty="0"/>
              <a:t> (The Scalpel):</a:t>
            </a:r>
            <a:r>
              <a:rPr lang="en-US" dirty="0"/>
              <a:t> Uses a dictionary/morphology to find the root.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 "Better" -&gt; "Good".</a:t>
            </a:r>
          </a:p>
          <a:p>
            <a:pPr lvl="1"/>
            <a:r>
              <a:rPr lang="en-US" i="1" dirty="0"/>
              <a:t>Slower, but precise.</a:t>
            </a:r>
            <a:endParaRPr lang="en-US" dirty="0"/>
          </a:p>
          <a:p>
            <a:r>
              <a:rPr lang="en-US" b="1" dirty="0"/>
              <a:t>Lab Prep:</a:t>
            </a:r>
            <a:r>
              <a:rPr lang="en-US" dirty="0"/>
              <a:t> We will use </a:t>
            </a:r>
            <a:r>
              <a:rPr lang="en-US" dirty="0" err="1"/>
              <a:t>SpaCy</a:t>
            </a:r>
            <a:r>
              <a:rPr lang="en-US" dirty="0"/>
              <a:t> (Lemmatization) vs NLTK (Stemming) to see the difference.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7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C574AC87-7BEF-1C93-950D-2CB14C4C4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08" b="712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C1D0E-20A6-C372-99B8-80DFDD69A039}"/>
              </a:ext>
            </a:extLst>
          </p:cNvPr>
          <p:cNvSpPr txBox="1"/>
          <p:nvPr/>
        </p:nvSpPr>
        <p:spPr>
          <a:xfrm>
            <a:off x="7145736" y="908651"/>
            <a:ext cx="4754880" cy="4171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cap="all" spc="30" dirty="0">
                <a:effectLst/>
                <a:latin typeface="+mj-lt"/>
                <a:ea typeface="+mj-ea"/>
                <a:cs typeface="+mj-cs"/>
              </a:rPr>
              <a:t>Section 2: The "Counting" Era (Classic Representation)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29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5C85-E7AB-E2F7-E209-28D8BBB6E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Representation 1: </a:t>
            </a:r>
            <a:r>
              <a:rPr lang="en-US" b="1" dirty="0">
                <a:solidFill>
                  <a:schemeClr val="accent1"/>
                </a:solidFill>
              </a:rPr>
              <a:t>Bag of Words </a:t>
            </a:r>
            <a:r>
              <a:rPr lang="en-US" b="1" dirty="0"/>
              <a:t>(</a:t>
            </a:r>
            <a:r>
              <a:rPr lang="en-US" b="1" dirty="0" err="1"/>
              <a:t>BoW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8154-D35D-E462-86EA-F6E4D9192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Concept</a:t>
            </a:r>
            <a:r>
              <a:rPr lang="en-US" b="1" dirty="0"/>
              <a:t>:</a:t>
            </a:r>
            <a:r>
              <a:rPr lang="en-US" dirty="0"/>
              <a:t> Disregard grammar and order; just count the frequency.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Visual</a:t>
            </a:r>
            <a:r>
              <a:rPr lang="en-US" b="1" dirty="0"/>
              <a:t>:</a:t>
            </a:r>
            <a:r>
              <a:rPr lang="en-US" dirty="0"/>
              <a:t> A sentence "The robot fixed the car" thrown into a bag.</a:t>
            </a:r>
          </a:p>
          <a:p>
            <a:pPr lvl="1"/>
            <a:r>
              <a:rPr lang="en-US" dirty="0"/>
              <a:t>Vector: {'the': 2, 'robot': 1, 'fixed': 1, 'car': 1}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The Flaw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"The robot killed the human" vs. "The human killed the robot."</a:t>
            </a:r>
          </a:p>
          <a:p>
            <a:pPr lvl="1"/>
            <a:r>
              <a:rPr lang="en-US" dirty="0" err="1"/>
              <a:t>BoW</a:t>
            </a:r>
            <a:r>
              <a:rPr lang="en-US" dirty="0"/>
              <a:t> sees these as 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</a:rPr>
              <a:t>identical</a:t>
            </a:r>
            <a:r>
              <a:rPr lang="en-US" dirty="0"/>
              <a:t> vectors. </a:t>
            </a:r>
            <a:r>
              <a:rPr lang="en-US" b="1" dirty="0"/>
              <a:t>Meaning is lost without order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8157A-4EDE-F1C3-DC19-0D878B45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Representation 2: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TF-IDF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9974-CA44-C975-FDA8-D272FF52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Term Frequency - Inverse Document Frequency.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The Intuition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If a word appears often in </a:t>
            </a:r>
            <a:r>
              <a:rPr lang="en-US" i="1" dirty="0"/>
              <a:t>this</a:t>
            </a:r>
            <a:r>
              <a:rPr lang="en-US" dirty="0"/>
              <a:t> document -&gt; It is important (</a:t>
            </a:r>
            <a:r>
              <a:rPr lang="en-US" b="1" dirty="0"/>
              <a:t>TF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If a word appears often in </a:t>
            </a:r>
            <a:r>
              <a:rPr lang="en-US" i="1" dirty="0"/>
              <a:t>all</a:t>
            </a:r>
            <a:r>
              <a:rPr lang="en-US" dirty="0"/>
              <a:t> documents (like "the") -&gt; It is unimportant (</a:t>
            </a:r>
            <a:r>
              <a:rPr lang="en-US" b="1" dirty="0"/>
              <a:t>IDF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The</a:t>
            </a:r>
            <a:r>
              <a:rPr lang="en-US" b="1" dirty="0"/>
              <a:t>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Result</a:t>
            </a:r>
            <a:r>
              <a:rPr lang="en-US" b="1" dirty="0"/>
              <a:t>:</a:t>
            </a:r>
            <a:r>
              <a:rPr lang="en-US" dirty="0"/>
              <a:t> A weighted vector where rare, unique words (like "microcontroller") have high scores.</a:t>
            </a:r>
          </a:p>
          <a:p>
            <a:r>
              <a:rPr lang="en-US" b="1" dirty="0"/>
              <a:t>Use Case 2025:</a:t>
            </a:r>
            <a:r>
              <a:rPr lang="en-US" dirty="0"/>
              <a:t> Still used in simple search algorithms and keyword extraction before feeding data to an LLM.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45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ulti-colored spinning balls">
            <a:extLst>
              <a:ext uri="{FF2B5EF4-FFF2-40B4-BE49-F238E27FC236}">
                <a16:creationId xmlns:a16="http://schemas.microsoft.com/office/drawing/2014/main" id="{1F74D593-7C49-DF79-7FB2-697793B45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57" b="287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971A9-A1BC-3B14-8AEE-09338946B91D}"/>
              </a:ext>
            </a:extLst>
          </p:cNvPr>
          <p:cNvSpPr txBox="1"/>
          <p:nvPr/>
        </p:nvSpPr>
        <p:spPr>
          <a:xfrm>
            <a:off x="7145736" y="908651"/>
            <a:ext cx="4754880" cy="4171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i="0" cap="all" spc="30">
                <a:effectLst/>
                <a:latin typeface="+mj-lt"/>
                <a:ea typeface="+mj-ea"/>
                <a:cs typeface="+mj-cs"/>
              </a:rPr>
              <a:t>Section 3: The Embedding Revolution (Meaning as Geometry)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926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E859-1EF4-BAE4-A9C4-AD09516B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Shift to "Embeddings" (2013)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9A6280-5D61-53F1-7785-7729B066D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619909"/>
              </p:ext>
            </p:extLst>
          </p:nvPr>
        </p:nvGraphicFramePr>
        <p:xfrm>
          <a:off x="700635" y="1808703"/>
          <a:ext cx="10691265" cy="4153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8714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0E86-CF22-A075-3FA4-CDBB579C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illustration of word embeddings">
            <a:extLst>
              <a:ext uri="{FF2B5EF4-FFF2-40B4-BE49-F238E27FC236}">
                <a16:creationId xmlns:a16="http://schemas.microsoft.com/office/drawing/2014/main" id="{AC4E4169-810D-27AC-EB34-9BB5A585F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529" y="633046"/>
            <a:ext cx="5591908" cy="5591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CE66B4-2C86-28CA-56F0-33BC956D47EB}"/>
              </a:ext>
            </a:extLst>
          </p:cNvPr>
          <p:cNvSpPr txBox="1"/>
          <p:nvPr/>
        </p:nvSpPr>
        <p:spPr>
          <a:xfrm>
            <a:off x="9448799" y="6302477"/>
            <a:ext cx="265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Image 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53983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cat and dog">
            <a:extLst>
              <a:ext uri="{FF2B5EF4-FFF2-40B4-BE49-F238E27FC236}">
                <a16:creationId xmlns:a16="http://schemas.microsoft.com/office/drawing/2014/main" id="{A33466EF-9060-F968-8E1A-67ABE26C1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2706"/>
            <a:ext cx="4168391" cy="62525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49647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21D5-F7AF-D573-6912-A6C9C986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The "King - Man + Woman" Equation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B2734-9CD8-9B62-DF51-96011C319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312346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633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21549-DBDC-4755-43E4-DB92F18C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 dirty="0"/>
              <a:t> The Limitation of Static Embeddings (Polysemy)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1D35B3-7875-AAA2-B136-6474D9708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20254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0956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 descr="A group of retro robot toys">
            <a:extLst>
              <a:ext uri="{FF2B5EF4-FFF2-40B4-BE49-F238E27FC236}">
                <a16:creationId xmlns:a16="http://schemas.microsoft.com/office/drawing/2014/main" id="{5B07EB12-B580-AE3F-BE8B-FECCF7713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719C-4B34-2239-F386-5020954F1876}"/>
              </a:ext>
            </a:extLst>
          </p:cNvPr>
          <p:cNvSpPr txBox="1"/>
          <p:nvPr/>
        </p:nvSpPr>
        <p:spPr>
          <a:xfrm>
            <a:off x="320040" y="5702710"/>
            <a:ext cx="7983068" cy="9743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i="0" cap="all" spc="30">
                <a:effectLst/>
                <a:latin typeface="+mj-lt"/>
                <a:ea typeface="+mj-ea"/>
                <a:cs typeface="+mj-cs"/>
              </a:rPr>
              <a:t> The Context Era (Transformers &amp; BERT)</a:t>
            </a:r>
          </a:p>
        </p:txBody>
      </p:sp>
    </p:spTree>
    <p:extLst>
      <p:ext uri="{BB962C8B-B14F-4D97-AF65-F5344CB8AC3E}">
        <p14:creationId xmlns:p14="http://schemas.microsoft.com/office/powerpoint/2010/main" val="661116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6014-4099-CF00-5714-A8E881EA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Modern Representation: Contextual Embeddings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334AA-6465-FCD6-F846-343FCEF92B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Enter BERT (and LLMs):</a:t>
                </a:r>
                <a:r>
                  <a:rPr lang="en-US" dirty="0"/>
                  <a:t> The vector changes based on the surrounding words.</a:t>
                </a:r>
              </a:p>
              <a:p>
                <a:r>
                  <a:rPr lang="en-US" b="1" dirty="0"/>
                  <a:t>Dynamic Meaning:</a:t>
                </a:r>
                <a:endParaRPr lang="en-US" dirty="0"/>
              </a:p>
              <a:p>
                <a:pPr lvl="1"/>
                <a:r>
                  <a:rPr lang="en-US" dirty="0"/>
                  <a:t>In sentence A, "Bank" gets Vector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US" dirty="0"/>
                  <a:t> (Nature-related).</a:t>
                </a:r>
              </a:p>
              <a:p>
                <a:pPr lvl="1"/>
                <a:r>
                  <a:rPr lang="en-US" dirty="0"/>
                  <a:t>In sentence B, "Bank" gets Vector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(Finance-related).</a:t>
                </a:r>
              </a:p>
              <a:p>
                <a:r>
                  <a:rPr lang="en-US" b="1" dirty="0"/>
                  <a:t>Robotics Application:</a:t>
                </a:r>
                <a:endParaRPr lang="en-US" dirty="0"/>
              </a:p>
              <a:p>
                <a:pPr lvl="1"/>
                <a:r>
                  <a:rPr lang="en-US" dirty="0"/>
                  <a:t>"Pick up the </a:t>
                </a:r>
                <a:r>
                  <a:rPr lang="en-US" b="1" dirty="0"/>
                  <a:t>crane</a:t>
                </a:r>
                <a:r>
                  <a:rPr lang="en-US" dirty="0"/>
                  <a:t>" (Bird? Or Construction machinery?). </a:t>
                </a:r>
              </a:p>
              <a:p>
                <a:pPr lvl="1"/>
                <a:r>
                  <a:rPr lang="en-US" dirty="0"/>
                  <a:t>Contextual embeddings solve this ambiguity for the robot.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334AA-6465-FCD6-F846-343FCEF92B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608A570-43ED-20D5-A0C4-13E301FD69D6}"/>
              </a:ext>
            </a:extLst>
          </p:cNvPr>
          <p:cNvSpPr txBox="1"/>
          <p:nvPr/>
        </p:nvSpPr>
        <p:spPr>
          <a:xfrm>
            <a:off x="3696929" y="6351639"/>
            <a:ext cx="565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 original Paper: </a:t>
            </a:r>
            <a:r>
              <a:rPr lang="en-US" dirty="0">
                <a:hlinkClick r:id="rId3"/>
              </a:rPr>
              <a:t>https://arxiv.org/pdf/1810.04805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315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A whiteboard with writing on it">
            <a:extLst>
              <a:ext uri="{FF2B5EF4-FFF2-40B4-BE49-F238E27FC236}">
                <a16:creationId xmlns:a16="http://schemas.microsoft.com/office/drawing/2014/main" id="{FC92C5D4-6EAF-2718-CDCF-3A6C8D906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r="2225" b="1"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3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4473-77CE-461E-A98C-6D85D515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Sentence 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8EEF-75DD-6A68-2E08-DBFAEB6B9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Moving beyond words:</a:t>
            </a:r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How do we represent a whole sentence or paragraph</a:t>
            </a:r>
            <a:r>
              <a:rPr lang="en-US" dirty="0"/>
              <a:t>?</a:t>
            </a:r>
          </a:p>
          <a:p>
            <a:r>
              <a:rPr lang="en-US" b="1" dirty="0">
                <a:solidFill>
                  <a:schemeClr val="accent1"/>
                </a:solidFill>
              </a:rPr>
              <a:t>Semantic Search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Query: "Where is the class?"</a:t>
            </a:r>
          </a:p>
          <a:p>
            <a:pPr lvl="1"/>
            <a:r>
              <a:rPr lang="en-US" dirty="0"/>
              <a:t>Match: "The lecture is in Room 302."</a:t>
            </a:r>
          </a:p>
          <a:p>
            <a:pPr lvl="1"/>
            <a:r>
              <a:rPr lang="en-US" i="1" dirty="0"/>
              <a:t>These sentences share no common words, but their </a:t>
            </a:r>
            <a:r>
              <a:rPr lang="en-US" b="1" i="1" dirty="0">
                <a:solidFill>
                  <a:schemeClr val="accent1"/>
                </a:solidFill>
              </a:rPr>
              <a:t>Sentence Embeddings</a:t>
            </a:r>
            <a:r>
              <a:rPr lang="en-US" i="1" dirty="0">
                <a:solidFill>
                  <a:schemeClr val="accent1"/>
                </a:solidFill>
              </a:rPr>
              <a:t> </a:t>
            </a:r>
            <a:r>
              <a:rPr lang="en-US" i="1" dirty="0"/>
              <a:t>are close in vector space.</a:t>
            </a:r>
            <a:endParaRPr lang="en-US" dirty="0"/>
          </a:p>
          <a:p>
            <a:r>
              <a:rPr lang="en-US" b="1" dirty="0"/>
              <a:t>Relevance:</a:t>
            </a:r>
            <a:r>
              <a:rPr lang="en-US" dirty="0"/>
              <a:t> This is the core technology behind </a:t>
            </a:r>
            <a:r>
              <a:rPr lang="en-US" b="1" dirty="0">
                <a:solidFill>
                  <a:schemeClr val="accent1"/>
                </a:solidFill>
              </a:rPr>
              <a:t>RAG (Retrieval Augmented Generation)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89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728FC-7F49-C1CC-4942-345BF566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3085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A white board with text and diagrams">
            <a:extLst>
              <a:ext uri="{FF2B5EF4-FFF2-40B4-BE49-F238E27FC236}">
                <a16:creationId xmlns:a16="http://schemas.microsoft.com/office/drawing/2014/main" id="{83FF55FD-C9A0-4C90-77A9-19570FBA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1" b="1"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513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different colored squares">
            <a:extLst>
              <a:ext uri="{FF2B5EF4-FFF2-40B4-BE49-F238E27FC236}">
                <a16:creationId xmlns:a16="http://schemas.microsoft.com/office/drawing/2014/main" id="{D4A689E0-96B6-99F5-F75F-068F1743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07" y="1770710"/>
            <a:ext cx="10717786" cy="3316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C28078-E715-89F0-62E0-8AC882813A4C}"/>
              </a:ext>
            </a:extLst>
          </p:cNvPr>
          <p:cNvSpPr txBox="1"/>
          <p:nvPr/>
        </p:nvSpPr>
        <p:spPr>
          <a:xfrm>
            <a:off x="2900516" y="6341807"/>
            <a:ext cx="7064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 - BERT original Paper: </a:t>
            </a:r>
            <a:r>
              <a:rPr lang="en-US" dirty="0">
                <a:hlinkClick r:id="rId4"/>
              </a:rPr>
              <a:t>https://arxiv.org/pdf/1810.04805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3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journey of a token">
            <a:extLst>
              <a:ext uri="{FF2B5EF4-FFF2-40B4-BE49-F238E27FC236}">
                <a16:creationId xmlns:a16="http://schemas.microsoft.com/office/drawing/2014/main" id="{3C48ADC5-CA14-6FDE-7925-849D66A0E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80E8B5-213C-B2C0-5D55-D93896ECE6AD}"/>
              </a:ext>
            </a:extLst>
          </p:cNvPr>
          <p:cNvSpPr txBox="1"/>
          <p:nvPr/>
        </p:nvSpPr>
        <p:spPr>
          <a:xfrm>
            <a:off x="0" y="6488668"/>
            <a:ext cx="12068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https://machinelearningmastery.com/the-journey-of-a-token-what-really-happens-inside-a-transformer/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24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989A6-11D5-10AD-5998-AD40309C3DEB}"/>
              </a:ext>
            </a:extLst>
          </p:cNvPr>
          <p:cNvSpPr txBox="1"/>
          <p:nvPr/>
        </p:nvSpPr>
        <p:spPr>
          <a:xfrm>
            <a:off x="3511550" y="3059668"/>
            <a:ext cx="516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Great </a:t>
            </a:r>
            <a:r>
              <a:rPr lang="en-US" dirty="0">
                <a:solidFill>
                  <a:srgbClr val="0070C0"/>
                </a:solidFill>
              </a:rPr>
              <a:t>Powers</a:t>
            </a:r>
            <a:r>
              <a:rPr lang="en-US" dirty="0"/>
              <a:t> Comes With Great </a:t>
            </a:r>
            <a:r>
              <a:rPr lang="en-US" dirty="0">
                <a:solidFill>
                  <a:srgbClr val="0070C0"/>
                </a:solidFill>
              </a:rPr>
              <a:t>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158355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whiteboard with writing on it">
            <a:extLst>
              <a:ext uri="{FF2B5EF4-FFF2-40B4-BE49-F238E27FC236}">
                <a16:creationId xmlns:a16="http://schemas.microsoft.com/office/drawing/2014/main" id="{2989BBFB-2889-9E90-6BF7-4763BC29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8"/>
            <a:ext cx="12192000" cy="66500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64197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E5AA1-C62D-9364-288E-15FD60836D36}"/>
              </a:ext>
            </a:extLst>
          </p:cNvPr>
          <p:cNvSpPr txBox="1"/>
          <p:nvPr/>
        </p:nvSpPr>
        <p:spPr>
          <a:xfrm>
            <a:off x="4952066" y="3148853"/>
            <a:ext cx="228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Lab &amp;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51567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45A2-E581-0243-7A71-94C6C9DB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NLTK to Transformers &amp; Visualization preview (PCA/t-</a:t>
            </a:r>
            <a:r>
              <a:rPr lang="en-US" dirty="0" err="1"/>
              <a:t>sne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F41E8-1CA2-D42C-B116-36DCA754E8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Part 1: The Old School (Scikit-Learn/NLTK)</a:t>
            </a:r>
            <a:endParaRPr lang="en-US" dirty="0"/>
          </a:p>
          <a:p>
            <a:pPr lvl="1"/>
            <a:r>
              <a:rPr lang="en-US" dirty="0"/>
              <a:t>Clean a raw text dataset (remove stop words, punctuation).</a:t>
            </a:r>
          </a:p>
          <a:p>
            <a:pPr lvl="1"/>
            <a:r>
              <a:rPr lang="en-US" dirty="0"/>
              <a:t>Generate a TF-IDF matrix.</a:t>
            </a:r>
          </a:p>
          <a:p>
            <a:pPr lvl="1"/>
            <a:r>
              <a:rPr lang="en-US" dirty="0"/>
              <a:t>Find the "most important" words in a document.</a:t>
            </a:r>
          </a:p>
          <a:p>
            <a:r>
              <a:rPr lang="en-US" b="1" dirty="0"/>
              <a:t>Part 2: The Middle Era (</a:t>
            </a:r>
            <a:r>
              <a:rPr lang="en-US" b="1" dirty="0" err="1"/>
              <a:t>Gensim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Load a pre-trained Word2Vec model (Google News).</a:t>
            </a:r>
          </a:p>
          <a:p>
            <a:pPr lvl="1"/>
            <a:r>
              <a:rPr lang="en-US" dirty="0"/>
              <a:t>Run analogies: Paris - France + Italy = Rome.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F32F-79E7-F7F6-1CE3-E89E66A265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Dimensionality Reduction:</a:t>
            </a:r>
            <a:r>
              <a:rPr lang="en-US" dirty="0"/>
              <a:t> We can't see 768 dimensions. We use PCA to squash it to 2D.</a:t>
            </a:r>
          </a:p>
          <a:p>
            <a:r>
              <a:rPr lang="en-US" b="1" dirty="0"/>
              <a:t>Expected Result:</a:t>
            </a:r>
            <a:endParaRPr lang="en-US" dirty="0"/>
          </a:p>
          <a:p>
            <a:pPr lvl="1"/>
            <a:r>
              <a:rPr lang="en-US" dirty="0"/>
              <a:t>We will see two clusters.</a:t>
            </a:r>
          </a:p>
          <a:p>
            <a:pPr lvl="1"/>
            <a:r>
              <a:rPr lang="en-US" dirty="0"/>
              <a:t>Sentence 1 and 3 ("mouse" as animal) will be close together.</a:t>
            </a:r>
          </a:p>
          <a:p>
            <a:pPr lvl="1"/>
            <a:r>
              <a:rPr lang="en-US" dirty="0"/>
              <a:t>Sentence 2 ("mouse" as device) will be far apart.</a:t>
            </a:r>
          </a:p>
          <a:p>
            <a:r>
              <a:rPr lang="en-US" b="1" dirty="0"/>
              <a:t>Conclusion:</a:t>
            </a:r>
            <a:r>
              <a:rPr lang="en-US" dirty="0"/>
              <a:t> The model "understands" context!</a:t>
            </a:r>
          </a:p>
        </p:txBody>
      </p:sp>
    </p:spTree>
    <p:extLst>
      <p:ext uri="{BB962C8B-B14F-4D97-AF65-F5344CB8AC3E}">
        <p14:creationId xmlns:p14="http://schemas.microsoft.com/office/powerpoint/2010/main" val="30279518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1429</Words>
  <Application>Microsoft Office PowerPoint</Application>
  <PresentationFormat>Widescreen</PresentationFormat>
  <Paragraphs>126</Paragraphs>
  <Slides>27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Calisto MT</vt:lpstr>
      <vt:lpstr>Cambria Math</vt:lpstr>
      <vt:lpstr>Neue Haas Grotesk Text Pro</vt:lpstr>
      <vt:lpstr>Univers Condensed</vt:lpstr>
      <vt:lpstr>ChronicleVTI</vt:lpstr>
      <vt:lpstr>2373 - Module 2 Text Preprocessing</vt:lpstr>
      <vt:lpstr>PowerPoint Presentation</vt:lpstr>
      <vt:lpstr> Text Representation &amp; Preprocessing</vt:lpstr>
      <vt:lpstr>The Fundamental Problem</vt:lpstr>
      <vt:lpstr>Step 1: Cleaning &amp; Normalization (The Hygiene)</vt:lpstr>
      <vt:lpstr> Step 2: Tokenization</vt:lpstr>
      <vt:lpstr>Step 3: Stemming vs. Lemmatization</vt:lpstr>
      <vt:lpstr>PowerPoint Presentation</vt:lpstr>
      <vt:lpstr> Representation 1: Bag of Words (BoW)</vt:lpstr>
      <vt:lpstr>Representation 2: TF-IDF</vt:lpstr>
      <vt:lpstr>PowerPoint Presentation</vt:lpstr>
      <vt:lpstr>The Shift to "Embeddings" (2013)</vt:lpstr>
      <vt:lpstr>PowerPoint Presentation</vt:lpstr>
      <vt:lpstr>PowerPoint Presentation</vt:lpstr>
      <vt:lpstr> The "King - Man + Woman" Equation</vt:lpstr>
      <vt:lpstr> The Limitation of Static Embeddings (Polysemy)</vt:lpstr>
      <vt:lpstr>PowerPoint Presentation</vt:lpstr>
      <vt:lpstr>Modern Representation: Contextual Embeddings</vt:lpstr>
      <vt:lpstr>PowerPoint Presentation</vt:lpstr>
      <vt:lpstr>Sentence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From NLTK to Transformers &amp; Visualization preview (PCA/t-sne)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Bhakthan</dc:creator>
  <cp:lastModifiedBy>Srikanth Bhakthan</cp:lastModifiedBy>
  <cp:revision>9</cp:revision>
  <dcterms:created xsi:type="dcterms:W3CDTF">2025-11-21T14:13:49Z</dcterms:created>
  <dcterms:modified xsi:type="dcterms:W3CDTF">2025-11-29T16:24:59Z</dcterms:modified>
</cp:coreProperties>
</file>