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2"/>
  </p:notesMasterIdLst>
  <p:sldIdLst>
    <p:sldId id="256" r:id="rId2"/>
    <p:sldId id="257" r:id="rId3"/>
    <p:sldId id="258" r:id="rId4"/>
    <p:sldId id="259" r:id="rId5"/>
    <p:sldId id="260" r:id="rId6"/>
    <p:sldId id="261" r:id="rId7"/>
    <p:sldId id="262" r:id="rId8"/>
    <p:sldId id="263" r:id="rId9"/>
    <p:sldId id="275" r:id="rId10"/>
    <p:sldId id="264" r:id="rId11"/>
    <p:sldId id="265" r:id="rId12"/>
    <p:sldId id="266" r:id="rId13"/>
    <p:sldId id="274" r:id="rId14"/>
    <p:sldId id="267" r:id="rId15"/>
    <p:sldId id="268" r:id="rId16"/>
    <p:sldId id="269" r:id="rId17"/>
    <p:sldId id="270" r:id="rId18"/>
    <p:sldId id="271" r:id="rId19"/>
    <p:sldId id="272" r:id="rId20"/>
    <p:sldId id="273"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828" autoAdjust="0"/>
  </p:normalViewPr>
  <p:slideViewPr>
    <p:cSldViewPr snapToGrid="0" snapToObjects="1">
      <p:cViewPr varScale="1">
        <p:scale>
          <a:sx n="128" d="100"/>
          <a:sy n="128" d="100"/>
        </p:scale>
        <p:origin x="2748" y="1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F5E785-A4CE-4784-BF86-D44430394CCD}" type="doc">
      <dgm:prSet loTypeId="urn:microsoft.com/office/officeart/2008/layout/LinedList" loCatId="list" qsTypeId="urn:microsoft.com/office/officeart/2005/8/quickstyle/simple4" qsCatId="simple" csTypeId="urn:microsoft.com/office/officeart/2005/8/colors/colorful2" csCatId="colorful" phldr="1"/>
      <dgm:spPr/>
      <dgm:t>
        <a:bodyPr/>
        <a:lstStyle/>
        <a:p>
          <a:endParaRPr lang="en-US"/>
        </a:p>
      </dgm:t>
    </dgm:pt>
    <dgm:pt modelId="{A46EF82D-2BD3-4B49-ABC9-650E45E51615}">
      <dgm:prSet/>
      <dgm:spPr/>
      <dgm:t>
        <a:bodyPr/>
        <a:lstStyle/>
        <a:p>
          <a:r>
            <a:rPr lang="en-US" b="1" dirty="0"/>
            <a:t>Recall:</a:t>
          </a:r>
          <a:r>
            <a:rPr lang="en-US" dirty="0"/>
            <a:t> Language Models predict the *next token* based on probability.</a:t>
          </a:r>
        </a:p>
      </dgm:t>
    </dgm:pt>
    <dgm:pt modelId="{16A88D8B-84D4-4C64-B314-396D6D268C9A}" type="parTrans" cxnId="{97C7F394-A3A7-4C97-8CDE-B9979B1617D5}">
      <dgm:prSet/>
      <dgm:spPr/>
      <dgm:t>
        <a:bodyPr/>
        <a:lstStyle/>
        <a:p>
          <a:endParaRPr lang="en-US"/>
        </a:p>
      </dgm:t>
    </dgm:pt>
    <dgm:pt modelId="{1D26D7B3-1706-48E5-98DF-B714A112E025}" type="sibTrans" cxnId="{97C7F394-A3A7-4C97-8CDE-B9979B1617D5}">
      <dgm:prSet/>
      <dgm:spPr/>
      <dgm:t>
        <a:bodyPr/>
        <a:lstStyle/>
        <a:p>
          <a:endParaRPr lang="en-US"/>
        </a:p>
      </dgm:t>
    </dgm:pt>
    <dgm:pt modelId="{17821073-F448-4B86-9822-7488CEAFAA2A}">
      <dgm:prSet/>
      <dgm:spPr/>
      <dgm:t>
        <a:bodyPr/>
        <a:lstStyle/>
        <a:p>
          <a:r>
            <a:rPr lang="en-US" b="1" dirty="0"/>
            <a:t>The Formula:</a:t>
          </a:r>
          <a:r>
            <a:rPr lang="en-US" dirty="0"/>
            <a:t> P(</a:t>
          </a:r>
          <a:r>
            <a:rPr lang="en-US" dirty="0" err="1"/>
            <a:t>w_t</a:t>
          </a:r>
          <a:r>
            <a:rPr lang="en-US" dirty="0"/>
            <a:t> | w_{1:t-1})</a:t>
          </a:r>
        </a:p>
      </dgm:t>
    </dgm:pt>
    <dgm:pt modelId="{96AA5628-9131-4FD8-AE76-66A3278822E5}" type="parTrans" cxnId="{B13E3115-D251-4AD4-8FF4-C238BF020098}">
      <dgm:prSet/>
      <dgm:spPr/>
      <dgm:t>
        <a:bodyPr/>
        <a:lstStyle/>
        <a:p>
          <a:endParaRPr lang="en-US"/>
        </a:p>
      </dgm:t>
    </dgm:pt>
    <dgm:pt modelId="{443F402E-A17B-4D8B-8F36-9BECBEF4AE12}" type="sibTrans" cxnId="{B13E3115-D251-4AD4-8FF4-C238BF020098}">
      <dgm:prSet/>
      <dgm:spPr/>
      <dgm:t>
        <a:bodyPr/>
        <a:lstStyle/>
        <a:p>
          <a:endParaRPr lang="en-US"/>
        </a:p>
      </dgm:t>
    </dgm:pt>
    <dgm:pt modelId="{CA201BA4-0B32-44CD-A9B7-44DA56C40D05}">
      <dgm:prSet/>
      <dgm:spPr/>
      <dgm:t>
        <a:bodyPr/>
        <a:lstStyle/>
        <a:p>
          <a:r>
            <a:rPr lang="en-US" b="1" dirty="0"/>
            <a:t>The Dilemma:</a:t>
          </a:r>
          <a:r>
            <a:rPr lang="en-US" dirty="0"/>
            <a:t> The model assigns a probability to *every word in the dictionary*.</a:t>
          </a:r>
        </a:p>
      </dgm:t>
    </dgm:pt>
    <dgm:pt modelId="{1BD4EEE4-8451-4EDA-A79A-5DEA80A3BF51}" type="parTrans" cxnId="{5473DE89-9645-46C8-B77F-6F759BE72DE6}">
      <dgm:prSet/>
      <dgm:spPr/>
      <dgm:t>
        <a:bodyPr/>
        <a:lstStyle/>
        <a:p>
          <a:endParaRPr lang="en-US"/>
        </a:p>
      </dgm:t>
    </dgm:pt>
    <dgm:pt modelId="{4F5647FB-93AA-4F33-873C-54AE0042B749}" type="sibTrans" cxnId="{5473DE89-9645-46C8-B77F-6F759BE72DE6}">
      <dgm:prSet/>
      <dgm:spPr/>
      <dgm:t>
        <a:bodyPr/>
        <a:lstStyle/>
        <a:p>
          <a:endParaRPr lang="en-US"/>
        </a:p>
      </dgm:t>
    </dgm:pt>
    <dgm:pt modelId="{2CE57EC0-B59D-4439-9E5C-3814D45871EF}">
      <dgm:prSet/>
      <dgm:spPr/>
      <dgm:t>
        <a:bodyPr/>
        <a:lstStyle/>
        <a:p>
          <a:r>
            <a:rPr lang="en-US" b="1" dirty="0"/>
            <a:t>The Question:</a:t>
          </a:r>
          <a:r>
            <a:rPr lang="en-US" dirty="0"/>
            <a:t> How do we choose? Do we always pick the most likely word? (Hint: No).</a:t>
          </a:r>
        </a:p>
      </dgm:t>
    </dgm:pt>
    <dgm:pt modelId="{2EF351B0-1BE7-4C4E-BC11-D02900487E67}" type="parTrans" cxnId="{953EB0AA-4E67-4792-B0BC-B5D0D1D781FB}">
      <dgm:prSet/>
      <dgm:spPr/>
      <dgm:t>
        <a:bodyPr/>
        <a:lstStyle/>
        <a:p>
          <a:endParaRPr lang="en-US"/>
        </a:p>
      </dgm:t>
    </dgm:pt>
    <dgm:pt modelId="{0F005D2F-7774-473D-A202-2E7774B49272}" type="sibTrans" cxnId="{953EB0AA-4E67-4792-B0BC-B5D0D1D781FB}">
      <dgm:prSet/>
      <dgm:spPr/>
      <dgm:t>
        <a:bodyPr/>
        <a:lstStyle/>
        <a:p>
          <a:endParaRPr lang="en-US"/>
        </a:p>
      </dgm:t>
    </dgm:pt>
    <dgm:pt modelId="{0DC00E19-84DB-4FEF-BA6D-30D94C72C9C4}" type="pres">
      <dgm:prSet presAssocID="{0AF5E785-A4CE-4784-BF86-D44430394CCD}" presName="vert0" presStyleCnt="0">
        <dgm:presLayoutVars>
          <dgm:dir/>
          <dgm:animOne val="branch"/>
          <dgm:animLvl val="lvl"/>
        </dgm:presLayoutVars>
      </dgm:prSet>
      <dgm:spPr/>
    </dgm:pt>
    <dgm:pt modelId="{6D4C33EB-204E-4261-B1D0-75BE312A9976}" type="pres">
      <dgm:prSet presAssocID="{A46EF82D-2BD3-4B49-ABC9-650E45E51615}" presName="thickLine" presStyleLbl="alignNode1" presStyleIdx="0" presStyleCnt="4"/>
      <dgm:spPr/>
    </dgm:pt>
    <dgm:pt modelId="{CD3F3DB2-90B1-46D2-8B23-9698CE614542}" type="pres">
      <dgm:prSet presAssocID="{A46EF82D-2BD3-4B49-ABC9-650E45E51615}" presName="horz1" presStyleCnt="0"/>
      <dgm:spPr/>
    </dgm:pt>
    <dgm:pt modelId="{6181B2C3-6814-448B-9D94-34FF44896CD2}" type="pres">
      <dgm:prSet presAssocID="{A46EF82D-2BD3-4B49-ABC9-650E45E51615}" presName="tx1" presStyleLbl="revTx" presStyleIdx="0" presStyleCnt="4"/>
      <dgm:spPr/>
    </dgm:pt>
    <dgm:pt modelId="{044320D0-01CE-4A1F-9E85-CF7BBDC7D870}" type="pres">
      <dgm:prSet presAssocID="{A46EF82D-2BD3-4B49-ABC9-650E45E51615}" presName="vert1" presStyleCnt="0"/>
      <dgm:spPr/>
    </dgm:pt>
    <dgm:pt modelId="{CCDC7993-F205-4A6B-BCF9-64C0DAA0CE0B}" type="pres">
      <dgm:prSet presAssocID="{17821073-F448-4B86-9822-7488CEAFAA2A}" presName="thickLine" presStyleLbl="alignNode1" presStyleIdx="1" presStyleCnt="4"/>
      <dgm:spPr/>
    </dgm:pt>
    <dgm:pt modelId="{821FE003-3CFC-4299-B907-B2E847BE7166}" type="pres">
      <dgm:prSet presAssocID="{17821073-F448-4B86-9822-7488CEAFAA2A}" presName="horz1" presStyleCnt="0"/>
      <dgm:spPr/>
    </dgm:pt>
    <dgm:pt modelId="{98B7E855-E6C9-4195-BAAB-893AB01BC97A}" type="pres">
      <dgm:prSet presAssocID="{17821073-F448-4B86-9822-7488CEAFAA2A}" presName="tx1" presStyleLbl="revTx" presStyleIdx="1" presStyleCnt="4"/>
      <dgm:spPr/>
    </dgm:pt>
    <dgm:pt modelId="{6935B234-3267-4E3F-A2A7-97982B361C9D}" type="pres">
      <dgm:prSet presAssocID="{17821073-F448-4B86-9822-7488CEAFAA2A}" presName="vert1" presStyleCnt="0"/>
      <dgm:spPr/>
    </dgm:pt>
    <dgm:pt modelId="{562D027C-9FC0-4223-BCF4-6FD328BE747C}" type="pres">
      <dgm:prSet presAssocID="{CA201BA4-0B32-44CD-A9B7-44DA56C40D05}" presName="thickLine" presStyleLbl="alignNode1" presStyleIdx="2" presStyleCnt="4"/>
      <dgm:spPr/>
    </dgm:pt>
    <dgm:pt modelId="{C54E8166-4DF9-4E6A-84C0-E82F172BC7F6}" type="pres">
      <dgm:prSet presAssocID="{CA201BA4-0B32-44CD-A9B7-44DA56C40D05}" presName="horz1" presStyleCnt="0"/>
      <dgm:spPr/>
    </dgm:pt>
    <dgm:pt modelId="{91478C2D-9744-4011-9AC9-781F8700D7B3}" type="pres">
      <dgm:prSet presAssocID="{CA201BA4-0B32-44CD-A9B7-44DA56C40D05}" presName="tx1" presStyleLbl="revTx" presStyleIdx="2" presStyleCnt="4"/>
      <dgm:spPr/>
    </dgm:pt>
    <dgm:pt modelId="{066E217F-92B7-4D0A-B313-0BDBDF62E9FC}" type="pres">
      <dgm:prSet presAssocID="{CA201BA4-0B32-44CD-A9B7-44DA56C40D05}" presName="vert1" presStyleCnt="0"/>
      <dgm:spPr/>
    </dgm:pt>
    <dgm:pt modelId="{CE17915B-B4C7-4C97-A677-D2BC3EF7878F}" type="pres">
      <dgm:prSet presAssocID="{2CE57EC0-B59D-4439-9E5C-3814D45871EF}" presName="thickLine" presStyleLbl="alignNode1" presStyleIdx="3" presStyleCnt="4"/>
      <dgm:spPr/>
    </dgm:pt>
    <dgm:pt modelId="{F2DA0D4F-906A-4F99-AA39-AF95131CECD6}" type="pres">
      <dgm:prSet presAssocID="{2CE57EC0-B59D-4439-9E5C-3814D45871EF}" presName="horz1" presStyleCnt="0"/>
      <dgm:spPr/>
    </dgm:pt>
    <dgm:pt modelId="{D8837D62-2A8A-4CCE-80A7-F69637FF4161}" type="pres">
      <dgm:prSet presAssocID="{2CE57EC0-B59D-4439-9E5C-3814D45871EF}" presName="tx1" presStyleLbl="revTx" presStyleIdx="3" presStyleCnt="4"/>
      <dgm:spPr/>
    </dgm:pt>
    <dgm:pt modelId="{F884D560-D161-4F6B-ADE3-227AB51811D9}" type="pres">
      <dgm:prSet presAssocID="{2CE57EC0-B59D-4439-9E5C-3814D45871EF}" presName="vert1" presStyleCnt="0"/>
      <dgm:spPr/>
    </dgm:pt>
  </dgm:ptLst>
  <dgm:cxnLst>
    <dgm:cxn modelId="{B13E3115-D251-4AD4-8FF4-C238BF020098}" srcId="{0AF5E785-A4CE-4784-BF86-D44430394CCD}" destId="{17821073-F448-4B86-9822-7488CEAFAA2A}" srcOrd="1" destOrd="0" parTransId="{96AA5628-9131-4FD8-AE76-66A3278822E5}" sibTransId="{443F402E-A17B-4D8B-8F36-9BECBEF4AE12}"/>
    <dgm:cxn modelId="{6B79B93B-7E4B-4FC8-BDF5-8E9607F65878}" type="presOf" srcId="{2CE57EC0-B59D-4439-9E5C-3814D45871EF}" destId="{D8837D62-2A8A-4CCE-80A7-F69637FF4161}" srcOrd="0" destOrd="0" presId="urn:microsoft.com/office/officeart/2008/layout/LinedList"/>
    <dgm:cxn modelId="{D567195F-CBC5-4B19-AF1E-911CEAF131D2}" type="presOf" srcId="{A46EF82D-2BD3-4B49-ABC9-650E45E51615}" destId="{6181B2C3-6814-448B-9D94-34FF44896CD2}" srcOrd="0" destOrd="0" presId="urn:microsoft.com/office/officeart/2008/layout/LinedList"/>
    <dgm:cxn modelId="{5473DE89-9645-46C8-B77F-6F759BE72DE6}" srcId="{0AF5E785-A4CE-4784-BF86-D44430394CCD}" destId="{CA201BA4-0B32-44CD-A9B7-44DA56C40D05}" srcOrd="2" destOrd="0" parTransId="{1BD4EEE4-8451-4EDA-A79A-5DEA80A3BF51}" sibTransId="{4F5647FB-93AA-4F33-873C-54AE0042B749}"/>
    <dgm:cxn modelId="{97C7F394-A3A7-4C97-8CDE-B9979B1617D5}" srcId="{0AF5E785-A4CE-4784-BF86-D44430394CCD}" destId="{A46EF82D-2BD3-4B49-ABC9-650E45E51615}" srcOrd="0" destOrd="0" parTransId="{16A88D8B-84D4-4C64-B314-396D6D268C9A}" sibTransId="{1D26D7B3-1706-48E5-98DF-B714A112E025}"/>
    <dgm:cxn modelId="{953EB0AA-4E67-4792-B0BC-B5D0D1D781FB}" srcId="{0AF5E785-A4CE-4784-BF86-D44430394CCD}" destId="{2CE57EC0-B59D-4439-9E5C-3814D45871EF}" srcOrd="3" destOrd="0" parTransId="{2EF351B0-1BE7-4C4E-BC11-D02900487E67}" sibTransId="{0F005D2F-7774-473D-A202-2E7774B49272}"/>
    <dgm:cxn modelId="{30AA68D6-B9A1-49B2-BDEA-A23302789F8A}" type="presOf" srcId="{CA201BA4-0B32-44CD-A9B7-44DA56C40D05}" destId="{91478C2D-9744-4011-9AC9-781F8700D7B3}" srcOrd="0" destOrd="0" presId="urn:microsoft.com/office/officeart/2008/layout/LinedList"/>
    <dgm:cxn modelId="{1F80F9E5-7454-472B-95E8-2EB852ACA151}" type="presOf" srcId="{0AF5E785-A4CE-4784-BF86-D44430394CCD}" destId="{0DC00E19-84DB-4FEF-BA6D-30D94C72C9C4}" srcOrd="0" destOrd="0" presId="urn:microsoft.com/office/officeart/2008/layout/LinedList"/>
    <dgm:cxn modelId="{E5DAE8F6-5EDE-4638-9E34-FB1D1993BA73}" type="presOf" srcId="{17821073-F448-4B86-9822-7488CEAFAA2A}" destId="{98B7E855-E6C9-4195-BAAB-893AB01BC97A}" srcOrd="0" destOrd="0" presId="urn:microsoft.com/office/officeart/2008/layout/LinedList"/>
    <dgm:cxn modelId="{08E7B73E-C62E-42AC-B293-C17218438D42}" type="presParOf" srcId="{0DC00E19-84DB-4FEF-BA6D-30D94C72C9C4}" destId="{6D4C33EB-204E-4261-B1D0-75BE312A9976}" srcOrd="0" destOrd="0" presId="urn:microsoft.com/office/officeart/2008/layout/LinedList"/>
    <dgm:cxn modelId="{3B07FF52-3456-4BDA-AC76-78ABE66AF334}" type="presParOf" srcId="{0DC00E19-84DB-4FEF-BA6D-30D94C72C9C4}" destId="{CD3F3DB2-90B1-46D2-8B23-9698CE614542}" srcOrd="1" destOrd="0" presId="urn:microsoft.com/office/officeart/2008/layout/LinedList"/>
    <dgm:cxn modelId="{1B090928-3C28-4816-BA3D-56430C3E7DFB}" type="presParOf" srcId="{CD3F3DB2-90B1-46D2-8B23-9698CE614542}" destId="{6181B2C3-6814-448B-9D94-34FF44896CD2}" srcOrd="0" destOrd="0" presId="urn:microsoft.com/office/officeart/2008/layout/LinedList"/>
    <dgm:cxn modelId="{589D1F01-DE27-44D8-8951-4609B9318D39}" type="presParOf" srcId="{CD3F3DB2-90B1-46D2-8B23-9698CE614542}" destId="{044320D0-01CE-4A1F-9E85-CF7BBDC7D870}" srcOrd="1" destOrd="0" presId="urn:microsoft.com/office/officeart/2008/layout/LinedList"/>
    <dgm:cxn modelId="{4715713B-187B-403A-9A07-5E79CA682FAE}" type="presParOf" srcId="{0DC00E19-84DB-4FEF-BA6D-30D94C72C9C4}" destId="{CCDC7993-F205-4A6B-BCF9-64C0DAA0CE0B}" srcOrd="2" destOrd="0" presId="urn:microsoft.com/office/officeart/2008/layout/LinedList"/>
    <dgm:cxn modelId="{99A5E495-21CA-42A5-B257-EDF1A6055969}" type="presParOf" srcId="{0DC00E19-84DB-4FEF-BA6D-30D94C72C9C4}" destId="{821FE003-3CFC-4299-B907-B2E847BE7166}" srcOrd="3" destOrd="0" presId="urn:microsoft.com/office/officeart/2008/layout/LinedList"/>
    <dgm:cxn modelId="{113149A9-1CC6-4069-8CAF-9A737C7ABE96}" type="presParOf" srcId="{821FE003-3CFC-4299-B907-B2E847BE7166}" destId="{98B7E855-E6C9-4195-BAAB-893AB01BC97A}" srcOrd="0" destOrd="0" presId="urn:microsoft.com/office/officeart/2008/layout/LinedList"/>
    <dgm:cxn modelId="{AD73BA33-C7A4-4367-8508-B540C8516967}" type="presParOf" srcId="{821FE003-3CFC-4299-B907-B2E847BE7166}" destId="{6935B234-3267-4E3F-A2A7-97982B361C9D}" srcOrd="1" destOrd="0" presId="urn:microsoft.com/office/officeart/2008/layout/LinedList"/>
    <dgm:cxn modelId="{83E159C0-BC97-4265-B727-E7C56098E44E}" type="presParOf" srcId="{0DC00E19-84DB-4FEF-BA6D-30D94C72C9C4}" destId="{562D027C-9FC0-4223-BCF4-6FD328BE747C}" srcOrd="4" destOrd="0" presId="urn:microsoft.com/office/officeart/2008/layout/LinedList"/>
    <dgm:cxn modelId="{2408A269-1D28-43C5-B93B-017CE477A2E3}" type="presParOf" srcId="{0DC00E19-84DB-4FEF-BA6D-30D94C72C9C4}" destId="{C54E8166-4DF9-4E6A-84C0-E82F172BC7F6}" srcOrd="5" destOrd="0" presId="urn:microsoft.com/office/officeart/2008/layout/LinedList"/>
    <dgm:cxn modelId="{8A1A058A-7584-4FD8-A89D-BBCBB05B32B4}" type="presParOf" srcId="{C54E8166-4DF9-4E6A-84C0-E82F172BC7F6}" destId="{91478C2D-9744-4011-9AC9-781F8700D7B3}" srcOrd="0" destOrd="0" presId="urn:microsoft.com/office/officeart/2008/layout/LinedList"/>
    <dgm:cxn modelId="{471EA0A3-E392-49FF-A56F-120BA0983F61}" type="presParOf" srcId="{C54E8166-4DF9-4E6A-84C0-E82F172BC7F6}" destId="{066E217F-92B7-4D0A-B313-0BDBDF62E9FC}" srcOrd="1" destOrd="0" presId="urn:microsoft.com/office/officeart/2008/layout/LinedList"/>
    <dgm:cxn modelId="{BDBE5FC6-E1BE-44EA-AA60-9714C21782F1}" type="presParOf" srcId="{0DC00E19-84DB-4FEF-BA6D-30D94C72C9C4}" destId="{CE17915B-B4C7-4C97-A677-D2BC3EF7878F}" srcOrd="6" destOrd="0" presId="urn:microsoft.com/office/officeart/2008/layout/LinedList"/>
    <dgm:cxn modelId="{3E8866B5-2831-49CB-86C8-BB5918B19EEC}" type="presParOf" srcId="{0DC00E19-84DB-4FEF-BA6D-30D94C72C9C4}" destId="{F2DA0D4F-906A-4F99-AA39-AF95131CECD6}" srcOrd="7" destOrd="0" presId="urn:microsoft.com/office/officeart/2008/layout/LinedList"/>
    <dgm:cxn modelId="{F6DB6ABB-6D7B-4A2F-AAFA-DCCA273DE3A4}" type="presParOf" srcId="{F2DA0D4F-906A-4F99-AA39-AF95131CECD6}" destId="{D8837D62-2A8A-4CCE-80A7-F69637FF4161}" srcOrd="0" destOrd="0" presId="urn:microsoft.com/office/officeart/2008/layout/LinedList"/>
    <dgm:cxn modelId="{7C7900A4-487D-4474-8612-187FE7320CEE}" type="presParOf" srcId="{F2DA0D4F-906A-4F99-AA39-AF95131CECD6}" destId="{F884D560-D161-4F6B-ADE3-227AB51811D9}" srcOrd="1" destOrd="0" presId="urn:microsoft.com/office/officeart/2008/layout/Line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CBA7285-109A-436A-87B6-87317B7CBD38}"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569B24C8-AFF3-43D7-A338-645E5F8D5A51}">
      <dgm:prSet/>
      <dgm:spPr/>
      <dgm:t>
        <a:bodyPr/>
        <a:lstStyle/>
        <a:p>
          <a:pPr>
            <a:defRPr b="1"/>
          </a:pPr>
          <a:r>
            <a:rPr lang="en-US" b="1"/>
            <a:t>Greedy Search:</a:t>
          </a:r>
          <a:r>
            <a:rPr lang="en-US"/>
            <a:t> Always pick the #1 most likely word.</a:t>
          </a:r>
        </a:p>
      </dgm:t>
    </dgm:pt>
    <dgm:pt modelId="{60087B75-8F6F-47E8-9533-770BA579ED3D}" type="parTrans" cxnId="{B30370EB-D8DD-4305-B9DA-3CB17E478691}">
      <dgm:prSet/>
      <dgm:spPr/>
      <dgm:t>
        <a:bodyPr/>
        <a:lstStyle/>
        <a:p>
          <a:endParaRPr lang="en-US"/>
        </a:p>
      </dgm:t>
    </dgm:pt>
    <dgm:pt modelId="{C677B9D8-BB24-4A49-A07B-BC51B47C1F5E}" type="sibTrans" cxnId="{B30370EB-D8DD-4305-B9DA-3CB17E478691}">
      <dgm:prSet/>
      <dgm:spPr/>
      <dgm:t>
        <a:bodyPr/>
        <a:lstStyle/>
        <a:p>
          <a:endParaRPr lang="en-US"/>
        </a:p>
      </dgm:t>
    </dgm:pt>
    <dgm:pt modelId="{1D55CDAF-F6BD-401B-9014-DB48B2448CAB}">
      <dgm:prSet/>
      <dgm:spPr/>
      <dgm:t>
        <a:bodyPr/>
        <a:lstStyle/>
        <a:p>
          <a:r>
            <a:rPr lang="en-US"/>
            <a:t>Pros: Fast.</a:t>
          </a:r>
        </a:p>
      </dgm:t>
    </dgm:pt>
    <dgm:pt modelId="{6FF7DDAF-D8BF-43C8-97C5-32C1FDA0C62E}" type="parTrans" cxnId="{0BAD9BA7-B573-4408-BA2B-CB05C44EEBF7}">
      <dgm:prSet/>
      <dgm:spPr/>
      <dgm:t>
        <a:bodyPr/>
        <a:lstStyle/>
        <a:p>
          <a:endParaRPr lang="en-US"/>
        </a:p>
      </dgm:t>
    </dgm:pt>
    <dgm:pt modelId="{D2DE7927-3C24-4181-9FF9-56ACF916C605}" type="sibTrans" cxnId="{0BAD9BA7-B573-4408-BA2B-CB05C44EEBF7}">
      <dgm:prSet/>
      <dgm:spPr/>
      <dgm:t>
        <a:bodyPr/>
        <a:lstStyle/>
        <a:p>
          <a:endParaRPr lang="en-US"/>
        </a:p>
      </dgm:t>
    </dgm:pt>
    <dgm:pt modelId="{31825CF8-1DB7-4DB0-9608-4C105222D73A}">
      <dgm:prSet/>
      <dgm:spPr/>
      <dgm:t>
        <a:bodyPr/>
        <a:lstStyle/>
        <a:p>
          <a:r>
            <a:rPr lang="en-US"/>
            <a:t>Cons: Repetitive, boring, gets stuck in loops.</a:t>
          </a:r>
        </a:p>
      </dgm:t>
    </dgm:pt>
    <dgm:pt modelId="{63A3D871-6926-4772-976C-C4D6873E3AA3}" type="parTrans" cxnId="{036B72EF-5155-48CE-A0C1-DD84FAB30E82}">
      <dgm:prSet/>
      <dgm:spPr/>
      <dgm:t>
        <a:bodyPr/>
        <a:lstStyle/>
        <a:p>
          <a:endParaRPr lang="en-US"/>
        </a:p>
      </dgm:t>
    </dgm:pt>
    <dgm:pt modelId="{3B4FA545-BEC2-4C99-A607-6366A0F55621}" type="sibTrans" cxnId="{036B72EF-5155-48CE-A0C1-DD84FAB30E82}">
      <dgm:prSet/>
      <dgm:spPr/>
      <dgm:t>
        <a:bodyPr/>
        <a:lstStyle/>
        <a:p>
          <a:endParaRPr lang="en-US"/>
        </a:p>
      </dgm:t>
    </dgm:pt>
    <dgm:pt modelId="{8BAD7713-FFD1-4BEF-B593-21ABA377EEDB}">
      <dgm:prSet/>
      <dgm:spPr/>
      <dgm:t>
        <a:bodyPr/>
        <a:lstStyle/>
        <a:p>
          <a:pPr>
            <a:defRPr b="1"/>
          </a:pPr>
          <a:r>
            <a:rPr lang="en-US" b="1"/>
            <a:t>Beam Search:</a:t>
          </a:r>
          <a:r>
            <a:rPr lang="en-US"/>
            <a:t> Keep the top N sequences alive at each step, choose best total path at end.</a:t>
          </a:r>
        </a:p>
      </dgm:t>
    </dgm:pt>
    <dgm:pt modelId="{D39EEAE6-0D19-4D70-BEB7-3D917D0C1024}" type="parTrans" cxnId="{3F4900DB-44DC-4A6A-912B-179AEA66869A}">
      <dgm:prSet/>
      <dgm:spPr/>
      <dgm:t>
        <a:bodyPr/>
        <a:lstStyle/>
        <a:p>
          <a:endParaRPr lang="en-US"/>
        </a:p>
      </dgm:t>
    </dgm:pt>
    <dgm:pt modelId="{3BE79F4B-C4E3-42DF-BE63-63A506646FB8}" type="sibTrans" cxnId="{3F4900DB-44DC-4A6A-912B-179AEA66869A}">
      <dgm:prSet/>
      <dgm:spPr/>
      <dgm:t>
        <a:bodyPr/>
        <a:lstStyle/>
        <a:p>
          <a:endParaRPr lang="en-US"/>
        </a:p>
      </dgm:t>
    </dgm:pt>
    <dgm:pt modelId="{3010A7E9-D73D-4B1F-AF1E-869874154224}">
      <dgm:prSet/>
      <dgm:spPr/>
      <dgm:t>
        <a:bodyPr/>
        <a:lstStyle/>
        <a:p>
          <a:r>
            <a:rPr lang="en-US"/>
            <a:t>Visual: A tree diagram expanding and pruning branches.</a:t>
          </a:r>
        </a:p>
      </dgm:t>
    </dgm:pt>
    <dgm:pt modelId="{B531E8D3-6003-4249-B2B9-A398D48F0BE4}" type="parTrans" cxnId="{FDD0238C-DB32-4641-866C-6516F5493DEF}">
      <dgm:prSet/>
      <dgm:spPr/>
      <dgm:t>
        <a:bodyPr/>
        <a:lstStyle/>
        <a:p>
          <a:endParaRPr lang="en-US"/>
        </a:p>
      </dgm:t>
    </dgm:pt>
    <dgm:pt modelId="{3A909973-36E8-4C78-B939-5F39BE46E497}" type="sibTrans" cxnId="{FDD0238C-DB32-4641-866C-6516F5493DEF}">
      <dgm:prSet/>
      <dgm:spPr/>
      <dgm:t>
        <a:bodyPr/>
        <a:lstStyle/>
        <a:p>
          <a:endParaRPr lang="en-US"/>
        </a:p>
      </dgm:t>
    </dgm:pt>
    <dgm:pt modelId="{6F427448-C95A-42B9-A311-356C09A20D6D}">
      <dgm:prSet/>
      <dgm:spPr/>
      <dgm:t>
        <a:bodyPr/>
        <a:lstStyle/>
        <a:p>
          <a:r>
            <a:rPr lang="en-US"/>
            <a:t>Use Case: Translation &amp; Summarization (accuracy &gt; creativity).</a:t>
          </a:r>
        </a:p>
      </dgm:t>
    </dgm:pt>
    <dgm:pt modelId="{AFCA1C7F-564E-4573-AFF8-64B1A52B0903}" type="parTrans" cxnId="{F02CCA7C-04FC-4EAD-A643-E6FC3AD1199F}">
      <dgm:prSet/>
      <dgm:spPr/>
      <dgm:t>
        <a:bodyPr/>
        <a:lstStyle/>
        <a:p>
          <a:endParaRPr lang="en-US"/>
        </a:p>
      </dgm:t>
    </dgm:pt>
    <dgm:pt modelId="{7D7E8F9B-A2DC-4AB0-A2BB-47200D7DBF4B}" type="sibTrans" cxnId="{F02CCA7C-04FC-4EAD-A643-E6FC3AD1199F}">
      <dgm:prSet/>
      <dgm:spPr/>
      <dgm:t>
        <a:bodyPr/>
        <a:lstStyle/>
        <a:p>
          <a:endParaRPr lang="en-US"/>
        </a:p>
      </dgm:t>
    </dgm:pt>
    <dgm:pt modelId="{6373F287-66A9-495A-BFCA-9C5F16490485}" type="pres">
      <dgm:prSet presAssocID="{8CBA7285-109A-436A-87B6-87317B7CBD38}" presName="linear" presStyleCnt="0">
        <dgm:presLayoutVars>
          <dgm:animLvl val="lvl"/>
          <dgm:resizeHandles val="exact"/>
        </dgm:presLayoutVars>
      </dgm:prSet>
      <dgm:spPr/>
    </dgm:pt>
    <dgm:pt modelId="{528701D0-993E-40FA-BB03-BD33F3ADDB57}" type="pres">
      <dgm:prSet presAssocID="{569B24C8-AFF3-43D7-A338-645E5F8D5A51}" presName="parentText" presStyleLbl="node1" presStyleIdx="0" presStyleCnt="2">
        <dgm:presLayoutVars>
          <dgm:chMax val="0"/>
          <dgm:bulletEnabled val="1"/>
        </dgm:presLayoutVars>
      </dgm:prSet>
      <dgm:spPr/>
    </dgm:pt>
    <dgm:pt modelId="{1ED10F81-E7B6-4624-9FBD-AF69D4EF6C78}" type="pres">
      <dgm:prSet presAssocID="{569B24C8-AFF3-43D7-A338-645E5F8D5A51}" presName="childText" presStyleLbl="revTx" presStyleIdx="0" presStyleCnt="2">
        <dgm:presLayoutVars>
          <dgm:bulletEnabled val="1"/>
        </dgm:presLayoutVars>
      </dgm:prSet>
      <dgm:spPr/>
    </dgm:pt>
    <dgm:pt modelId="{25AA80B5-7E4D-4C77-8B16-9856982765E1}" type="pres">
      <dgm:prSet presAssocID="{8BAD7713-FFD1-4BEF-B593-21ABA377EEDB}" presName="parentText" presStyleLbl="node1" presStyleIdx="1" presStyleCnt="2">
        <dgm:presLayoutVars>
          <dgm:chMax val="0"/>
          <dgm:bulletEnabled val="1"/>
        </dgm:presLayoutVars>
      </dgm:prSet>
      <dgm:spPr/>
    </dgm:pt>
    <dgm:pt modelId="{F5793122-DF60-4707-A341-98CD2FB9DE1F}" type="pres">
      <dgm:prSet presAssocID="{8BAD7713-FFD1-4BEF-B593-21ABA377EEDB}" presName="childText" presStyleLbl="revTx" presStyleIdx="1" presStyleCnt="2">
        <dgm:presLayoutVars>
          <dgm:bulletEnabled val="1"/>
        </dgm:presLayoutVars>
      </dgm:prSet>
      <dgm:spPr/>
    </dgm:pt>
  </dgm:ptLst>
  <dgm:cxnLst>
    <dgm:cxn modelId="{0506551F-DF46-4E8B-A0B8-D4075EE76273}" type="presOf" srcId="{31825CF8-1DB7-4DB0-9608-4C105222D73A}" destId="{1ED10F81-E7B6-4624-9FBD-AF69D4EF6C78}" srcOrd="0" destOrd="1" presId="urn:microsoft.com/office/officeart/2005/8/layout/vList2"/>
    <dgm:cxn modelId="{739BE46C-6A40-4D86-9A0B-AD79E455E07C}" type="presOf" srcId="{1D55CDAF-F6BD-401B-9014-DB48B2448CAB}" destId="{1ED10F81-E7B6-4624-9FBD-AF69D4EF6C78}" srcOrd="0" destOrd="0" presId="urn:microsoft.com/office/officeart/2005/8/layout/vList2"/>
    <dgm:cxn modelId="{CDF72653-A90D-4428-A4EA-1B7EF6868A2C}" type="presOf" srcId="{3010A7E9-D73D-4B1F-AF1E-869874154224}" destId="{F5793122-DF60-4707-A341-98CD2FB9DE1F}" srcOrd="0" destOrd="0" presId="urn:microsoft.com/office/officeart/2005/8/layout/vList2"/>
    <dgm:cxn modelId="{F02CCA7C-04FC-4EAD-A643-E6FC3AD1199F}" srcId="{8BAD7713-FFD1-4BEF-B593-21ABA377EEDB}" destId="{6F427448-C95A-42B9-A311-356C09A20D6D}" srcOrd="1" destOrd="0" parTransId="{AFCA1C7F-564E-4573-AFF8-64B1A52B0903}" sibTransId="{7D7E8F9B-A2DC-4AB0-A2BB-47200D7DBF4B}"/>
    <dgm:cxn modelId="{FDD0238C-DB32-4641-866C-6516F5493DEF}" srcId="{8BAD7713-FFD1-4BEF-B593-21ABA377EEDB}" destId="{3010A7E9-D73D-4B1F-AF1E-869874154224}" srcOrd="0" destOrd="0" parTransId="{B531E8D3-6003-4249-B2B9-A398D48F0BE4}" sibTransId="{3A909973-36E8-4C78-B939-5F39BE46E497}"/>
    <dgm:cxn modelId="{0BAD9BA7-B573-4408-BA2B-CB05C44EEBF7}" srcId="{569B24C8-AFF3-43D7-A338-645E5F8D5A51}" destId="{1D55CDAF-F6BD-401B-9014-DB48B2448CAB}" srcOrd="0" destOrd="0" parTransId="{6FF7DDAF-D8BF-43C8-97C5-32C1FDA0C62E}" sibTransId="{D2DE7927-3C24-4181-9FF9-56ACF916C605}"/>
    <dgm:cxn modelId="{61B981B7-12AD-4B80-BBE4-C4A69A77610D}" type="presOf" srcId="{8BAD7713-FFD1-4BEF-B593-21ABA377EEDB}" destId="{25AA80B5-7E4D-4C77-8B16-9856982765E1}" srcOrd="0" destOrd="0" presId="urn:microsoft.com/office/officeart/2005/8/layout/vList2"/>
    <dgm:cxn modelId="{30A4D2BF-3925-419F-AEFF-B3A47FC6514A}" type="presOf" srcId="{6F427448-C95A-42B9-A311-356C09A20D6D}" destId="{F5793122-DF60-4707-A341-98CD2FB9DE1F}" srcOrd="0" destOrd="1" presId="urn:microsoft.com/office/officeart/2005/8/layout/vList2"/>
    <dgm:cxn modelId="{3F4900DB-44DC-4A6A-912B-179AEA66869A}" srcId="{8CBA7285-109A-436A-87B6-87317B7CBD38}" destId="{8BAD7713-FFD1-4BEF-B593-21ABA377EEDB}" srcOrd="1" destOrd="0" parTransId="{D39EEAE6-0D19-4D70-BEB7-3D917D0C1024}" sibTransId="{3BE79F4B-C4E3-42DF-BE63-63A506646FB8}"/>
    <dgm:cxn modelId="{B30370EB-D8DD-4305-B9DA-3CB17E478691}" srcId="{8CBA7285-109A-436A-87B6-87317B7CBD38}" destId="{569B24C8-AFF3-43D7-A338-645E5F8D5A51}" srcOrd="0" destOrd="0" parTransId="{60087B75-8F6F-47E8-9533-770BA579ED3D}" sibTransId="{C677B9D8-BB24-4A49-A07B-BC51B47C1F5E}"/>
    <dgm:cxn modelId="{036B72EF-5155-48CE-A0C1-DD84FAB30E82}" srcId="{569B24C8-AFF3-43D7-A338-645E5F8D5A51}" destId="{31825CF8-1DB7-4DB0-9608-4C105222D73A}" srcOrd="1" destOrd="0" parTransId="{63A3D871-6926-4772-976C-C4D6873E3AA3}" sibTransId="{3B4FA545-BEC2-4C99-A607-6366A0F55621}"/>
    <dgm:cxn modelId="{1079EDF4-327F-4FC8-B11A-3D5881006F4E}" type="presOf" srcId="{569B24C8-AFF3-43D7-A338-645E5F8D5A51}" destId="{528701D0-993E-40FA-BB03-BD33F3ADDB57}" srcOrd="0" destOrd="0" presId="urn:microsoft.com/office/officeart/2005/8/layout/vList2"/>
    <dgm:cxn modelId="{520F28FB-682D-46B1-BFAC-1CBA2C223C0C}" type="presOf" srcId="{8CBA7285-109A-436A-87B6-87317B7CBD38}" destId="{6373F287-66A9-495A-BFCA-9C5F16490485}" srcOrd="0" destOrd="0" presId="urn:microsoft.com/office/officeart/2005/8/layout/vList2"/>
    <dgm:cxn modelId="{F2879EAA-99D2-46E4-8F1F-8418CC28D9E5}" type="presParOf" srcId="{6373F287-66A9-495A-BFCA-9C5F16490485}" destId="{528701D0-993E-40FA-BB03-BD33F3ADDB57}" srcOrd="0" destOrd="0" presId="urn:microsoft.com/office/officeart/2005/8/layout/vList2"/>
    <dgm:cxn modelId="{4CD4A4B1-3705-4CC3-8302-9D8298499BDA}" type="presParOf" srcId="{6373F287-66A9-495A-BFCA-9C5F16490485}" destId="{1ED10F81-E7B6-4624-9FBD-AF69D4EF6C78}" srcOrd="1" destOrd="0" presId="urn:microsoft.com/office/officeart/2005/8/layout/vList2"/>
    <dgm:cxn modelId="{35C32657-068B-4EAE-9DDC-2C63CE5C202A}" type="presParOf" srcId="{6373F287-66A9-495A-BFCA-9C5F16490485}" destId="{25AA80B5-7E4D-4C77-8B16-9856982765E1}" srcOrd="2" destOrd="0" presId="urn:microsoft.com/office/officeart/2005/8/layout/vList2"/>
    <dgm:cxn modelId="{D0186EDB-7AD0-459A-B95F-0404236BF008}" type="presParOf" srcId="{6373F287-66A9-495A-BFCA-9C5F16490485}" destId="{F5793122-DF60-4707-A341-98CD2FB9DE1F}"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2333EB7-A572-4365-B79D-24FE87252EEB}"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2DAB6E30-726E-4F6C-9249-ECB68A87B063}">
      <dgm:prSet/>
      <dgm:spPr/>
      <dgm:t>
        <a:bodyPr/>
        <a:lstStyle/>
        <a:p>
          <a:r>
            <a:rPr lang="en-US" b="1"/>
            <a:t>Random Sampling:</a:t>
          </a:r>
          <a:r>
            <a:rPr lang="en-US"/>
            <a:t> Pick the next word based on probability distribution.</a:t>
          </a:r>
        </a:p>
      </dgm:t>
    </dgm:pt>
    <dgm:pt modelId="{6646FCE4-CCB2-4545-8C53-833F129E8950}" type="parTrans" cxnId="{CEE85B82-734D-422E-BFB0-932AFD6DE9A6}">
      <dgm:prSet/>
      <dgm:spPr/>
      <dgm:t>
        <a:bodyPr/>
        <a:lstStyle/>
        <a:p>
          <a:endParaRPr lang="en-US"/>
        </a:p>
      </dgm:t>
    </dgm:pt>
    <dgm:pt modelId="{0BEF2D2E-891B-4E0E-8755-4647B5A16594}" type="sibTrans" cxnId="{CEE85B82-734D-422E-BFB0-932AFD6DE9A6}">
      <dgm:prSet/>
      <dgm:spPr/>
      <dgm:t>
        <a:bodyPr/>
        <a:lstStyle/>
        <a:p>
          <a:endParaRPr lang="en-US"/>
        </a:p>
      </dgm:t>
    </dgm:pt>
    <dgm:pt modelId="{2D7D5D71-D481-44CA-B63D-F0DBEA26B452}">
      <dgm:prSet/>
      <dgm:spPr/>
      <dgm:t>
        <a:bodyPr/>
        <a:lstStyle/>
        <a:p>
          <a:r>
            <a:rPr lang="en-US" b="1"/>
            <a:t>Temperature (T):</a:t>
          </a:r>
          <a:r>
            <a:rPr lang="en-US"/>
            <a:t> Reshapes the probability curve.</a:t>
          </a:r>
        </a:p>
      </dgm:t>
    </dgm:pt>
    <dgm:pt modelId="{995B4834-E554-455D-8AE6-0266EB3BE3DD}" type="parTrans" cxnId="{8D81E2F8-D2EC-41AF-9EC1-7E782D73B219}">
      <dgm:prSet/>
      <dgm:spPr/>
      <dgm:t>
        <a:bodyPr/>
        <a:lstStyle/>
        <a:p>
          <a:endParaRPr lang="en-US"/>
        </a:p>
      </dgm:t>
    </dgm:pt>
    <dgm:pt modelId="{C6F161C0-E2D8-45DE-A418-D41E1FEEDA5D}" type="sibTrans" cxnId="{8D81E2F8-D2EC-41AF-9EC1-7E782D73B219}">
      <dgm:prSet/>
      <dgm:spPr/>
      <dgm:t>
        <a:bodyPr/>
        <a:lstStyle/>
        <a:p>
          <a:endParaRPr lang="en-US"/>
        </a:p>
      </dgm:t>
    </dgm:pt>
    <dgm:pt modelId="{F5CAF3A8-CDD2-47CE-B7D5-51AAB2360F1A}">
      <dgm:prSet/>
      <dgm:spPr/>
      <dgm:t>
        <a:bodyPr/>
        <a:lstStyle/>
        <a:p>
          <a:r>
            <a:rPr lang="en-US" b="1"/>
            <a:t>Low T (&lt; 1.0):</a:t>
          </a:r>
          <a:r>
            <a:rPr lang="en-US"/>
            <a:t> Exaggerates peaks. Conservative &amp; confident. (Coding/Math).</a:t>
          </a:r>
        </a:p>
      </dgm:t>
    </dgm:pt>
    <dgm:pt modelId="{6777BE26-6EAB-47E1-B2DE-39D6E322FBB0}" type="parTrans" cxnId="{1AB53A7B-E217-4F66-86D4-C88C58B9DD14}">
      <dgm:prSet/>
      <dgm:spPr/>
      <dgm:t>
        <a:bodyPr/>
        <a:lstStyle/>
        <a:p>
          <a:endParaRPr lang="en-US"/>
        </a:p>
      </dgm:t>
    </dgm:pt>
    <dgm:pt modelId="{B1AE2B78-5EE7-4A78-80AD-C090AB5B517B}" type="sibTrans" cxnId="{1AB53A7B-E217-4F66-86D4-C88C58B9DD14}">
      <dgm:prSet/>
      <dgm:spPr/>
      <dgm:t>
        <a:bodyPr/>
        <a:lstStyle/>
        <a:p>
          <a:endParaRPr lang="en-US"/>
        </a:p>
      </dgm:t>
    </dgm:pt>
    <dgm:pt modelId="{38352951-F47C-40D8-B457-A0B626A3F98D}">
      <dgm:prSet/>
      <dgm:spPr/>
      <dgm:t>
        <a:bodyPr/>
        <a:lstStyle/>
        <a:p>
          <a:r>
            <a:rPr lang="en-US" b="1"/>
            <a:t>High T (&gt; 1.0):</a:t>
          </a:r>
          <a:r>
            <a:rPr lang="en-US"/>
            <a:t> Flattens peaks. Allows rare words. (Poetry/Brainstorming).</a:t>
          </a:r>
        </a:p>
      </dgm:t>
    </dgm:pt>
    <dgm:pt modelId="{A8B52D3B-71A7-42FD-B55A-568819388285}" type="parTrans" cxnId="{79B25721-4249-4F63-ABEA-E1F29E40C303}">
      <dgm:prSet/>
      <dgm:spPr/>
      <dgm:t>
        <a:bodyPr/>
        <a:lstStyle/>
        <a:p>
          <a:endParaRPr lang="en-US"/>
        </a:p>
      </dgm:t>
    </dgm:pt>
    <dgm:pt modelId="{AE3E6A0C-A49D-4A77-A2A6-F62690A640BE}" type="sibTrans" cxnId="{79B25721-4249-4F63-ABEA-E1F29E40C303}">
      <dgm:prSet/>
      <dgm:spPr/>
      <dgm:t>
        <a:bodyPr/>
        <a:lstStyle/>
        <a:p>
          <a:endParaRPr lang="en-US"/>
        </a:p>
      </dgm:t>
    </dgm:pt>
    <dgm:pt modelId="{6D61D930-9149-444A-8687-C533EE52DB32}" type="pres">
      <dgm:prSet presAssocID="{D2333EB7-A572-4365-B79D-24FE87252EEB}" presName="Name0" presStyleCnt="0">
        <dgm:presLayoutVars>
          <dgm:dir/>
          <dgm:animLvl val="lvl"/>
          <dgm:resizeHandles val="exact"/>
        </dgm:presLayoutVars>
      </dgm:prSet>
      <dgm:spPr/>
    </dgm:pt>
    <dgm:pt modelId="{DC045F7D-7FCB-4ED8-BB45-C4B287A4AB95}" type="pres">
      <dgm:prSet presAssocID="{2DAB6E30-726E-4F6C-9249-ECB68A87B063}" presName="linNode" presStyleCnt="0"/>
      <dgm:spPr/>
    </dgm:pt>
    <dgm:pt modelId="{15735294-09F5-4FA1-9CD0-EB9B64C80898}" type="pres">
      <dgm:prSet presAssocID="{2DAB6E30-726E-4F6C-9249-ECB68A87B063}" presName="parentText" presStyleLbl="node1" presStyleIdx="0" presStyleCnt="2">
        <dgm:presLayoutVars>
          <dgm:chMax val="1"/>
          <dgm:bulletEnabled val="1"/>
        </dgm:presLayoutVars>
      </dgm:prSet>
      <dgm:spPr/>
    </dgm:pt>
    <dgm:pt modelId="{5B08699F-AE13-4540-AA47-C2D9FDEC5C4C}" type="pres">
      <dgm:prSet presAssocID="{0BEF2D2E-891B-4E0E-8755-4647B5A16594}" presName="sp" presStyleCnt="0"/>
      <dgm:spPr/>
    </dgm:pt>
    <dgm:pt modelId="{DEA77286-EC49-4B0D-84A6-E7FC88AD93D0}" type="pres">
      <dgm:prSet presAssocID="{2D7D5D71-D481-44CA-B63D-F0DBEA26B452}" presName="linNode" presStyleCnt="0"/>
      <dgm:spPr/>
    </dgm:pt>
    <dgm:pt modelId="{D86E8613-C100-41E1-96B8-0356AED325BE}" type="pres">
      <dgm:prSet presAssocID="{2D7D5D71-D481-44CA-B63D-F0DBEA26B452}" presName="parentText" presStyleLbl="node1" presStyleIdx="1" presStyleCnt="2">
        <dgm:presLayoutVars>
          <dgm:chMax val="1"/>
          <dgm:bulletEnabled val="1"/>
        </dgm:presLayoutVars>
      </dgm:prSet>
      <dgm:spPr/>
    </dgm:pt>
    <dgm:pt modelId="{47FE91B6-12B1-41C1-8822-0ED92308C65B}" type="pres">
      <dgm:prSet presAssocID="{2D7D5D71-D481-44CA-B63D-F0DBEA26B452}" presName="descendantText" presStyleLbl="alignAccFollowNode1" presStyleIdx="0" presStyleCnt="1">
        <dgm:presLayoutVars>
          <dgm:bulletEnabled val="1"/>
        </dgm:presLayoutVars>
      </dgm:prSet>
      <dgm:spPr/>
    </dgm:pt>
  </dgm:ptLst>
  <dgm:cxnLst>
    <dgm:cxn modelId="{7C09050F-CA27-4565-956D-7F4B754C4BEB}" type="presOf" srcId="{D2333EB7-A572-4365-B79D-24FE87252EEB}" destId="{6D61D930-9149-444A-8687-C533EE52DB32}" srcOrd="0" destOrd="0" presId="urn:microsoft.com/office/officeart/2005/8/layout/vList5"/>
    <dgm:cxn modelId="{79B25721-4249-4F63-ABEA-E1F29E40C303}" srcId="{2D7D5D71-D481-44CA-B63D-F0DBEA26B452}" destId="{38352951-F47C-40D8-B457-A0B626A3F98D}" srcOrd="1" destOrd="0" parTransId="{A8B52D3B-71A7-42FD-B55A-568819388285}" sibTransId="{AE3E6A0C-A49D-4A77-A2A6-F62690A640BE}"/>
    <dgm:cxn modelId="{1E08DC24-2BEE-4F3C-841C-6950BDC74A8E}" type="presOf" srcId="{2DAB6E30-726E-4F6C-9249-ECB68A87B063}" destId="{15735294-09F5-4FA1-9CD0-EB9B64C80898}" srcOrd="0" destOrd="0" presId="urn:microsoft.com/office/officeart/2005/8/layout/vList5"/>
    <dgm:cxn modelId="{B662346F-AAD7-4822-88F2-8A08DCB2A386}" type="presOf" srcId="{F5CAF3A8-CDD2-47CE-B7D5-51AAB2360F1A}" destId="{47FE91B6-12B1-41C1-8822-0ED92308C65B}" srcOrd="0" destOrd="0" presId="urn:microsoft.com/office/officeart/2005/8/layout/vList5"/>
    <dgm:cxn modelId="{1AB53A7B-E217-4F66-86D4-C88C58B9DD14}" srcId="{2D7D5D71-D481-44CA-B63D-F0DBEA26B452}" destId="{F5CAF3A8-CDD2-47CE-B7D5-51AAB2360F1A}" srcOrd="0" destOrd="0" parTransId="{6777BE26-6EAB-47E1-B2DE-39D6E322FBB0}" sibTransId="{B1AE2B78-5EE7-4A78-80AD-C090AB5B517B}"/>
    <dgm:cxn modelId="{CEE85B82-734D-422E-BFB0-932AFD6DE9A6}" srcId="{D2333EB7-A572-4365-B79D-24FE87252EEB}" destId="{2DAB6E30-726E-4F6C-9249-ECB68A87B063}" srcOrd="0" destOrd="0" parTransId="{6646FCE4-CCB2-4545-8C53-833F129E8950}" sibTransId="{0BEF2D2E-891B-4E0E-8755-4647B5A16594}"/>
    <dgm:cxn modelId="{8BB1F3AE-C40F-4573-ACEA-ACB4A08E29D6}" type="presOf" srcId="{38352951-F47C-40D8-B457-A0B626A3F98D}" destId="{47FE91B6-12B1-41C1-8822-0ED92308C65B}" srcOrd="0" destOrd="1" presId="urn:microsoft.com/office/officeart/2005/8/layout/vList5"/>
    <dgm:cxn modelId="{F0D0C2E5-8E20-404B-8141-B67F8EB71D98}" type="presOf" srcId="{2D7D5D71-D481-44CA-B63D-F0DBEA26B452}" destId="{D86E8613-C100-41E1-96B8-0356AED325BE}" srcOrd="0" destOrd="0" presId="urn:microsoft.com/office/officeart/2005/8/layout/vList5"/>
    <dgm:cxn modelId="{8D81E2F8-D2EC-41AF-9EC1-7E782D73B219}" srcId="{D2333EB7-A572-4365-B79D-24FE87252EEB}" destId="{2D7D5D71-D481-44CA-B63D-F0DBEA26B452}" srcOrd="1" destOrd="0" parTransId="{995B4834-E554-455D-8AE6-0266EB3BE3DD}" sibTransId="{C6F161C0-E2D8-45DE-A418-D41E1FEEDA5D}"/>
    <dgm:cxn modelId="{E258FFF6-9BBE-4C66-B2EE-F0499BA3B33D}" type="presParOf" srcId="{6D61D930-9149-444A-8687-C533EE52DB32}" destId="{DC045F7D-7FCB-4ED8-BB45-C4B287A4AB95}" srcOrd="0" destOrd="0" presId="urn:microsoft.com/office/officeart/2005/8/layout/vList5"/>
    <dgm:cxn modelId="{AB009846-F9CD-43B5-8EC0-3B9AE15C8DF9}" type="presParOf" srcId="{DC045F7D-7FCB-4ED8-BB45-C4B287A4AB95}" destId="{15735294-09F5-4FA1-9CD0-EB9B64C80898}" srcOrd="0" destOrd="0" presId="urn:microsoft.com/office/officeart/2005/8/layout/vList5"/>
    <dgm:cxn modelId="{FDC235D1-9BFB-4493-8FBD-52067566CEA6}" type="presParOf" srcId="{6D61D930-9149-444A-8687-C533EE52DB32}" destId="{5B08699F-AE13-4540-AA47-C2D9FDEC5C4C}" srcOrd="1" destOrd="0" presId="urn:microsoft.com/office/officeart/2005/8/layout/vList5"/>
    <dgm:cxn modelId="{87CF4594-0D55-446D-B7FE-62F298F42657}" type="presParOf" srcId="{6D61D930-9149-444A-8687-C533EE52DB32}" destId="{DEA77286-EC49-4B0D-84A6-E7FC88AD93D0}" srcOrd="2" destOrd="0" presId="urn:microsoft.com/office/officeart/2005/8/layout/vList5"/>
    <dgm:cxn modelId="{8B5B15AB-C932-4082-983E-009F100A5CDB}" type="presParOf" srcId="{DEA77286-EC49-4B0D-84A6-E7FC88AD93D0}" destId="{D86E8613-C100-41E1-96B8-0356AED325BE}" srcOrd="0" destOrd="0" presId="urn:microsoft.com/office/officeart/2005/8/layout/vList5"/>
    <dgm:cxn modelId="{87A20857-75CC-4802-9C1E-5A5F4A56E074}" type="presParOf" srcId="{DEA77286-EC49-4B0D-84A6-E7FC88AD93D0}" destId="{47FE91B6-12B1-41C1-8822-0ED92308C65B}"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4C33EB-204E-4261-B1D0-75BE312A9976}">
      <dsp:nvSpPr>
        <dsp:cNvPr id="0" name=""/>
        <dsp:cNvSpPr/>
      </dsp:nvSpPr>
      <dsp:spPr>
        <a:xfrm>
          <a:off x="0" y="0"/>
          <a:ext cx="5012532" cy="0"/>
        </a:xfrm>
        <a:prstGeom prst="line">
          <a:avLst/>
        </a:prstGeom>
        <a:gradFill rotWithShape="0">
          <a:gsLst>
            <a:gs pos="0">
              <a:schemeClr val="accent2">
                <a:hueOff val="0"/>
                <a:satOff val="0"/>
                <a:lumOff val="0"/>
                <a:alphaOff val="0"/>
                <a:tint val="94000"/>
                <a:satMod val="100000"/>
                <a:lumMod val="108000"/>
              </a:schemeClr>
            </a:gs>
            <a:gs pos="50000">
              <a:schemeClr val="accent2">
                <a:hueOff val="0"/>
                <a:satOff val="0"/>
                <a:lumOff val="0"/>
                <a:alphaOff val="0"/>
                <a:tint val="98000"/>
                <a:shade val="100000"/>
                <a:satMod val="100000"/>
                <a:lumMod val="100000"/>
              </a:schemeClr>
            </a:gs>
            <a:gs pos="100000">
              <a:schemeClr val="accent2">
                <a:hueOff val="0"/>
                <a:satOff val="0"/>
                <a:lumOff val="0"/>
                <a:alphaOff val="0"/>
                <a:shade val="72000"/>
                <a:satMod val="120000"/>
                <a:lumMod val="100000"/>
              </a:schemeClr>
            </a:gs>
          </a:gsLst>
          <a:lin ang="5400000" scaled="0"/>
        </a:gradFill>
        <a:ln w="9525" cap="flat" cmpd="sng" algn="ctr">
          <a:solidFill>
            <a:schemeClr val="accent2">
              <a:hueOff val="0"/>
              <a:satOff val="0"/>
              <a:lumOff val="0"/>
              <a:alphaOff val="0"/>
            </a:schemeClr>
          </a:solidFill>
          <a:prstDash val="solid"/>
        </a:ln>
        <a:effectLst>
          <a:outerShdw blurRad="50800" dist="25400" dir="5400000" rotWithShape="0">
            <a:srgbClr val="000000">
              <a:alpha val="28000"/>
            </a:srgbClr>
          </a:outerShdw>
        </a:effectLst>
      </dsp:spPr>
      <dsp:style>
        <a:lnRef idx="1">
          <a:scrgbClr r="0" g="0" b="0"/>
        </a:lnRef>
        <a:fillRef idx="3">
          <a:scrgbClr r="0" g="0" b="0"/>
        </a:fillRef>
        <a:effectRef idx="2">
          <a:scrgbClr r="0" g="0" b="0"/>
        </a:effectRef>
        <a:fontRef idx="minor">
          <a:schemeClr val="lt1"/>
        </a:fontRef>
      </dsp:style>
    </dsp:sp>
    <dsp:sp modelId="{6181B2C3-6814-448B-9D94-34FF44896CD2}">
      <dsp:nvSpPr>
        <dsp:cNvPr id="0" name=""/>
        <dsp:cNvSpPr/>
      </dsp:nvSpPr>
      <dsp:spPr>
        <a:xfrm>
          <a:off x="0" y="0"/>
          <a:ext cx="5012532" cy="1151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dirty="0"/>
            <a:t>Recall:</a:t>
          </a:r>
          <a:r>
            <a:rPr lang="en-US" sz="2500" kern="1200" dirty="0"/>
            <a:t> Language Models predict the *next token* based on probability.</a:t>
          </a:r>
        </a:p>
      </dsp:txBody>
      <dsp:txXfrm>
        <a:off x="0" y="0"/>
        <a:ext cx="5012532" cy="1151731"/>
      </dsp:txXfrm>
    </dsp:sp>
    <dsp:sp modelId="{CCDC7993-F205-4A6B-BCF9-64C0DAA0CE0B}">
      <dsp:nvSpPr>
        <dsp:cNvPr id="0" name=""/>
        <dsp:cNvSpPr/>
      </dsp:nvSpPr>
      <dsp:spPr>
        <a:xfrm>
          <a:off x="0" y="1151731"/>
          <a:ext cx="5012532" cy="0"/>
        </a:xfrm>
        <a:prstGeom prst="line">
          <a:avLst/>
        </a:prstGeom>
        <a:gradFill rotWithShape="0">
          <a:gsLst>
            <a:gs pos="0">
              <a:schemeClr val="accent2">
                <a:hueOff val="-1458064"/>
                <a:satOff val="-2807"/>
                <a:lumOff val="196"/>
                <a:alphaOff val="0"/>
                <a:tint val="94000"/>
                <a:satMod val="100000"/>
                <a:lumMod val="108000"/>
              </a:schemeClr>
            </a:gs>
            <a:gs pos="50000">
              <a:schemeClr val="accent2">
                <a:hueOff val="-1458064"/>
                <a:satOff val="-2807"/>
                <a:lumOff val="196"/>
                <a:alphaOff val="0"/>
                <a:tint val="98000"/>
                <a:shade val="100000"/>
                <a:satMod val="100000"/>
                <a:lumMod val="100000"/>
              </a:schemeClr>
            </a:gs>
            <a:gs pos="100000">
              <a:schemeClr val="accent2">
                <a:hueOff val="-1458064"/>
                <a:satOff val="-2807"/>
                <a:lumOff val="196"/>
                <a:alphaOff val="0"/>
                <a:shade val="72000"/>
                <a:satMod val="120000"/>
                <a:lumMod val="100000"/>
              </a:schemeClr>
            </a:gs>
          </a:gsLst>
          <a:lin ang="5400000" scaled="0"/>
        </a:gradFill>
        <a:ln w="9525" cap="flat" cmpd="sng" algn="ctr">
          <a:solidFill>
            <a:schemeClr val="accent2">
              <a:hueOff val="-1458064"/>
              <a:satOff val="-2807"/>
              <a:lumOff val="196"/>
              <a:alphaOff val="0"/>
            </a:schemeClr>
          </a:solidFill>
          <a:prstDash val="solid"/>
        </a:ln>
        <a:effectLst>
          <a:outerShdw blurRad="50800" dist="25400" dir="5400000" rotWithShape="0">
            <a:srgbClr val="000000">
              <a:alpha val="28000"/>
            </a:srgbClr>
          </a:outerShdw>
        </a:effectLst>
      </dsp:spPr>
      <dsp:style>
        <a:lnRef idx="1">
          <a:scrgbClr r="0" g="0" b="0"/>
        </a:lnRef>
        <a:fillRef idx="3">
          <a:scrgbClr r="0" g="0" b="0"/>
        </a:fillRef>
        <a:effectRef idx="2">
          <a:scrgbClr r="0" g="0" b="0"/>
        </a:effectRef>
        <a:fontRef idx="minor">
          <a:schemeClr val="lt1"/>
        </a:fontRef>
      </dsp:style>
    </dsp:sp>
    <dsp:sp modelId="{98B7E855-E6C9-4195-BAAB-893AB01BC97A}">
      <dsp:nvSpPr>
        <dsp:cNvPr id="0" name=""/>
        <dsp:cNvSpPr/>
      </dsp:nvSpPr>
      <dsp:spPr>
        <a:xfrm>
          <a:off x="0" y="1151731"/>
          <a:ext cx="5012532" cy="1151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dirty="0"/>
            <a:t>The Formula:</a:t>
          </a:r>
          <a:r>
            <a:rPr lang="en-US" sz="2500" kern="1200" dirty="0"/>
            <a:t> P(</a:t>
          </a:r>
          <a:r>
            <a:rPr lang="en-US" sz="2500" kern="1200" dirty="0" err="1"/>
            <a:t>w_t</a:t>
          </a:r>
          <a:r>
            <a:rPr lang="en-US" sz="2500" kern="1200" dirty="0"/>
            <a:t> | w_{1:t-1})</a:t>
          </a:r>
        </a:p>
      </dsp:txBody>
      <dsp:txXfrm>
        <a:off x="0" y="1151731"/>
        <a:ext cx="5012532" cy="1151731"/>
      </dsp:txXfrm>
    </dsp:sp>
    <dsp:sp modelId="{562D027C-9FC0-4223-BCF4-6FD328BE747C}">
      <dsp:nvSpPr>
        <dsp:cNvPr id="0" name=""/>
        <dsp:cNvSpPr/>
      </dsp:nvSpPr>
      <dsp:spPr>
        <a:xfrm>
          <a:off x="0" y="2303462"/>
          <a:ext cx="5012532" cy="0"/>
        </a:xfrm>
        <a:prstGeom prst="line">
          <a:avLst/>
        </a:prstGeom>
        <a:gradFill rotWithShape="0">
          <a:gsLst>
            <a:gs pos="0">
              <a:schemeClr val="accent2">
                <a:hueOff val="-2916128"/>
                <a:satOff val="-5613"/>
                <a:lumOff val="392"/>
                <a:alphaOff val="0"/>
                <a:tint val="94000"/>
                <a:satMod val="100000"/>
                <a:lumMod val="108000"/>
              </a:schemeClr>
            </a:gs>
            <a:gs pos="50000">
              <a:schemeClr val="accent2">
                <a:hueOff val="-2916128"/>
                <a:satOff val="-5613"/>
                <a:lumOff val="392"/>
                <a:alphaOff val="0"/>
                <a:tint val="98000"/>
                <a:shade val="100000"/>
                <a:satMod val="100000"/>
                <a:lumMod val="100000"/>
              </a:schemeClr>
            </a:gs>
            <a:gs pos="100000">
              <a:schemeClr val="accent2">
                <a:hueOff val="-2916128"/>
                <a:satOff val="-5613"/>
                <a:lumOff val="392"/>
                <a:alphaOff val="0"/>
                <a:shade val="72000"/>
                <a:satMod val="120000"/>
                <a:lumMod val="100000"/>
              </a:schemeClr>
            </a:gs>
          </a:gsLst>
          <a:lin ang="5400000" scaled="0"/>
        </a:gradFill>
        <a:ln w="9525" cap="flat" cmpd="sng" algn="ctr">
          <a:solidFill>
            <a:schemeClr val="accent2">
              <a:hueOff val="-2916128"/>
              <a:satOff val="-5613"/>
              <a:lumOff val="392"/>
              <a:alphaOff val="0"/>
            </a:schemeClr>
          </a:solidFill>
          <a:prstDash val="solid"/>
        </a:ln>
        <a:effectLst>
          <a:outerShdw blurRad="50800" dist="25400" dir="5400000" rotWithShape="0">
            <a:srgbClr val="000000">
              <a:alpha val="28000"/>
            </a:srgbClr>
          </a:outerShdw>
        </a:effectLst>
      </dsp:spPr>
      <dsp:style>
        <a:lnRef idx="1">
          <a:scrgbClr r="0" g="0" b="0"/>
        </a:lnRef>
        <a:fillRef idx="3">
          <a:scrgbClr r="0" g="0" b="0"/>
        </a:fillRef>
        <a:effectRef idx="2">
          <a:scrgbClr r="0" g="0" b="0"/>
        </a:effectRef>
        <a:fontRef idx="minor">
          <a:schemeClr val="lt1"/>
        </a:fontRef>
      </dsp:style>
    </dsp:sp>
    <dsp:sp modelId="{91478C2D-9744-4011-9AC9-781F8700D7B3}">
      <dsp:nvSpPr>
        <dsp:cNvPr id="0" name=""/>
        <dsp:cNvSpPr/>
      </dsp:nvSpPr>
      <dsp:spPr>
        <a:xfrm>
          <a:off x="0" y="2303462"/>
          <a:ext cx="5012532" cy="1151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dirty="0"/>
            <a:t>The Dilemma:</a:t>
          </a:r>
          <a:r>
            <a:rPr lang="en-US" sz="2500" kern="1200" dirty="0"/>
            <a:t> The model assigns a probability to *every word in the dictionary*.</a:t>
          </a:r>
        </a:p>
      </dsp:txBody>
      <dsp:txXfrm>
        <a:off x="0" y="2303462"/>
        <a:ext cx="5012532" cy="1151731"/>
      </dsp:txXfrm>
    </dsp:sp>
    <dsp:sp modelId="{CE17915B-B4C7-4C97-A677-D2BC3EF7878F}">
      <dsp:nvSpPr>
        <dsp:cNvPr id="0" name=""/>
        <dsp:cNvSpPr/>
      </dsp:nvSpPr>
      <dsp:spPr>
        <a:xfrm>
          <a:off x="0" y="3455193"/>
          <a:ext cx="5012532" cy="0"/>
        </a:xfrm>
        <a:prstGeom prst="line">
          <a:avLst/>
        </a:prstGeom>
        <a:gradFill rotWithShape="0">
          <a:gsLst>
            <a:gs pos="0">
              <a:schemeClr val="accent2">
                <a:hueOff val="-4374192"/>
                <a:satOff val="-8420"/>
                <a:lumOff val="588"/>
                <a:alphaOff val="0"/>
                <a:tint val="94000"/>
                <a:satMod val="100000"/>
                <a:lumMod val="108000"/>
              </a:schemeClr>
            </a:gs>
            <a:gs pos="50000">
              <a:schemeClr val="accent2">
                <a:hueOff val="-4374192"/>
                <a:satOff val="-8420"/>
                <a:lumOff val="588"/>
                <a:alphaOff val="0"/>
                <a:tint val="98000"/>
                <a:shade val="100000"/>
                <a:satMod val="100000"/>
                <a:lumMod val="100000"/>
              </a:schemeClr>
            </a:gs>
            <a:gs pos="100000">
              <a:schemeClr val="accent2">
                <a:hueOff val="-4374192"/>
                <a:satOff val="-8420"/>
                <a:lumOff val="588"/>
                <a:alphaOff val="0"/>
                <a:shade val="72000"/>
                <a:satMod val="120000"/>
                <a:lumMod val="100000"/>
              </a:schemeClr>
            </a:gs>
          </a:gsLst>
          <a:lin ang="5400000" scaled="0"/>
        </a:gradFill>
        <a:ln w="9525" cap="flat" cmpd="sng" algn="ctr">
          <a:solidFill>
            <a:schemeClr val="accent2">
              <a:hueOff val="-4374192"/>
              <a:satOff val="-8420"/>
              <a:lumOff val="588"/>
              <a:alphaOff val="0"/>
            </a:schemeClr>
          </a:solidFill>
          <a:prstDash val="solid"/>
        </a:ln>
        <a:effectLst>
          <a:outerShdw blurRad="50800" dist="25400" dir="5400000" rotWithShape="0">
            <a:srgbClr val="000000">
              <a:alpha val="28000"/>
            </a:srgbClr>
          </a:outerShdw>
        </a:effectLst>
      </dsp:spPr>
      <dsp:style>
        <a:lnRef idx="1">
          <a:scrgbClr r="0" g="0" b="0"/>
        </a:lnRef>
        <a:fillRef idx="3">
          <a:scrgbClr r="0" g="0" b="0"/>
        </a:fillRef>
        <a:effectRef idx="2">
          <a:scrgbClr r="0" g="0" b="0"/>
        </a:effectRef>
        <a:fontRef idx="minor">
          <a:schemeClr val="lt1"/>
        </a:fontRef>
      </dsp:style>
    </dsp:sp>
    <dsp:sp modelId="{D8837D62-2A8A-4CCE-80A7-F69637FF4161}">
      <dsp:nvSpPr>
        <dsp:cNvPr id="0" name=""/>
        <dsp:cNvSpPr/>
      </dsp:nvSpPr>
      <dsp:spPr>
        <a:xfrm>
          <a:off x="0" y="3455193"/>
          <a:ext cx="5012532" cy="11517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dirty="0"/>
            <a:t>The Question:</a:t>
          </a:r>
          <a:r>
            <a:rPr lang="en-US" sz="2500" kern="1200" dirty="0"/>
            <a:t> How do we choose? Do we always pick the most likely word? (Hint: No).</a:t>
          </a:r>
        </a:p>
      </dsp:txBody>
      <dsp:txXfrm>
        <a:off x="0" y="3455193"/>
        <a:ext cx="5012532" cy="11517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8701D0-993E-40FA-BB03-BD33F3ADDB57}">
      <dsp:nvSpPr>
        <dsp:cNvPr id="0" name=""/>
        <dsp:cNvSpPr/>
      </dsp:nvSpPr>
      <dsp:spPr>
        <a:xfrm>
          <a:off x="0" y="125507"/>
          <a:ext cx="5012532" cy="1296652"/>
        </a:xfrm>
        <a:prstGeom prst="roundRect">
          <a:avLst/>
        </a:prstGeom>
        <a:gradFill rotWithShape="0">
          <a:gsLst>
            <a:gs pos="0">
              <a:schemeClr val="accent2">
                <a:hueOff val="0"/>
                <a:satOff val="0"/>
                <a:lumOff val="0"/>
                <a:alphaOff val="0"/>
                <a:tint val="94000"/>
                <a:satMod val="100000"/>
                <a:lumMod val="108000"/>
              </a:schemeClr>
            </a:gs>
            <a:gs pos="50000">
              <a:schemeClr val="accent2">
                <a:hueOff val="0"/>
                <a:satOff val="0"/>
                <a:lumOff val="0"/>
                <a:alphaOff val="0"/>
                <a:tint val="98000"/>
                <a:shade val="100000"/>
                <a:satMod val="100000"/>
                <a:lumMod val="100000"/>
              </a:schemeClr>
            </a:gs>
            <a:gs pos="100000">
              <a:schemeClr val="accent2">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defRPr b="1"/>
          </a:pPr>
          <a:r>
            <a:rPr lang="en-US" sz="2600" b="1" kern="1200"/>
            <a:t>Greedy Search:</a:t>
          </a:r>
          <a:r>
            <a:rPr lang="en-US" sz="2600" kern="1200"/>
            <a:t> Always pick the #1 most likely word.</a:t>
          </a:r>
        </a:p>
      </dsp:txBody>
      <dsp:txXfrm>
        <a:off x="63297" y="188804"/>
        <a:ext cx="4885938" cy="1170058"/>
      </dsp:txXfrm>
    </dsp:sp>
    <dsp:sp modelId="{1ED10F81-E7B6-4624-9FBD-AF69D4EF6C78}">
      <dsp:nvSpPr>
        <dsp:cNvPr id="0" name=""/>
        <dsp:cNvSpPr/>
      </dsp:nvSpPr>
      <dsp:spPr>
        <a:xfrm>
          <a:off x="0" y="1422159"/>
          <a:ext cx="5012532" cy="6323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148"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Pros: Fast.</a:t>
          </a:r>
        </a:p>
        <a:p>
          <a:pPr marL="228600" lvl="1" indent="-228600" algn="l" defTabSz="889000">
            <a:lnSpc>
              <a:spcPct val="90000"/>
            </a:lnSpc>
            <a:spcBef>
              <a:spcPct val="0"/>
            </a:spcBef>
            <a:spcAft>
              <a:spcPct val="20000"/>
            </a:spcAft>
            <a:buChar char="•"/>
          </a:pPr>
          <a:r>
            <a:rPr lang="en-US" sz="2000" kern="1200"/>
            <a:t>Cons: Repetitive, boring, gets stuck in loops.</a:t>
          </a:r>
        </a:p>
      </dsp:txBody>
      <dsp:txXfrm>
        <a:off x="0" y="1422159"/>
        <a:ext cx="5012532" cy="632385"/>
      </dsp:txXfrm>
    </dsp:sp>
    <dsp:sp modelId="{25AA80B5-7E4D-4C77-8B16-9856982765E1}">
      <dsp:nvSpPr>
        <dsp:cNvPr id="0" name=""/>
        <dsp:cNvSpPr/>
      </dsp:nvSpPr>
      <dsp:spPr>
        <a:xfrm>
          <a:off x="0" y="2054545"/>
          <a:ext cx="5012532" cy="1296652"/>
        </a:xfrm>
        <a:prstGeom prst="roundRect">
          <a:avLst/>
        </a:prstGeom>
        <a:gradFill rotWithShape="0">
          <a:gsLst>
            <a:gs pos="0">
              <a:schemeClr val="accent2">
                <a:hueOff val="-4374192"/>
                <a:satOff val="-8420"/>
                <a:lumOff val="588"/>
                <a:alphaOff val="0"/>
                <a:tint val="94000"/>
                <a:satMod val="100000"/>
                <a:lumMod val="108000"/>
              </a:schemeClr>
            </a:gs>
            <a:gs pos="50000">
              <a:schemeClr val="accent2">
                <a:hueOff val="-4374192"/>
                <a:satOff val="-8420"/>
                <a:lumOff val="588"/>
                <a:alphaOff val="0"/>
                <a:tint val="98000"/>
                <a:shade val="100000"/>
                <a:satMod val="100000"/>
                <a:lumMod val="100000"/>
              </a:schemeClr>
            </a:gs>
            <a:gs pos="100000">
              <a:schemeClr val="accent2">
                <a:hueOff val="-4374192"/>
                <a:satOff val="-8420"/>
                <a:lumOff val="588"/>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defRPr b="1"/>
          </a:pPr>
          <a:r>
            <a:rPr lang="en-US" sz="2600" b="1" kern="1200"/>
            <a:t>Beam Search:</a:t>
          </a:r>
          <a:r>
            <a:rPr lang="en-US" sz="2600" kern="1200"/>
            <a:t> Keep the top N sequences alive at each step, choose best total path at end.</a:t>
          </a:r>
        </a:p>
      </dsp:txBody>
      <dsp:txXfrm>
        <a:off x="63297" y="2117842"/>
        <a:ext cx="4885938" cy="1170058"/>
      </dsp:txXfrm>
    </dsp:sp>
    <dsp:sp modelId="{F5793122-DF60-4707-A341-98CD2FB9DE1F}">
      <dsp:nvSpPr>
        <dsp:cNvPr id="0" name=""/>
        <dsp:cNvSpPr/>
      </dsp:nvSpPr>
      <dsp:spPr>
        <a:xfrm>
          <a:off x="0" y="3351197"/>
          <a:ext cx="5012532" cy="11302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148"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Visual: A tree diagram expanding and pruning branches.</a:t>
          </a:r>
        </a:p>
        <a:p>
          <a:pPr marL="228600" lvl="1" indent="-228600" algn="l" defTabSz="889000">
            <a:lnSpc>
              <a:spcPct val="90000"/>
            </a:lnSpc>
            <a:spcBef>
              <a:spcPct val="0"/>
            </a:spcBef>
            <a:spcAft>
              <a:spcPct val="20000"/>
            </a:spcAft>
            <a:buChar char="•"/>
          </a:pPr>
          <a:r>
            <a:rPr lang="en-US" sz="2000" kern="1200"/>
            <a:t>Use Case: Translation &amp; Summarization (accuracy &gt; creativity).</a:t>
          </a:r>
        </a:p>
      </dsp:txBody>
      <dsp:txXfrm>
        <a:off x="0" y="3351197"/>
        <a:ext cx="5012532" cy="11302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735294-09F5-4FA1-9CD0-EB9B64C80898}">
      <dsp:nvSpPr>
        <dsp:cNvPr id="0" name=""/>
        <dsp:cNvSpPr/>
      </dsp:nvSpPr>
      <dsp:spPr>
        <a:xfrm>
          <a:off x="0" y="43"/>
          <a:ext cx="1702450" cy="175303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b="1" kern="1200"/>
            <a:t>Random Sampling:</a:t>
          </a:r>
          <a:r>
            <a:rPr lang="en-US" sz="1900" kern="1200"/>
            <a:t> Pick the next word based on probability distribution.</a:t>
          </a:r>
        </a:p>
      </dsp:txBody>
      <dsp:txXfrm>
        <a:off x="83107" y="83150"/>
        <a:ext cx="1536236" cy="1586818"/>
      </dsp:txXfrm>
    </dsp:sp>
    <dsp:sp modelId="{47FE91B6-12B1-41C1-8822-0ED92308C65B}">
      <dsp:nvSpPr>
        <dsp:cNvPr id="0" name=""/>
        <dsp:cNvSpPr/>
      </dsp:nvSpPr>
      <dsp:spPr>
        <a:xfrm rot="5400000">
          <a:off x="2514525" y="1203955"/>
          <a:ext cx="1402426" cy="3026577"/>
        </a:xfrm>
        <a:prstGeom prst="round2Same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b="1" kern="1200"/>
            <a:t>Low T (&lt; 1.0):</a:t>
          </a:r>
          <a:r>
            <a:rPr lang="en-US" sz="1500" kern="1200"/>
            <a:t> Exaggerates peaks. Conservative &amp; confident. (Coding/Math).</a:t>
          </a:r>
        </a:p>
        <a:p>
          <a:pPr marL="114300" lvl="1" indent="-114300" algn="l" defTabSz="666750">
            <a:lnSpc>
              <a:spcPct val="90000"/>
            </a:lnSpc>
            <a:spcBef>
              <a:spcPct val="0"/>
            </a:spcBef>
            <a:spcAft>
              <a:spcPct val="15000"/>
            </a:spcAft>
            <a:buChar char="•"/>
          </a:pPr>
          <a:r>
            <a:rPr lang="en-US" sz="1500" b="1" kern="1200"/>
            <a:t>High T (&gt; 1.0):</a:t>
          </a:r>
          <a:r>
            <a:rPr lang="en-US" sz="1500" kern="1200"/>
            <a:t> Flattens peaks. Allows rare words. (Poetry/Brainstorming).</a:t>
          </a:r>
        </a:p>
      </dsp:txBody>
      <dsp:txXfrm rot="-5400000">
        <a:off x="1702450" y="2084492"/>
        <a:ext cx="2958116" cy="1265504"/>
      </dsp:txXfrm>
    </dsp:sp>
    <dsp:sp modelId="{D86E8613-C100-41E1-96B8-0356AED325BE}">
      <dsp:nvSpPr>
        <dsp:cNvPr id="0" name=""/>
        <dsp:cNvSpPr/>
      </dsp:nvSpPr>
      <dsp:spPr>
        <a:xfrm>
          <a:off x="0" y="1840728"/>
          <a:ext cx="1702450" cy="1753032"/>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b="1" kern="1200"/>
            <a:t>Temperature (T):</a:t>
          </a:r>
          <a:r>
            <a:rPr lang="en-US" sz="1900" kern="1200"/>
            <a:t> Reshapes the probability curve.</a:t>
          </a:r>
        </a:p>
      </dsp:txBody>
      <dsp:txXfrm>
        <a:off x="83107" y="1923835"/>
        <a:ext cx="1536236" cy="1586818"/>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79785C-9618-4EAB-A21A-7CA6285FFB10}" type="datetimeFigureOut">
              <a:rPr lang="en-US" smtClean="0"/>
              <a:t>12/20/2025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E876F2-0A28-4D89-A83F-13B1BA096EA4}" type="slidenum">
              <a:rPr lang="en-US" smtClean="0"/>
              <a:t>‹#›</a:t>
            </a:fld>
            <a:endParaRPr lang="en-US"/>
          </a:p>
        </p:txBody>
      </p:sp>
    </p:spTree>
    <p:extLst>
      <p:ext uri="{BB962C8B-B14F-4D97-AF65-F5344CB8AC3E}">
        <p14:creationId xmlns:p14="http://schemas.microsoft.com/office/powerpoint/2010/main" val="2774579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Google Learning: https://developers.google.com/machine-learning/crash-course/llm/tuning</a:t>
            </a:r>
          </a:p>
          <a:p>
            <a:r>
              <a:rPr lang="en-US" sz="1200" dirty="0"/>
              <a:t>Visual Placeholder: A robot artist painting a canvas with a human guide and a small battery pack</a:t>
            </a:r>
            <a:endParaRPr lang="en-US" dirty="0"/>
          </a:p>
        </p:txBody>
      </p:sp>
      <p:sp>
        <p:nvSpPr>
          <p:cNvPr id="4" name="Slide Number Placeholder 3"/>
          <p:cNvSpPr>
            <a:spLocks noGrp="1"/>
          </p:cNvSpPr>
          <p:nvPr>
            <p:ph type="sldNum" sz="quarter" idx="5"/>
          </p:nvPr>
        </p:nvSpPr>
        <p:spPr/>
        <p:txBody>
          <a:bodyPr/>
          <a:lstStyle/>
          <a:p>
            <a:fld id="{47E876F2-0A28-4D89-A83F-13B1BA096EA4}" type="slidenum">
              <a:rPr lang="en-US" smtClean="0"/>
              <a:t>1</a:t>
            </a:fld>
            <a:endParaRPr lang="en-US"/>
          </a:p>
        </p:txBody>
      </p:sp>
    </p:spTree>
    <p:extLst>
      <p:ext uri="{BB962C8B-B14F-4D97-AF65-F5344CB8AC3E}">
        <p14:creationId xmlns:p14="http://schemas.microsoft.com/office/powerpoint/2010/main" val="2238759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to explain the concept of an autoregressive engine in LLM (Large Language Models) in a simple way, with simple math explanation and analogy, for the given context. The context mentions: "Recall: Language Models predict the next token based on probability. The Formula: P(</a:t>
            </a:r>
            <a:r>
              <a:rPr lang="en-US" dirty="0" err="1"/>
              <a:t>w_t</a:t>
            </a:r>
            <a:r>
              <a:rPr lang="en-US" dirty="0"/>
              <a:t> | w_{1:t-1}). The Dilemma: The model assigns a probability to every word in the dictionary. The Question: How do we choose? Do we always pick the most likely word? (Hint: No)."</a:t>
            </a:r>
          </a:p>
          <a:p>
            <a:endParaRPr lang="en-US" dirty="0"/>
          </a:p>
          <a:p>
            <a:r>
              <a:rPr lang="en-US" dirty="0"/>
              <a:t>So we need to explain autoregressive generation, the decoding strategies (like greedy, beam search, sampling, top-k, top-p, temperature), and why we don't always pick the most likely word. Provide simple math and analogy.</a:t>
            </a:r>
          </a:p>
          <a:p>
            <a:endParaRPr lang="en-US" dirty="0"/>
          </a:p>
          <a:p>
            <a:r>
              <a:rPr lang="en-US" dirty="0"/>
              <a:t>We should structure the answer: define autoregressive, explain probability distribution over tokens, then discuss decoding strategies, with simple math examples (like </a:t>
            </a:r>
            <a:r>
              <a:rPr lang="en-US" dirty="0" err="1"/>
              <a:t>softmax</a:t>
            </a:r>
            <a:r>
              <a:rPr lang="en-US" dirty="0"/>
              <a:t>, probabilities). Use analogies like "choosing the next word like rolling a dice with weighted probabilities" or "exploring different paths."</a:t>
            </a:r>
          </a:p>
          <a:p>
            <a:endParaRPr lang="en-US" dirty="0"/>
          </a:p>
          <a:p>
            <a:r>
              <a:rPr lang="en-US" dirty="0"/>
              <a:t>We need to keep it simple, but include math explanation. Possibly include a small example: vocabulary of three words, probabilities, show greedy vs sampling.</a:t>
            </a:r>
          </a:p>
          <a:p>
            <a:endParaRPr lang="en-US" dirty="0"/>
          </a:p>
          <a:p>
            <a:r>
              <a:rPr lang="en-US" dirty="0"/>
              <a:t>Also mention that autoregressive means generating one token at a time, each conditioned on previous tokens.</a:t>
            </a:r>
          </a:p>
          <a:p>
            <a:endParaRPr lang="en-US" dirty="0"/>
          </a:p>
          <a:p>
            <a:r>
              <a:rPr lang="en-US" dirty="0"/>
              <a:t>Let's craft a response.</a:t>
            </a:r>
          </a:p>
          <a:p>
            <a:endParaRPr lang="en-US" dirty="0"/>
          </a:p>
          <a:p>
            <a:r>
              <a:rPr lang="en-US" dirty="0"/>
              <a:t>We'll start with: "An autoregressive language model generates text by predicting the next token (word or </a:t>
            </a:r>
            <a:r>
              <a:rPr lang="en-US" dirty="0" err="1"/>
              <a:t>subword</a:t>
            </a:r>
            <a:r>
              <a:rPr lang="en-US" dirty="0"/>
              <a:t>) based on the previous tokens. At each step, it outputs a probability distribution over the vocabulary. The model computes P(</a:t>
            </a:r>
            <a:r>
              <a:rPr lang="en-US" dirty="0" err="1"/>
              <a:t>w_t</a:t>
            </a:r>
            <a:r>
              <a:rPr lang="en-US" dirty="0"/>
              <a:t> | w_1, w_2, ..., w_{t-1})."</a:t>
            </a:r>
          </a:p>
          <a:p>
            <a:endParaRPr lang="en-US" dirty="0"/>
          </a:p>
          <a:p>
            <a:r>
              <a:rPr lang="en-US" dirty="0"/>
              <a:t>Then: "The challenge: we need to decide which token to actually select for the output. The simplest approach is greedy decoding: always pick the token with the highest probability. However, this often leads to repetitive, dull, or even nonsensical text because it doesn't consider alternative possibilities that might lead to better overall sequences."</a:t>
            </a:r>
          </a:p>
          <a:p>
            <a:endParaRPr lang="en-US" dirty="0"/>
          </a:p>
          <a:p>
            <a:r>
              <a:rPr lang="en-US" dirty="0"/>
              <a:t>Explain with example: Suppose after "The cat sat on the", the model assigns probabilities: "mat" (0.7), "rug" (0.2), "sofa" (0.1). Greedy picks "mat". But maybe "rug" leads to more interesting continuation. But we need a method to introduce diversity while maintaining coherence.</a:t>
            </a:r>
          </a:p>
          <a:p>
            <a:endParaRPr lang="en-US" dirty="0"/>
          </a:p>
          <a:p>
            <a:r>
              <a:rPr lang="en-US" dirty="0"/>
              <a:t>Then introduce sampling: randomly pick a token according to the probability distribution. This yields diverse outputs but can sometimes pick low-probability tokens causing incoherence. So we use techniques like temperature scaling, top-k sampling, top-p (nucleus) sampling.</a:t>
            </a:r>
          </a:p>
          <a:p>
            <a:endParaRPr lang="en-US" dirty="0"/>
          </a:p>
          <a:p>
            <a:r>
              <a:rPr lang="en-US" dirty="0"/>
              <a:t>Explain temperature: </a:t>
            </a:r>
            <a:r>
              <a:rPr lang="en-US" dirty="0" err="1"/>
              <a:t>softmax</a:t>
            </a:r>
            <a:r>
              <a:rPr lang="en-US" dirty="0"/>
              <a:t> with temperature T: </a:t>
            </a:r>
            <a:r>
              <a:rPr lang="en-US" dirty="0" err="1"/>
              <a:t>softmax</a:t>
            </a:r>
            <a:r>
              <a:rPr lang="en-US" dirty="0"/>
              <a:t>(logits / T). High T flattens distribution, more randomness; low T sharpens, more greedy-like.</a:t>
            </a:r>
          </a:p>
          <a:p>
            <a:endParaRPr lang="en-US" dirty="0"/>
          </a:p>
          <a:p>
            <a:r>
              <a:rPr lang="en-US" dirty="0"/>
              <a:t>Explain top-k: only consider the k most likely tokens, renormalize, sample from them. Top-p: consider smallest set of tokens whose cumulative probability &gt;= p, then sample.</a:t>
            </a:r>
          </a:p>
          <a:p>
            <a:endParaRPr lang="en-US" dirty="0"/>
          </a:p>
          <a:p>
            <a:r>
              <a:rPr lang="en-US" dirty="0"/>
              <a:t>Also beam search: keeps multiple candidate sequences, chooses the one with highest overall probability. Used in tasks like translation but less in open-ended generation.</a:t>
            </a:r>
          </a:p>
          <a:p>
            <a:endParaRPr lang="en-US" dirty="0"/>
          </a:p>
          <a:p>
            <a:r>
              <a:rPr lang="en-US" dirty="0"/>
              <a:t>Provide simple math: Suppose logits = [2.0, 1.0, 0.0] for words A, B, C. </a:t>
            </a:r>
            <a:r>
              <a:rPr lang="en-US" dirty="0" err="1"/>
              <a:t>Softmax</a:t>
            </a:r>
            <a:r>
              <a:rPr lang="en-US" dirty="0"/>
              <a:t> gives probabilities: ~0.665, 0.244, 0.090. With temperature 0.5: divide logits by 0.5 =&gt; [4,2,0], </a:t>
            </a:r>
            <a:r>
              <a:rPr lang="en-US" dirty="0" err="1"/>
              <a:t>softmax</a:t>
            </a:r>
            <a:r>
              <a:rPr lang="en-US" dirty="0"/>
              <a:t> =&gt; ~0.982, 0.018, 0.000; more deterministic. With temperature 2: [1,0.5,0] =&gt; ~0.62, 0.24, 0.14; more uniform.</a:t>
            </a:r>
          </a:p>
          <a:p>
            <a:endParaRPr lang="en-US" dirty="0"/>
          </a:p>
          <a:p>
            <a:r>
              <a:rPr lang="en-US" dirty="0"/>
              <a:t>Top-k with k=2: keep A and B, renormalize: probs become 0.665/(0.665+0.244)=0.732, 0.244/0.909=0.268, sample from these.</a:t>
            </a:r>
          </a:p>
          <a:p>
            <a:endParaRPr lang="en-US" dirty="0"/>
          </a:p>
          <a:p>
            <a:r>
              <a:rPr lang="en-US" dirty="0"/>
              <a:t>Top-p with p=0.9: cumulative: A 0.665, A+B=0.909 &gt;=0.9, so keep A and B, renormalize similarly.</a:t>
            </a:r>
          </a:p>
          <a:p>
            <a:endParaRPr lang="en-US" dirty="0"/>
          </a:p>
          <a:p>
            <a:r>
              <a:rPr lang="en-US" dirty="0"/>
              <a:t>Analogies: Greedy is like always taking the safest, most obvious next step; sampling is like rolling a loaded dice; temperature adjusts how loaded the dice is; top-k is like limiting choices to the top contenders.</a:t>
            </a:r>
          </a:p>
          <a:p>
            <a:endParaRPr lang="en-US" dirty="0"/>
          </a:p>
          <a:p>
            <a:r>
              <a:rPr lang="en-US" dirty="0"/>
              <a:t>Finally, mention that modern LLMs use these methods to balance creativity and coherence.</a:t>
            </a:r>
          </a:p>
          <a:p>
            <a:endParaRPr lang="en-US" dirty="0"/>
          </a:p>
          <a:p>
            <a:r>
              <a:rPr lang="en-US" dirty="0"/>
              <a:t>We should also tie back to autoregressive: the model generates token by token, each step using the same process.</a:t>
            </a:r>
          </a:p>
          <a:p>
            <a:endParaRPr lang="en-US" dirty="0"/>
          </a:p>
          <a:p>
            <a:r>
              <a:rPr lang="en-US" dirty="0"/>
              <a:t>Now produce the final answer.&lt;/think&gt;An autoregressive language model (like GPT) generates text one token (word or </a:t>
            </a:r>
            <a:r>
              <a:rPr lang="en-US" dirty="0" err="1"/>
              <a:t>subword</a:t>
            </a:r>
            <a:r>
              <a:rPr lang="en-US" dirty="0"/>
              <a:t>) at a time. At each step, it looks at the tokens already produced and predicts a probability for every possible next token in its vocabulary. Mathematically, this is:</a:t>
            </a:r>
          </a:p>
          <a:p>
            <a:endParaRPr lang="en-US" dirty="0"/>
          </a:p>
          <a:p>
            <a:r>
              <a:rPr lang="en-US" dirty="0"/>
              <a:t>\[</a:t>
            </a:r>
          </a:p>
          <a:p>
            <a:r>
              <a:rPr lang="en-US" dirty="0"/>
              <a:t>P(</a:t>
            </a:r>
            <a:r>
              <a:rPr lang="en-US" dirty="0" err="1"/>
              <a:t>w_t</a:t>
            </a:r>
            <a:r>
              <a:rPr lang="en-US" dirty="0"/>
              <a:t> \mid w_1, w_2, \dots, w_{t-1})</a:t>
            </a:r>
          </a:p>
          <a:p>
            <a:r>
              <a:rPr lang="en-US" dirty="0"/>
              <a:t>\]</a:t>
            </a:r>
          </a:p>
          <a:p>
            <a:endParaRPr lang="en-US" dirty="0"/>
          </a:p>
          <a:p>
            <a:r>
              <a:rPr lang="en-US" dirty="0"/>
              <a:t>where \(</a:t>
            </a:r>
            <a:r>
              <a:rPr lang="en-US" dirty="0" err="1"/>
              <a:t>w_t</a:t>
            </a:r>
            <a:r>
              <a:rPr lang="en-US" dirty="0"/>
              <a:t>\) is the next token and \(w_{1:t-1}\) are the previous tokens.</a:t>
            </a:r>
          </a:p>
          <a:p>
            <a:endParaRPr lang="en-US" dirty="0"/>
          </a:p>
          <a:p>
            <a:r>
              <a:rPr lang="en-US" dirty="0"/>
              <a:t>After computing these probabilities, we face a decision: which token should we actually output? The naive answer is to always pick the token with the highest probability (greedy decoding). But that often leads to repetitive, boring, or even incorrect text because it ignores the fact that a slightly less probable token now might lead to a much better overall sentence later.</a:t>
            </a:r>
          </a:p>
          <a:p>
            <a:endParaRPr lang="en-US" dirty="0"/>
          </a:p>
          <a:p>
            <a:r>
              <a:rPr lang="en-US" dirty="0"/>
              <a:t>### Simple Math Example</a:t>
            </a:r>
          </a:p>
          <a:p>
            <a:endParaRPr lang="en-US" dirty="0"/>
          </a:p>
          <a:p>
            <a:r>
              <a:rPr lang="en-US" dirty="0"/>
              <a:t>Imagine the model has a tiny vocabulary: {mat, rug, sofa}. For the prefix "The cat sat on the", it assigns logits (raw scores) as:</a:t>
            </a:r>
          </a:p>
          <a:p>
            <a:endParaRPr lang="en-US" dirty="0"/>
          </a:p>
          <a:p>
            <a:r>
              <a:rPr lang="en-US" dirty="0"/>
              <a:t>- mat: 2.0</a:t>
            </a:r>
          </a:p>
          <a:p>
            <a:r>
              <a:rPr lang="en-US" dirty="0"/>
              <a:t>- rug: 1.0</a:t>
            </a:r>
          </a:p>
          <a:p>
            <a:r>
              <a:rPr lang="en-US" dirty="0"/>
              <a:t>- sofa: 0.0</a:t>
            </a:r>
          </a:p>
          <a:p>
            <a:endParaRPr lang="en-US" dirty="0"/>
          </a:p>
          <a:p>
            <a:r>
              <a:rPr lang="en-US" dirty="0"/>
              <a:t>Applying the </a:t>
            </a:r>
            <a:r>
              <a:rPr lang="en-US" dirty="0" err="1"/>
              <a:t>softmax</a:t>
            </a:r>
            <a:r>
              <a:rPr lang="en-US" dirty="0"/>
              <a:t> function turns these into probabilities:</a:t>
            </a:r>
          </a:p>
          <a:p>
            <a:endParaRPr lang="en-US" dirty="0"/>
          </a:p>
          <a:p>
            <a:r>
              <a:rPr lang="en-US" dirty="0"/>
              <a:t>\[</a:t>
            </a:r>
          </a:p>
          <a:p>
            <a:r>
              <a:rPr lang="en-US" dirty="0"/>
              <a:t>\text{</a:t>
            </a:r>
            <a:r>
              <a:rPr lang="en-US" dirty="0" err="1"/>
              <a:t>softmax</a:t>
            </a:r>
            <a:r>
              <a:rPr lang="en-US" dirty="0"/>
              <a:t>}([2,1,0]) = \left[\frac{e^{2}}{e^{2}+e^{1}+e^{0}}, \frac{e^{1}}{…}, \frac{e^{0}}{…}\right] \</a:t>
            </a:r>
            <a:r>
              <a:rPr lang="en-US" dirty="0" err="1"/>
              <a:t>approx</a:t>
            </a:r>
            <a:r>
              <a:rPr lang="en-US" dirty="0"/>
              <a:t> [0.665, 0.244, 0.090]</a:t>
            </a:r>
          </a:p>
          <a:p>
            <a:r>
              <a:rPr lang="en-US" dirty="0"/>
              <a:t>\]</a:t>
            </a:r>
          </a:p>
          <a:p>
            <a:endParaRPr lang="en-US" dirty="0"/>
          </a:p>
          <a:p>
            <a:r>
              <a:rPr lang="en-US" dirty="0"/>
              <a:t>Greedy would pick "mat" (0.665). But maybe "rug" (0.244) could lead to a more interesting continuation like "rug and purred". So we need smarter selection strategies.</a:t>
            </a:r>
          </a:p>
          <a:p>
            <a:endParaRPr lang="en-US" dirty="0"/>
          </a:p>
          <a:p>
            <a:r>
              <a:rPr lang="en-US" dirty="0"/>
              <a:t>### Common Decoding Strategies</a:t>
            </a:r>
          </a:p>
          <a:p>
            <a:endParaRPr lang="en-US" dirty="0"/>
          </a:p>
          <a:p>
            <a:r>
              <a:rPr lang="en-US" dirty="0"/>
              <a:t>1. **Sampling**: Choose a token randomly according to the probability distribution. Like rolling a loaded dice. In our example, we'd pick "mat" with 66.5% chance, "rug" with 24.4%, and "sofa" with 9.0%. This adds diversity but can sometimes pick very unlikely tokens and derail coherence.</a:t>
            </a:r>
          </a:p>
          <a:p>
            <a:endParaRPr lang="en-US" dirty="0"/>
          </a:p>
          <a:p>
            <a:r>
              <a:rPr lang="en-US" dirty="0"/>
              <a:t>2. **Temperature Scaling**: Adjust the "confidence" of the model before applying </a:t>
            </a:r>
            <a:r>
              <a:rPr lang="en-US" dirty="0" err="1"/>
              <a:t>softmax</a:t>
            </a:r>
            <a:r>
              <a:rPr lang="en-US" dirty="0"/>
              <a:t>. The modified </a:t>
            </a:r>
            <a:r>
              <a:rPr lang="en-US" dirty="0" err="1"/>
              <a:t>softmax</a:t>
            </a:r>
            <a:r>
              <a:rPr lang="en-US" dirty="0"/>
              <a:t> is:</a:t>
            </a:r>
          </a:p>
          <a:p>
            <a:endParaRPr lang="en-US" dirty="0"/>
          </a:p>
          <a:p>
            <a:r>
              <a:rPr lang="en-US" dirty="0"/>
              <a:t>\[</a:t>
            </a:r>
          </a:p>
          <a:p>
            <a:r>
              <a:rPr lang="en-US" dirty="0" err="1"/>
              <a:t>p_i</a:t>
            </a:r>
            <a:r>
              <a:rPr lang="en-US" dirty="0"/>
              <a:t> = \frac{e^{</a:t>
            </a:r>
            <a:r>
              <a:rPr lang="en-US" dirty="0" err="1"/>
              <a:t>z_i</a:t>
            </a:r>
            <a:r>
              <a:rPr lang="en-US" dirty="0"/>
              <a:t> / T}}{\</a:t>
            </a:r>
            <a:r>
              <a:rPr lang="en-US" dirty="0" err="1"/>
              <a:t>sum_j</a:t>
            </a:r>
            <a:r>
              <a:rPr lang="en-US" dirty="0"/>
              <a:t> e^{</a:t>
            </a:r>
            <a:r>
              <a:rPr lang="en-US" dirty="0" err="1"/>
              <a:t>z_j</a:t>
            </a:r>
            <a:r>
              <a:rPr lang="en-US" dirty="0"/>
              <a:t> / T}}</a:t>
            </a:r>
          </a:p>
          <a:p>
            <a:r>
              <a:rPr lang="en-US" dirty="0"/>
              <a:t>\]</a:t>
            </a:r>
          </a:p>
          <a:p>
            <a:endParaRPr lang="en-US" dirty="0"/>
          </a:p>
          <a:p>
            <a:r>
              <a:rPr lang="en-US" dirty="0"/>
              <a:t>where \(T\) is temperature.</a:t>
            </a:r>
          </a:p>
          <a:p>
            <a:r>
              <a:rPr lang="en-US" dirty="0"/>
              <a:t>- \(T &lt; 1\) sharpens the distribution (makes high probabilities higher) → more deterministic.</a:t>
            </a:r>
          </a:p>
          <a:p>
            <a:r>
              <a:rPr lang="en-US" dirty="0"/>
              <a:t>- \(T &gt; 1\) flattens it → more random.</a:t>
            </a:r>
          </a:p>
          <a:p>
            <a:endParaRPr lang="en-US" dirty="0"/>
          </a:p>
          <a:p>
            <a:r>
              <a:rPr lang="en-US" dirty="0"/>
              <a:t>Example with \(T=0.5\): divide logits by 0.5 → [4,2,0]; </a:t>
            </a:r>
            <a:r>
              <a:rPr lang="en-US" dirty="0" err="1"/>
              <a:t>softmax</a:t>
            </a:r>
            <a:r>
              <a:rPr lang="en-US" dirty="0"/>
              <a:t> → ≈ [0.982, 0.018, 0.000] (almost always "mat").</a:t>
            </a:r>
          </a:p>
          <a:p>
            <a:r>
              <a:rPr lang="en-US" dirty="0"/>
              <a:t>With \(T=2\): [1,0.5,0] → ≈ [0.62, 0.24, 0.14] (slightly more uniform).</a:t>
            </a:r>
          </a:p>
          <a:p>
            <a:endParaRPr lang="en-US" dirty="0"/>
          </a:p>
          <a:p>
            <a:r>
              <a:rPr lang="en-US" dirty="0"/>
              <a:t>3. **Top-k Sampling**: Only consider the \(k\) tokens with highest probabilities, renormalize those, and sample from them. For \(k=2\) in our example, we keep "mat" and "rug", renormalize: new probabilities ≈ 0.665/(0.665+0.244)=0.732, 0.244/0.909=0.268. Then sample from these two.</a:t>
            </a:r>
          </a:p>
          <a:p>
            <a:endParaRPr lang="en-US" dirty="0"/>
          </a:p>
          <a:p>
            <a:r>
              <a:rPr lang="en-US" dirty="0"/>
              <a:t>4. **Top-p (Nucleus) Sampling**: Choose the smallest set of tokens whose cumulative probability ≥ \(p\) (e.g., 0.9), renormalize, and sample. In our example, cumulative: mat (0.665), </a:t>
            </a:r>
            <a:r>
              <a:rPr lang="en-US" dirty="0" err="1"/>
              <a:t>mat+rug</a:t>
            </a:r>
            <a:r>
              <a:rPr lang="en-US" dirty="0"/>
              <a:t> (0.909) which meets 0.9, so we keep mat and rug and sample as above.</a:t>
            </a:r>
          </a:p>
          <a:p>
            <a:endParaRPr lang="en-US" dirty="0"/>
          </a:p>
          <a:p>
            <a:r>
              <a:rPr lang="en-US" dirty="0"/>
              <a:t>5. **Beam Search**: Keeps several candidate sequences (beams) and at each step expands them, eventually picking the sequence with highest overall probability. This is more common in tasks like translation where exactness matters, but less so for creative text.</a:t>
            </a:r>
          </a:p>
          <a:p>
            <a:endParaRPr lang="en-US" dirty="0"/>
          </a:p>
          <a:p>
            <a:r>
              <a:rPr lang="en-US" dirty="0"/>
              <a:t>### Analogy</a:t>
            </a:r>
          </a:p>
          <a:p>
            <a:endParaRPr lang="en-US" dirty="0"/>
          </a:p>
          <a:p>
            <a:r>
              <a:rPr lang="en-US" dirty="0"/>
              <a:t>Think of writing a story. Greedy decoding is like always choosing the most predictable next word—it becomes dull quickly. Sampling is like brainstorming: you roll a dice weighted by likelihood, which can produce surprising ideas but sometimes nonsense. Temperature controls how adventurous you are: low temperature = play it safe; high temperature = wild ideas. Top-k and top-p are like saying "I'll only consider the top few reasonable options, then pick one randomly."</a:t>
            </a:r>
          </a:p>
          <a:p>
            <a:endParaRPr lang="en-US" dirty="0"/>
          </a:p>
          <a:p>
            <a:r>
              <a:rPr lang="en-US" dirty="0"/>
              <a:t>Modern LLMs combine these techniques (e.g., temperature + top-p) to balance coherence and creativity, making them useful for a wide range of applications.</a:t>
            </a:r>
          </a:p>
        </p:txBody>
      </p:sp>
      <p:sp>
        <p:nvSpPr>
          <p:cNvPr id="4" name="Slide Number Placeholder 3"/>
          <p:cNvSpPr>
            <a:spLocks noGrp="1"/>
          </p:cNvSpPr>
          <p:nvPr>
            <p:ph type="sldNum" sz="quarter" idx="5"/>
          </p:nvPr>
        </p:nvSpPr>
        <p:spPr/>
        <p:txBody>
          <a:bodyPr/>
          <a:lstStyle/>
          <a:p>
            <a:fld id="{47E876F2-0A28-4D89-A83F-13B1BA096EA4}" type="slidenum">
              <a:rPr lang="en-US" smtClean="0"/>
              <a:t>2</a:t>
            </a:fld>
            <a:endParaRPr lang="en-US"/>
          </a:p>
        </p:txBody>
      </p:sp>
    </p:spTree>
    <p:extLst>
      <p:ext uri="{BB962C8B-B14F-4D97-AF65-F5344CB8AC3E}">
        <p14:creationId xmlns:p14="http://schemas.microsoft.com/office/powerpoint/2010/main" val="33905027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Extractive (The Highlighter):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Imagine you're reading a long article and using a highlighter to mark the most important sentences. Then, you copy just those highlighted parts to create a summary.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It picks real sentences from the original text.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Pros:</a:t>
            </a:r>
            <a:r>
              <a:rPr lang="en-US" sz="1200" b="0" i="0" kern="1200" dirty="0">
                <a:solidFill>
                  <a:schemeClr val="tx1"/>
                </a:solidFill>
                <a:effectLst/>
                <a:latin typeface="+mn-lt"/>
                <a:ea typeface="+mn-ea"/>
                <a:cs typeface="+mn-cs"/>
              </a:rPr>
              <a:t> Keeps facts accurate.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Cons:</a:t>
            </a:r>
            <a:r>
              <a:rPr lang="en-US" sz="1200" b="0" i="0" kern="1200" dirty="0">
                <a:solidFill>
                  <a:schemeClr val="tx1"/>
                </a:solidFill>
                <a:effectLst/>
                <a:latin typeface="+mn-lt"/>
                <a:ea typeface="+mn-ea"/>
                <a:cs typeface="+mn-cs"/>
              </a:rPr>
              <a:t> Can feel choppy or repetitive—like a collage of quotes.</a:t>
            </a:r>
          </a:p>
          <a:p>
            <a:r>
              <a:rPr lang="en-US" sz="1200" b="1" i="0" kern="1200" dirty="0">
                <a:solidFill>
                  <a:schemeClr val="tx1"/>
                </a:solidFill>
                <a:effectLst/>
                <a:latin typeface="+mn-lt"/>
                <a:ea typeface="+mn-ea"/>
                <a:cs typeface="+mn-cs"/>
              </a:rPr>
              <a:t>Abstractive (The Ghostwriter):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Now imagine handing the article to a skilled writer who reads it, understands the key points, and writes a brand-new summary in their own words—like a journalist recapping a story.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It creates fresh sentences, even new phrases.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Pros:</a:t>
            </a:r>
            <a:r>
              <a:rPr lang="en-US" sz="1200" b="0" i="0" kern="1200" dirty="0">
                <a:solidFill>
                  <a:schemeClr val="tx1"/>
                </a:solidFill>
                <a:effectLst/>
                <a:latin typeface="+mn-lt"/>
                <a:ea typeface="+mn-ea"/>
                <a:cs typeface="+mn-cs"/>
              </a:rPr>
              <a:t> Flows naturally, sounds human.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Cons:</a:t>
            </a:r>
            <a:r>
              <a:rPr lang="en-US" sz="1200" b="0" i="0" kern="1200" dirty="0">
                <a:solidFill>
                  <a:schemeClr val="tx1"/>
                </a:solidFill>
                <a:effectLst/>
                <a:latin typeface="+mn-lt"/>
                <a:ea typeface="+mn-ea"/>
                <a:cs typeface="+mn-cs"/>
              </a:rPr>
              <a:t> Might accidentally add false or made-up details (hallucination).</a:t>
            </a:r>
          </a:p>
          <a:p>
            <a:r>
              <a:rPr lang="en-US" sz="1200" b="1" i="0" kern="1200" dirty="0">
                <a:solidFill>
                  <a:schemeClr val="tx1"/>
                </a:solidFill>
                <a:effectLst/>
                <a:latin typeface="+mn-lt"/>
                <a:ea typeface="+mn-ea"/>
                <a:cs typeface="+mn-cs"/>
              </a:rPr>
              <a:t>In short:</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Extractive = Copy-paste key sentences.</a:t>
            </a:r>
            <a:r>
              <a:rPr lang="en-US" sz="1200" b="0" i="0" kern="1200" dirty="0">
                <a:solidFill>
                  <a:schemeClr val="tx1"/>
                </a:solidFill>
                <a:effectLst/>
                <a:latin typeface="+mn-lt"/>
                <a:ea typeface="+mn-ea"/>
                <a:cs typeface="+mn-cs"/>
              </a:rPr>
              <a:t> (Safe, but robotic.)</a:t>
            </a:r>
          </a:p>
          <a:p>
            <a:r>
              <a:rPr lang="en-US" sz="1200" b="1" i="0" kern="1200" dirty="0">
                <a:solidFill>
                  <a:schemeClr val="tx1"/>
                </a:solidFill>
                <a:effectLst/>
                <a:latin typeface="+mn-lt"/>
                <a:ea typeface="+mn-ea"/>
                <a:cs typeface="+mn-cs"/>
              </a:rPr>
              <a:t>Abstractive = Rewrite the essence.</a:t>
            </a:r>
            <a:r>
              <a:rPr lang="en-US" sz="1200" b="0" i="0" kern="1200" dirty="0">
                <a:solidFill>
                  <a:schemeClr val="tx1"/>
                </a:solidFill>
                <a:effectLst/>
                <a:latin typeface="+mn-lt"/>
                <a:ea typeface="+mn-ea"/>
                <a:cs typeface="+mn-cs"/>
              </a:rPr>
              <a:t> (Smooth, but riskier.)</a:t>
            </a:r>
          </a:p>
        </p:txBody>
      </p:sp>
      <p:sp>
        <p:nvSpPr>
          <p:cNvPr id="4" name="Slide Number Placeholder 3"/>
          <p:cNvSpPr>
            <a:spLocks noGrp="1"/>
          </p:cNvSpPr>
          <p:nvPr>
            <p:ph type="sldNum" sz="quarter" idx="5"/>
          </p:nvPr>
        </p:nvSpPr>
        <p:spPr/>
        <p:txBody>
          <a:bodyPr/>
          <a:lstStyle/>
          <a:p>
            <a:fld id="{47E876F2-0A28-4D89-A83F-13B1BA096EA4}" type="slidenum">
              <a:rPr lang="en-US" smtClean="0"/>
              <a:t>7</a:t>
            </a:fld>
            <a:endParaRPr lang="en-US"/>
          </a:p>
        </p:txBody>
      </p:sp>
    </p:spTree>
    <p:extLst>
      <p:ext uri="{BB962C8B-B14F-4D97-AF65-F5344CB8AC3E}">
        <p14:creationId xmlns:p14="http://schemas.microsoft.com/office/powerpoint/2010/main" val="2985150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Perplexity</a:t>
            </a:r>
          </a:p>
          <a:p>
            <a:r>
              <a:rPr lang="en-US" sz="1200" b="0" i="0" kern="1200" dirty="0">
                <a:solidFill>
                  <a:schemeClr val="tx1"/>
                </a:solidFill>
                <a:effectLst/>
                <a:latin typeface="+mn-lt"/>
                <a:ea typeface="+mn-ea"/>
                <a:cs typeface="+mn-cs"/>
              </a:rPr>
              <a:t>Measures how well a language model predicts a sample. Lower perplexity indicates better performance. Commonly used for evaluating language modeling.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BLEU (Bilingual Evaluation Understudy)</a:t>
            </a:r>
          </a:p>
          <a:p>
            <a:r>
              <a:rPr lang="en-US" sz="1200" b="0" i="0" kern="1200" dirty="0">
                <a:solidFill>
                  <a:schemeClr val="tx1"/>
                </a:solidFill>
                <a:effectLst/>
                <a:latin typeface="+mn-lt"/>
                <a:ea typeface="+mn-ea"/>
                <a:cs typeface="+mn-cs"/>
              </a:rPr>
              <a:t>Compares n-gram overlap between model-generated text and reference text. Widely used in machine translation. Scores range from 0 to 1, with higher values indicating better match.</a:t>
            </a:r>
          </a:p>
          <a:p>
            <a:r>
              <a:rPr lang="en-US" sz="1200" b="0" i="0" kern="1200" dirty="0">
                <a:solidFill>
                  <a:schemeClr val="tx1"/>
                </a:solidFill>
                <a:effectLst/>
                <a:latin typeface="+mn-lt"/>
                <a:ea typeface="+mn-ea"/>
                <a:cs typeface="+mn-cs"/>
              </a:rPr>
              <a:t>ROUGE (Recall-Oriented Understudy for </a:t>
            </a:r>
            <a:r>
              <a:rPr lang="en-US" sz="1200" b="0" i="0" kern="1200" dirty="0" err="1">
                <a:solidFill>
                  <a:schemeClr val="tx1"/>
                </a:solidFill>
                <a:effectLst/>
                <a:latin typeface="+mn-lt"/>
                <a:ea typeface="+mn-ea"/>
                <a:cs typeface="+mn-cs"/>
              </a:rPr>
              <a:t>Gisting</a:t>
            </a:r>
            <a:r>
              <a:rPr lang="en-US" sz="1200" b="0" i="0" kern="1200" dirty="0">
                <a:solidFill>
                  <a:schemeClr val="tx1"/>
                </a:solidFill>
                <a:effectLst/>
                <a:latin typeface="+mn-lt"/>
                <a:ea typeface="+mn-ea"/>
                <a:cs typeface="+mn-cs"/>
              </a:rPr>
              <a:t> Evaluation)</a:t>
            </a:r>
          </a:p>
          <a:p>
            <a:r>
              <a:rPr lang="en-US" sz="1200" b="0" i="0" kern="1200" dirty="0">
                <a:solidFill>
                  <a:schemeClr val="tx1"/>
                </a:solidFill>
                <a:effectLst/>
                <a:latin typeface="+mn-lt"/>
                <a:ea typeface="+mn-ea"/>
                <a:cs typeface="+mn-cs"/>
              </a:rPr>
              <a:t>Evaluates summarization quality by measuring overlap of n-grams, word sequences, or longest common subsequences between generated and reference summaries. ROUGE-N, ROUGE-L are common variants.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METEOR</a:t>
            </a:r>
          </a:p>
          <a:p>
            <a:r>
              <a:rPr lang="en-US" sz="1200" b="0" i="0" kern="1200" dirty="0">
                <a:solidFill>
                  <a:schemeClr val="tx1"/>
                </a:solidFill>
                <a:effectLst/>
                <a:latin typeface="+mn-lt"/>
                <a:ea typeface="+mn-ea"/>
                <a:cs typeface="+mn-cs"/>
              </a:rPr>
              <a:t>Improves upon BLEU by incorporating synonyms, stemming, and alignment. Uses precision, recall, and F-score with better correlation to human judgment.</a:t>
            </a:r>
          </a:p>
          <a:p>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BERTScore</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Uses contextual embeddings from BERT to compute similarity between generated and reference texts. Measures precision, recall, and F1 based on cosine similarity.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BLEURT (</a:t>
            </a:r>
            <a:r>
              <a:rPr lang="en-US" sz="1200" b="0" i="0" kern="1200" dirty="0" err="1">
                <a:solidFill>
                  <a:schemeClr val="tx1"/>
                </a:solidFill>
                <a:effectLst/>
                <a:latin typeface="+mn-lt"/>
                <a:ea typeface="+mn-ea"/>
                <a:cs typeface="+mn-cs"/>
              </a:rPr>
              <a:t>BLeu</a:t>
            </a:r>
            <a:r>
              <a:rPr lang="en-US" sz="1200" b="0" i="0" kern="1200" dirty="0">
                <a:solidFill>
                  <a:schemeClr val="tx1"/>
                </a:solidFill>
                <a:effectLst/>
                <a:latin typeface="+mn-lt"/>
                <a:ea typeface="+mn-ea"/>
                <a:cs typeface="+mn-cs"/>
              </a:rPr>
              <a:t> Unsupervised Runtime Testing)</a:t>
            </a:r>
          </a:p>
          <a:p>
            <a:r>
              <a:rPr lang="en-US" sz="1200" b="0" i="0" kern="1200" dirty="0">
                <a:solidFill>
                  <a:schemeClr val="tx1"/>
                </a:solidFill>
                <a:effectLst/>
                <a:latin typeface="+mn-lt"/>
                <a:ea typeface="+mn-ea"/>
                <a:cs typeface="+mn-cs"/>
              </a:rPr>
              <a:t>A learned evaluation metric trained on human judgments. More robust than BLEU for evaluating fluency and quality.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CHRF / CHRF++</a:t>
            </a:r>
          </a:p>
          <a:p>
            <a:r>
              <a:rPr lang="en-US" sz="1200" b="0" i="0" kern="1200" dirty="0">
                <a:solidFill>
                  <a:schemeClr val="tx1"/>
                </a:solidFill>
                <a:effectLst/>
                <a:latin typeface="+mn-lt"/>
                <a:ea typeface="+mn-ea"/>
                <a:cs typeface="+mn-cs"/>
              </a:rPr>
              <a:t>Character n-gram F-score, effective for morphologically rich languages. Works well when word-level overlap is low.</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Exact Match (EM)</a:t>
            </a:r>
          </a:p>
          <a:p>
            <a:r>
              <a:rPr lang="en-US" sz="1200" b="0" i="0" kern="1200" dirty="0">
                <a:solidFill>
                  <a:schemeClr val="tx1"/>
                </a:solidFill>
                <a:effectLst/>
                <a:latin typeface="+mn-lt"/>
                <a:ea typeface="+mn-ea"/>
                <a:cs typeface="+mn-cs"/>
              </a:rPr>
              <a:t>Measures the percentage of predictions that exactly match the ground truth. Common in question answering (e.g., </a:t>
            </a:r>
            <a:r>
              <a:rPr lang="en-US" sz="1200" b="0" i="0" kern="1200" dirty="0" err="1">
                <a:solidFill>
                  <a:schemeClr val="tx1"/>
                </a:solidFill>
                <a:effectLst/>
                <a:latin typeface="+mn-lt"/>
                <a:ea typeface="+mn-ea"/>
                <a:cs typeface="+mn-cs"/>
              </a:rPr>
              <a:t>SQuAD</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F1 Score (Token-level)</a:t>
            </a:r>
          </a:p>
          <a:p>
            <a:r>
              <a:rPr lang="en-US" sz="1200" b="0" i="0" kern="1200" dirty="0">
                <a:solidFill>
                  <a:schemeClr val="tx1"/>
                </a:solidFill>
                <a:effectLst/>
                <a:latin typeface="+mn-lt"/>
                <a:ea typeface="+mn-ea"/>
                <a:cs typeface="+mn-cs"/>
              </a:rPr>
              <a:t>Harmonic mean of precision and recall at the token level. Used in QA and named entity recognition to measure partial credit.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MAUVE</a:t>
            </a:r>
          </a:p>
          <a:p>
            <a:r>
              <a:rPr lang="en-US" sz="1200" b="0" i="0" kern="1200" dirty="0">
                <a:solidFill>
                  <a:schemeClr val="tx1"/>
                </a:solidFill>
                <a:effectLst/>
                <a:latin typeface="+mn-lt"/>
                <a:ea typeface="+mn-ea"/>
                <a:cs typeface="+mn-cs"/>
              </a:rPr>
              <a:t>Compares the divergence between model-generated and human-generated text distributions using statistical testing. Assesses both quality and diversity.</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Self-BLEU</a:t>
            </a:r>
          </a:p>
          <a:p>
            <a:r>
              <a:rPr lang="en-US" sz="1200" b="0" i="0" kern="1200" dirty="0">
                <a:solidFill>
                  <a:schemeClr val="tx1"/>
                </a:solidFill>
                <a:effectLst/>
                <a:latin typeface="+mn-lt"/>
                <a:ea typeface="+mn-ea"/>
                <a:cs typeface="+mn-cs"/>
              </a:rPr>
              <a:t>Measures diversity by computing BLEU score of generated texts against each other. Lower self-BLEU indicates higher diversity.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Distinct-n</a:t>
            </a:r>
          </a:p>
          <a:p>
            <a:r>
              <a:rPr lang="en-US" sz="1200" b="0" i="0" kern="1200" dirty="0">
                <a:solidFill>
                  <a:schemeClr val="tx1"/>
                </a:solidFill>
                <a:effectLst/>
                <a:latin typeface="+mn-lt"/>
                <a:ea typeface="+mn-ea"/>
                <a:cs typeface="+mn-cs"/>
              </a:rPr>
              <a:t>Counts the number of unique n-grams in generated text divided by total n-grams. Evaluates lexical diversity.</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Human Evaluation</a:t>
            </a:r>
          </a:p>
          <a:p>
            <a:r>
              <a:rPr lang="en-US" sz="1200" b="0" i="0" kern="1200" dirty="0">
                <a:solidFill>
                  <a:schemeClr val="tx1"/>
                </a:solidFill>
                <a:effectLst/>
                <a:latin typeface="+mn-lt"/>
                <a:ea typeface="+mn-ea"/>
                <a:cs typeface="+mn-cs"/>
              </a:rPr>
              <a:t>Gold standard involving human raters assessing fluency, coherence, relevance, and factual consistency. Often used to validate automatic metrics.</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Toxicity Score</a:t>
            </a:r>
          </a:p>
          <a:p>
            <a:r>
              <a:rPr lang="en-US" sz="1200" b="0" i="0" kern="1200" dirty="0">
                <a:solidFill>
                  <a:schemeClr val="tx1"/>
                </a:solidFill>
                <a:effectLst/>
                <a:latin typeface="+mn-lt"/>
                <a:ea typeface="+mn-ea"/>
                <a:cs typeface="+mn-cs"/>
              </a:rPr>
              <a:t>Measures the presence of harmful or offensive language using classifiers (e.g., Perspective API). Important for safety evaluation.</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Factuality / Factual Consistency</a:t>
            </a:r>
          </a:p>
          <a:p>
            <a:r>
              <a:rPr lang="en-US" sz="1200" b="0" i="0" kern="1200" dirty="0">
                <a:solidFill>
                  <a:schemeClr val="tx1"/>
                </a:solidFill>
                <a:effectLst/>
                <a:latin typeface="+mn-lt"/>
                <a:ea typeface="+mn-ea"/>
                <a:cs typeface="+mn-cs"/>
              </a:rPr>
              <a:t>Assesses whether model outputs align with factual knowledge. Tools like </a:t>
            </a:r>
            <a:r>
              <a:rPr lang="en-US" sz="1200" b="0" i="0" kern="1200" dirty="0" err="1">
                <a:solidFill>
                  <a:schemeClr val="tx1"/>
                </a:solidFill>
                <a:effectLst/>
                <a:latin typeface="+mn-lt"/>
                <a:ea typeface="+mn-ea"/>
                <a:cs typeface="+mn-cs"/>
              </a:rPr>
              <a:t>FactScore</a:t>
            </a:r>
            <a:r>
              <a:rPr lang="en-US" sz="1200" b="0" i="0" kern="1200" dirty="0">
                <a:solidFill>
                  <a:schemeClr val="tx1"/>
                </a:solidFill>
                <a:effectLst/>
                <a:latin typeface="+mn-lt"/>
                <a:ea typeface="+mn-ea"/>
                <a:cs typeface="+mn-cs"/>
              </a:rPr>
              <a:t> or QA-based verification are used.</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Win Rate (Pairwise Comparison)</a:t>
            </a:r>
          </a:p>
          <a:p>
            <a:r>
              <a:rPr lang="en-US" sz="1200" b="0" i="0" kern="1200" dirty="0">
                <a:solidFill>
                  <a:schemeClr val="tx1"/>
                </a:solidFill>
                <a:effectLst/>
                <a:latin typeface="+mn-lt"/>
                <a:ea typeface="+mn-ea"/>
                <a:cs typeface="+mn-cs"/>
              </a:rPr>
              <a:t>In A/B testing, measures how often one model is preferred over another by humans or automated judges.</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These metrics are often used in combination, as no single metric fully captures all aspects of language generation quality.</a:t>
            </a:r>
          </a:p>
          <a:p>
            <a:endParaRPr lang="en-US" dirty="0"/>
          </a:p>
        </p:txBody>
      </p:sp>
      <p:sp>
        <p:nvSpPr>
          <p:cNvPr id="4" name="Slide Number Placeholder 3"/>
          <p:cNvSpPr>
            <a:spLocks noGrp="1"/>
          </p:cNvSpPr>
          <p:nvPr>
            <p:ph type="sldNum" sz="quarter" idx="5"/>
          </p:nvPr>
        </p:nvSpPr>
        <p:spPr/>
        <p:txBody>
          <a:bodyPr/>
          <a:lstStyle/>
          <a:p>
            <a:fld id="{47E876F2-0A28-4D89-A83F-13B1BA096EA4}" type="slidenum">
              <a:rPr lang="en-US" smtClean="0"/>
              <a:t>9</a:t>
            </a:fld>
            <a:endParaRPr lang="en-US"/>
          </a:p>
        </p:txBody>
      </p:sp>
    </p:spTree>
    <p:extLst>
      <p:ext uri="{BB962C8B-B14F-4D97-AF65-F5344CB8AC3E}">
        <p14:creationId xmlns:p14="http://schemas.microsoft.com/office/powerpoint/2010/main" val="750052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reference blog: https://galileo.ai/blog/rouge-metric</a:t>
            </a:r>
          </a:p>
        </p:txBody>
      </p:sp>
      <p:sp>
        <p:nvSpPr>
          <p:cNvPr id="4" name="Slide Number Placeholder 3"/>
          <p:cNvSpPr>
            <a:spLocks noGrp="1"/>
          </p:cNvSpPr>
          <p:nvPr>
            <p:ph type="sldNum" sz="quarter" idx="5"/>
          </p:nvPr>
        </p:nvSpPr>
        <p:spPr/>
        <p:txBody>
          <a:bodyPr/>
          <a:lstStyle/>
          <a:p>
            <a:fld id="{47E876F2-0A28-4D89-A83F-13B1BA096EA4}" type="slidenum">
              <a:rPr lang="en-US" smtClean="0"/>
              <a:t>10</a:t>
            </a:fld>
            <a:endParaRPr lang="en-US"/>
          </a:p>
        </p:txBody>
      </p:sp>
    </p:spTree>
    <p:extLst>
      <p:ext uri="{BB962C8B-B14F-4D97-AF65-F5344CB8AC3E}">
        <p14:creationId xmlns:p14="http://schemas.microsoft.com/office/powerpoint/2010/main" val="3225415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detailed explanations refer: https://cameronrwolfe.substack.com/p/easily-train-a-specialized-llm-peft</a:t>
            </a:r>
          </a:p>
        </p:txBody>
      </p:sp>
      <p:sp>
        <p:nvSpPr>
          <p:cNvPr id="4" name="Slide Number Placeholder 3"/>
          <p:cNvSpPr>
            <a:spLocks noGrp="1"/>
          </p:cNvSpPr>
          <p:nvPr>
            <p:ph type="sldNum" sz="quarter" idx="5"/>
          </p:nvPr>
        </p:nvSpPr>
        <p:spPr/>
        <p:txBody>
          <a:bodyPr/>
          <a:lstStyle/>
          <a:p>
            <a:fld id="{47E876F2-0A28-4D89-A83F-13B1BA096EA4}" type="slidenum">
              <a:rPr lang="en-US" smtClean="0"/>
              <a:t>12</a:t>
            </a:fld>
            <a:endParaRPr lang="en-US"/>
          </a:p>
        </p:txBody>
      </p:sp>
    </p:spTree>
    <p:extLst>
      <p:ext uri="{BB962C8B-B14F-4D97-AF65-F5344CB8AC3E}">
        <p14:creationId xmlns:p14="http://schemas.microsoft.com/office/powerpoint/2010/main" val="3470524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 Practical Tips for fine-tuning LLM: https://magazine.sebastianraschka.com/p/practical-tips-for-finetuning-llms</a:t>
            </a:r>
          </a:p>
        </p:txBody>
      </p:sp>
      <p:sp>
        <p:nvSpPr>
          <p:cNvPr id="4" name="Slide Number Placeholder 3"/>
          <p:cNvSpPr>
            <a:spLocks noGrp="1"/>
          </p:cNvSpPr>
          <p:nvPr>
            <p:ph type="sldNum" sz="quarter" idx="5"/>
          </p:nvPr>
        </p:nvSpPr>
        <p:spPr/>
        <p:txBody>
          <a:bodyPr/>
          <a:lstStyle/>
          <a:p>
            <a:fld id="{47E876F2-0A28-4D89-A83F-13B1BA096EA4}" type="slidenum">
              <a:rPr lang="en-US" smtClean="0"/>
              <a:t>14</a:t>
            </a:fld>
            <a:endParaRPr lang="en-US"/>
          </a:p>
        </p:txBody>
      </p:sp>
    </p:spTree>
    <p:extLst>
      <p:ext uri="{BB962C8B-B14F-4D97-AF65-F5344CB8AC3E}">
        <p14:creationId xmlns:p14="http://schemas.microsoft.com/office/powerpoint/2010/main" val="3947736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    CODE SNIPPET 1: Controlling Generation</a:t>
            </a:r>
          </a:p>
          <a:p>
            <a:r>
              <a:rPr dirty="0"/>
              <a:t>    </a:t>
            </a:r>
            <a:r>
              <a:rPr dirty="0" err="1"/>
              <a:t>model.generate</a:t>
            </a:r>
            <a:r>
              <a:rPr dirty="0"/>
              <a:t>(</a:t>
            </a:r>
          </a:p>
          <a:p>
            <a:r>
              <a:rPr dirty="0"/>
              <a:t>        inputs, </a:t>
            </a:r>
          </a:p>
          <a:p>
            <a:r>
              <a:rPr dirty="0"/>
              <a:t>        </a:t>
            </a:r>
            <a:r>
              <a:rPr dirty="0" err="1"/>
              <a:t>max_new_tokens</a:t>
            </a:r>
            <a:r>
              <a:rPr dirty="0"/>
              <a:t>=20, </a:t>
            </a:r>
          </a:p>
          <a:p>
            <a:r>
              <a:rPr dirty="0"/>
              <a:t>        </a:t>
            </a:r>
            <a:r>
              <a:rPr dirty="0" err="1"/>
              <a:t>do_sample</a:t>
            </a:r>
            <a:r>
              <a:rPr dirty="0"/>
              <a:t>=True, </a:t>
            </a:r>
          </a:p>
          <a:p>
            <a:r>
              <a:rPr dirty="0"/>
              <a:t>        </a:t>
            </a:r>
            <a:r>
              <a:rPr dirty="0" err="1"/>
              <a:t>top_p</a:t>
            </a:r>
            <a:r>
              <a:rPr dirty="0"/>
              <a:t>=0.92, </a:t>
            </a:r>
          </a:p>
          <a:p>
            <a:r>
              <a:rPr dirty="0"/>
              <a:t>        temperature=0.8</a:t>
            </a:r>
          </a:p>
          <a:p>
            <a:r>
              <a:rPr dirty="0"/>
              <a:t>    )</a:t>
            </a:r>
          </a:p>
          <a:p>
            <a:endParaRPr dirty="0"/>
          </a:p>
          <a:p>
            <a:r>
              <a:rPr dirty="0"/>
              <a:t>    CODE SNIPPET 2: </a:t>
            </a:r>
            <a:r>
              <a:rPr dirty="0" err="1"/>
              <a:t>LoRA</a:t>
            </a:r>
            <a:r>
              <a:rPr dirty="0"/>
              <a:t> Config</a:t>
            </a:r>
          </a:p>
          <a:p>
            <a:r>
              <a:rPr dirty="0"/>
              <a:t>    </a:t>
            </a:r>
            <a:r>
              <a:rPr dirty="0" err="1"/>
              <a:t>peft_config</a:t>
            </a:r>
            <a:r>
              <a:rPr dirty="0"/>
              <a:t> = </a:t>
            </a:r>
            <a:r>
              <a:rPr dirty="0" err="1"/>
              <a:t>LoraConfig</a:t>
            </a:r>
            <a:r>
              <a:rPr dirty="0"/>
              <a:t>(</a:t>
            </a:r>
          </a:p>
          <a:p>
            <a:r>
              <a:rPr dirty="0"/>
              <a:t>        </a:t>
            </a:r>
            <a:r>
              <a:rPr dirty="0" err="1"/>
              <a:t>task_type</a:t>
            </a:r>
            <a:r>
              <a:rPr dirty="0"/>
              <a:t>=TaskType.SEQ_2_SEQ_LM,</a:t>
            </a:r>
          </a:p>
          <a:p>
            <a:r>
              <a:rPr dirty="0"/>
              <a:t>        r=8,</a:t>
            </a:r>
          </a:p>
          <a:p>
            <a:r>
              <a:rPr dirty="0"/>
              <a:t>        </a:t>
            </a:r>
            <a:r>
              <a:rPr dirty="0" err="1"/>
              <a:t>lora_alpha</a:t>
            </a:r>
            <a:r>
              <a:rPr dirty="0"/>
              <a:t>=32,</a:t>
            </a:r>
          </a:p>
          <a:p>
            <a:r>
              <a:rPr dirty="0"/>
              <a:t>        </a:t>
            </a:r>
            <a:r>
              <a:rPr dirty="0" err="1"/>
              <a:t>lora_dropout</a:t>
            </a:r>
            <a:r>
              <a:rPr dirty="0"/>
              <a:t>=0.1</a:t>
            </a:r>
          </a:p>
          <a:p>
            <a:r>
              <a:rPr dirty="0"/>
              <a:t>    )</a:t>
            </a:r>
          </a:p>
          <a:p>
            <a:r>
              <a:rPr dirty="0"/>
              <a:t>    model = </a:t>
            </a:r>
            <a:r>
              <a:rPr dirty="0" err="1"/>
              <a:t>get_peft_model</a:t>
            </a:r>
            <a:r>
              <a:rPr dirty="0"/>
              <a:t>(</a:t>
            </a:r>
            <a:r>
              <a:rPr dirty="0" err="1"/>
              <a:t>original_model</a:t>
            </a:r>
            <a:r>
              <a:rPr dirty="0"/>
              <a:t>, </a:t>
            </a:r>
            <a:r>
              <a:rPr dirty="0" err="1"/>
              <a:t>peft_config</a:t>
            </a:r>
            <a:r>
              <a:rPr dirty="0"/>
              <a:t>)</a:t>
            </a:r>
          </a:p>
          <a:p>
            <a:r>
              <a:rPr dirty="0"/>
              <a:t>    </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6355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41293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76885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0145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78348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37011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fld id="{5BCAD085-E8A6-8845-BD4E-CB4CCA059FC4}" type="datetimeFigureOut">
              <a:rPr lang="en-US" smtClean="0"/>
              <a:t>12/20/2025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5775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74027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53913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51591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838158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561706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752280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12/20/2025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43739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12/20/2025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048757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931934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703615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78697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fld id="{5BCAD085-E8A6-8845-BD4E-CB4CCA059FC4}" type="datetimeFigureOut">
              <a:rPr lang="en-US" smtClean="0"/>
              <a:t>12/20/2025</a:t>
            </a:fld>
            <a:endParaRPr lang="en-US"/>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090634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4.pn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5.pn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5.png"/><Relationship Id="rId7" Type="http://schemas.openxmlformats.org/officeDocument/2006/relationships/diagramColors" Target="../diagrams/colors2.xml"/><Relationship Id="rId2" Type="http://schemas.openxmlformats.org/officeDocument/2006/relationships/image" Target="../media/image4.png"/><Relationship Id="rId1" Type="http://schemas.openxmlformats.org/officeDocument/2006/relationships/slideLayout" Target="../slideLayouts/slideLayout18.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png"/><Relationship Id="rId1" Type="http://schemas.openxmlformats.org/officeDocument/2006/relationships/slideLayout" Target="../slideLayouts/slideLayout1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hyperlink" Target="https://cameronrwolfe.substack.com/p/easily-train-a-specialized-llm-peft" TargetMode="External"/><Relationship Id="rId5" Type="http://schemas.openxmlformats.org/officeDocument/2006/relationships/image" Target="../media/image9.jpeg"/><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e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hyperlink" Target="https://arxiv.org/abs/2106.09685" TargetMode="External"/><Relationship Id="rId2" Type="http://schemas.openxmlformats.org/officeDocument/2006/relationships/hyperlink" Target="https://arxiv.org/abs/1904.09751" TargetMode="External"/><Relationship Id="rId1" Type="http://schemas.openxmlformats.org/officeDocument/2006/relationships/slideLayout" Target="../slideLayouts/slideLayout18.xml"/><Relationship Id="rId6" Type="http://schemas.openxmlformats.org/officeDocument/2006/relationships/hyperlink" Target="https://arxiv.org/pdf/2312.10997" TargetMode="External"/><Relationship Id="rId5" Type="http://schemas.openxmlformats.org/officeDocument/2006/relationships/hyperlink" Target="https://huggingface.co/docs/peft/index" TargetMode="External"/><Relationship Id="rId4" Type="http://schemas.openxmlformats.org/officeDocument/2006/relationships/hyperlink" Target="https://arxiv.org/abs/2309.0426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7CCBFA6-32E5-4FFD-A52A-9EA1CBF9D4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8B3A8DA3-6E81-4BA8-A084-FE4E32A32B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rcRect r="50000"/>
          <a:stretch>
            <a:fillRect/>
          </a:stretch>
        </p:blipFill>
        <p:spPr>
          <a:xfrm>
            <a:off x="0" y="0"/>
            <a:ext cx="4572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p:spPr>
      </p:pic>
      <p:sp>
        <p:nvSpPr>
          <p:cNvPr id="2" name="Title 1"/>
          <p:cNvSpPr>
            <a:spLocks noGrp="1"/>
          </p:cNvSpPr>
          <p:nvPr>
            <p:ph type="ctrTitle"/>
          </p:nvPr>
        </p:nvSpPr>
        <p:spPr>
          <a:xfrm>
            <a:off x="685331" y="1343377"/>
            <a:ext cx="3645369" cy="3930297"/>
          </a:xfrm>
        </p:spPr>
        <p:txBody>
          <a:bodyPr vert="horz" lIns="91440" tIns="45720" rIns="91440" bIns="45720" rtlCol="0" anchor="ctr">
            <a:normAutofit/>
          </a:bodyPr>
          <a:lstStyle/>
          <a:p>
            <a:pPr algn="l" defTabSz="914400"/>
            <a:r>
              <a:rPr lang="en-US" sz="3700" kern="1200">
                <a:latin typeface="+mj-lt"/>
                <a:ea typeface="+mj-ea"/>
                <a:cs typeface="+mj-cs"/>
              </a:rPr>
              <a:t>Advanced Text Generation &amp; Summarization</a:t>
            </a:r>
          </a:p>
        </p:txBody>
      </p:sp>
      <p:sp>
        <p:nvSpPr>
          <p:cNvPr id="13" name="Rectangle 12">
            <a:extLst>
              <a:ext uri="{FF2B5EF4-FFF2-40B4-BE49-F238E27FC236}">
                <a16:creationId xmlns:a16="http://schemas.microsoft.com/office/drawing/2014/main" id="{88C8491E-818C-4AE7-BBAA-80BE32FD99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07625" y="0"/>
            <a:ext cx="4572000" cy="6858000"/>
          </a:xfrm>
          <a:prstGeom prst="rect">
            <a:avLst/>
          </a:prstGeom>
          <a:gradFill>
            <a:gsLst>
              <a:gs pos="0">
                <a:srgbClr val="FFFFFF">
                  <a:alpha val="20000"/>
                </a:srgbClr>
              </a:gs>
              <a:gs pos="100000">
                <a:srgbClr val="B8B8B8">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4933631" y="1343377"/>
            <a:ext cx="3645370" cy="3930297"/>
          </a:xfrm>
        </p:spPr>
        <p:txBody>
          <a:bodyPr vert="horz" lIns="91440" tIns="45720" rIns="91440" bIns="45720" rtlCol="0" anchor="ctr">
            <a:normAutofit/>
          </a:bodyPr>
          <a:lstStyle/>
          <a:p>
            <a:pPr indent="-228600" algn="l" defTabSz="914400">
              <a:lnSpc>
                <a:spcPct val="110000"/>
              </a:lnSpc>
              <a:buFont typeface="Arial" panose="020B0604020202020204" pitchFamily="34" charset="0"/>
              <a:buChar char="•"/>
            </a:pPr>
            <a:r>
              <a:rPr lang="en-US">
                <a:solidFill>
                  <a:schemeClr val="tx1"/>
                </a:solidFill>
              </a:rPr>
              <a:t>Module 06: Controlling Probability &amp; Efficient Fine-Tuning (PEFT/LoRA)</a:t>
            </a:r>
          </a:p>
          <a:p>
            <a:pPr indent="-228600" algn="l" defTabSz="914400">
              <a:lnSpc>
                <a:spcPct val="110000"/>
              </a:lnSpc>
              <a:buFont typeface="Arial" panose="020B0604020202020204" pitchFamily="34" charset="0"/>
              <a:buChar char="•"/>
            </a:pPr>
            <a:endParaRPr lang="en-US">
              <a:solidFill>
                <a:schemeClr val="tx1"/>
              </a:solidFill>
            </a:endParaRPr>
          </a:p>
          <a:p>
            <a:pPr indent="-228600" algn="l" defTabSz="914400">
              <a:lnSpc>
                <a:spcPct val="110000"/>
              </a:lnSpc>
              <a:buFont typeface="Arial" panose="020B0604020202020204" pitchFamily="34" charset="0"/>
              <a:buChar char="•"/>
            </a:pPr>
            <a:r>
              <a:rPr lang="en-US">
                <a:solidFill>
                  <a:schemeClr val="tx1"/>
                </a:solidFill>
              </a:rPr>
              <a:t>Theme: "Taming the Stochastic Parrot: Control &amp; Efficiency in Generation"</a:t>
            </a:r>
          </a:p>
        </p:txBody>
      </p:sp>
      <p:sp>
        <p:nvSpPr>
          <p:cNvPr id="4" name="TextBox 3"/>
          <p:cNvSpPr txBox="1"/>
          <p:nvPr/>
        </p:nvSpPr>
        <p:spPr>
          <a:xfrm>
            <a:off x="3732022" y="3589866"/>
            <a:ext cx="4688205" cy="2304628"/>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endParaRPr lang="en-US" sz="1700" dirty="0"/>
          </a:p>
          <a:p>
            <a:pPr indent="-228600" defTabSz="914400">
              <a:lnSpc>
                <a:spcPct val="90000"/>
              </a:lnSpc>
              <a:spcAft>
                <a:spcPts val="600"/>
              </a:spcAft>
              <a:buFont typeface="Arial" panose="020B0604020202020204" pitchFamily="34" charset="0"/>
              <a:buChar char="•"/>
              <a:defRPr sz="1200" i="1"/>
            </a:pPr>
            <a:endParaRPr lang="en-US" sz="1700" dirty="0"/>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4951" y="0"/>
            <a:ext cx="609904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3" name="Rectangle 42">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044951" cy="68580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805" y="1314450"/>
            <a:ext cx="2133002" cy="3680244"/>
          </a:xfrm>
        </p:spPr>
        <p:txBody>
          <a:bodyPr>
            <a:normAutofit/>
          </a:bodyPr>
          <a:lstStyle/>
          <a:p>
            <a:pPr algn="l"/>
            <a:r>
              <a:rPr lang="en-US" sz="2100"/>
              <a:t>The Autoregressive Engine</a:t>
            </a:r>
          </a:p>
        </p:txBody>
      </p:sp>
      <p:pic>
        <p:nvPicPr>
          <p:cNvPr id="45" name="Picture 44">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6700" b="77917"/>
          <a:stretch/>
        </p:blipFill>
        <p:spPr>
          <a:xfrm>
            <a:off x="0" y="0"/>
            <a:ext cx="3044951" cy="1514475"/>
          </a:xfrm>
          <a:prstGeom prst="rect">
            <a:avLst/>
          </a:prstGeom>
        </p:spPr>
      </p:pic>
      <p:pic>
        <p:nvPicPr>
          <p:cNvPr id="47" name="Picture 46">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78750" t="72830" b="14149"/>
          <a:stretch/>
        </p:blipFill>
        <p:spPr>
          <a:xfrm>
            <a:off x="1032794" y="5962903"/>
            <a:ext cx="1943100" cy="892925"/>
          </a:xfrm>
          <a:prstGeom prst="rect">
            <a:avLst/>
          </a:prstGeom>
        </p:spPr>
      </p:pic>
      <p:graphicFrame>
        <p:nvGraphicFramePr>
          <p:cNvPr id="36" name="Content Placeholder 2">
            <a:extLst>
              <a:ext uri="{FF2B5EF4-FFF2-40B4-BE49-F238E27FC236}">
                <a16:creationId xmlns:a16="http://schemas.microsoft.com/office/drawing/2014/main" id="{BB5049A9-350D-3498-4997-955586C43FD2}"/>
              </a:ext>
            </a:extLst>
          </p:cNvPr>
          <p:cNvGraphicFramePr>
            <a:graphicFrameLocks noGrp="1"/>
          </p:cNvGraphicFramePr>
          <p:nvPr>
            <p:ph idx="1"/>
            <p:extLst>
              <p:ext uri="{D42A27DB-BD31-4B8C-83A1-F6EECF244321}">
                <p14:modId xmlns:p14="http://schemas.microsoft.com/office/powerpoint/2010/main" val="3444770823"/>
              </p:ext>
            </p:extLst>
          </p:nvPr>
        </p:nvGraphicFramePr>
        <p:xfrm>
          <a:off x="3445668" y="889000"/>
          <a:ext cx="5012532" cy="460692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4951" y="0"/>
            <a:ext cx="609904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044951" cy="68580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25286" y="1314450"/>
            <a:ext cx="2534581" cy="3680244"/>
          </a:xfrm>
        </p:spPr>
        <p:txBody>
          <a:bodyPr>
            <a:normAutofit/>
          </a:bodyPr>
          <a:lstStyle/>
          <a:p>
            <a:pPr algn="l"/>
            <a:r>
              <a:rPr lang="en-US" sz="3500" dirty="0"/>
              <a:t>Strategy 1: Greedy Search &amp; Beam Search</a:t>
            </a:r>
          </a:p>
        </p:txBody>
      </p:sp>
      <p:pic>
        <p:nvPicPr>
          <p:cNvPr id="14" name="Picture 13">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66700" b="77917"/>
          <a:stretch/>
        </p:blipFill>
        <p:spPr>
          <a:xfrm>
            <a:off x="0" y="0"/>
            <a:ext cx="3044951" cy="1514475"/>
          </a:xfrm>
          <a:prstGeom prst="rect">
            <a:avLst/>
          </a:prstGeom>
        </p:spPr>
      </p:pic>
      <p:pic>
        <p:nvPicPr>
          <p:cNvPr id="16" name="Picture 15">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032794" y="5962903"/>
            <a:ext cx="1943100" cy="892925"/>
          </a:xfrm>
          <a:prstGeom prst="rect">
            <a:avLst/>
          </a:prstGeom>
        </p:spPr>
      </p:pic>
      <p:graphicFrame>
        <p:nvGraphicFramePr>
          <p:cNvPr id="5" name="Content Placeholder 2">
            <a:extLst>
              <a:ext uri="{FF2B5EF4-FFF2-40B4-BE49-F238E27FC236}">
                <a16:creationId xmlns:a16="http://schemas.microsoft.com/office/drawing/2014/main" id="{E3BAC1C0-0DCB-4C62-6C83-C07180075689}"/>
              </a:ext>
            </a:extLst>
          </p:cNvPr>
          <p:cNvGraphicFramePr>
            <a:graphicFrameLocks noGrp="1"/>
          </p:cNvGraphicFramePr>
          <p:nvPr>
            <p:ph idx="1"/>
            <p:extLst>
              <p:ext uri="{D42A27DB-BD31-4B8C-83A1-F6EECF244321}">
                <p14:modId xmlns:p14="http://schemas.microsoft.com/office/powerpoint/2010/main" val="788622379"/>
              </p:ext>
            </p:extLst>
          </p:nvPr>
        </p:nvGraphicFramePr>
        <p:xfrm>
          <a:off x="3445668" y="889000"/>
          <a:ext cx="5012532" cy="46069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045EDB-9848-48E1-AF93-51B94A6B4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8539" y="1343991"/>
            <a:ext cx="2735235" cy="4157256"/>
          </a:xfrm>
        </p:spPr>
        <p:txBody>
          <a:bodyPr>
            <a:normAutofit/>
          </a:bodyPr>
          <a:lstStyle/>
          <a:p>
            <a:pPr algn="l"/>
            <a:r>
              <a:rPr lang="en-US" sz="3800" dirty="0"/>
              <a:t>Strategy 2: Sampling (The "Chaos" Knobs)</a:t>
            </a:r>
          </a:p>
        </p:txBody>
      </p:sp>
      <p:sp>
        <p:nvSpPr>
          <p:cNvPr id="11" name="Rectangle: Rounded Corners 10">
            <a:extLst>
              <a:ext uri="{FF2B5EF4-FFF2-40B4-BE49-F238E27FC236}">
                <a16:creationId xmlns:a16="http://schemas.microsoft.com/office/drawing/2014/main" id="{099DAEF2-2587-42F9-A6E0-D0002FD4D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722" y="1253578"/>
            <a:ext cx="5194739" cy="4338083"/>
          </a:xfrm>
          <a:prstGeom prst="roundRect">
            <a:avLst>
              <a:gd name="adj" fmla="val 2158"/>
            </a:avLst>
          </a:prstGeom>
          <a:gradFill>
            <a:gsLst>
              <a:gs pos="0">
                <a:schemeClr val="bg1">
                  <a:lumMod val="95000"/>
                </a:schemeClr>
              </a:gs>
              <a:gs pos="100000">
                <a:schemeClr val="bg1">
                  <a:lumMod val="85000"/>
                </a:schemeClr>
              </a:gs>
            </a:gsLst>
            <a:lin ang="5400000" scaled="0"/>
          </a:gradFill>
          <a:ln w="82550" cap="sq">
            <a:solidFill>
              <a:schemeClr val="bg1">
                <a:lumMod val="95000"/>
              </a:schemeClr>
            </a:solidFill>
            <a:miter lim="800000"/>
          </a:ln>
          <a:scene3d>
            <a:camera prst="orthographicFront"/>
            <a:lightRig rig="threePt" dir="t">
              <a:rot lat="0" lon="0" rev="2700000"/>
            </a:lightRig>
          </a:scene3d>
          <a:sp3d contourW="6350">
            <a:bevelT h="38100"/>
            <a:contourClr>
              <a:schemeClr val="bg1">
                <a:lumMod val="65000"/>
              </a:schemeClr>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F96B48BD-04DD-4A15-B184-476ECCC40E5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b="74141"/>
          <a:stretch/>
        </p:blipFill>
        <p:spPr>
          <a:xfrm>
            <a:off x="0" y="1"/>
            <a:ext cx="9144000" cy="1773382"/>
          </a:xfrm>
          <a:prstGeom prst="rect">
            <a:avLst/>
          </a:prstGeom>
        </p:spPr>
      </p:pic>
      <p:graphicFrame>
        <p:nvGraphicFramePr>
          <p:cNvPr id="5" name="Content Placeholder 2">
            <a:extLst>
              <a:ext uri="{FF2B5EF4-FFF2-40B4-BE49-F238E27FC236}">
                <a16:creationId xmlns:a16="http://schemas.microsoft.com/office/drawing/2014/main" id="{3C911C74-5E92-421C-3081-5BECB296EE26}"/>
              </a:ext>
            </a:extLst>
          </p:cNvPr>
          <p:cNvGraphicFramePr>
            <a:graphicFrameLocks noGrp="1"/>
          </p:cNvGraphicFramePr>
          <p:nvPr>
            <p:ph idx="1"/>
            <p:extLst>
              <p:ext uri="{D42A27DB-BD31-4B8C-83A1-F6EECF244321}">
                <p14:modId xmlns:p14="http://schemas.microsoft.com/office/powerpoint/2010/main" val="1725362259"/>
              </p:ext>
            </p:extLst>
          </p:nvPr>
        </p:nvGraphicFramePr>
        <p:xfrm>
          <a:off x="3723577" y="1625717"/>
          <a:ext cx="4729028" cy="3593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F4DB63-A191-45D9-8A53-9B18F8FE2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C0BB8E50-9569-495A-A548-A5AD50553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6F26545-4582-4DBE-973B-ED1BC9CBD2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891"/>
            <a:ext cx="9141714" cy="2286002"/>
          </a:xfrm>
          <a:prstGeom prst="rect">
            <a:avLst/>
          </a:prstGeom>
          <a:solidFill>
            <a:schemeClr val="tx1"/>
          </a:solidFill>
          <a:ln>
            <a:noFill/>
          </a:ln>
          <a:effectLst>
            <a:outerShdw blurRad="889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E47A6981-7EBF-4F2B-BD20-3124170BF88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77037" b="73004"/>
          <a:stretch/>
        </p:blipFill>
        <p:spPr>
          <a:xfrm>
            <a:off x="57957" y="-1"/>
            <a:ext cx="954016" cy="841175"/>
          </a:xfrm>
          <a:prstGeom prst="rect">
            <a:avLst/>
          </a:prstGeom>
        </p:spPr>
      </p:pic>
      <p:pic>
        <p:nvPicPr>
          <p:cNvPr id="16" name="Picture 15">
            <a:extLst>
              <a:ext uri="{FF2B5EF4-FFF2-40B4-BE49-F238E27FC236}">
                <a16:creationId xmlns:a16="http://schemas.microsoft.com/office/drawing/2014/main" id="{6497DCFF-C2AA-4065-BFCF-1E7535B0D8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55924" t="86960" r="29150"/>
          <a:stretch/>
        </p:blipFill>
        <p:spPr>
          <a:xfrm>
            <a:off x="8296316" y="-1"/>
            <a:ext cx="845398" cy="553967"/>
          </a:xfrm>
          <a:prstGeom prst="rect">
            <a:avLst/>
          </a:prstGeom>
        </p:spPr>
      </p:pic>
      <p:pic>
        <p:nvPicPr>
          <p:cNvPr id="18" name="Picture 17">
            <a:extLst>
              <a:ext uri="{FF2B5EF4-FFF2-40B4-BE49-F238E27FC236}">
                <a16:creationId xmlns:a16="http://schemas.microsoft.com/office/drawing/2014/main" id="{15E1159C-5B31-49A8-A933-C1179723C53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89959" t="72411" r="-74" b="13790"/>
          <a:stretch/>
        </p:blipFill>
        <p:spPr>
          <a:xfrm>
            <a:off x="57957" y="1444827"/>
            <a:ext cx="822228" cy="841175"/>
          </a:xfrm>
          <a:custGeom>
            <a:avLst/>
            <a:gdLst>
              <a:gd name="connsiteX0" fmla="*/ 0 w 915864"/>
              <a:gd name="connsiteY0" fmla="*/ 0 h 702727"/>
              <a:gd name="connsiteX1" fmla="*/ 915864 w 915864"/>
              <a:gd name="connsiteY1" fmla="*/ 0 h 702727"/>
              <a:gd name="connsiteX2" fmla="*/ 915864 w 915864"/>
              <a:gd name="connsiteY2" fmla="*/ 702727 h 702727"/>
              <a:gd name="connsiteX3" fmla="*/ 176126 w 915864"/>
              <a:gd name="connsiteY3" fmla="*/ 702727 h 702727"/>
              <a:gd name="connsiteX4" fmla="*/ 175195 w 915864"/>
              <a:gd name="connsiteY4" fmla="*/ 702179 h 702727"/>
              <a:gd name="connsiteX5" fmla="*/ 45222 w 915864"/>
              <a:gd name="connsiteY5" fmla="*/ 592499 h 702727"/>
              <a:gd name="connsiteX6" fmla="*/ 0 w 915864"/>
              <a:gd name="connsiteY6" fmla="*/ 531614 h 702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5864" h="702727">
                <a:moveTo>
                  <a:pt x="0" y="0"/>
                </a:moveTo>
                <a:lnTo>
                  <a:pt x="915864" y="0"/>
                </a:lnTo>
                <a:lnTo>
                  <a:pt x="915864" y="702727"/>
                </a:lnTo>
                <a:lnTo>
                  <a:pt x="176126" y="702727"/>
                </a:lnTo>
                <a:lnTo>
                  <a:pt x="175195" y="702179"/>
                </a:lnTo>
                <a:cubicBezTo>
                  <a:pt x="126139" y="669596"/>
                  <a:pt x="82453" y="632772"/>
                  <a:pt x="45222" y="592499"/>
                </a:cubicBezTo>
                <a:lnTo>
                  <a:pt x="0" y="531614"/>
                </a:lnTo>
                <a:close/>
              </a:path>
            </a:pathLst>
          </a:custGeom>
        </p:spPr>
      </p:pic>
      <p:pic>
        <p:nvPicPr>
          <p:cNvPr id="20" name="Picture 19">
            <a:extLst>
              <a:ext uri="{FF2B5EF4-FFF2-40B4-BE49-F238E27FC236}">
                <a16:creationId xmlns:a16="http://schemas.microsoft.com/office/drawing/2014/main" id="{DA9BD01A-0D38-48EA-98E5-BB66386F39B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82524" t="71774" r="2564"/>
          <a:stretch/>
        </p:blipFill>
        <p:spPr>
          <a:xfrm>
            <a:off x="8277514" y="1071807"/>
            <a:ext cx="866486" cy="1230086"/>
          </a:xfrm>
          <a:prstGeom prst="rect">
            <a:avLst/>
          </a:prstGeom>
        </p:spPr>
      </p:pic>
      <p:sp>
        <p:nvSpPr>
          <p:cNvPr id="2" name="Title 1"/>
          <p:cNvSpPr>
            <a:spLocks noGrp="1"/>
          </p:cNvSpPr>
          <p:nvPr>
            <p:ph type="title"/>
          </p:nvPr>
        </p:nvSpPr>
        <p:spPr>
          <a:xfrm>
            <a:off x="685331" y="439924"/>
            <a:ext cx="7773338" cy="1437937"/>
          </a:xfrm>
        </p:spPr>
        <p:txBody>
          <a:bodyPr>
            <a:normAutofit/>
          </a:bodyPr>
          <a:lstStyle/>
          <a:p>
            <a:r>
              <a:rPr lang="en-US">
                <a:solidFill>
                  <a:schemeClr val="bg1"/>
                </a:solidFill>
              </a:rPr>
              <a:t>Strategy 3: Top-K &amp; Nucleus (Top-p) Sampling</a:t>
            </a:r>
          </a:p>
        </p:txBody>
      </p:sp>
      <p:sp>
        <p:nvSpPr>
          <p:cNvPr id="3" name="Content Placeholder 2"/>
          <p:cNvSpPr>
            <a:spLocks noGrp="1"/>
          </p:cNvSpPr>
          <p:nvPr>
            <p:ph idx="1"/>
          </p:nvPr>
        </p:nvSpPr>
        <p:spPr>
          <a:xfrm>
            <a:off x="685330" y="2705878"/>
            <a:ext cx="7772870" cy="3085322"/>
          </a:xfrm>
        </p:spPr>
        <p:txBody>
          <a:bodyPr anchor="ctr">
            <a:normAutofit/>
          </a:bodyPr>
          <a:lstStyle/>
          <a:p>
            <a:endParaRPr lang="en-US" sz="1700"/>
          </a:p>
          <a:p>
            <a:r>
              <a:rPr lang="en-US" sz="1700" b="1"/>
              <a:t>The Modern Standard.</a:t>
            </a:r>
          </a:p>
          <a:p>
            <a:r>
              <a:rPr lang="en-US" sz="1700" b="1"/>
              <a:t>Top-K:</a:t>
            </a:r>
            <a:r>
              <a:rPr lang="en-US" sz="1700"/>
              <a:t> Only sample from the top K (e.g., 50) words. Cuts off the "long tail".</a:t>
            </a:r>
          </a:p>
          <a:p>
            <a:r>
              <a:rPr lang="en-US" sz="1700" b="1"/>
              <a:t>Nucleus (Top-p):</a:t>
            </a:r>
            <a:r>
              <a:rPr lang="en-US" sz="1700"/>
              <a:t> Dynamic. Sample from smallest set of words where cumulative prob = p (e.g., 0.9).</a:t>
            </a:r>
          </a:p>
          <a:p>
            <a:pPr lvl="1"/>
            <a:r>
              <a:rPr lang="en-US" sz="1700"/>
              <a:t>Why it wins: It adapts. Set is small if model is sure, large if unsure.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F4DB63-A191-45D9-8A53-9B18F8FE2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C0BB8E50-9569-495A-A548-A5AD50553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6F26545-4582-4DBE-973B-ED1BC9CBD2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891"/>
            <a:ext cx="9141714" cy="2286002"/>
          </a:xfrm>
          <a:prstGeom prst="rect">
            <a:avLst/>
          </a:prstGeom>
          <a:solidFill>
            <a:schemeClr val="tx1"/>
          </a:solidFill>
          <a:ln>
            <a:noFill/>
          </a:ln>
          <a:effectLst>
            <a:outerShdw blurRad="889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E47A6981-7EBF-4F2B-BD20-3124170BF88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77037" b="73004"/>
          <a:stretch/>
        </p:blipFill>
        <p:spPr>
          <a:xfrm>
            <a:off x="57957" y="-1"/>
            <a:ext cx="954016" cy="841175"/>
          </a:xfrm>
          <a:prstGeom prst="rect">
            <a:avLst/>
          </a:prstGeom>
        </p:spPr>
      </p:pic>
      <p:pic>
        <p:nvPicPr>
          <p:cNvPr id="16" name="Picture 15">
            <a:extLst>
              <a:ext uri="{FF2B5EF4-FFF2-40B4-BE49-F238E27FC236}">
                <a16:creationId xmlns:a16="http://schemas.microsoft.com/office/drawing/2014/main" id="{6497DCFF-C2AA-4065-BFCF-1E7535B0D8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55924" t="86960" r="29150"/>
          <a:stretch/>
        </p:blipFill>
        <p:spPr>
          <a:xfrm>
            <a:off x="8296316" y="-1"/>
            <a:ext cx="845398" cy="553967"/>
          </a:xfrm>
          <a:prstGeom prst="rect">
            <a:avLst/>
          </a:prstGeom>
        </p:spPr>
      </p:pic>
      <p:pic>
        <p:nvPicPr>
          <p:cNvPr id="18" name="Picture 17">
            <a:extLst>
              <a:ext uri="{FF2B5EF4-FFF2-40B4-BE49-F238E27FC236}">
                <a16:creationId xmlns:a16="http://schemas.microsoft.com/office/drawing/2014/main" id="{15E1159C-5B31-49A8-A933-C1179723C53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89959" t="72411" r="-74" b="13790"/>
          <a:stretch/>
        </p:blipFill>
        <p:spPr>
          <a:xfrm>
            <a:off x="57957" y="1444827"/>
            <a:ext cx="822228" cy="841175"/>
          </a:xfrm>
          <a:custGeom>
            <a:avLst/>
            <a:gdLst>
              <a:gd name="connsiteX0" fmla="*/ 0 w 915864"/>
              <a:gd name="connsiteY0" fmla="*/ 0 h 702727"/>
              <a:gd name="connsiteX1" fmla="*/ 915864 w 915864"/>
              <a:gd name="connsiteY1" fmla="*/ 0 h 702727"/>
              <a:gd name="connsiteX2" fmla="*/ 915864 w 915864"/>
              <a:gd name="connsiteY2" fmla="*/ 702727 h 702727"/>
              <a:gd name="connsiteX3" fmla="*/ 176126 w 915864"/>
              <a:gd name="connsiteY3" fmla="*/ 702727 h 702727"/>
              <a:gd name="connsiteX4" fmla="*/ 175195 w 915864"/>
              <a:gd name="connsiteY4" fmla="*/ 702179 h 702727"/>
              <a:gd name="connsiteX5" fmla="*/ 45222 w 915864"/>
              <a:gd name="connsiteY5" fmla="*/ 592499 h 702727"/>
              <a:gd name="connsiteX6" fmla="*/ 0 w 915864"/>
              <a:gd name="connsiteY6" fmla="*/ 531614 h 702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5864" h="702727">
                <a:moveTo>
                  <a:pt x="0" y="0"/>
                </a:moveTo>
                <a:lnTo>
                  <a:pt x="915864" y="0"/>
                </a:lnTo>
                <a:lnTo>
                  <a:pt x="915864" y="702727"/>
                </a:lnTo>
                <a:lnTo>
                  <a:pt x="176126" y="702727"/>
                </a:lnTo>
                <a:lnTo>
                  <a:pt x="175195" y="702179"/>
                </a:lnTo>
                <a:cubicBezTo>
                  <a:pt x="126139" y="669596"/>
                  <a:pt x="82453" y="632772"/>
                  <a:pt x="45222" y="592499"/>
                </a:cubicBezTo>
                <a:lnTo>
                  <a:pt x="0" y="531614"/>
                </a:lnTo>
                <a:close/>
              </a:path>
            </a:pathLst>
          </a:custGeom>
        </p:spPr>
      </p:pic>
      <p:pic>
        <p:nvPicPr>
          <p:cNvPr id="20" name="Picture 19">
            <a:extLst>
              <a:ext uri="{FF2B5EF4-FFF2-40B4-BE49-F238E27FC236}">
                <a16:creationId xmlns:a16="http://schemas.microsoft.com/office/drawing/2014/main" id="{DA9BD01A-0D38-48EA-98E5-BB66386F39B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82524" t="71774" r="2564"/>
          <a:stretch/>
        </p:blipFill>
        <p:spPr>
          <a:xfrm>
            <a:off x="8277514" y="1071807"/>
            <a:ext cx="866486" cy="1230086"/>
          </a:xfrm>
          <a:prstGeom prst="rect">
            <a:avLst/>
          </a:prstGeom>
        </p:spPr>
      </p:pic>
      <p:sp>
        <p:nvSpPr>
          <p:cNvPr id="2" name="Title 1"/>
          <p:cNvSpPr>
            <a:spLocks noGrp="1"/>
          </p:cNvSpPr>
          <p:nvPr>
            <p:ph type="title"/>
          </p:nvPr>
        </p:nvSpPr>
        <p:spPr>
          <a:xfrm>
            <a:off x="685331" y="439924"/>
            <a:ext cx="7773338" cy="1437937"/>
          </a:xfrm>
        </p:spPr>
        <p:txBody>
          <a:bodyPr>
            <a:normAutofit/>
          </a:bodyPr>
          <a:lstStyle/>
          <a:p>
            <a:r>
              <a:rPr lang="en-US">
                <a:solidFill>
                  <a:schemeClr val="bg1"/>
                </a:solidFill>
              </a:rPr>
              <a:t>Robotics Use Case: Generating Mission Reports</a:t>
            </a:r>
          </a:p>
        </p:txBody>
      </p:sp>
      <p:sp>
        <p:nvSpPr>
          <p:cNvPr id="3" name="Content Placeholder 2"/>
          <p:cNvSpPr>
            <a:spLocks noGrp="1"/>
          </p:cNvSpPr>
          <p:nvPr>
            <p:ph idx="1"/>
          </p:nvPr>
        </p:nvSpPr>
        <p:spPr>
          <a:xfrm>
            <a:off x="685330" y="2705878"/>
            <a:ext cx="7772870" cy="3085322"/>
          </a:xfrm>
        </p:spPr>
        <p:txBody>
          <a:bodyPr anchor="ctr">
            <a:normAutofit/>
          </a:bodyPr>
          <a:lstStyle/>
          <a:p>
            <a:endParaRPr/>
          </a:p>
          <a:p>
            <a:r>
              <a:rPr lang="en-US" b="1"/>
              <a:t>Scenario:</a:t>
            </a:r>
            <a:r>
              <a:t> A robot explores a cave and sends a text update.</a:t>
            </a:r>
          </a:p>
          <a:p>
            <a:r>
              <a:rPr lang="en-US" b="1"/>
              <a:t>Constraint:</a:t>
            </a:r>
            <a:r>
              <a:t> Bandwidth is low. We need concise summaries.</a:t>
            </a:r>
          </a:p>
          <a:p>
            <a:r>
              <a:rPr lang="en-US" b="1"/>
              <a:t>Strategy:</a:t>
            </a:r>
          </a:p>
          <a:p>
            <a:pPr lvl="1"/>
            <a:r>
              <a:t>Raw Log: [Time: 10:00, LOC: X,Y, Bat: 80%, Obj: Rock...]</a:t>
            </a:r>
          </a:p>
          <a:p>
            <a:pPr lvl="1"/>
            <a:r>
              <a:t>Generated Summary: "Explored Sector 4. Found geological obstacles. Battery stable."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F4DB63-A191-45D9-8A53-9B18F8FE2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C0BB8E50-9569-495A-A548-A5AD50553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6F26545-4582-4DBE-973B-ED1BC9CBD2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891"/>
            <a:ext cx="9141714" cy="2286002"/>
          </a:xfrm>
          <a:prstGeom prst="rect">
            <a:avLst/>
          </a:prstGeom>
          <a:solidFill>
            <a:schemeClr val="tx1"/>
          </a:solidFill>
          <a:ln>
            <a:noFill/>
          </a:ln>
          <a:effectLst>
            <a:outerShdw blurRad="889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E47A6981-7EBF-4F2B-BD20-3124170BF88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77037" b="73004"/>
          <a:stretch/>
        </p:blipFill>
        <p:spPr>
          <a:xfrm>
            <a:off x="57957" y="-1"/>
            <a:ext cx="954016" cy="841175"/>
          </a:xfrm>
          <a:prstGeom prst="rect">
            <a:avLst/>
          </a:prstGeom>
        </p:spPr>
      </p:pic>
      <p:pic>
        <p:nvPicPr>
          <p:cNvPr id="16" name="Picture 15">
            <a:extLst>
              <a:ext uri="{FF2B5EF4-FFF2-40B4-BE49-F238E27FC236}">
                <a16:creationId xmlns:a16="http://schemas.microsoft.com/office/drawing/2014/main" id="{6497DCFF-C2AA-4065-BFCF-1E7535B0D8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55924" t="86960" r="29150"/>
          <a:stretch/>
        </p:blipFill>
        <p:spPr>
          <a:xfrm>
            <a:off x="8296316" y="-1"/>
            <a:ext cx="845398" cy="553967"/>
          </a:xfrm>
          <a:prstGeom prst="rect">
            <a:avLst/>
          </a:prstGeom>
        </p:spPr>
      </p:pic>
      <p:pic>
        <p:nvPicPr>
          <p:cNvPr id="18" name="Picture 17">
            <a:extLst>
              <a:ext uri="{FF2B5EF4-FFF2-40B4-BE49-F238E27FC236}">
                <a16:creationId xmlns:a16="http://schemas.microsoft.com/office/drawing/2014/main" id="{15E1159C-5B31-49A8-A933-C1179723C53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89959" t="72411" r="-74" b="13790"/>
          <a:stretch/>
        </p:blipFill>
        <p:spPr>
          <a:xfrm>
            <a:off x="57957" y="1444827"/>
            <a:ext cx="822228" cy="841175"/>
          </a:xfrm>
          <a:custGeom>
            <a:avLst/>
            <a:gdLst>
              <a:gd name="connsiteX0" fmla="*/ 0 w 915864"/>
              <a:gd name="connsiteY0" fmla="*/ 0 h 702727"/>
              <a:gd name="connsiteX1" fmla="*/ 915864 w 915864"/>
              <a:gd name="connsiteY1" fmla="*/ 0 h 702727"/>
              <a:gd name="connsiteX2" fmla="*/ 915864 w 915864"/>
              <a:gd name="connsiteY2" fmla="*/ 702727 h 702727"/>
              <a:gd name="connsiteX3" fmla="*/ 176126 w 915864"/>
              <a:gd name="connsiteY3" fmla="*/ 702727 h 702727"/>
              <a:gd name="connsiteX4" fmla="*/ 175195 w 915864"/>
              <a:gd name="connsiteY4" fmla="*/ 702179 h 702727"/>
              <a:gd name="connsiteX5" fmla="*/ 45222 w 915864"/>
              <a:gd name="connsiteY5" fmla="*/ 592499 h 702727"/>
              <a:gd name="connsiteX6" fmla="*/ 0 w 915864"/>
              <a:gd name="connsiteY6" fmla="*/ 531614 h 702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5864" h="702727">
                <a:moveTo>
                  <a:pt x="0" y="0"/>
                </a:moveTo>
                <a:lnTo>
                  <a:pt x="915864" y="0"/>
                </a:lnTo>
                <a:lnTo>
                  <a:pt x="915864" y="702727"/>
                </a:lnTo>
                <a:lnTo>
                  <a:pt x="176126" y="702727"/>
                </a:lnTo>
                <a:lnTo>
                  <a:pt x="175195" y="702179"/>
                </a:lnTo>
                <a:cubicBezTo>
                  <a:pt x="126139" y="669596"/>
                  <a:pt x="82453" y="632772"/>
                  <a:pt x="45222" y="592499"/>
                </a:cubicBezTo>
                <a:lnTo>
                  <a:pt x="0" y="531614"/>
                </a:lnTo>
                <a:close/>
              </a:path>
            </a:pathLst>
          </a:custGeom>
        </p:spPr>
      </p:pic>
      <p:pic>
        <p:nvPicPr>
          <p:cNvPr id="20" name="Picture 19">
            <a:extLst>
              <a:ext uri="{FF2B5EF4-FFF2-40B4-BE49-F238E27FC236}">
                <a16:creationId xmlns:a16="http://schemas.microsoft.com/office/drawing/2014/main" id="{DA9BD01A-0D38-48EA-98E5-BB66386F39B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82524" t="71774" r="2564"/>
          <a:stretch/>
        </p:blipFill>
        <p:spPr>
          <a:xfrm>
            <a:off x="8277514" y="1071807"/>
            <a:ext cx="866486" cy="1230086"/>
          </a:xfrm>
          <a:prstGeom prst="rect">
            <a:avLst/>
          </a:prstGeom>
        </p:spPr>
      </p:pic>
      <p:sp>
        <p:nvSpPr>
          <p:cNvPr id="2" name="Title 1"/>
          <p:cNvSpPr>
            <a:spLocks noGrp="1"/>
          </p:cNvSpPr>
          <p:nvPr>
            <p:ph type="title"/>
          </p:nvPr>
        </p:nvSpPr>
        <p:spPr>
          <a:xfrm>
            <a:off x="685331" y="439924"/>
            <a:ext cx="7773338" cy="1437937"/>
          </a:xfrm>
        </p:spPr>
        <p:txBody>
          <a:bodyPr>
            <a:normAutofit/>
          </a:bodyPr>
          <a:lstStyle/>
          <a:p>
            <a:r>
              <a:rPr lang="en-US">
                <a:solidFill>
                  <a:schemeClr val="bg1"/>
                </a:solidFill>
              </a:rPr>
              <a:t>Extractive vs. Abstractive Summarization</a:t>
            </a:r>
          </a:p>
        </p:txBody>
      </p:sp>
      <p:sp>
        <p:nvSpPr>
          <p:cNvPr id="3" name="Content Placeholder 2"/>
          <p:cNvSpPr>
            <a:spLocks noGrp="1"/>
          </p:cNvSpPr>
          <p:nvPr>
            <p:ph idx="1"/>
          </p:nvPr>
        </p:nvSpPr>
        <p:spPr>
          <a:xfrm>
            <a:off x="685330" y="2705878"/>
            <a:ext cx="7772870" cy="3085322"/>
          </a:xfrm>
        </p:spPr>
        <p:txBody>
          <a:bodyPr anchor="ctr">
            <a:normAutofit/>
          </a:bodyPr>
          <a:lstStyle/>
          <a:p>
            <a:endParaRPr dirty="0"/>
          </a:p>
          <a:p>
            <a:r>
              <a:rPr lang="en-US" b="1" dirty="0"/>
              <a:t>Extractive (The Highlighter):</a:t>
            </a:r>
            <a:r>
              <a:rPr dirty="0"/>
              <a:t> Selects existing sentences.</a:t>
            </a:r>
          </a:p>
          <a:p>
            <a:pPr lvl="1"/>
            <a:r>
              <a:rPr dirty="0"/>
              <a:t>Pros: Factual. Cons: Disjointed flow.</a:t>
            </a:r>
          </a:p>
          <a:p>
            <a:r>
              <a:rPr lang="en-US" b="1" dirty="0"/>
              <a:t>Abstractive (The Ghostwriter):</a:t>
            </a:r>
            <a:r>
              <a:rPr dirty="0"/>
              <a:t> Generates new sentences (Seq2Seq).</a:t>
            </a:r>
          </a:p>
          <a:p>
            <a:pPr lvl="1"/>
            <a:r>
              <a:rPr dirty="0"/>
              <a:t>Pros: Natural flow. Cons: Prone to Hallucination.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F4DB63-A191-45D9-8A53-9B18F8FE2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C0BB8E50-9569-495A-A548-A5AD50553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6F26545-4582-4DBE-973B-ED1BC9CBD2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891"/>
            <a:ext cx="9141714" cy="2286002"/>
          </a:xfrm>
          <a:prstGeom prst="rect">
            <a:avLst/>
          </a:prstGeom>
          <a:solidFill>
            <a:schemeClr val="tx1"/>
          </a:solidFill>
          <a:ln>
            <a:noFill/>
          </a:ln>
          <a:effectLst>
            <a:outerShdw blurRad="889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E47A6981-7EBF-4F2B-BD20-3124170BF88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77037" b="73004"/>
          <a:stretch/>
        </p:blipFill>
        <p:spPr>
          <a:xfrm>
            <a:off x="57957" y="-1"/>
            <a:ext cx="954016" cy="841175"/>
          </a:xfrm>
          <a:prstGeom prst="rect">
            <a:avLst/>
          </a:prstGeom>
        </p:spPr>
      </p:pic>
      <p:pic>
        <p:nvPicPr>
          <p:cNvPr id="16" name="Picture 15">
            <a:extLst>
              <a:ext uri="{FF2B5EF4-FFF2-40B4-BE49-F238E27FC236}">
                <a16:creationId xmlns:a16="http://schemas.microsoft.com/office/drawing/2014/main" id="{6497DCFF-C2AA-4065-BFCF-1E7535B0D8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55924" t="86960" r="29150"/>
          <a:stretch/>
        </p:blipFill>
        <p:spPr>
          <a:xfrm>
            <a:off x="8296316" y="-1"/>
            <a:ext cx="845398" cy="553967"/>
          </a:xfrm>
          <a:prstGeom prst="rect">
            <a:avLst/>
          </a:prstGeom>
        </p:spPr>
      </p:pic>
      <p:pic>
        <p:nvPicPr>
          <p:cNvPr id="18" name="Picture 17">
            <a:extLst>
              <a:ext uri="{FF2B5EF4-FFF2-40B4-BE49-F238E27FC236}">
                <a16:creationId xmlns:a16="http://schemas.microsoft.com/office/drawing/2014/main" id="{15E1159C-5B31-49A8-A933-C1179723C53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89959" t="72411" r="-74" b="13790"/>
          <a:stretch/>
        </p:blipFill>
        <p:spPr>
          <a:xfrm>
            <a:off x="57957" y="1444827"/>
            <a:ext cx="822228" cy="841175"/>
          </a:xfrm>
          <a:custGeom>
            <a:avLst/>
            <a:gdLst>
              <a:gd name="connsiteX0" fmla="*/ 0 w 915864"/>
              <a:gd name="connsiteY0" fmla="*/ 0 h 702727"/>
              <a:gd name="connsiteX1" fmla="*/ 915864 w 915864"/>
              <a:gd name="connsiteY1" fmla="*/ 0 h 702727"/>
              <a:gd name="connsiteX2" fmla="*/ 915864 w 915864"/>
              <a:gd name="connsiteY2" fmla="*/ 702727 h 702727"/>
              <a:gd name="connsiteX3" fmla="*/ 176126 w 915864"/>
              <a:gd name="connsiteY3" fmla="*/ 702727 h 702727"/>
              <a:gd name="connsiteX4" fmla="*/ 175195 w 915864"/>
              <a:gd name="connsiteY4" fmla="*/ 702179 h 702727"/>
              <a:gd name="connsiteX5" fmla="*/ 45222 w 915864"/>
              <a:gd name="connsiteY5" fmla="*/ 592499 h 702727"/>
              <a:gd name="connsiteX6" fmla="*/ 0 w 915864"/>
              <a:gd name="connsiteY6" fmla="*/ 531614 h 702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5864" h="702727">
                <a:moveTo>
                  <a:pt x="0" y="0"/>
                </a:moveTo>
                <a:lnTo>
                  <a:pt x="915864" y="0"/>
                </a:lnTo>
                <a:lnTo>
                  <a:pt x="915864" y="702727"/>
                </a:lnTo>
                <a:lnTo>
                  <a:pt x="176126" y="702727"/>
                </a:lnTo>
                <a:lnTo>
                  <a:pt x="175195" y="702179"/>
                </a:lnTo>
                <a:cubicBezTo>
                  <a:pt x="126139" y="669596"/>
                  <a:pt x="82453" y="632772"/>
                  <a:pt x="45222" y="592499"/>
                </a:cubicBezTo>
                <a:lnTo>
                  <a:pt x="0" y="531614"/>
                </a:lnTo>
                <a:close/>
              </a:path>
            </a:pathLst>
          </a:custGeom>
        </p:spPr>
      </p:pic>
      <p:pic>
        <p:nvPicPr>
          <p:cNvPr id="20" name="Picture 19">
            <a:extLst>
              <a:ext uri="{FF2B5EF4-FFF2-40B4-BE49-F238E27FC236}">
                <a16:creationId xmlns:a16="http://schemas.microsoft.com/office/drawing/2014/main" id="{DA9BD01A-0D38-48EA-98E5-BB66386F39B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82524" t="71774" r="2564"/>
          <a:stretch/>
        </p:blipFill>
        <p:spPr>
          <a:xfrm>
            <a:off x="8277514" y="1071807"/>
            <a:ext cx="866486" cy="1230086"/>
          </a:xfrm>
          <a:prstGeom prst="rect">
            <a:avLst/>
          </a:prstGeom>
        </p:spPr>
      </p:pic>
      <p:sp>
        <p:nvSpPr>
          <p:cNvPr id="2" name="Title 1"/>
          <p:cNvSpPr>
            <a:spLocks noGrp="1"/>
          </p:cNvSpPr>
          <p:nvPr>
            <p:ph type="title"/>
          </p:nvPr>
        </p:nvSpPr>
        <p:spPr>
          <a:xfrm>
            <a:off x="685331" y="439924"/>
            <a:ext cx="7773338" cy="1437937"/>
          </a:xfrm>
        </p:spPr>
        <p:txBody>
          <a:bodyPr>
            <a:normAutofit/>
          </a:bodyPr>
          <a:lstStyle/>
          <a:p>
            <a:r>
              <a:rPr lang="en-US">
                <a:solidFill>
                  <a:schemeClr val="bg1"/>
                </a:solidFill>
              </a:rPr>
              <a:t>The Architecture for Summarization</a:t>
            </a:r>
          </a:p>
        </p:txBody>
      </p:sp>
      <p:sp>
        <p:nvSpPr>
          <p:cNvPr id="3" name="Content Placeholder 2"/>
          <p:cNvSpPr>
            <a:spLocks noGrp="1"/>
          </p:cNvSpPr>
          <p:nvPr>
            <p:ph idx="1"/>
          </p:nvPr>
        </p:nvSpPr>
        <p:spPr>
          <a:xfrm>
            <a:off x="685330" y="2705878"/>
            <a:ext cx="7772870" cy="3085322"/>
          </a:xfrm>
        </p:spPr>
        <p:txBody>
          <a:bodyPr anchor="ctr">
            <a:normAutofit/>
          </a:bodyPr>
          <a:lstStyle/>
          <a:p>
            <a:endParaRPr/>
          </a:p>
          <a:p>
            <a:r>
              <a:rPr lang="en-US" b="1"/>
              <a:t>Encoder-Decoder (T5 / BART / Pegasus):</a:t>
            </a:r>
          </a:p>
          <a:p>
            <a:pPr lvl="1"/>
            <a:r>
              <a:t>Encoder: Reads (Understanding).</a:t>
            </a:r>
          </a:p>
          <a:p>
            <a:pPr lvl="1"/>
            <a:r>
              <a:t>Decoder: Writes (Generation).</a:t>
            </a:r>
          </a:p>
          <a:p>
            <a:r>
              <a:rPr lang="en-US" b="1"/>
              <a:t>Decoder-Only (GPT-4 / Llama 3):</a:t>
            </a:r>
          </a:p>
          <a:p>
            <a:pPr lvl="1"/>
            <a:r>
              <a:t>Can summarize via "Few-Shot Prompting", but Encoder-Decoder is often more efficient for pure text-to-text.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heatsheet infographic outlining NLP and LLM evaluation metrics for language models and text generation, divided into four color-coded sections: Text Generation Quality &amp; Fluency (blue), Question Answering &amp; Accuracy (green), Semantic &amp; Learning Metrics (purple), and Diversity, Safety &amp; Human Evaluation (orange). Each section lists specific metrics like Perplexity, BLEU, Exact Match, BERTScore, Self-BLEU, and Human Evaluation, with brief descriptions, formulas, and example applications to guide comprehensive model assessment.">
            <a:extLst>
              <a:ext uri="{FF2B5EF4-FFF2-40B4-BE49-F238E27FC236}">
                <a16:creationId xmlns:a16="http://schemas.microsoft.com/office/drawing/2014/main" id="{20D21A75-97FD-E117-86D1-00CCA44CC42A}"/>
              </a:ext>
            </a:extLst>
          </p:cNvPr>
          <p:cNvPicPr>
            <a:picLocks noChangeAspect="1"/>
          </p:cNvPicPr>
          <p:nvPr/>
        </p:nvPicPr>
        <p:blipFill>
          <a:blip r:embed="rId3"/>
          <a:stretch>
            <a:fillRect/>
          </a:stretch>
        </p:blipFill>
        <p:spPr>
          <a:xfrm>
            <a:off x="2658139" y="0"/>
            <a:ext cx="3827721" cy="68580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2545710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F4DB63-A191-45D9-8A53-9B18F8FE2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C0BB8E50-9569-495A-A548-A5AD50553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6F26545-4582-4DBE-973B-ED1BC9CBD2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891"/>
            <a:ext cx="9141714" cy="2286002"/>
          </a:xfrm>
          <a:prstGeom prst="rect">
            <a:avLst/>
          </a:prstGeom>
          <a:solidFill>
            <a:schemeClr val="tx1"/>
          </a:solidFill>
          <a:ln>
            <a:noFill/>
          </a:ln>
          <a:effectLst>
            <a:outerShdw blurRad="889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E47A6981-7EBF-4F2B-BD20-3124170BF88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77037" b="73004"/>
          <a:stretch/>
        </p:blipFill>
        <p:spPr>
          <a:xfrm>
            <a:off x="57957" y="-1"/>
            <a:ext cx="954016" cy="841175"/>
          </a:xfrm>
          <a:prstGeom prst="rect">
            <a:avLst/>
          </a:prstGeom>
        </p:spPr>
      </p:pic>
      <p:pic>
        <p:nvPicPr>
          <p:cNvPr id="16" name="Picture 15">
            <a:extLst>
              <a:ext uri="{FF2B5EF4-FFF2-40B4-BE49-F238E27FC236}">
                <a16:creationId xmlns:a16="http://schemas.microsoft.com/office/drawing/2014/main" id="{6497DCFF-C2AA-4065-BFCF-1E7535B0D8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55924" t="86960" r="29150"/>
          <a:stretch/>
        </p:blipFill>
        <p:spPr>
          <a:xfrm>
            <a:off x="8296316" y="-1"/>
            <a:ext cx="845398" cy="553967"/>
          </a:xfrm>
          <a:prstGeom prst="rect">
            <a:avLst/>
          </a:prstGeom>
        </p:spPr>
      </p:pic>
      <p:pic>
        <p:nvPicPr>
          <p:cNvPr id="18" name="Picture 17">
            <a:extLst>
              <a:ext uri="{FF2B5EF4-FFF2-40B4-BE49-F238E27FC236}">
                <a16:creationId xmlns:a16="http://schemas.microsoft.com/office/drawing/2014/main" id="{15E1159C-5B31-49A8-A933-C1179723C53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89959" t="72411" r="-74" b="13790"/>
          <a:stretch/>
        </p:blipFill>
        <p:spPr>
          <a:xfrm>
            <a:off x="57957" y="1444827"/>
            <a:ext cx="822228" cy="841175"/>
          </a:xfrm>
          <a:custGeom>
            <a:avLst/>
            <a:gdLst>
              <a:gd name="connsiteX0" fmla="*/ 0 w 915864"/>
              <a:gd name="connsiteY0" fmla="*/ 0 h 702727"/>
              <a:gd name="connsiteX1" fmla="*/ 915864 w 915864"/>
              <a:gd name="connsiteY1" fmla="*/ 0 h 702727"/>
              <a:gd name="connsiteX2" fmla="*/ 915864 w 915864"/>
              <a:gd name="connsiteY2" fmla="*/ 702727 h 702727"/>
              <a:gd name="connsiteX3" fmla="*/ 176126 w 915864"/>
              <a:gd name="connsiteY3" fmla="*/ 702727 h 702727"/>
              <a:gd name="connsiteX4" fmla="*/ 175195 w 915864"/>
              <a:gd name="connsiteY4" fmla="*/ 702179 h 702727"/>
              <a:gd name="connsiteX5" fmla="*/ 45222 w 915864"/>
              <a:gd name="connsiteY5" fmla="*/ 592499 h 702727"/>
              <a:gd name="connsiteX6" fmla="*/ 0 w 915864"/>
              <a:gd name="connsiteY6" fmla="*/ 531614 h 702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5864" h="702727">
                <a:moveTo>
                  <a:pt x="0" y="0"/>
                </a:moveTo>
                <a:lnTo>
                  <a:pt x="915864" y="0"/>
                </a:lnTo>
                <a:lnTo>
                  <a:pt x="915864" y="702727"/>
                </a:lnTo>
                <a:lnTo>
                  <a:pt x="176126" y="702727"/>
                </a:lnTo>
                <a:lnTo>
                  <a:pt x="175195" y="702179"/>
                </a:lnTo>
                <a:cubicBezTo>
                  <a:pt x="126139" y="669596"/>
                  <a:pt x="82453" y="632772"/>
                  <a:pt x="45222" y="592499"/>
                </a:cubicBezTo>
                <a:lnTo>
                  <a:pt x="0" y="531614"/>
                </a:lnTo>
                <a:close/>
              </a:path>
            </a:pathLst>
          </a:custGeom>
        </p:spPr>
      </p:pic>
      <p:pic>
        <p:nvPicPr>
          <p:cNvPr id="20" name="Picture 19">
            <a:extLst>
              <a:ext uri="{FF2B5EF4-FFF2-40B4-BE49-F238E27FC236}">
                <a16:creationId xmlns:a16="http://schemas.microsoft.com/office/drawing/2014/main" id="{DA9BD01A-0D38-48EA-98E5-BB66386F39B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82524" t="71774" r="2564"/>
          <a:stretch/>
        </p:blipFill>
        <p:spPr>
          <a:xfrm>
            <a:off x="8277514" y="1071807"/>
            <a:ext cx="866486" cy="1230086"/>
          </a:xfrm>
          <a:prstGeom prst="rect">
            <a:avLst/>
          </a:prstGeom>
        </p:spPr>
      </p:pic>
      <p:sp>
        <p:nvSpPr>
          <p:cNvPr id="2" name="Title 1"/>
          <p:cNvSpPr>
            <a:spLocks noGrp="1"/>
          </p:cNvSpPr>
          <p:nvPr>
            <p:ph type="title"/>
          </p:nvPr>
        </p:nvSpPr>
        <p:spPr>
          <a:xfrm>
            <a:off x="685331" y="439924"/>
            <a:ext cx="7773338" cy="1437937"/>
          </a:xfrm>
        </p:spPr>
        <p:txBody>
          <a:bodyPr>
            <a:normAutofit/>
          </a:bodyPr>
          <a:lstStyle/>
          <a:p>
            <a:r>
              <a:rPr lang="en-US">
                <a:solidFill>
                  <a:schemeClr val="bg1"/>
                </a:solidFill>
              </a:rPr>
              <a:t>Evaluation: The ROUGE Metric</a:t>
            </a:r>
          </a:p>
        </p:txBody>
      </p:sp>
      <p:sp>
        <p:nvSpPr>
          <p:cNvPr id="3" name="Content Placeholder 2"/>
          <p:cNvSpPr>
            <a:spLocks noGrp="1"/>
          </p:cNvSpPr>
          <p:nvPr>
            <p:ph idx="1"/>
          </p:nvPr>
        </p:nvSpPr>
        <p:spPr>
          <a:xfrm>
            <a:off x="685330" y="2705878"/>
            <a:ext cx="7772870" cy="3085322"/>
          </a:xfrm>
        </p:spPr>
        <p:txBody>
          <a:bodyPr anchor="ctr">
            <a:normAutofit/>
          </a:bodyPr>
          <a:lstStyle/>
          <a:p>
            <a:endParaRPr/>
          </a:p>
          <a:p>
            <a:r>
              <a:rPr lang="en-US" b="1"/>
              <a:t>Why Accuracy doesn't work:</a:t>
            </a:r>
            <a:r>
              <a:t> No single "correct" summary.</a:t>
            </a:r>
          </a:p>
          <a:p>
            <a:r>
              <a:rPr lang="en-US" b="1"/>
              <a:t>ROUGE:</a:t>
            </a:r>
            <a:r>
              <a:t> Measures overlap of N-grams between Generated Summary and Human Reference.</a:t>
            </a:r>
          </a:p>
          <a:p>
            <a:pPr lvl="1"/>
            <a:r>
              <a:rPr lang="en-US" b="1"/>
              <a:t>ROUGE-1:</a:t>
            </a:r>
            <a:r>
              <a:t> Overlap of single words.</a:t>
            </a:r>
          </a:p>
          <a:p>
            <a:pPr lvl="1"/>
            <a:r>
              <a:rPr lang="en-US" b="1"/>
              <a:t>ROUGE-L:</a:t>
            </a:r>
            <a:r>
              <a:t> Longest common subsequence (structure).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F4DB63-A191-45D9-8A53-9B18F8FE2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C0BB8E50-9569-495A-A548-A5AD50553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6F26545-4582-4DBE-973B-ED1BC9CBD2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891"/>
            <a:ext cx="9141714" cy="2286002"/>
          </a:xfrm>
          <a:prstGeom prst="rect">
            <a:avLst/>
          </a:prstGeom>
          <a:solidFill>
            <a:schemeClr val="tx1"/>
          </a:solidFill>
          <a:ln>
            <a:noFill/>
          </a:ln>
          <a:effectLst>
            <a:outerShdw blurRad="889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E47A6981-7EBF-4F2B-BD20-3124170BF88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77037" b="73004"/>
          <a:stretch/>
        </p:blipFill>
        <p:spPr>
          <a:xfrm>
            <a:off x="57957" y="-1"/>
            <a:ext cx="954016" cy="841175"/>
          </a:xfrm>
          <a:prstGeom prst="rect">
            <a:avLst/>
          </a:prstGeom>
        </p:spPr>
      </p:pic>
      <p:pic>
        <p:nvPicPr>
          <p:cNvPr id="16" name="Picture 15">
            <a:extLst>
              <a:ext uri="{FF2B5EF4-FFF2-40B4-BE49-F238E27FC236}">
                <a16:creationId xmlns:a16="http://schemas.microsoft.com/office/drawing/2014/main" id="{6497DCFF-C2AA-4065-BFCF-1E7535B0D8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55924" t="86960" r="29150"/>
          <a:stretch/>
        </p:blipFill>
        <p:spPr>
          <a:xfrm>
            <a:off x="8296316" y="-1"/>
            <a:ext cx="845398" cy="553967"/>
          </a:xfrm>
          <a:prstGeom prst="rect">
            <a:avLst/>
          </a:prstGeom>
        </p:spPr>
      </p:pic>
      <p:pic>
        <p:nvPicPr>
          <p:cNvPr id="18" name="Picture 17">
            <a:extLst>
              <a:ext uri="{FF2B5EF4-FFF2-40B4-BE49-F238E27FC236}">
                <a16:creationId xmlns:a16="http://schemas.microsoft.com/office/drawing/2014/main" id="{15E1159C-5B31-49A8-A933-C1179723C53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89959" t="72411" r="-74" b="13790"/>
          <a:stretch/>
        </p:blipFill>
        <p:spPr>
          <a:xfrm>
            <a:off x="57957" y="1444827"/>
            <a:ext cx="822228" cy="841175"/>
          </a:xfrm>
          <a:custGeom>
            <a:avLst/>
            <a:gdLst>
              <a:gd name="connsiteX0" fmla="*/ 0 w 915864"/>
              <a:gd name="connsiteY0" fmla="*/ 0 h 702727"/>
              <a:gd name="connsiteX1" fmla="*/ 915864 w 915864"/>
              <a:gd name="connsiteY1" fmla="*/ 0 h 702727"/>
              <a:gd name="connsiteX2" fmla="*/ 915864 w 915864"/>
              <a:gd name="connsiteY2" fmla="*/ 702727 h 702727"/>
              <a:gd name="connsiteX3" fmla="*/ 176126 w 915864"/>
              <a:gd name="connsiteY3" fmla="*/ 702727 h 702727"/>
              <a:gd name="connsiteX4" fmla="*/ 175195 w 915864"/>
              <a:gd name="connsiteY4" fmla="*/ 702179 h 702727"/>
              <a:gd name="connsiteX5" fmla="*/ 45222 w 915864"/>
              <a:gd name="connsiteY5" fmla="*/ 592499 h 702727"/>
              <a:gd name="connsiteX6" fmla="*/ 0 w 915864"/>
              <a:gd name="connsiteY6" fmla="*/ 531614 h 702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5864" h="702727">
                <a:moveTo>
                  <a:pt x="0" y="0"/>
                </a:moveTo>
                <a:lnTo>
                  <a:pt x="915864" y="0"/>
                </a:lnTo>
                <a:lnTo>
                  <a:pt x="915864" y="702727"/>
                </a:lnTo>
                <a:lnTo>
                  <a:pt x="176126" y="702727"/>
                </a:lnTo>
                <a:lnTo>
                  <a:pt x="175195" y="702179"/>
                </a:lnTo>
                <a:cubicBezTo>
                  <a:pt x="126139" y="669596"/>
                  <a:pt x="82453" y="632772"/>
                  <a:pt x="45222" y="592499"/>
                </a:cubicBezTo>
                <a:lnTo>
                  <a:pt x="0" y="531614"/>
                </a:lnTo>
                <a:close/>
              </a:path>
            </a:pathLst>
          </a:custGeom>
        </p:spPr>
      </p:pic>
      <p:pic>
        <p:nvPicPr>
          <p:cNvPr id="20" name="Picture 19">
            <a:extLst>
              <a:ext uri="{FF2B5EF4-FFF2-40B4-BE49-F238E27FC236}">
                <a16:creationId xmlns:a16="http://schemas.microsoft.com/office/drawing/2014/main" id="{DA9BD01A-0D38-48EA-98E5-BB66386F39B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82524" t="71774" r="2564"/>
          <a:stretch/>
        </p:blipFill>
        <p:spPr>
          <a:xfrm>
            <a:off x="8277514" y="1071807"/>
            <a:ext cx="866486" cy="1230086"/>
          </a:xfrm>
          <a:prstGeom prst="rect">
            <a:avLst/>
          </a:prstGeom>
        </p:spPr>
      </p:pic>
      <p:sp>
        <p:nvSpPr>
          <p:cNvPr id="2" name="Title 1"/>
          <p:cNvSpPr>
            <a:spLocks noGrp="1"/>
          </p:cNvSpPr>
          <p:nvPr>
            <p:ph type="title"/>
          </p:nvPr>
        </p:nvSpPr>
        <p:spPr>
          <a:xfrm>
            <a:off x="685331" y="439924"/>
            <a:ext cx="7773338" cy="1437937"/>
          </a:xfrm>
        </p:spPr>
        <p:txBody>
          <a:bodyPr>
            <a:normAutofit/>
          </a:bodyPr>
          <a:lstStyle/>
          <a:p>
            <a:r>
              <a:rPr lang="en-US">
                <a:solidFill>
                  <a:schemeClr val="bg1"/>
                </a:solidFill>
              </a:rPr>
              <a:t>The Hallucination Danger</a:t>
            </a:r>
          </a:p>
        </p:txBody>
      </p:sp>
      <p:sp>
        <p:nvSpPr>
          <p:cNvPr id="3" name="Content Placeholder 2"/>
          <p:cNvSpPr>
            <a:spLocks noGrp="1"/>
          </p:cNvSpPr>
          <p:nvPr>
            <p:ph idx="1"/>
          </p:nvPr>
        </p:nvSpPr>
        <p:spPr>
          <a:xfrm>
            <a:off x="685330" y="2705878"/>
            <a:ext cx="7772870" cy="3085322"/>
          </a:xfrm>
        </p:spPr>
        <p:txBody>
          <a:bodyPr anchor="ctr">
            <a:normAutofit/>
          </a:bodyPr>
          <a:lstStyle/>
          <a:p>
            <a:endParaRPr/>
          </a:p>
          <a:p>
            <a:r>
              <a:rPr lang="en-US" b="1"/>
              <a:t>Example:</a:t>
            </a:r>
          </a:p>
          <a:p>
            <a:pPr lvl="1"/>
            <a:r>
              <a:t>Source: "The robot battery is at 10%."</a:t>
            </a:r>
          </a:p>
          <a:p>
            <a:pPr lvl="1"/>
            <a:r>
              <a:t>Bad Summary: "The robot is fully charged."</a:t>
            </a:r>
          </a:p>
          <a:p>
            <a:r>
              <a:rPr lang="en-US" b="1"/>
              <a:t>Mitigation:</a:t>
            </a:r>
          </a:p>
          <a:p>
            <a:pPr lvl="1"/>
            <a:r>
              <a:t>Fact-Checking layers (Natural Language Inference).</a:t>
            </a:r>
          </a:p>
          <a:p>
            <a:pPr lvl="1"/>
            <a:r>
              <a:t>Low Temperature (Reducing creativity).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3F012C5-2940-4F3E-BB5E-B8B2C9E82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B37C977-E7E3-44AC-AEC8-2E27641909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010407" cy="6858000"/>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pic>
        <p:nvPicPr>
          <p:cNvPr id="23" name="Picture 22">
            <a:extLst>
              <a:ext uri="{FF2B5EF4-FFF2-40B4-BE49-F238E27FC236}">
                <a16:creationId xmlns:a16="http://schemas.microsoft.com/office/drawing/2014/main" id="{A70DF37D-86A3-45DB-B1C1-580462D4BB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77037" b="73004"/>
          <a:stretch/>
        </p:blipFill>
        <p:spPr>
          <a:xfrm>
            <a:off x="0" y="-2"/>
            <a:ext cx="2491484" cy="2196792"/>
          </a:xfrm>
          <a:prstGeom prst="rect">
            <a:avLst/>
          </a:prstGeom>
        </p:spPr>
      </p:pic>
      <p:sp>
        <p:nvSpPr>
          <p:cNvPr id="2" name="Title 1"/>
          <p:cNvSpPr>
            <a:spLocks noGrp="1"/>
          </p:cNvSpPr>
          <p:nvPr>
            <p:ph type="title"/>
          </p:nvPr>
        </p:nvSpPr>
        <p:spPr>
          <a:xfrm>
            <a:off x="719922" y="960814"/>
            <a:ext cx="2049186" cy="4912936"/>
          </a:xfrm>
        </p:spPr>
        <p:txBody>
          <a:bodyPr anchor="b">
            <a:normAutofit/>
          </a:bodyPr>
          <a:lstStyle/>
          <a:p>
            <a:pPr algn="r"/>
            <a:r>
              <a:rPr lang="en-US" sz="3500">
                <a:solidFill>
                  <a:schemeClr val="bg1"/>
                </a:solidFill>
              </a:rPr>
              <a:t>The Fine-Tuning Problem</a:t>
            </a:r>
          </a:p>
        </p:txBody>
      </p:sp>
      <p:sp>
        <p:nvSpPr>
          <p:cNvPr id="3" name="Content Placeholder 2"/>
          <p:cNvSpPr>
            <a:spLocks noGrp="1"/>
          </p:cNvSpPr>
          <p:nvPr>
            <p:ph idx="1"/>
          </p:nvPr>
        </p:nvSpPr>
        <p:spPr>
          <a:xfrm>
            <a:off x="3734308" y="960814"/>
            <a:ext cx="4685792" cy="4830385"/>
          </a:xfrm>
        </p:spPr>
        <p:txBody>
          <a:bodyPr anchor="ctr">
            <a:normAutofit/>
          </a:bodyPr>
          <a:lstStyle/>
          <a:p>
            <a:endParaRPr lang="en-US" sz="1600" dirty="0"/>
          </a:p>
          <a:p>
            <a:r>
              <a:rPr lang="en-US" sz="1600" b="1" dirty="0"/>
              <a:t>Context:</a:t>
            </a:r>
            <a:r>
              <a:rPr lang="en-US" sz="1600" dirty="0"/>
              <a:t> Customizing Llama-3-8B to speak like a pirate.</a:t>
            </a:r>
          </a:p>
          <a:p>
            <a:r>
              <a:rPr lang="en-US" sz="1600" b="1" dirty="0"/>
              <a:t>Full Fine-Tuning:</a:t>
            </a:r>
          </a:p>
          <a:p>
            <a:pPr lvl="1"/>
            <a:r>
              <a:rPr lang="en-US" sz="1600" dirty="0"/>
              <a:t>Requires updating all 8B weights.</a:t>
            </a:r>
          </a:p>
          <a:p>
            <a:pPr lvl="1"/>
            <a:r>
              <a:rPr lang="en-US" sz="1600" dirty="0"/>
              <a:t>Requires ~120GB+ VRAM (Do you have 4 A100 GPUs?).</a:t>
            </a:r>
          </a:p>
          <a:p>
            <a:r>
              <a:rPr lang="en-US" sz="1600" b="1" dirty="0"/>
              <a:t>The Solution:</a:t>
            </a:r>
            <a:r>
              <a:rPr lang="en-US" sz="1600" dirty="0"/>
              <a:t> </a:t>
            </a:r>
            <a:r>
              <a:rPr lang="en-US" sz="1600" dirty="0">
                <a:solidFill>
                  <a:schemeClr val="accent1"/>
                </a:solidFill>
              </a:rPr>
              <a:t>PEFT</a:t>
            </a:r>
            <a:r>
              <a:rPr lang="en-US" sz="1600" dirty="0"/>
              <a:t> (Parameter-Efficient Fine-Tuning).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E607C4-A0A1-44FA-981D-EA3B813963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iagram comparing three finetuning methods: Full Finetuning, LoRA, and QLoRA, illustrating optimizer state, adapters, and base model components. It highlights QLoRA’s use of 4-bit transformers with parameter updates, gradient flow, and paging flow, showing improved memory efficiency by quantizing transformers and using paged optimizers.">
            <a:extLst>
              <a:ext uri="{FF2B5EF4-FFF2-40B4-BE49-F238E27FC236}">
                <a16:creationId xmlns:a16="http://schemas.microsoft.com/office/drawing/2014/main" id="{03D42A52-055A-DF33-27C8-72BC77CB4B06}"/>
              </a:ext>
            </a:extLst>
          </p:cNvPr>
          <p:cNvPicPr>
            <a:picLocks noChangeAspect="1"/>
          </p:cNvPicPr>
          <p:nvPr/>
        </p:nvPicPr>
        <p:blipFill>
          <a:blip r:embed="rId2"/>
          <a:stretch>
            <a:fillRect/>
          </a:stretch>
        </p:blipFill>
        <p:spPr>
          <a:xfrm>
            <a:off x="482600" y="1476311"/>
            <a:ext cx="8178799" cy="3905376"/>
          </a:xfrm>
          <a:prstGeom prst="rect">
            <a:avLst/>
          </a:prstGeom>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08D97526-B9D9-4257-B6A9-9D798897492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TextBox 5">
            <a:extLst>
              <a:ext uri="{FF2B5EF4-FFF2-40B4-BE49-F238E27FC236}">
                <a16:creationId xmlns:a16="http://schemas.microsoft.com/office/drawing/2014/main" id="{EB0E9869-AAB7-26F4-5853-7C2A6FFB6530}"/>
              </a:ext>
            </a:extLst>
          </p:cNvPr>
          <p:cNvSpPr txBox="1"/>
          <p:nvPr/>
        </p:nvSpPr>
        <p:spPr>
          <a:xfrm>
            <a:off x="-1" y="6533634"/>
            <a:ext cx="4572000" cy="261610"/>
          </a:xfrm>
          <a:prstGeom prst="rect">
            <a:avLst/>
          </a:prstGeom>
          <a:noFill/>
        </p:spPr>
        <p:txBody>
          <a:bodyPr wrap="square">
            <a:spAutoFit/>
          </a:bodyPr>
          <a:lstStyle/>
          <a:p>
            <a:r>
              <a:rPr lang="en-US" sz="1100" dirty="0">
                <a:solidFill>
                  <a:schemeClr val="bg1">
                    <a:lumMod val="50000"/>
                  </a:schemeClr>
                </a:solidFill>
              </a:rPr>
              <a:t>Source: https://arxiv.org/pdf/2305.14314</a:t>
            </a:r>
          </a:p>
        </p:txBody>
      </p:sp>
    </p:spTree>
    <p:extLst>
      <p:ext uri="{BB962C8B-B14F-4D97-AF65-F5344CB8AC3E}">
        <p14:creationId xmlns:p14="http://schemas.microsoft.com/office/powerpoint/2010/main" val="2783374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E3F012C5-2940-4F3E-BB5E-B8B2C9E82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B37C977-E7E3-44AC-AEC8-2E27641909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010407" cy="6858000"/>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pic>
        <p:nvPicPr>
          <p:cNvPr id="29" name="Picture 28">
            <a:extLst>
              <a:ext uri="{FF2B5EF4-FFF2-40B4-BE49-F238E27FC236}">
                <a16:creationId xmlns:a16="http://schemas.microsoft.com/office/drawing/2014/main" id="{A70DF37D-86A3-45DB-B1C1-580462D4BB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77037" b="73004"/>
          <a:stretch/>
        </p:blipFill>
        <p:spPr>
          <a:xfrm>
            <a:off x="0" y="-2"/>
            <a:ext cx="2491484" cy="2196792"/>
          </a:xfrm>
          <a:prstGeom prst="rect">
            <a:avLst/>
          </a:prstGeom>
        </p:spPr>
      </p:pic>
      <p:sp>
        <p:nvSpPr>
          <p:cNvPr id="2" name="Title 1"/>
          <p:cNvSpPr>
            <a:spLocks noGrp="1"/>
          </p:cNvSpPr>
          <p:nvPr>
            <p:ph type="title"/>
          </p:nvPr>
        </p:nvSpPr>
        <p:spPr>
          <a:xfrm>
            <a:off x="719922" y="960814"/>
            <a:ext cx="2049186" cy="4912936"/>
          </a:xfrm>
        </p:spPr>
        <p:txBody>
          <a:bodyPr anchor="b">
            <a:normAutofit/>
          </a:bodyPr>
          <a:lstStyle/>
          <a:p>
            <a:pPr algn="r"/>
            <a:r>
              <a:rPr lang="en-US" sz="2500">
                <a:solidFill>
                  <a:schemeClr val="bg1"/>
                </a:solidFill>
              </a:rPr>
              <a:t>Enter LoRA (Low-Rank Adaptation)</a:t>
            </a:r>
          </a:p>
        </p:txBody>
      </p:sp>
      <p:sp>
        <p:nvSpPr>
          <p:cNvPr id="3" name="Content Placeholder 2"/>
          <p:cNvSpPr>
            <a:spLocks noGrp="1"/>
          </p:cNvSpPr>
          <p:nvPr>
            <p:ph idx="1"/>
          </p:nvPr>
        </p:nvSpPr>
        <p:spPr>
          <a:xfrm>
            <a:off x="3734308" y="960814"/>
            <a:ext cx="4685792" cy="4830385"/>
          </a:xfrm>
        </p:spPr>
        <p:txBody>
          <a:bodyPr anchor="ctr">
            <a:normAutofit/>
          </a:bodyPr>
          <a:lstStyle/>
          <a:p>
            <a:endParaRPr lang="en-US" sz="1600" dirty="0"/>
          </a:p>
          <a:p>
            <a:r>
              <a:rPr lang="en-US" sz="1600" b="1" dirty="0">
                <a:solidFill>
                  <a:schemeClr val="accent1"/>
                </a:solidFill>
              </a:rPr>
              <a:t>The Insight</a:t>
            </a:r>
            <a:r>
              <a:rPr lang="en-US" sz="1600" b="1" dirty="0"/>
              <a:t>:</a:t>
            </a:r>
            <a:r>
              <a:rPr lang="en-US" sz="1600" dirty="0"/>
              <a:t> We don't need to change every weight. The required change is low-rank.</a:t>
            </a:r>
          </a:p>
          <a:p>
            <a:r>
              <a:rPr lang="en-US" sz="1600" b="1" dirty="0"/>
              <a:t>How it works:</a:t>
            </a:r>
          </a:p>
          <a:p>
            <a:pPr lvl="1"/>
            <a:r>
              <a:rPr lang="en-US" sz="1600" dirty="0"/>
              <a:t>Freeze the massive pre-trained model (W).</a:t>
            </a:r>
          </a:p>
          <a:p>
            <a:pPr lvl="1"/>
            <a:r>
              <a:rPr lang="en-US" sz="1600" dirty="0"/>
              <a:t>Inject two tiny matrices (A and B) next to layers. Train only A and B.</a:t>
            </a:r>
          </a:p>
          <a:p>
            <a:r>
              <a:rPr lang="en-US" sz="1600" b="1" dirty="0">
                <a:solidFill>
                  <a:schemeClr val="accent1"/>
                </a:solidFill>
              </a:rPr>
              <a:t>Math</a:t>
            </a:r>
            <a:r>
              <a:rPr lang="en-US" sz="1600" b="1" dirty="0"/>
              <a:t>:</a:t>
            </a:r>
            <a:r>
              <a:rPr lang="en-US" sz="1600" dirty="0"/>
              <a:t> </a:t>
            </a:r>
            <a:r>
              <a:rPr lang="en-US" sz="1600" dirty="0" err="1"/>
              <a:t>W_new</a:t>
            </a:r>
            <a:r>
              <a:rPr lang="en-US" sz="1600" dirty="0"/>
              <a:t> = </a:t>
            </a:r>
            <a:r>
              <a:rPr lang="en-US" sz="1600" dirty="0" err="1"/>
              <a:t>W_frozen</a:t>
            </a:r>
            <a:r>
              <a:rPr lang="en-US" sz="1600" dirty="0"/>
              <a:t> + (B x A)</a:t>
            </a:r>
          </a:p>
        </p:txBody>
      </p:sp>
      <p:pic>
        <p:nvPicPr>
          <p:cNvPr id="2050" name="Picture 2">
            <a:extLst>
              <a:ext uri="{FF2B5EF4-FFF2-40B4-BE49-F238E27FC236}">
                <a16:creationId xmlns:a16="http://schemas.microsoft.com/office/drawing/2014/main" id="{E4A31E9C-7F07-3831-6A6A-81594040E0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5200" y="849127"/>
            <a:ext cx="2705100" cy="104634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3E75738F-99FD-F68F-6565-54FABCC91871}"/>
              </a:ext>
            </a:extLst>
          </p:cNvPr>
          <p:cNvPicPr>
            <a:picLocks noChangeAspect="1" noChangeArrowheads="1"/>
          </p:cNvPicPr>
          <p:nvPr/>
        </p:nvPicPr>
        <p:blipFill>
          <a:blip r:embed="rId5">
            <a:alphaModFix amt="73000"/>
            <a:extLst>
              <a:ext uri="{28A0092B-C50C-407E-A947-70E740481C1C}">
                <a14:useLocalDpi xmlns:a14="http://schemas.microsoft.com/office/drawing/2010/main" val="0"/>
              </a:ext>
            </a:extLst>
          </a:blip>
          <a:srcRect/>
          <a:stretch>
            <a:fillRect/>
          </a:stretch>
        </p:blipFill>
        <p:spPr bwMode="auto">
          <a:xfrm>
            <a:off x="4571999" y="4969579"/>
            <a:ext cx="3010407" cy="174091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87221B3-2D50-AA60-4E55-65AAF884D08D}"/>
              </a:ext>
            </a:extLst>
          </p:cNvPr>
          <p:cNvSpPr txBox="1"/>
          <p:nvPr/>
        </p:nvSpPr>
        <p:spPr>
          <a:xfrm>
            <a:off x="4425951" y="6661137"/>
            <a:ext cx="4756149" cy="246221"/>
          </a:xfrm>
          <a:prstGeom prst="rect">
            <a:avLst/>
          </a:prstGeom>
          <a:noFill/>
        </p:spPr>
        <p:txBody>
          <a:bodyPr wrap="square">
            <a:spAutoFit/>
          </a:bodyPr>
          <a:lstStyle/>
          <a:p>
            <a:pPr algn="r"/>
            <a:r>
              <a:rPr lang="en-US" sz="1000" dirty="0">
                <a:solidFill>
                  <a:schemeClr val="bg1">
                    <a:lumMod val="50000"/>
                  </a:schemeClr>
                </a:solidFill>
              </a:rPr>
              <a:t>Image Credit: </a:t>
            </a:r>
            <a:r>
              <a:rPr lang="en-US" sz="1000" dirty="0">
                <a:solidFill>
                  <a:schemeClr val="bg1">
                    <a:lumMod val="50000"/>
                  </a:schemeClr>
                </a:solidFill>
                <a:hlinkClick r:id="rId6">
                  <a:extLst>
                    <a:ext uri="{A12FA001-AC4F-418D-AE19-62706E023703}">
                      <ahyp:hlinkClr xmlns:ahyp="http://schemas.microsoft.com/office/drawing/2018/hyperlinkcolor" val="tx"/>
                    </a:ext>
                  </a:extLst>
                </a:hlinkClick>
              </a:rPr>
              <a:t>https://cameronrwolfe.substack.com/p/easily-train-a-specialized-llm-peft</a:t>
            </a:r>
            <a:endParaRPr lang="en-US" sz="1000" dirty="0">
              <a:solidFill>
                <a:schemeClr val="bg1">
                  <a:lumMod val="50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tretched steel tapes in different lengths">
            <a:extLst>
              <a:ext uri="{FF2B5EF4-FFF2-40B4-BE49-F238E27FC236}">
                <a16:creationId xmlns:a16="http://schemas.microsoft.com/office/drawing/2014/main" id="{C60B9567-0935-D0E1-43A8-CF87760396E2}"/>
              </a:ext>
            </a:extLst>
          </p:cNvPr>
          <p:cNvPicPr>
            <a:picLocks noChangeAspect="1"/>
          </p:cNvPicPr>
          <p:nvPr/>
        </p:nvPicPr>
        <p:blipFill>
          <a:blip r:embed="rId2"/>
          <a:srcRect l="35298" r="35432"/>
          <a:stretch>
            <a:fillRect/>
          </a:stretch>
        </p:blipFill>
        <p:spPr>
          <a:xfrm>
            <a:off x="20" y="10"/>
            <a:ext cx="3018550" cy="6857990"/>
          </a:xfrm>
          <a:prstGeom prst="rect">
            <a:avLst/>
          </a:prstGeom>
        </p:spPr>
      </p:pic>
      <p:sp>
        <p:nvSpPr>
          <p:cNvPr id="11"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8570" y="-2"/>
            <a:ext cx="60985"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3348787" y="618517"/>
            <a:ext cx="5004665" cy="1596177"/>
          </a:xfrm>
        </p:spPr>
        <p:txBody>
          <a:bodyPr>
            <a:normAutofit/>
          </a:bodyPr>
          <a:lstStyle/>
          <a:p>
            <a:r>
              <a:t>The Efficiency Gains</a:t>
            </a:r>
          </a:p>
        </p:txBody>
      </p:sp>
      <p:sp>
        <p:nvSpPr>
          <p:cNvPr id="3" name="Content Placeholder 2"/>
          <p:cNvSpPr>
            <a:spLocks noGrp="1"/>
          </p:cNvSpPr>
          <p:nvPr>
            <p:ph idx="1"/>
          </p:nvPr>
        </p:nvSpPr>
        <p:spPr>
          <a:xfrm>
            <a:off x="3348786" y="2367092"/>
            <a:ext cx="5004665" cy="3424107"/>
          </a:xfrm>
        </p:spPr>
        <p:txBody>
          <a:bodyPr>
            <a:normAutofit/>
          </a:bodyPr>
          <a:lstStyle/>
          <a:p>
            <a:pPr>
              <a:lnSpc>
                <a:spcPct val="110000"/>
              </a:lnSpc>
            </a:pPr>
            <a:endParaRPr lang="en-US" sz="1700" dirty="0"/>
          </a:p>
          <a:p>
            <a:pPr>
              <a:lnSpc>
                <a:spcPct val="110000"/>
              </a:lnSpc>
            </a:pPr>
            <a:r>
              <a:rPr lang="en-US" sz="1700" b="1" dirty="0"/>
              <a:t>Storage:</a:t>
            </a:r>
            <a:r>
              <a:rPr lang="en-US" sz="1700" dirty="0"/>
              <a:t> Full Llama-3 Checkpoint = 15GB. </a:t>
            </a:r>
            <a:r>
              <a:rPr lang="en-US" sz="1700" dirty="0" err="1"/>
              <a:t>LoRA</a:t>
            </a:r>
            <a:r>
              <a:rPr lang="en-US" sz="1700" dirty="0"/>
              <a:t> Adapter = 20MB.</a:t>
            </a:r>
          </a:p>
          <a:p>
            <a:pPr>
              <a:lnSpc>
                <a:spcPct val="110000"/>
              </a:lnSpc>
            </a:pPr>
            <a:r>
              <a:rPr lang="en-US" sz="1700" b="1" dirty="0"/>
              <a:t>Memory:</a:t>
            </a:r>
            <a:r>
              <a:rPr lang="en-US" sz="1700" dirty="0"/>
              <a:t> </a:t>
            </a:r>
            <a:r>
              <a:rPr lang="en-US" sz="1700" dirty="0">
                <a:solidFill>
                  <a:schemeClr val="tx2"/>
                </a:solidFill>
              </a:rPr>
              <a:t>Train a 7B model on a single consumer GPU </a:t>
            </a:r>
            <a:r>
              <a:rPr lang="en-US" sz="1700" dirty="0"/>
              <a:t>(RTX 4090 / </a:t>
            </a:r>
            <a:r>
              <a:rPr lang="en-US" sz="1700" dirty="0" err="1"/>
              <a:t>Colab</a:t>
            </a:r>
            <a:r>
              <a:rPr lang="en-US" sz="1700" dirty="0"/>
              <a:t>).</a:t>
            </a:r>
          </a:p>
          <a:p>
            <a:pPr>
              <a:lnSpc>
                <a:spcPct val="110000"/>
              </a:lnSpc>
            </a:pPr>
            <a:r>
              <a:rPr lang="en-US" sz="1700" b="1" dirty="0"/>
              <a:t>Modularity:</a:t>
            </a:r>
            <a:r>
              <a:rPr lang="en-US" sz="1700" dirty="0"/>
              <a:t> Swap adapters instantly.</a:t>
            </a:r>
          </a:p>
          <a:p>
            <a:pPr lvl="1">
              <a:lnSpc>
                <a:spcPct val="110000"/>
              </a:lnSpc>
            </a:pPr>
            <a:r>
              <a:rPr lang="en-US" sz="1700" dirty="0"/>
              <a:t>Adapter 1: Medical Docs. Adapter 2: Legal Docs.</a:t>
            </a:r>
          </a:p>
          <a:p>
            <a:pPr lvl="1">
              <a:lnSpc>
                <a:spcPct val="110000"/>
              </a:lnSpc>
            </a:pPr>
            <a:r>
              <a:rPr lang="en-US" sz="1700" dirty="0"/>
              <a:t>Base Model: </a:t>
            </a:r>
            <a:r>
              <a:rPr lang="en-US" sz="1700" dirty="0">
                <a:solidFill>
                  <a:schemeClr val="tx2"/>
                </a:solidFill>
              </a:rPr>
              <a:t>Stays the same</a:t>
            </a:r>
            <a:r>
              <a:rPr lang="en-US" sz="1700"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Electronic circuit board">
            <a:extLst>
              <a:ext uri="{FF2B5EF4-FFF2-40B4-BE49-F238E27FC236}">
                <a16:creationId xmlns:a16="http://schemas.microsoft.com/office/drawing/2014/main" id="{8BDEAD88-ED52-5364-4D22-965E46178F22}"/>
              </a:ext>
            </a:extLst>
          </p:cNvPr>
          <p:cNvPicPr>
            <a:picLocks noChangeAspect="1"/>
          </p:cNvPicPr>
          <p:nvPr/>
        </p:nvPicPr>
        <p:blipFill>
          <a:blip r:embed="rId2"/>
          <a:srcRect l="51226" r="19394" b="-1"/>
          <a:stretch>
            <a:fillRect/>
          </a:stretch>
        </p:blipFill>
        <p:spPr>
          <a:xfrm>
            <a:off x="20" y="10"/>
            <a:ext cx="3018550" cy="6857990"/>
          </a:xfrm>
          <a:prstGeom prst="rect">
            <a:avLst/>
          </a:prstGeom>
        </p:spPr>
      </p:pic>
      <p:sp>
        <p:nvSpPr>
          <p:cNvPr id="11"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8570" y="-2"/>
            <a:ext cx="60985"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3348787" y="618517"/>
            <a:ext cx="5004665" cy="1596177"/>
          </a:xfrm>
        </p:spPr>
        <p:txBody>
          <a:bodyPr>
            <a:normAutofit/>
          </a:bodyPr>
          <a:lstStyle/>
          <a:p>
            <a:r>
              <a:t>QLoRA (Quantized LoRA)</a:t>
            </a:r>
          </a:p>
        </p:txBody>
      </p:sp>
      <p:sp>
        <p:nvSpPr>
          <p:cNvPr id="3" name="Content Placeholder 2"/>
          <p:cNvSpPr>
            <a:spLocks noGrp="1"/>
          </p:cNvSpPr>
          <p:nvPr>
            <p:ph idx="1"/>
          </p:nvPr>
        </p:nvSpPr>
        <p:spPr>
          <a:xfrm>
            <a:off x="3348786" y="2367092"/>
            <a:ext cx="5004665" cy="3424107"/>
          </a:xfrm>
        </p:spPr>
        <p:txBody>
          <a:bodyPr>
            <a:normAutofit/>
          </a:bodyPr>
          <a:lstStyle/>
          <a:p>
            <a:endParaRPr dirty="0"/>
          </a:p>
          <a:p>
            <a:r>
              <a:rPr lang="en-US" b="1" dirty="0">
                <a:solidFill>
                  <a:schemeClr val="accent1"/>
                </a:solidFill>
              </a:rPr>
              <a:t>2025 Standard</a:t>
            </a:r>
            <a:r>
              <a:rPr lang="en-US" b="1" dirty="0"/>
              <a:t>:</a:t>
            </a:r>
          </a:p>
          <a:p>
            <a:pPr lvl="1"/>
            <a:r>
              <a:rPr dirty="0"/>
              <a:t>Quantization: Load base model in 4-bit to save memory.</a:t>
            </a:r>
          </a:p>
          <a:p>
            <a:pPr lvl="1"/>
            <a:r>
              <a:rPr dirty="0" err="1"/>
              <a:t>LoRA</a:t>
            </a:r>
            <a:r>
              <a:rPr dirty="0"/>
              <a:t>: Apply the adapter on top.</a:t>
            </a:r>
          </a:p>
          <a:p>
            <a:r>
              <a:rPr lang="en-US" b="1" dirty="0"/>
              <a:t>Result:</a:t>
            </a:r>
            <a:r>
              <a:rPr dirty="0"/>
              <a:t> Fine-tuning SOTA models on consumer hardware.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3F012C5-2940-4F3E-BB5E-B8B2C9E82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37C977-E7E3-44AC-AEC8-2E27641909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010407" cy="6858000"/>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A70DF37D-86A3-45DB-B1C1-580462D4BB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77037" b="73004"/>
          <a:stretch/>
        </p:blipFill>
        <p:spPr>
          <a:xfrm>
            <a:off x="0" y="-2"/>
            <a:ext cx="2491484" cy="2196792"/>
          </a:xfrm>
          <a:prstGeom prst="rect">
            <a:avLst/>
          </a:prstGeom>
        </p:spPr>
      </p:pic>
      <p:sp>
        <p:nvSpPr>
          <p:cNvPr id="2" name="Title 1"/>
          <p:cNvSpPr>
            <a:spLocks noGrp="1"/>
          </p:cNvSpPr>
          <p:nvPr>
            <p:ph type="title"/>
          </p:nvPr>
        </p:nvSpPr>
        <p:spPr>
          <a:xfrm>
            <a:off x="719922" y="960814"/>
            <a:ext cx="2049186" cy="4912936"/>
          </a:xfrm>
        </p:spPr>
        <p:txBody>
          <a:bodyPr anchor="b">
            <a:normAutofit/>
          </a:bodyPr>
          <a:lstStyle/>
          <a:p>
            <a:pPr algn="r"/>
            <a:r>
              <a:rPr lang="en-US" sz="3200">
                <a:solidFill>
                  <a:schemeClr val="bg1"/>
                </a:solidFill>
              </a:rPr>
              <a:t>Adapters in Robotics</a:t>
            </a:r>
          </a:p>
        </p:txBody>
      </p:sp>
      <p:sp>
        <p:nvSpPr>
          <p:cNvPr id="3" name="Content Placeholder 2"/>
          <p:cNvSpPr>
            <a:spLocks noGrp="1"/>
          </p:cNvSpPr>
          <p:nvPr>
            <p:ph idx="1"/>
          </p:nvPr>
        </p:nvSpPr>
        <p:spPr>
          <a:xfrm>
            <a:off x="3734308" y="960814"/>
            <a:ext cx="4685792" cy="4830385"/>
          </a:xfrm>
        </p:spPr>
        <p:txBody>
          <a:bodyPr anchor="ctr">
            <a:normAutofit/>
          </a:bodyPr>
          <a:lstStyle/>
          <a:p>
            <a:endParaRPr lang="en-US" sz="1600"/>
          </a:p>
          <a:p>
            <a:r>
              <a:rPr lang="en-US" sz="1600" b="1"/>
              <a:t>The "Skill Store" Concept:</a:t>
            </a:r>
          </a:p>
          <a:p>
            <a:pPr lvl="1"/>
            <a:r>
              <a:rPr lang="en-US" sz="1600"/>
              <a:t>Robot Base Brain: General Language Understanding.</a:t>
            </a:r>
          </a:p>
          <a:p>
            <a:pPr lvl="1"/>
            <a:r>
              <a:rPr lang="en-US" sz="1600"/>
              <a:t>LoRA Module A: Navigation Syntax.</a:t>
            </a:r>
          </a:p>
          <a:p>
            <a:pPr lvl="1"/>
            <a:r>
              <a:rPr lang="en-US" sz="1600"/>
              <a:t>LoRA Module B: Tool Manipulation Manual.</a:t>
            </a:r>
          </a:p>
          <a:p>
            <a:r>
              <a:rPr lang="en-US" sz="1600"/>
              <a:t>*The robot loads the specific LoRA adapter based on the task at hand.*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Lab Overview</a:t>
            </a:r>
          </a:p>
        </p:txBody>
      </p:sp>
      <p:sp>
        <p:nvSpPr>
          <p:cNvPr id="3" name="Content Placeholder 2"/>
          <p:cNvSpPr>
            <a:spLocks noGrp="1"/>
          </p:cNvSpPr>
          <p:nvPr>
            <p:ph idx="1"/>
          </p:nvPr>
        </p:nvSpPr>
        <p:spPr/>
        <p:txBody>
          <a:bodyPr>
            <a:normAutofit fontScale="92500" lnSpcReduction="10000"/>
          </a:bodyPr>
          <a:lstStyle/>
          <a:p>
            <a:endParaRPr dirty="0"/>
          </a:p>
          <a:p>
            <a:r>
              <a:rPr b="1" dirty="0">
                <a:solidFill>
                  <a:srgbClr val="003366"/>
                </a:solidFill>
              </a:rPr>
              <a:t>Part 1: Decoding Playground</a:t>
            </a:r>
          </a:p>
          <a:p>
            <a:pPr lvl="1"/>
            <a:r>
              <a:rPr dirty="0"/>
              <a:t>Use </a:t>
            </a:r>
            <a:r>
              <a:rPr dirty="0" err="1"/>
              <a:t>model.generate</a:t>
            </a:r>
            <a:r>
              <a:rPr dirty="0"/>
              <a:t>() with different settings (Temp 0.1 vs 2.0).</a:t>
            </a:r>
          </a:p>
          <a:p>
            <a:pPr lvl="1"/>
            <a:r>
              <a:rPr dirty="0"/>
              <a:t>Observe how Beam Search fixes grammar errors.</a:t>
            </a:r>
            <a:endParaRPr lang="en-US" dirty="0"/>
          </a:p>
          <a:p>
            <a:pPr lvl="1"/>
            <a:r>
              <a:rPr lang="en-US" dirty="0"/>
              <a:t>Evaluate using cheat sheet.</a:t>
            </a:r>
            <a:endParaRPr dirty="0"/>
          </a:p>
          <a:p>
            <a:r>
              <a:rPr b="1" dirty="0">
                <a:solidFill>
                  <a:srgbClr val="003366"/>
                </a:solidFill>
              </a:rPr>
              <a:t>Part 2: </a:t>
            </a:r>
            <a:r>
              <a:rPr b="1" dirty="0" err="1">
                <a:solidFill>
                  <a:srgbClr val="003366"/>
                </a:solidFill>
              </a:rPr>
              <a:t>LoRA</a:t>
            </a:r>
            <a:r>
              <a:rPr b="1" dirty="0">
                <a:solidFill>
                  <a:srgbClr val="003366"/>
                </a:solidFill>
              </a:rPr>
              <a:t> Fine-Tuning</a:t>
            </a:r>
          </a:p>
          <a:p>
            <a:pPr lvl="1"/>
            <a:r>
              <a:rPr dirty="0"/>
              <a:t>Task: Fine-tune base model (flan-t5/</a:t>
            </a:r>
            <a:r>
              <a:rPr dirty="0" err="1"/>
              <a:t>TinyLlama</a:t>
            </a:r>
            <a:r>
              <a:rPr dirty="0"/>
              <a:t>) to summarize Dialogues.</a:t>
            </a:r>
          </a:p>
          <a:p>
            <a:pPr lvl="1"/>
            <a:r>
              <a:rPr dirty="0"/>
              <a:t>Tool: Hugging Face PEFT library.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endParaRPr/>
          </a:p>
          <a:p>
            <a:r>
              <a:rPr b="1">
                <a:solidFill>
                  <a:srgbClr val="003366"/>
                </a:solidFill>
              </a:rPr>
              <a:t>Control:</a:t>
            </a:r>
            <a:r>
              <a:t> Use Nucleus Sampling for creativity, Beam Search for accuracy.</a:t>
            </a:r>
          </a:p>
          <a:p>
            <a:r>
              <a:rPr b="1">
                <a:solidFill>
                  <a:srgbClr val="003366"/>
                </a:solidFill>
              </a:rPr>
              <a:t>Efficiency:</a:t>
            </a:r>
            <a:r>
              <a:t> Never full fine-tune. Use LoRA/PEFT.</a:t>
            </a:r>
          </a:p>
          <a:p>
            <a:r>
              <a:rPr b="1">
                <a:solidFill>
                  <a:srgbClr val="003366"/>
                </a:solidFill>
              </a:rPr>
              <a:t>Future:</a:t>
            </a:r>
            <a:r>
              <a:t> Adapter Fusion (combining skills).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 &amp; Reading</a:t>
            </a:r>
          </a:p>
        </p:txBody>
      </p:sp>
      <p:sp>
        <p:nvSpPr>
          <p:cNvPr id="3" name="Content Placeholder 2"/>
          <p:cNvSpPr>
            <a:spLocks noGrp="1"/>
          </p:cNvSpPr>
          <p:nvPr>
            <p:ph idx="1"/>
          </p:nvPr>
        </p:nvSpPr>
        <p:spPr/>
        <p:txBody>
          <a:bodyPr>
            <a:normAutofit fontScale="85000" lnSpcReduction="10000"/>
          </a:bodyPr>
          <a:lstStyle/>
          <a:p>
            <a:endParaRPr dirty="0"/>
          </a:p>
          <a:p>
            <a:r>
              <a:rPr dirty="0"/>
              <a:t>Holtzman et al. (2019). "The Curious Case of Neural Text Degeneration" (Nucleus Sampling).</a:t>
            </a:r>
            <a:r>
              <a:rPr lang="en-US" dirty="0"/>
              <a:t> </a:t>
            </a:r>
            <a:r>
              <a:rPr lang="en-US" dirty="0">
                <a:hlinkClick r:id="rId2"/>
              </a:rPr>
              <a:t>https://arxiv.org/abs/1904.09751</a:t>
            </a:r>
            <a:endParaRPr dirty="0"/>
          </a:p>
          <a:p>
            <a:r>
              <a:rPr dirty="0"/>
              <a:t>Hu et al. (2021). "</a:t>
            </a:r>
            <a:r>
              <a:rPr dirty="0" err="1">
                <a:hlinkClick r:id="rId3"/>
              </a:rPr>
              <a:t>LoRA</a:t>
            </a:r>
            <a:r>
              <a:rPr dirty="0">
                <a:hlinkClick r:id="rId3"/>
              </a:rPr>
              <a:t>: Low-Rank Adaptation of Large Language Models</a:t>
            </a:r>
            <a:r>
              <a:rPr dirty="0"/>
              <a:t>".</a:t>
            </a:r>
          </a:p>
          <a:p>
            <a:r>
              <a:rPr dirty="0"/>
              <a:t>MIT Paper on </a:t>
            </a:r>
            <a:r>
              <a:rPr dirty="0">
                <a:hlinkClick r:id="rId4"/>
              </a:rPr>
              <a:t>Chain of Density Prompting</a:t>
            </a:r>
            <a:r>
              <a:rPr dirty="0"/>
              <a:t> (2023).</a:t>
            </a:r>
            <a:endParaRPr lang="en-US" dirty="0"/>
          </a:p>
          <a:p>
            <a:r>
              <a:rPr lang="en-US" dirty="0">
                <a:hlinkClick r:id="rId5"/>
              </a:rPr>
              <a:t>Hugging Face PEFT Index</a:t>
            </a:r>
            <a:endParaRPr dirty="0"/>
          </a:p>
          <a:p>
            <a:r>
              <a:rPr b="1" dirty="0">
                <a:solidFill>
                  <a:srgbClr val="003366"/>
                </a:solidFill>
              </a:rPr>
              <a:t>Next Week:</a:t>
            </a:r>
            <a:r>
              <a:rPr dirty="0"/>
              <a:t> Module 7 - RAG Systems</a:t>
            </a:r>
            <a:r>
              <a:rPr lang="en-US" dirty="0"/>
              <a:t> </a:t>
            </a:r>
            <a:br>
              <a:rPr lang="en-US" dirty="0"/>
            </a:br>
            <a:r>
              <a:rPr lang="en-US" dirty="0"/>
              <a:t>RAG Survey (2023) - </a:t>
            </a:r>
            <a:r>
              <a:rPr lang="en-US" dirty="0">
                <a:hlinkClick r:id="rId6"/>
              </a:rPr>
              <a:t>https://arxiv.org/pdf/2312.10997</a:t>
            </a:r>
            <a:endParaRPr lang="en-US" dirty="0"/>
          </a:p>
          <a:p>
            <a:endParaRPr dirty="0"/>
          </a:p>
        </p:txBody>
      </p:sp>
    </p:spTree>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TM04033925[[fn=Droplet]]</Template>
  <TotalTime>83</TotalTime>
  <Words>3458</Words>
  <Application>Microsoft Office PowerPoint</Application>
  <PresentationFormat>On-screen Show (4:3)</PresentationFormat>
  <Paragraphs>288</Paragraphs>
  <Slides>20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Arial</vt:lpstr>
      <vt:lpstr>Tw Cen MT</vt:lpstr>
      <vt:lpstr>Droplet</vt:lpstr>
      <vt:lpstr>Advanced Text Generation &amp; Summarization</vt:lpstr>
      <vt:lpstr>The Autoregressive Engine</vt:lpstr>
      <vt:lpstr>Strategy 1: Greedy Search &amp; Beam Search</vt:lpstr>
      <vt:lpstr>Strategy 2: Sampling (The "Chaos" Knobs)</vt:lpstr>
      <vt:lpstr>Strategy 3: Top-K &amp; Nucleus (Top-p) Sampling</vt:lpstr>
      <vt:lpstr>Robotics Use Case: Generating Mission Reports</vt:lpstr>
      <vt:lpstr>Extractive vs. Abstractive Summarization</vt:lpstr>
      <vt:lpstr>The Architecture for Summarization</vt:lpstr>
      <vt:lpstr>PowerPoint Presentation</vt:lpstr>
      <vt:lpstr>Evaluation: The ROUGE Metric</vt:lpstr>
      <vt:lpstr>The Hallucination Danger</vt:lpstr>
      <vt:lpstr>The Fine-Tuning Problem</vt:lpstr>
      <vt:lpstr>PowerPoint Presentation</vt:lpstr>
      <vt:lpstr>Enter LoRA (Low-Rank Adaptation)</vt:lpstr>
      <vt:lpstr>The Efficiency Gains</vt:lpstr>
      <vt:lpstr>QLoRA (Quantized LoRA)</vt:lpstr>
      <vt:lpstr>Adapters in Robotics</vt:lpstr>
      <vt:lpstr>Lab Overview</vt:lpstr>
      <vt:lpstr>Summary</vt:lpstr>
      <vt:lpstr>References &amp; Reading</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Srikanth Bhakthan</cp:lastModifiedBy>
  <cp:revision>6</cp:revision>
  <dcterms:created xsi:type="dcterms:W3CDTF">2013-01-27T09:14:16Z</dcterms:created>
  <dcterms:modified xsi:type="dcterms:W3CDTF">2025-12-20T18:24:29Z</dcterms:modified>
  <cp:category/>
</cp:coreProperties>
</file>