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256" r:id="rId2"/>
    <p:sldId id="275" r:id="rId3"/>
    <p:sldId id="257" r:id="rId4"/>
    <p:sldId id="277" r:id="rId5"/>
    <p:sldId id="276" r:id="rId6"/>
    <p:sldId id="258" r:id="rId7"/>
    <p:sldId id="259" r:id="rId8"/>
    <p:sldId id="260" r:id="rId9"/>
    <p:sldId id="261" r:id="rId10"/>
    <p:sldId id="262" r:id="rId11"/>
    <p:sldId id="263" r:id="rId12"/>
    <p:sldId id="264" r:id="rId13"/>
    <p:sldId id="283" r:id="rId14"/>
    <p:sldId id="265" r:id="rId15"/>
    <p:sldId id="266" r:id="rId16"/>
    <p:sldId id="267" r:id="rId17"/>
    <p:sldId id="279" r:id="rId18"/>
    <p:sldId id="268" r:id="rId19"/>
    <p:sldId id="274" r:id="rId20"/>
    <p:sldId id="278" r:id="rId21"/>
    <p:sldId id="280" r:id="rId22"/>
    <p:sldId id="282" r:id="rId23"/>
    <p:sldId id="284" r:id="rId24"/>
    <p:sldId id="281" r:id="rId25"/>
    <p:sldId id="269" r:id="rId26"/>
    <p:sldId id="270" r:id="rId27"/>
    <p:sldId id="271" r:id="rId28"/>
    <p:sldId id="272" r:id="rId29"/>
    <p:sldId id="27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503" autoAdjust="0"/>
  </p:normalViewPr>
  <p:slideViewPr>
    <p:cSldViewPr snapToGrid="0" snapToObjects="1">
      <p:cViewPr varScale="1">
        <p:scale>
          <a:sx n="67" d="100"/>
          <a:sy n="67" d="100"/>
        </p:scale>
        <p:origin x="389" y="5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10.xml.rels><?xml version="1.0" encoding="UTF-8" standalone="yes"?>
<Relationships xmlns="http://schemas.openxmlformats.org/package/2006/relationships"><Relationship Id="rId3" Type="http://schemas.openxmlformats.org/officeDocument/2006/relationships/hyperlink" Target="https://arxiv.org/pdf/2510.26493" TargetMode="External"/><Relationship Id="rId2" Type="http://schemas.openxmlformats.org/officeDocument/2006/relationships/hyperlink" Target="https://www.anthropic.com/engineering/effective-context-engineering-for-ai-agents" TargetMode="External"/><Relationship Id="rId1" Type="http://schemas.openxmlformats.org/officeDocument/2006/relationships/hyperlink" Target="https://arxiv.org/pdf/2312.10997" TargetMode="External"/><Relationship Id="rId4" Type="http://schemas.openxmlformats.org/officeDocument/2006/relationships/hyperlink" Target="https://www.youtube.com/watch?v=CA-QTmeAoyg" TargetMode="External"/></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0.xml.rels><?xml version="1.0" encoding="UTF-8" standalone="yes"?>
<Relationships xmlns="http://schemas.openxmlformats.org/package/2006/relationships"><Relationship Id="rId3" Type="http://schemas.openxmlformats.org/officeDocument/2006/relationships/hyperlink" Target="https://arxiv.org/pdf/2510.26493" TargetMode="External"/><Relationship Id="rId2" Type="http://schemas.openxmlformats.org/officeDocument/2006/relationships/hyperlink" Target="https://www.anthropic.com/engineering/effective-context-engineering-for-ai-agents" TargetMode="External"/><Relationship Id="rId1" Type="http://schemas.openxmlformats.org/officeDocument/2006/relationships/hyperlink" Target="https://arxiv.org/pdf/2312.10997" TargetMode="External"/><Relationship Id="rId4" Type="http://schemas.openxmlformats.org/officeDocument/2006/relationships/hyperlink" Target="https://www.youtube.com/watch?v=CA-QTmeAoyg" TargetMode="Externa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88DC3B-9BDD-43A3-A4A3-1FAA5EFAE52F}" type="doc">
      <dgm:prSet loTypeId="urn:microsoft.com/office/officeart/2016/7/layout/VerticalDownArrowProcess" loCatId="process" qsTypeId="urn:microsoft.com/office/officeart/2005/8/quickstyle/simple2" qsCatId="simple" csTypeId="urn:microsoft.com/office/officeart/2005/8/colors/colorful5" csCatId="colorful"/>
      <dgm:spPr/>
      <dgm:t>
        <a:bodyPr/>
        <a:lstStyle/>
        <a:p>
          <a:endParaRPr lang="en-US"/>
        </a:p>
      </dgm:t>
    </dgm:pt>
    <dgm:pt modelId="{3029FC80-B2FA-4409-A6BC-DE51D1073E81}">
      <dgm:prSet/>
      <dgm:spPr/>
      <dgm:t>
        <a:bodyPr/>
        <a:lstStyle/>
        <a:p>
          <a:r>
            <a:rPr lang="en-US" b="1"/>
            <a:t>1. Knowledge Cutoff:</a:t>
          </a:r>
          <a:endParaRPr lang="en-US"/>
        </a:p>
      </dgm:t>
    </dgm:pt>
    <dgm:pt modelId="{9F4D4FE3-A063-4966-849B-9FD5A4E82F0A}" type="parTrans" cxnId="{7F2830C9-92DF-48DA-9746-C01E52B6699A}">
      <dgm:prSet/>
      <dgm:spPr/>
      <dgm:t>
        <a:bodyPr/>
        <a:lstStyle/>
        <a:p>
          <a:endParaRPr lang="en-US"/>
        </a:p>
      </dgm:t>
    </dgm:pt>
    <dgm:pt modelId="{717D2636-0E25-4A9B-B178-7F531AE8A3CD}" type="sibTrans" cxnId="{7F2830C9-92DF-48DA-9746-C01E52B6699A}">
      <dgm:prSet/>
      <dgm:spPr/>
      <dgm:t>
        <a:bodyPr/>
        <a:lstStyle/>
        <a:p>
          <a:endParaRPr lang="en-US"/>
        </a:p>
      </dgm:t>
    </dgm:pt>
    <dgm:pt modelId="{E9D6B983-FA13-479B-A94C-26B87110F2F4}">
      <dgm:prSet/>
      <dgm:spPr/>
      <dgm:t>
        <a:bodyPr/>
        <a:lstStyle/>
        <a:p>
          <a:r>
            <a:rPr lang="en-US"/>
            <a:t>Scenario: "Who won the World Series in 2025?"</a:t>
          </a:r>
        </a:p>
      </dgm:t>
    </dgm:pt>
    <dgm:pt modelId="{A2C1C69E-F619-4548-9D7B-AD637C1BEEBE}" type="parTrans" cxnId="{27B90D51-1D23-4E19-AA30-6E6FD6694AF5}">
      <dgm:prSet/>
      <dgm:spPr/>
      <dgm:t>
        <a:bodyPr/>
        <a:lstStyle/>
        <a:p>
          <a:endParaRPr lang="en-US"/>
        </a:p>
      </dgm:t>
    </dgm:pt>
    <dgm:pt modelId="{1ADFC2E6-9F4F-4111-82AD-AF5FB08DB1D3}" type="sibTrans" cxnId="{27B90D51-1D23-4E19-AA30-6E6FD6694AF5}">
      <dgm:prSet/>
      <dgm:spPr/>
      <dgm:t>
        <a:bodyPr/>
        <a:lstStyle/>
        <a:p>
          <a:endParaRPr lang="en-US"/>
        </a:p>
      </dgm:t>
    </dgm:pt>
    <dgm:pt modelId="{A694E3E8-AC88-4914-B3A5-8BCCE3D68B38}">
      <dgm:prSet/>
      <dgm:spPr/>
      <dgm:t>
        <a:bodyPr/>
        <a:lstStyle/>
        <a:p>
          <a:r>
            <a:rPr lang="en-US"/>
            <a:t>Model: "I do not know" or guesses based on old probabilities.</a:t>
          </a:r>
        </a:p>
      </dgm:t>
    </dgm:pt>
    <dgm:pt modelId="{C21E0AC0-9804-4F2F-B55C-F6A4F637AC13}" type="parTrans" cxnId="{98AD234F-27B3-43B3-9E81-F1070376718A}">
      <dgm:prSet/>
      <dgm:spPr/>
      <dgm:t>
        <a:bodyPr/>
        <a:lstStyle/>
        <a:p>
          <a:endParaRPr lang="en-US"/>
        </a:p>
      </dgm:t>
    </dgm:pt>
    <dgm:pt modelId="{3391680D-AAC0-43FE-B29D-2E9657EB951B}" type="sibTrans" cxnId="{98AD234F-27B3-43B3-9E81-F1070376718A}">
      <dgm:prSet/>
      <dgm:spPr/>
      <dgm:t>
        <a:bodyPr/>
        <a:lstStyle/>
        <a:p>
          <a:endParaRPr lang="en-US"/>
        </a:p>
      </dgm:t>
    </dgm:pt>
    <dgm:pt modelId="{5525E9CB-26CC-4E5A-83CB-5A140D87EB56}">
      <dgm:prSet/>
      <dgm:spPr/>
      <dgm:t>
        <a:bodyPr/>
        <a:lstStyle/>
        <a:p>
          <a:r>
            <a:rPr lang="en-US" b="1"/>
            <a:t>2. Hallucination:</a:t>
          </a:r>
          <a:endParaRPr lang="en-US"/>
        </a:p>
      </dgm:t>
    </dgm:pt>
    <dgm:pt modelId="{F2D46F6F-4030-4DD5-BED3-214CB38AEEF0}" type="parTrans" cxnId="{19CB357A-8C22-4EF1-8456-D054DEBC4BAF}">
      <dgm:prSet/>
      <dgm:spPr/>
      <dgm:t>
        <a:bodyPr/>
        <a:lstStyle/>
        <a:p>
          <a:endParaRPr lang="en-US"/>
        </a:p>
      </dgm:t>
    </dgm:pt>
    <dgm:pt modelId="{9764622A-5AE7-4BAD-80DA-6A27FC7474FB}" type="sibTrans" cxnId="{19CB357A-8C22-4EF1-8456-D054DEBC4BAF}">
      <dgm:prSet/>
      <dgm:spPr/>
      <dgm:t>
        <a:bodyPr/>
        <a:lstStyle/>
        <a:p>
          <a:endParaRPr lang="en-US"/>
        </a:p>
      </dgm:t>
    </dgm:pt>
    <dgm:pt modelId="{9C8428E0-020F-43E8-A7C1-EE8835BF2B44}">
      <dgm:prSet/>
      <dgm:spPr/>
      <dgm:t>
        <a:bodyPr/>
        <a:lstStyle/>
        <a:p>
          <a:r>
            <a:rPr lang="en-US"/>
            <a:t>Scenario: "Summarize the safety manual for this specific robot arm."</a:t>
          </a:r>
        </a:p>
      </dgm:t>
    </dgm:pt>
    <dgm:pt modelId="{EBA711EC-A2EE-4EB9-8DAF-DCB515AA4DBC}" type="parTrans" cxnId="{7680D1B7-DF58-4B3B-B27E-423CF6BA5AD4}">
      <dgm:prSet/>
      <dgm:spPr/>
      <dgm:t>
        <a:bodyPr/>
        <a:lstStyle/>
        <a:p>
          <a:endParaRPr lang="en-US"/>
        </a:p>
      </dgm:t>
    </dgm:pt>
    <dgm:pt modelId="{E244CE15-1D38-44FD-810C-DA71B05FCD21}" type="sibTrans" cxnId="{7680D1B7-DF58-4B3B-B27E-423CF6BA5AD4}">
      <dgm:prSet/>
      <dgm:spPr/>
      <dgm:t>
        <a:bodyPr/>
        <a:lstStyle/>
        <a:p>
          <a:endParaRPr lang="en-US"/>
        </a:p>
      </dgm:t>
    </dgm:pt>
    <dgm:pt modelId="{C8A3499B-068F-4F35-87F8-022B446D5867}">
      <dgm:prSet/>
      <dgm:spPr/>
      <dgm:t>
        <a:bodyPr/>
        <a:lstStyle/>
        <a:p>
          <a:r>
            <a:rPr lang="en-US"/>
            <a:t>Model: Invents a plausible but dangerous procedure.</a:t>
          </a:r>
        </a:p>
      </dgm:t>
    </dgm:pt>
    <dgm:pt modelId="{63B4A737-C351-4875-8AF4-1488EBA15F30}" type="parTrans" cxnId="{F33F9962-89D1-404D-8E47-BC094A751B86}">
      <dgm:prSet/>
      <dgm:spPr/>
      <dgm:t>
        <a:bodyPr/>
        <a:lstStyle/>
        <a:p>
          <a:endParaRPr lang="en-US"/>
        </a:p>
      </dgm:t>
    </dgm:pt>
    <dgm:pt modelId="{DD74D113-D4F1-40AF-A876-9AF7A9E11735}" type="sibTrans" cxnId="{F33F9962-89D1-404D-8E47-BC094A751B86}">
      <dgm:prSet/>
      <dgm:spPr/>
      <dgm:t>
        <a:bodyPr/>
        <a:lstStyle/>
        <a:p>
          <a:endParaRPr lang="en-US"/>
        </a:p>
      </dgm:t>
    </dgm:pt>
    <dgm:pt modelId="{A02B2667-AD99-4EB9-BAFE-129D48A478C0}">
      <dgm:prSet/>
      <dgm:spPr/>
      <dgm:t>
        <a:bodyPr/>
        <a:lstStyle/>
        <a:p>
          <a:r>
            <a:rPr lang="en-US" b="1"/>
            <a:t>The RAG Solution:</a:t>
          </a:r>
          <a:r>
            <a:rPr lang="en-US"/>
            <a:t> Don't ask to memorize. Ask to process provided facts.</a:t>
          </a:r>
        </a:p>
      </dgm:t>
    </dgm:pt>
    <dgm:pt modelId="{D866F5D0-DA01-4C44-9494-3A556656230C}" type="parTrans" cxnId="{5D95CEB6-6507-4120-A58E-7CC848251230}">
      <dgm:prSet/>
      <dgm:spPr/>
      <dgm:t>
        <a:bodyPr/>
        <a:lstStyle/>
        <a:p>
          <a:endParaRPr lang="en-US"/>
        </a:p>
      </dgm:t>
    </dgm:pt>
    <dgm:pt modelId="{3E24FB97-BD19-4068-8D7C-B8A87E144BF1}" type="sibTrans" cxnId="{5D95CEB6-6507-4120-A58E-7CC848251230}">
      <dgm:prSet/>
      <dgm:spPr/>
      <dgm:t>
        <a:bodyPr/>
        <a:lstStyle/>
        <a:p>
          <a:endParaRPr lang="en-US"/>
        </a:p>
      </dgm:t>
    </dgm:pt>
    <dgm:pt modelId="{1C0853E0-62FE-4C5B-B308-AC72B5B3FFEA}" type="pres">
      <dgm:prSet presAssocID="{7388DC3B-9BDD-43A3-A4A3-1FAA5EFAE52F}" presName="Name0" presStyleCnt="0">
        <dgm:presLayoutVars>
          <dgm:dir/>
          <dgm:animLvl val="lvl"/>
          <dgm:resizeHandles val="exact"/>
        </dgm:presLayoutVars>
      </dgm:prSet>
      <dgm:spPr/>
    </dgm:pt>
    <dgm:pt modelId="{4FA3F72F-C6E1-40C8-96FF-68CD8D6BC129}" type="pres">
      <dgm:prSet presAssocID="{A02B2667-AD99-4EB9-BAFE-129D48A478C0}" presName="boxAndChildren" presStyleCnt="0"/>
      <dgm:spPr/>
    </dgm:pt>
    <dgm:pt modelId="{52383A15-1670-4F47-91B7-F1DD7CB38A46}" type="pres">
      <dgm:prSet presAssocID="{A02B2667-AD99-4EB9-BAFE-129D48A478C0}" presName="parentTextBox" presStyleLbl="alignNode1" presStyleIdx="0" presStyleCnt="3"/>
      <dgm:spPr/>
    </dgm:pt>
    <dgm:pt modelId="{DF63132D-54EA-46E0-B94D-DFB214641331}" type="pres">
      <dgm:prSet presAssocID="{A02B2667-AD99-4EB9-BAFE-129D48A478C0}" presName="descendantBox" presStyleLbl="bgAccFollowNode1" presStyleIdx="0" presStyleCnt="3"/>
      <dgm:spPr/>
    </dgm:pt>
    <dgm:pt modelId="{D11EC6FA-A673-4DB8-928F-0D17E6425BCB}" type="pres">
      <dgm:prSet presAssocID="{9764622A-5AE7-4BAD-80DA-6A27FC7474FB}" presName="sp" presStyleCnt="0"/>
      <dgm:spPr/>
    </dgm:pt>
    <dgm:pt modelId="{C0665395-55E6-409F-A80A-121FEEA20988}" type="pres">
      <dgm:prSet presAssocID="{5525E9CB-26CC-4E5A-83CB-5A140D87EB56}" presName="arrowAndChildren" presStyleCnt="0"/>
      <dgm:spPr/>
    </dgm:pt>
    <dgm:pt modelId="{6E4CC943-4FD1-4780-8F29-B8B1BB014DC7}" type="pres">
      <dgm:prSet presAssocID="{5525E9CB-26CC-4E5A-83CB-5A140D87EB56}" presName="parentTextArrow" presStyleLbl="node1" presStyleIdx="0" presStyleCnt="0"/>
      <dgm:spPr/>
    </dgm:pt>
    <dgm:pt modelId="{1D67C168-969B-4A6C-AD4D-27E662428BB3}" type="pres">
      <dgm:prSet presAssocID="{5525E9CB-26CC-4E5A-83CB-5A140D87EB56}" presName="arrow" presStyleLbl="alignNode1" presStyleIdx="1" presStyleCnt="3"/>
      <dgm:spPr/>
    </dgm:pt>
    <dgm:pt modelId="{8F9B6139-D64C-44C7-B9E7-5A4CDDC40661}" type="pres">
      <dgm:prSet presAssocID="{5525E9CB-26CC-4E5A-83CB-5A140D87EB56}" presName="descendantArrow" presStyleLbl="bgAccFollowNode1" presStyleIdx="1" presStyleCnt="3"/>
      <dgm:spPr/>
    </dgm:pt>
    <dgm:pt modelId="{937D1BA7-1527-4D22-A758-AD78EEE9D9F6}" type="pres">
      <dgm:prSet presAssocID="{717D2636-0E25-4A9B-B178-7F531AE8A3CD}" presName="sp" presStyleCnt="0"/>
      <dgm:spPr/>
    </dgm:pt>
    <dgm:pt modelId="{6483B149-B3E8-497A-878F-05C2C3D7F123}" type="pres">
      <dgm:prSet presAssocID="{3029FC80-B2FA-4409-A6BC-DE51D1073E81}" presName="arrowAndChildren" presStyleCnt="0"/>
      <dgm:spPr/>
    </dgm:pt>
    <dgm:pt modelId="{73D02F69-2A80-4F25-BC09-B324AB99DBD5}" type="pres">
      <dgm:prSet presAssocID="{3029FC80-B2FA-4409-A6BC-DE51D1073E81}" presName="parentTextArrow" presStyleLbl="node1" presStyleIdx="0" presStyleCnt="0"/>
      <dgm:spPr/>
    </dgm:pt>
    <dgm:pt modelId="{98290FC4-AB35-4D5A-B7E5-5E352B4A6320}" type="pres">
      <dgm:prSet presAssocID="{3029FC80-B2FA-4409-A6BC-DE51D1073E81}" presName="arrow" presStyleLbl="alignNode1" presStyleIdx="2" presStyleCnt="3"/>
      <dgm:spPr/>
    </dgm:pt>
    <dgm:pt modelId="{65E6787B-9782-41C6-827F-7AA4D5C16498}" type="pres">
      <dgm:prSet presAssocID="{3029FC80-B2FA-4409-A6BC-DE51D1073E81}" presName="descendantArrow" presStyleLbl="bgAccFollowNode1" presStyleIdx="2" presStyleCnt="3"/>
      <dgm:spPr/>
    </dgm:pt>
  </dgm:ptLst>
  <dgm:cxnLst>
    <dgm:cxn modelId="{9E7B2511-95BD-4C98-9B5E-D1E3981D6B63}" type="presOf" srcId="{A02B2667-AD99-4EB9-BAFE-129D48A478C0}" destId="{52383A15-1670-4F47-91B7-F1DD7CB38A46}" srcOrd="0" destOrd="0" presId="urn:microsoft.com/office/officeart/2016/7/layout/VerticalDownArrowProcess"/>
    <dgm:cxn modelId="{B8A56325-6E91-4055-9BCF-883F2EA46BC4}" type="presOf" srcId="{9C8428E0-020F-43E8-A7C1-EE8835BF2B44}" destId="{8F9B6139-D64C-44C7-B9E7-5A4CDDC40661}" srcOrd="0" destOrd="0" presId="urn:microsoft.com/office/officeart/2016/7/layout/VerticalDownArrowProcess"/>
    <dgm:cxn modelId="{75AFDF25-C6F5-4F2E-AACE-841B4E45BF86}" type="presOf" srcId="{E9D6B983-FA13-479B-A94C-26B87110F2F4}" destId="{65E6787B-9782-41C6-827F-7AA4D5C16498}" srcOrd="0" destOrd="0" presId="urn:microsoft.com/office/officeart/2016/7/layout/VerticalDownArrowProcess"/>
    <dgm:cxn modelId="{F33F9962-89D1-404D-8E47-BC094A751B86}" srcId="{5525E9CB-26CC-4E5A-83CB-5A140D87EB56}" destId="{C8A3499B-068F-4F35-87F8-022B446D5867}" srcOrd="1" destOrd="0" parTransId="{63B4A737-C351-4875-8AF4-1488EBA15F30}" sibTransId="{DD74D113-D4F1-40AF-A876-9AF7A9E11735}"/>
    <dgm:cxn modelId="{EEFF5463-358D-4943-B3FC-C5003B8486EB}" type="presOf" srcId="{C8A3499B-068F-4F35-87F8-022B446D5867}" destId="{8F9B6139-D64C-44C7-B9E7-5A4CDDC40661}" srcOrd="0" destOrd="1" presId="urn:microsoft.com/office/officeart/2016/7/layout/VerticalDownArrowProcess"/>
    <dgm:cxn modelId="{98AD234F-27B3-43B3-9E81-F1070376718A}" srcId="{3029FC80-B2FA-4409-A6BC-DE51D1073E81}" destId="{A694E3E8-AC88-4914-B3A5-8BCCE3D68B38}" srcOrd="1" destOrd="0" parTransId="{C21E0AC0-9804-4F2F-B55C-F6A4F637AC13}" sibTransId="{3391680D-AAC0-43FE-B29D-2E9657EB951B}"/>
    <dgm:cxn modelId="{EA0F2F6F-BEF3-4DD9-8C65-6E4F4982A8BE}" type="presOf" srcId="{5525E9CB-26CC-4E5A-83CB-5A140D87EB56}" destId="{6E4CC943-4FD1-4780-8F29-B8B1BB014DC7}" srcOrd="0" destOrd="0" presId="urn:microsoft.com/office/officeart/2016/7/layout/VerticalDownArrowProcess"/>
    <dgm:cxn modelId="{27B90D51-1D23-4E19-AA30-6E6FD6694AF5}" srcId="{3029FC80-B2FA-4409-A6BC-DE51D1073E81}" destId="{E9D6B983-FA13-479B-A94C-26B87110F2F4}" srcOrd="0" destOrd="0" parTransId="{A2C1C69E-F619-4548-9D7B-AD637C1BEEBE}" sibTransId="{1ADFC2E6-9F4F-4111-82AD-AF5FB08DB1D3}"/>
    <dgm:cxn modelId="{76042C52-4022-4B4F-86B1-A533CB62D5D0}" type="presOf" srcId="{5525E9CB-26CC-4E5A-83CB-5A140D87EB56}" destId="{1D67C168-969B-4A6C-AD4D-27E662428BB3}" srcOrd="1" destOrd="0" presId="urn:microsoft.com/office/officeart/2016/7/layout/VerticalDownArrowProcess"/>
    <dgm:cxn modelId="{15651458-D34A-4310-B3C1-24C1DFE2E322}" type="presOf" srcId="{7388DC3B-9BDD-43A3-A4A3-1FAA5EFAE52F}" destId="{1C0853E0-62FE-4C5B-B308-AC72B5B3FFEA}" srcOrd="0" destOrd="0" presId="urn:microsoft.com/office/officeart/2016/7/layout/VerticalDownArrowProcess"/>
    <dgm:cxn modelId="{19CB357A-8C22-4EF1-8456-D054DEBC4BAF}" srcId="{7388DC3B-9BDD-43A3-A4A3-1FAA5EFAE52F}" destId="{5525E9CB-26CC-4E5A-83CB-5A140D87EB56}" srcOrd="1" destOrd="0" parTransId="{F2D46F6F-4030-4DD5-BED3-214CB38AEEF0}" sibTransId="{9764622A-5AE7-4BAD-80DA-6A27FC7474FB}"/>
    <dgm:cxn modelId="{0F0EA984-B874-4839-B444-2CE99A5D9F5C}" type="presOf" srcId="{3029FC80-B2FA-4409-A6BC-DE51D1073E81}" destId="{98290FC4-AB35-4D5A-B7E5-5E352B4A6320}" srcOrd="1" destOrd="0" presId="urn:microsoft.com/office/officeart/2016/7/layout/VerticalDownArrowProcess"/>
    <dgm:cxn modelId="{5D95CEB6-6507-4120-A58E-7CC848251230}" srcId="{7388DC3B-9BDD-43A3-A4A3-1FAA5EFAE52F}" destId="{A02B2667-AD99-4EB9-BAFE-129D48A478C0}" srcOrd="2" destOrd="0" parTransId="{D866F5D0-DA01-4C44-9494-3A556656230C}" sibTransId="{3E24FB97-BD19-4068-8D7C-B8A87E144BF1}"/>
    <dgm:cxn modelId="{7680D1B7-DF58-4B3B-B27E-423CF6BA5AD4}" srcId="{5525E9CB-26CC-4E5A-83CB-5A140D87EB56}" destId="{9C8428E0-020F-43E8-A7C1-EE8835BF2B44}" srcOrd="0" destOrd="0" parTransId="{EBA711EC-A2EE-4EB9-8DAF-DCB515AA4DBC}" sibTransId="{E244CE15-1D38-44FD-810C-DA71B05FCD21}"/>
    <dgm:cxn modelId="{7F2830C9-92DF-48DA-9746-C01E52B6699A}" srcId="{7388DC3B-9BDD-43A3-A4A3-1FAA5EFAE52F}" destId="{3029FC80-B2FA-4409-A6BC-DE51D1073E81}" srcOrd="0" destOrd="0" parTransId="{9F4D4FE3-A063-4966-849B-9FD5A4E82F0A}" sibTransId="{717D2636-0E25-4A9B-B178-7F531AE8A3CD}"/>
    <dgm:cxn modelId="{4743DDD5-6C60-447B-A050-507BDFF418C3}" type="presOf" srcId="{3029FC80-B2FA-4409-A6BC-DE51D1073E81}" destId="{73D02F69-2A80-4F25-BC09-B324AB99DBD5}" srcOrd="0" destOrd="0" presId="urn:microsoft.com/office/officeart/2016/7/layout/VerticalDownArrowProcess"/>
    <dgm:cxn modelId="{B6C923F0-59F6-46A5-B020-D8E6FF0CFE02}" type="presOf" srcId="{A694E3E8-AC88-4914-B3A5-8BCCE3D68B38}" destId="{65E6787B-9782-41C6-827F-7AA4D5C16498}" srcOrd="0" destOrd="1" presId="urn:microsoft.com/office/officeart/2016/7/layout/VerticalDownArrowProcess"/>
    <dgm:cxn modelId="{DD2EEFF7-9D37-4A38-A317-55B4D9A1B7CB}" type="presParOf" srcId="{1C0853E0-62FE-4C5B-B308-AC72B5B3FFEA}" destId="{4FA3F72F-C6E1-40C8-96FF-68CD8D6BC129}" srcOrd="0" destOrd="0" presId="urn:microsoft.com/office/officeart/2016/7/layout/VerticalDownArrowProcess"/>
    <dgm:cxn modelId="{F9A1F4F5-B778-415C-AC61-B28049A2FDF5}" type="presParOf" srcId="{4FA3F72F-C6E1-40C8-96FF-68CD8D6BC129}" destId="{52383A15-1670-4F47-91B7-F1DD7CB38A46}" srcOrd="0" destOrd="0" presId="urn:microsoft.com/office/officeart/2016/7/layout/VerticalDownArrowProcess"/>
    <dgm:cxn modelId="{D01DF498-9407-4AAF-827A-7766809C8915}" type="presParOf" srcId="{4FA3F72F-C6E1-40C8-96FF-68CD8D6BC129}" destId="{DF63132D-54EA-46E0-B94D-DFB214641331}" srcOrd="1" destOrd="0" presId="urn:microsoft.com/office/officeart/2016/7/layout/VerticalDownArrowProcess"/>
    <dgm:cxn modelId="{9A1596A0-50B7-4914-800D-53E804314015}" type="presParOf" srcId="{1C0853E0-62FE-4C5B-B308-AC72B5B3FFEA}" destId="{D11EC6FA-A673-4DB8-928F-0D17E6425BCB}" srcOrd="1" destOrd="0" presId="urn:microsoft.com/office/officeart/2016/7/layout/VerticalDownArrowProcess"/>
    <dgm:cxn modelId="{E5DD6072-3229-4592-97A2-9C717D4FEA91}" type="presParOf" srcId="{1C0853E0-62FE-4C5B-B308-AC72B5B3FFEA}" destId="{C0665395-55E6-409F-A80A-121FEEA20988}" srcOrd="2" destOrd="0" presId="urn:microsoft.com/office/officeart/2016/7/layout/VerticalDownArrowProcess"/>
    <dgm:cxn modelId="{AA6C36D7-9936-4E88-A6C4-F01CA20AEE7D}" type="presParOf" srcId="{C0665395-55E6-409F-A80A-121FEEA20988}" destId="{6E4CC943-4FD1-4780-8F29-B8B1BB014DC7}" srcOrd="0" destOrd="0" presId="urn:microsoft.com/office/officeart/2016/7/layout/VerticalDownArrowProcess"/>
    <dgm:cxn modelId="{EA51AD5A-6C5F-4C08-A9B4-A4E58A463648}" type="presParOf" srcId="{C0665395-55E6-409F-A80A-121FEEA20988}" destId="{1D67C168-969B-4A6C-AD4D-27E662428BB3}" srcOrd="1" destOrd="0" presId="urn:microsoft.com/office/officeart/2016/7/layout/VerticalDownArrowProcess"/>
    <dgm:cxn modelId="{B10F8252-0A46-40A7-9B18-AD132E3DB461}" type="presParOf" srcId="{C0665395-55E6-409F-A80A-121FEEA20988}" destId="{8F9B6139-D64C-44C7-B9E7-5A4CDDC40661}" srcOrd="2" destOrd="0" presId="urn:microsoft.com/office/officeart/2016/7/layout/VerticalDownArrowProcess"/>
    <dgm:cxn modelId="{ADEC71DE-FED5-47F6-A605-6797130213C6}" type="presParOf" srcId="{1C0853E0-62FE-4C5B-B308-AC72B5B3FFEA}" destId="{937D1BA7-1527-4D22-A758-AD78EEE9D9F6}" srcOrd="3" destOrd="0" presId="urn:microsoft.com/office/officeart/2016/7/layout/VerticalDownArrowProcess"/>
    <dgm:cxn modelId="{7819C209-B468-4F0D-9D0E-87BA16FCD9DC}" type="presParOf" srcId="{1C0853E0-62FE-4C5B-B308-AC72B5B3FFEA}" destId="{6483B149-B3E8-497A-878F-05C2C3D7F123}" srcOrd="4" destOrd="0" presId="urn:microsoft.com/office/officeart/2016/7/layout/VerticalDownArrowProcess"/>
    <dgm:cxn modelId="{D6C58B87-CE31-4577-9624-7BFEEF113291}" type="presParOf" srcId="{6483B149-B3E8-497A-878F-05C2C3D7F123}" destId="{73D02F69-2A80-4F25-BC09-B324AB99DBD5}" srcOrd="0" destOrd="0" presId="urn:microsoft.com/office/officeart/2016/7/layout/VerticalDownArrowProcess"/>
    <dgm:cxn modelId="{8158B780-676D-4D27-A10E-1CE257E880C6}" type="presParOf" srcId="{6483B149-B3E8-497A-878F-05C2C3D7F123}" destId="{98290FC4-AB35-4D5A-B7E5-5E352B4A6320}" srcOrd="1" destOrd="0" presId="urn:microsoft.com/office/officeart/2016/7/layout/VerticalDownArrowProcess"/>
    <dgm:cxn modelId="{0CCB3B55-DEAE-49C0-B4FE-D819750E63ED}" type="presParOf" srcId="{6483B149-B3E8-497A-878F-05C2C3D7F123}" destId="{65E6787B-9782-41C6-827F-7AA4D5C16498}"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28465A-ABFA-41F8-AE5F-39E2FB167E06}"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D485F967-F2B8-4FE1-8461-5AC8AE7CAB87}">
      <dgm:prSet/>
      <dgm:spPr/>
      <dgm:t>
        <a:bodyPr/>
        <a:lstStyle/>
        <a:p>
          <a:pPr>
            <a:defRPr b="1"/>
          </a:pPr>
          <a:r>
            <a:rPr lang="en-US" b="1"/>
            <a:t>Standard LLM (Fine-Tuning):</a:t>
          </a:r>
          <a:endParaRPr lang="en-US"/>
        </a:p>
      </dgm:t>
    </dgm:pt>
    <dgm:pt modelId="{DB3453C4-ACBB-40BA-A24E-469630EA3A67}" type="parTrans" cxnId="{9C54344B-E73C-4FFC-8DB4-F230DB1424DD}">
      <dgm:prSet/>
      <dgm:spPr/>
      <dgm:t>
        <a:bodyPr/>
        <a:lstStyle/>
        <a:p>
          <a:endParaRPr lang="en-US"/>
        </a:p>
      </dgm:t>
    </dgm:pt>
    <dgm:pt modelId="{44F6F45E-3093-4A74-B811-2C011150B608}" type="sibTrans" cxnId="{9C54344B-E73C-4FFC-8DB4-F230DB1424DD}">
      <dgm:prSet/>
      <dgm:spPr/>
      <dgm:t>
        <a:bodyPr/>
        <a:lstStyle/>
        <a:p>
          <a:endParaRPr lang="en-US"/>
        </a:p>
      </dgm:t>
    </dgm:pt>
    <dgm:pt modelId="{3B251812-891F-46A7-A777-5871698644FE}">
      <dgm:prSet/>
      <dgm:spPr/>
      <dgm:t>
        <a:bodyPr/>
        <a:lstStyle/>
        <a:p>
          <a:r>
            <a:rPr lang="en-US"/>
            <a:t>Student memorizes textbook, throws it away, takes test from memory.</a:t>
          </a:r>
        </a:p>
      </dgm:t>
    </dgm:pt>
    <dgm:pt modelId="{05C36C7E-8971-45BD-8D1F-6A6330C7AFD9}" type="parTrans" cxnId="{E30DD16E-9F44-4B74-A133-FAAD3CE3D657}">
      <dgm:prSet/>
      <dgm:spPr/>
      <dgm:t>
        <a:bodyPr/>
        <a:lstStyle/>
        <a:p>
          <a:endParaRPr lang="en-US"/>
        </a:p>
      </dgm:t>
    </dgm:pt>
    <dgm:pt modelId="{39158450-CDB4-4783-960D-5427AEEB4282}" type="sibTrans" cxnId="{E30DD16E-9F44-4B74-A133-FAAD3CE3D657}">
      <dgm:prSet/>
      <dgm:spPr/>
      <dgm:t>
        <a:bodyPr/>
        <a:lstStyle/>
        <a:p>
          <a:endParaRPr lang="en-US"/>
        </a:p>
      </dgm:t>
    </dgm:pt>
    <dgm:pt modelId="{45E0FD62-05DC-41CF-908A-35F9A6752C70}">
      <dgm:prSet/>
      <dgm:spPr/>
      <dgm:t>
        <a:bodyPr/>
        <a:lstStyle/>
        <a:p>
          <a:r>
            <a:rPr lang="en-US"/>
            <a:t>Risk: Memory is fuzzy.</a:t>
          </a:r>
        </a:p>
      </dgm:t>
    </dgm:pt>
    <dgm:pt modelId="{024E6A54-0C8E-4BC6-BBF7-2258640D5B78}" type="parTrans" cxnId="{977D5E64-95D5-4426-B7EA-A3477E79C6C5}">
      <dgm:prSet/>
      <dgm:spPr/>
      <dgm:t>
        <a:bodyPr/>
        <a:lstStyle/>
        <a:p>
          <a:endParaRPr lang="en-US"/>
        </a:p>
      </dgm:t>
    </dgm:pt>
    <dgm:pt modelId="{8A9CF581-9CC6-4183-9648-5BC476984E13}" type="sibTrans" cxnId="{977D5E64-95D5-4426-B7EA-A3477E79C6C5}">
      <dgm:prSet/>
      <dgm:spPr/>
      <dgm:t>
        <a:bodyPr/>
        <a:lstStyle/>
        <a:p>
          <a:endParaRPr lang="en-US"/>
        </a:p>
      </dgm:t>
    </dgm:pt>
    <dgm:pt modelId="{F2804829-FB38-4215-B3CC-2E6180BA6A33}">
      <dgm:prSet/>
      <dgm:spPr/>
      <dgm:t>
        <a:bodyPr/>
        <a:lstStyle/>
        <a:p>
          <a:pPr>
            <a:defRPr b="1"/>
          </a:pPr>
          <a:r>
            <a:rPr lang="en-US" b="1"/>
            <a:t>RAG:</a:t>
          </a:r>
          <a:endParaRPr lang="en-US"/>
        </a:p>
      </dgm:t>
    </dgm:pt>
    <dgm:pt modelId="{DF4C253B-A958-47F6-9571-7CF21DD1176B}" type="parTrans" cxnId="{B0A56608-44B3-4010-AEA2-277D15DBAF06}">
      <dgm:prSet/>
      <dgm:spPr/>
      <dgm:t>
        <a:bodyPr/>
        <a:lstStyle/>
        <a:p>
          <a:endParaRPr lang="en-US"/>
        </a:p>
      </dgm:t>
    </dgm:pt>
    <dgm:pt modelId="{4EAD6B63-A905-4F18-83F2-2B338E53548A}" type="sibTrans" cxnId="{B0A56608-44B3-4010-AEA2-277D15DBAF06}">
      <dgm:prSet/>
      <dgm:spPr/>
      <dgm:t>
        <a:bodyPr/>
        <a:lstStyle/>
        <a:p>
          <a:endParaRPr lang="en-US"/>
        </a:p>
      </dgm:t>
    </dgm:pt>
    <dgm:pt modelId="{0221604D-AB40-4566-B55D-DE34E0FBF3E9}">
      <dgm:prSet/>
      <dgm:spPr/>
      <dgm:t>
        <a:bodyPr/>
        <a:lstStyle/>
        <a:p>
          <a:r>
            <a:rPr lang="en-US"/>
            <a:t>Student takes test with textbook open on the desk.</a:t>
          </a:r>
        </a:p>
      </dgm:t>
    </dgm:pt>
    <dgm:pt modelId="{E63FA39F-7452-429D-B607-75AA3AF3CF07}" type="parTrans" cxnId="{DEC21518-5952-4E0A-B8D1-E6000DB817E6}">
      <dgm:prSet/>
      <dgm:spPr/>
      <dgm:t>
        <a:bodyPr/>
        <a:lstStyle/>
        <a:p>
          <a:endParaRPr lang="en-US"/>
        </a:p>
      </dgm:t>
    </dgm:pt>
    <dgm:pt modelId="{0AF9B42B-23EF-4C3F-B046-978F846C2250}" type="sibTrans" cxnId="{DEC21518-5952-4E0A-B8D1-E6000DB817E6}">
      <dgm:prSet/>
      <dgm:spPr/>
      <dgm:t>
        <a:bodyPr/>
        <a:lstStyle/>
        <a:p>
          <a:endParaRPr lang="en-US"/>
        </a:p>
      </dgm:t>
    </dgm:pt>
    <dgm:pt modelId="{0ADBC6ED-9190-46E2-8BB4-1EDF9D6B3F32}">
      <dgm:prSet/>
      <dgm:spPr/>
      <dgm:t>
        <a:bodyPr/>
        <a:lstStyle/>
        <a:p>
          <a:r>
            <a:rPr lang="en-US"/>
            <a:t>Benefit: Look up exact page, read, synthesize.</a:t>
          </a:r>
        </a:p>
      </dgm:t>
    </dgm:pt>
    <dgm:pt modelId="{EBC3D353-431C-4135-BBBE-A79FCACB612F}" type="parTrans" cxnId="{BDF6B7AD-0A08-43C0-8C6C-91F8617E156F}">
      <dgm:prSet/>
      <dgm:spPr/>
      <dgm:t>
        <a:bodyPr/>
        <a:lstStyle/>
        <a:p>
          <a:endParaRPr lang="en-US"/>
        </a:p>
      </dgm:t>
    </dgm:pt>
    <dgm:pt modelId="{9A3F4EA2-035B-4AD7-A543-4DD40511161D}" type="sibTrans" cxnId="{BDF6B7AD-0A08-43C0-8C6C-91F8617E156F}">
      <dgm:prSet/>
      <dgm:spPr/>
      <dgm:t>
        <a:bodyPr/>
        <a:lstStyle/>
        <a:p>
          <a:endParaRPr lang="en-US"/>
        </a:p>
      </dgm:t>
    </dgm:pt>
    <dgm:pt modelId="{C33763AC-8432-4B4C-BDC3-823DA45EBE55}">
      <dgm:prSet/>
      <dgm:spPr/>
      <dgm:t>
        <a:bodyPr/>
        <a:lstStyle/>
        <a:p>
          <a:r>
            <a:rPr lang="en-US" dirty="0"/>
            <a:t>Result: </a:t>
          </a:r>
          <a:r>
            <a:rPr lang="en-US" dirty="0">
              <a:highlight>
                <a:srgbClr val="FFFF00"/>
              </a:highlight>
            </a:rPr>
            <a:t>High accuracy</a:t>
          </a:r>
          <a:r>
            <a:rPr lang="en-US" dirty="0"/>
            <a:t>, </a:t>
          </a:r>
          <a:r>
            <a:rPr lang="en-US" dirty="0">
              <a:highlight>
                <a:srgbClr val="FFFF00"/>
              </a:highlight>
            </a:rPr>
            <a:t>verifiable sources</a:t>
          </a:r>
          <a:r>
            <a:rPr lang="en-US" dirty="0"/>
            <a:t>.</a:t>
          </a:r>
        </a:p>
      </dgm:t>
    </dgm:pt>
    <dgm:pt modelId="{69D21348-A91C-41AD-9ED0-9627AD34D01D}" type="parTrans" cxnId="{B0B57184-F756-40EB-A66F-25A62B92EE86}">
      <dgm:prSet/>
      <dgm:spPr/>
      <dgm:t>
        <a:bodyPr/>
        <a:lstStyle/>
        <a:p>
          <a:endParaRPr lang="en-US"/>
        </a:p>
      </dgm:t>
    </dgm:pt>
    <dgm:pt modelId="{2DC552AE-AA03-46FA-9899-F9A1D11F42F6}" type="sibTrans" cxnId="{B0B57184-F756-40EB-A66F-25A62B92EE86}">
      <dgm:prSet/>
      <dgm:spPr/>
      <dgm:t>
        <a:bodyPr/>
        <a:lstStyle/>
        <a:p>
          <a:endParaRPr lang="en-US"/>
        </a:p>
      </dgm:t>
    </dgm:pt>
    <dgm:pt modelId="{73257924-7009-43AF-9B26-7C5394B4966A}" type="pres">
      <dgm:prSet presAssocID="{AF28465A-ABFA-41F8-AE5F-39E2FB167E06}" presName="root" presStyleCnt="0">
        <dgm:presLayoutVars>
          <dgm:dir/>
          <dgm:resizeHandles val="exact"/>
        </dgm:presLayoutVars>
      </dgm:prSet>
      <dgm:spPr/>
    </dgm:pt>
    <dgm:pt modelId="{9BE63BE5-E390-4C84-B828-3A7A6E182A22}" type="pres">
      <dgm:prSet presAssocID="{D485F967-F2B8-4FE1-8461-5AC8AE7CAB87}" presName="compNode" presStyleCnt="0"/>
      <dgm:spPr/>
    </dgm:pt>
    <dgm:pt modelId="{71072BD7-131F-46AD-8C27-1213BF1188D1}" type="pres">
      <dgm:prSet presAssocID="{D485F967-F2B8-4FE1-8461-5AC8AE7CAB8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B26C9742-19BA-443B-A06D-4E7C74DE4B6F}" type="pres">
      <dgm:prSet presAssocID="{D485F967-F2B8-4FE1-8461-5AC8AE7CAB87}" presName="iconSpace" presStyleCnt="0"/>
      <dgm:spPr/>
    </dgm:pt>
    <dgm:pt modelId="{DB2F82EC-DB31-4D31-AAB7-3A16A452B451}" type="pres">
      <dgm:prSet presAssocID="{D485F967-F2B8-4FE1-8461-5AC8AE7CAB87}" presName="parTx" presStyleLbl="revTx" presStyleIdx="0" presStyleCnt="4">
        <dgm:presLayoutVars>
          <dgm:chMax val="0"/>
          <dgm:chPref val="0"/>
        </dgm:presLayoutVars>
      </dgm:prSet>
      <dgm:spPr/>
    </dgm:pt>
    <dgm:pt modelId="{85844856-C028-4DF5-84C1-9146277C6348}" type="pres">
      <dgm:prSet presAssocID="{D485F967-F2B8-4FE1-8461-5AC8AE7CAB87}" presName="txSpace" presStyleCnt="0"/>
      <dgm:spPr/>
    </dgm:pt>
    <dgm:pt modelId="{80EE6694-0F5C-46B9-B0AA-94890C3C4601}" type="pres">
      <dgm:prSet presAssocID="{D485F967-F2B8-4FE1-8461-5AC8AE7CAB87}" presName="desTx" presStyleLbl="revTx" presStyleIdx="1" presStyleCnt="4">
        <dgm:presLayoutVars/>
      </dgm:prSet>
      <dgm:spPr/>
    </dgm:pt>
    <dgm:pt modelId="{FF999108-59F1-4CCE-A289-FD124578C2EC}" type="pres">
      <dgm:prSet presAssocID="{44F6F45E-3093-4A74-B811-2C011150B608}" presName="sibTrans" presStyleCnt="0"/>
      <dgm:spPr/>
    </dgm:pt>
    <dgm:pt modelId="{4ACA9EB5-1604-4A87-93B1-7BE8E5CD8243}" type="pres">
      <dgm:prSet presAssocID="{F2804829-FB38-4215-B3CC-2E6180BA6A33}" presName="compNode" presStyleCnt="0"/>
      <dgm:spPr/>
    </dgm:pt>
    <dgm:pt modelId="{F83F04FF-2B58-4A76-8508-93E2029B818F}" type="pres">
      <dgm:prSet presAssocID="{F2804829-FB38-4215-B3CC-2E6180BA6A3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Book"/>
        </a:ext>
      </dgm:extLst>
    </dgm:pt>
    <dgm:pt modelId="{2DEBAA8E-7424-45A4-A525-06DE5C0DAE96}" type="pres">
      <dgm:prSet presAssocID="{F2804829-FB38-4215-B3CC-2E6180BA6A33}" presName="iconSpace" presStyleCnt="0"/>
      <dgm:spPr/>
    </dgm:pt>
    <dgm:pt modelId="{9BCA6731-5AD7-4534-82FC-995E40B349BF}" type="pres">
      <dgm:prSet presAssocID="{F2804829-FB38-4215-B3CC-2E6180BA6A33}" presName="parTx" presStyleLbl="revTx" presStyleIdx="2" presStyleCnt="4">
        <dgm:presLayoutVars>
          <dgm:chMax val="0"/>
          <dgm:chPref val="0"/>
        </dgm:presLayoutVars>
      </dgm:prSet>
      <dgm:spPr/>
    </dgm:pt>
    <dgm:pt modelId="{D27B1AD4-1BF3-4CC4-9C34-9EB482D58B96}" type="pres">
      <dgm:prSet presAssocID="{F2804829-FB38-4215-B3CC-2E6180BA6A33}" presName="txSpace" presStyleCnt="0"/>
      <dgm:spPr/>
    </dgm:pt>
    <dgm:pt modelId="{745D809E-5570-45C0-9ED1-0EDAF649A283}" type="pres">
      <dgm:prSet presAssocID="{F2804829-FB38-4215-B3CC-2E6180BA6A33}" presName="desTx" presStyleLbl="revTx" presStyleIdx="3" presStyleCnt="4">
        <dgm:presLayoutVars/>
      </dgm:prSet>
      <dgm:spPr/>
    </dgm:pt>
  </dgm:ptLst>
  <dgm:cxnLst>
    <dgm:cxn modelId="{B0A56608-44B3-4010-AEA2-277D15DBAF06}" srcId="{AF28465A-ABFA-41F8-AE5F-39E2FB167E06}" destId="{F2804829-FB38-4215-B3CC-2E6180BA6A33}" srcOrd="1" destOrd="0" parTransId="{DF4C253B-A958-47F6-9571-7CF21DD1176B}" sibTransId="{4EAD6B63-A905-4F18-83F2-2B338E53548A}"/>
    <dgm:cxn modelId="{DEC21518-5952-4E0A-B8D1-E6000DB817E6}" srcId="{F2804829-FB38-4215-B3CC-2E6180BA6A33}" destId="{0221604D-AB40-4566-B55D-DE34E0FBF3E9}" srcOrd="0" destOrd="0" parTransId="{E63FA39F-7452-429D-B607-75AA3AF3CF07}" sibTransId="{0AF9B42B-23EF-4C3F-B046-978F846C2250}"/>
    <dgm:cxn modelId="{D39CA261-3E42-4D04-9162-2DDA044596DC}" type="presOf" srcId="{3B251812-891F-46A7-A777-5871698644FE}" destId="{80EE6694-0F5C-46B9-B0AA-94890C3C4601}" srcOrd="0" destOrd="0" presId="urn:microsoft.com/office/officeart/2018/5/layout/CenteredIconLabelDescriptionList"/>
    <dgm:cxn modelId="{977D5E64-95D5-4426-B7EA-A3477E79C6C5}" srcId="{D485F967-F2B8-4FE1-8461-5AC8AE7CAB87}" destId="{45E0FD62-05DC-41CF-908A-35F9A6752C70}" srcOrd="1" destOrd="0" parTransId="{024E6A54-0C8E-4BC6-BBF7-2258640D5B78}" sibTransId="{8A9CF581-9CC6-4183-9648-5BC476984E13}"/>
    <dgm:cxn modelId="{9C54344B-E73C-4FFC-8DB4-F230DB1424DD}" srcId="{AF28465A-ABFA-41F8-AE5F-39E2FB167E06}" destId="{D485F967-F2B8-4FE1-8461-5AC8AE7CAB87}" srcOrd="0" destOrd="0" parTransId="{DB3453C4-ACBB-40BA-A24E-469630EA3A67}" sibTransId="{44F6F45E-3093-4A74-B811-2C011150B608}"/>
    <dgm:cxn modelId="{E30DD16E-9F44-4B74-A133-FAAD3CE3D657}" srcId="{D485F967-F2B8-4FE1-8461-5AC8AE7CAB87}" destId="{3B251812-891F-46A7-A777-5871698644FE}" srcOrd="0" destOrd="0" parTransId="{05C36C7E-8971-45BD-8D1F-6A6330C7AFD9}" sibTransId="{39158450-CDB4-4783-960D-5427AEEB4282}"/>
    <dgm:cxn modelId="{45AD8874-84C8-4AFC-9C7A-DD375D3A2ABF}" type="presOf" srcId="{C33763AC-8432-4B4C-BDC3-823DA45EBE55}" destId="{745D809E-5570-45C0-9ED1-0EDAF649A283}" srcOrd="0" destOrd="2" presId="urn:microsoft.com/office/officeart/2018/5/layout/CenteredIconLabelDescriptionList"/>
    <dgm:cxn modelId="{EF5E4757-B725-492B-9E84-45162BED5165}" type="presOf" srcId="{F2804829-FB38-4215-B3CC-2E6180BA6A33}" destId="{9BCA6731-5AD7-4534-82FC-995E40B349BF}" srcOrd="0" destOrd="0" presId="urn:microsoft.com/office/officeart/2018/5/layout/CenteredIconLabelDescriptionList"/>
    <dgm:cxn modelId="{F3EED483-4464-475C-BDFC-E6739484F3FE}" type="presOf" srcId="{0221604D-AB40-4566-B55D-DE34E0FBF3E9}" destId="{745D809E-5570-45C0-9ED1-0EDAF649A283}" srcOrd="0" destOrd="0" presId="urn:microsoft.com/office/officeart/2018/5/layout/CenteredIconLabelDescriptionList"/>
    <dgm:cxn modelId="{B0B57184-F756-40EB-A66F-25A62B92EE86}" srcId="{F2804829-FB38-4215-B3CC-2E6180BA6A33}" destId="{C33763AC-8432-4B4C-BDC3-823DA45EBE55}" srcOrd="2" destOrd="0" parTransId="{69D21348-A91C-41AD-9ED0-9627AD34D01D}" sibTransId="{2DC552AE-AA03-46FA-9899-F9A1D11F42F6}"/>
    <dgm:cxn modelId="{3FAF0791-FA4E-4DBC-980A-B29C4800DA3D}" type="presOf" srcId="{45E0FD62-05DC-41CF-908A-35F9A6752C70}" destId="{80EE6694-0F5C-46B9-B0AA-94890C3C4601}" srcOrd="0" destOrd="1" presId="urn:microsoft.com/office/officeart/2018/5/layout/CenteredIconLabelDescriptionList"/>
    <dgm:cxn modelId="{05950296-F293-4591-8613-1D69ACFEE4A7}" type="presOf" srcId="{D485F967-F2B8-4FE1-8461-5AC8AE7CAB87}" destId="{DB2F82EC-DB31-4D31-AAB7-3A16A452B451}" srcOrd="0" destOrd="0" presId="urn:microsoft.com/office/officeart/2018/5/layout/CenteredIconLabelDescriptionList"/>
    <dgm:cxn modelId="{BDF6B7AD-0A08-43C0-8C6C-91F8617E156F}" srcId="{F2804829-FB38-4215-B3CC-2E6180BA6A33}" destId="{0ADBC6ED-9190-46E2-8BB4-1EDF9D6B3F32}" srcOrd="1" destOrd="0" parTransId="{EBC3D353-431C-4135-BBBE-A79FCACB612F}" sibTransId="{9A3F4EA2-035B-4AD7-A543-4DD40511161D}"/>
    <dgm:cxn modelId="{C4A50BBF-74BA-4D0A-9D87-DAB84F586F08}" type="presOf" srcId="{AF28465A-ABFA-41F8-AE5F-39E2FB167E06}" destId="{73257924-7009-43AF-9B26-7C5394B4966A}" srcOrd="0" destOrd="0" presId="urn:microsoft.com/office/officeart/2018/5/layout/CenteredIconLabelDescriptionList"/>
    <dgm:cxn modelId="{8D368CFD-98DD-4609-AA17-526F698BC6DA}" type="presOf" srcId="{0ADBC6ED-9190-46E2-8BB4-1EDF9D6B3F32}" destId="{745D809E-5570-45C0-9ED1-0EDAF649A283}" srcOrd="0" destOrd="1" presId="urn:microsoft.com/office/officeart/2018/5/layout/CenteredIconLabelDescriptionList"/>
    <dgm:cxn modelId="{FC35ECA5-EEE9-4363-A4CC-655E21861C85}" type="presParOf" srcId="{73257924-7009-43AF-9B26-7C5394B4966A}" destId="{9BE63BE5-E390-4C84-B828-3A7A6E182A22}" srcOrd="0" destOrd="0" presId="urn:microsoft.com/office/officeart/2018/5/layout/CenteredIconLabelDescriptionList"/>
    <dgm:cxn modelId="{446ED9AA-C248-494F-AF1A-550BACB00624}" type="presParOf" srcId="{9BE63BE5-E390-4C84-B828-3A7A6E182A22}" destId="{71072BD7-131F-46AD-8C27-1213BF1188D1}" srcOrd="0" destOrd="0" presId="urn:microsoft.com/office/officeart/2018/5/layout/CenteredIconLabelDescriptionList"/>
    <dgm:cxn modelId="{2603A2A7-ABC5-4F05-BB9B-C69AC295C478}" type="presParOf" srcId="{9BE63BE5-E390-4C84-B828-3A7A6E182A22}" destId="{B26C9742-19BA-443B-A06D-4E7C74DE4B6F}" srcOrd="1" destOrd="0" presId="urn:microsoft.com/office/officeart/2018/5/layout/CenteredIconLabelDescriptionList"/>
    <dgm:cxn modelId="{D598DCAE-997F-4FF7-A27B-E75F3B29FEBF}" type="presParOf" srcId="{9BE63BE5-E390-4C84-B828-3A7A6E182A22}" destId="{DB2F82EC-DB31-4D31-AAB7-3A16A452B451}" srcOrd="2" destOrd="0" presId="urn:microsoft.com/office/officeart/2018/5/layout/CenteredIconLabelDescriptionList"/>
    <dgm:cxn modelId="{DD91649A-B3A9-47F6-A2CD-D1D1A5630C33}" type="presParOf" srcId="{9BE63BE5-E390-4C84-B828-3A7A6E182A22}" destId="{85844856-C028-4DF5-84C1-9146277C6348}" srcOrd="3" destOrd="0" presId="urn:microsoft.com/office/officeart/2018/5/layout/CenteredIconLabelDescriptionList"/>
    <dgm:cxn modelId="{EA04C058-1ECA-4F93-BB53-CDAA855CB817}" type="presParOf" srcId="{9BE63BE5-E390-4C84-B828-3A7A6E182A22}" destId="{80EE6694-0F5C-46B9-B0AA-94890C3C4601}" srcOrd="4" destOrd="0" presId="urn:microsoft.com/office/officeart/2018/5/layout/CenteredIconLabelDescriptionList"/>
    <dgm:cxn modelId="{E4563FC0-CB2D-4A0A-9B7D-84681D19CE48}" type="presParOf" srcId="{73257924-7009-43AF-9B26-7C5394B4966A}" destId="{FF999108-59F1-4CCE-A289-FD124578C2EC}" srcOrd="1" destOrd="0" presId="urn:microsoft.com/office/officeart/2018/5/layout/CenteredIconLabelDescriptionList"/>
    <dgm:cxn modelId="{34677237-6AFC-47F8-A637-C8844EF03943}" type="presParOf" srcId="{73257924-7009-43AF-9B26-7C5394B4966A}" destId="{4ACA9EB5-1604-4A87-93B1-7BE8E5CD8243}" srcOrd="2" destOrd="0" presId="urn:microsoft.com/office/officeart/2018/5/layout/CenteredIconLabelDescriptionList"/>
    <dgm:cxn modelId="{568AEADA-E3E0-489F-A0B8-D41AF36B11DC}" type="presParOf" srcId="{4ACA9EB5-1604-4A87-93B1-7BE8E5CD8243}" destId="{F83F04FF-2B58-4A76-8508-93E2029B818F}" srcOrd="0" destOrd="0" presId="urn:microsoft.com/office/officeart/2018/5/layout/CenteredIconLabelDescriptionList"/>
    <dgm:cxn modelId="{9F1BAFFD-4C81-475A-91E0-96AA1D9253F6}" type="presParOf" srcId="{4ACA9EB5-1604-4A87-93B1-7BE8E5CD8243}" destId="{2DEBAA8E-7424-45A4-A525-06DE5C0DAE96}" srcOrd="1" destOrd="0" presId="urn:microsoft.com/office/officeart/2018/5/layout/CenteredIconLabelDescriptionList"/>
    <dgm:cxn modelId="{94C7F1F4-6EB0-4CBB-BA28-5A68C8A0884F}" type="presParOf" srcId="{4ACA9EB5-1604-4A87-93B1-7BE8E5CD8243}" destId="{9BCA6731-5AD7-4534-82FC-995E40B349BF}" srcOrd="2" destOrd="0" presId="urn:microsoft.com/office/officeart/2018/5/layout/CenteredIconLabelDescriptionList"/>
    <dgm:cxn modelId="{401F1C45-BB7A-4E6D-94A2-50D4F9AA51E2}" type="presParOf" srcId="{4ACA9EB5-1604-4A87-93B1-7BE8E5CD8243}" destId="{D27B1AD4-1BF3-4CC4-9C34-9EB482D58B96}" srcOrd="3" destOrd="0" presId="urn:microsoft.com/office/officeart/2018/5/layout/CenteredIconLabelDescriptionList"/>
    <dgm:cxn modelId="{C32C2DC2-43B9-4E00-9A8D-5220CCFC4F6A}" type="presParOf" srcId="{4ACA9EB5-1604-4A87-93B1-7BE8E5CD8243}" destId="{745D809E-5570-45C0-9ED1-0EDAF649A283}"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40ABD5-1E0B-4BC6-87FD-84D23188C3C4}"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EA18C938-A8DC-4998-9C0F-368959D41030}">
      <dgm:prSet/>
      <dgm:spPr/>
      <dgm:t>
        <a:bodyPr/>
        <a:lstStyle/>
        <a:p>
          <a:r>
            <a:rPr lang="en-US" b="1"/>
            <a:t>The Triad:</a:t>
          </a:r>
          <a:endParaRPr lang="en-US"/>
        </a:p>
      </dgm:t>
    </dgm:pt>
    <dgm:pt modelId="{2E385FE4-3E39-411B-84FF-64331B5DFBB3}" type="parTrans" cxnId="{E31E0E68-C619-4F58-ACA7-2529616E0DE7}">
      <dgm:prSet/>
      <dgm:spPr/>
      <dgm:t>
        <a:bodyPr/>
        <a:lstStyle/>
        <a:p>
          <a:endParaRPr lang="en-US"/>
        </a:p>
      </dgm:t>
    </dgm:pt>
    <dgm:pt modelId="{BC1D0A43-8D31-4DA9-BAB6-4E89FC10CD27}" type="sibTrans" cxnId="{E31E0E68-C619-4F58-ACA7-2529616E0DE7}">
      <dgm:prSet/>
      <dgm:spPr/>
      <dgm:t>
        <a:bodyPr/>
        <a:lstStyle/>
        <a:p>
          <a:endParaRPr lang="en-US"/>
        </a:p>
      </dgm:t>
    </dgm:pt>
    <dgm:pt modelId="{C33447E7-646B-4CF0-A816-8A8DE6E10EE1}">
      <dgm:prSet/>
      <dgm:spPr/>
      <dgm:t>
        <a:bodyPr/>
        <a:lstStyle/>
        <a:p>
          <a:r>
            <a:rPr lang="en-US" b="1"/>
            <a:t>1. Indexer:</a:t>
          </a:r>
          <a:r>
            <a:rPr lang="en-US"/>
            <a:t> Prepares your private data (PDFs, Wikis, Databases).</a:t>
          </a:r>
        </a:p>
      </dgm:t>
    </dgm:pt>
    <dgm:pt modelId="{E874802E-E363-4A43-B544-BCA572688FD9}" type="parTrans" cxnId="{50108787-492E-43C0-A9B2-6CF08FA5D30E}">
      <dgm:prSet/>
      <dgm:spPr/>
      <dgm:t>
        <a:bodyPr/>
        <a:lstStyle/>
        <a:p>
          <a:endParaRPr lang="en-US"/>
        </a:p>
      </dgm:t>
    </dgm:pt>
    <dgm:pt modelId="{915141B5-E1E8-4B6C-83A0-931CA07C51F0}" type="sibTrans" cxnId="{50108787-492E-43C0-A9B2-6CF08FA5D30E}">
      <dgm:prSet/>
      <dgm:spPr/>
      <dgm:t>
        <a:bodyPr/>
        <a:lstStyle/>
        <a:p>
          <a:endParaRPr lang="en-US"/>
        </a:p>
      </dgm:t>
    </dgm:pt>
    <dgm:pt modelId="{6C8463FB-A0F2-4C29-81C9-453415591ADF}">
      <dgm:prSet/>
      <dgm:spPr/>
      <dgm:t>
        <a:bodyPr/>
        <a:lstStyle/>
        <a:p>
          <a:r>
            <a:rPr lang="en-US" b="1"/>
            <a:t>2. Retriever:</a:t>
          </a:r>
          <a:r>
            <a:rPr lang="en-US"/>
            <a:t> Finds the most relevant "chunks" based on user question.</a:t>
          </a:r>
        </a:p>
      </dgm:t>
    </dgm:pt>
    <dgm:pt modelId="{5DA5C314-72D3-4100-9BB5-5EA6176CF54A}" type="parTrans" cxnId="{21E736AF-E608-41FE-B206-FA23A4C46F8C}">
      <dgm:prSet/>
      <dgm:spPr/>
      <dgm:t>
        <a:bodyPr/>
        <a:lstStyle/>
        <a:p>
          <a:endParaRPr lang="en-US"/>
        </a:p>
      </dgm:t>
    </dgm:pt>
    <dgm:pt modelId="{BA71C31C-4C32-4EC1-8E48-C50DE98B9E96}" type="sibTrans" cxnId="{21E736AF-E608-41FE-B206-FA23A4C46F8C}">
      <dgm:prSet/>
      <dgm:spPr/>
      <dgm:t>
        <a:bodyPr/>
        <a:lstStyle/>
        <a:p>
          <a:endParaRPr lang="en-US"/>
        </a:p>
      </dgm:t>
    </dgm:pt>
    <dgm:pt modelId="{B63C4F3D-E922-494F-BAC0-CF262047AB2C}">
      <dgm:prSet/>
      <dgm:spPr/>
      <dgm:t>
        <a:bodyPr/>
        <a:lstStyle/>
        <a:p>
          <a:r>
            <a:rPr lang="en-US" b="1"/>
            <a:t>3. Generator:</a:t>
          </a:r>
          <a:r>
            <a:rPr lang="en-US"/>
            <a:t> The LLM takes chunks + question and writes the answer.</a:t>
          </a:r>
        </a:p>
      </dgm:t>
    </dgm:pt>
    <dgm:pt modelId="{002BEA26-6E0A-4A6C-A745-D6DF7FAEF4DC}" type="parTrans" cxnId="{64855762-3579-4F21-B084-890FC9961247}">
      <dgm:prSet/>
      <dgm:spPr/>
      <dgm:t>
        <a:bodyPr/>
        <a:lstStyle/>
        <a:p>
          <a:endParaRPr lang="en-US"/>
        </a:p>
      </dgm:t>
    </dgm:pt>
    <dgm:pt modelId="{9C54CAB5-6EA1-4CA0-A6E1-921992C22EC0}" type="sibTrans" cxnId="{64855762-3579-4F21-B084-890FC9961247}">
      <dgm:prSet/>
      <dgm:spPr/>
      <dgm:t>
        <a:bodyPr/>
        <a:lstStyle/>
        <a:p>
          <a:endParaRPr lang="en-US"/>
        </a:p>
      </dgm:t>
    </dgm:pt>
    <dgm:pt modelId="{124D7A95-D0E7-4548-8446-59EBD090E8E5}" type="pres">
      <dgm:prSet presAssocID="{2D40ABD5-1E0B-4BC6-87FD-84D23188C3C4}" presName="outerComposite" presStyleCnt="0">
        <dgm:presLayoutVars>
          <dgm:chMax val="5"/>
          <dgm:dir/>
          <dgm:resizeHandles val="exact"/>
        </dgm:presLayoutVars>
      </dgm:prSet>
      <dgm:spPr/>
    </dgm:pt>
    <dgm:pt modelId="{7858D35A-391A-4097-B5CA-502F266F4C27}" type="pres">
      <dgm:prSet presAssocID="{2D40ABD5-1E0B-4BC6-87FD-84D23188C3C4}" presName="dummyMaxCanvas" presStyleCnt="0">
        <dgm:presLayoutVars/>
      </dgm:prSet>
      <dgm:spPr/>
    </dgm:pt>
    <dgm:pt modelId="{DAFB241A-544A-461B-A95C-B07F3E997F1D}" type="pres">
      <dgm:prSet presAssocID="{2D40ABD5-1E0B-4BC6-87FD-84D23188C3C4}" presName="FourNodes_1" presStyleLbl="node1" presStyleIdx="0" presStyleCnt="4">
        <dgm:presLayoutVars>
          <dgm:bulletEnabled val="1"/>
        </dgm:presLayoutVars>
      </dgm:prSet>
      <dgm:spPr/>
    </dgm:pt>
    <dgm:pt modelId="{ED9719AF-CC90-4B6F-9E1D-037687794592}" type="pres">
      <dgm:prSet presAssocID="{2D40ABD5-1E0B-4BC6-87FD-84D23188C3C4}" presName="FourNodes_2" presStyleLbl="node1" presStyleIdx="1" presStyleCnt="4">
        <dgm:presLayoutVars>
          <dgm:bulletEnabled val="1"/>
        </dgm:presLayoutVars>
      </dgm:prSet>
      <dgm:spPr/>
    </dgm:pt>
    <dgm:pt modelId="{AEF69B56-FB8E-4854-9546-FBD5E1AED26C}" type="pres">
      <dgm:prSet presAssocID="{2D40ABD5-1E0B-4BC6-87FD-84D23188C3C4}" presName="FourNodes_3" presStyleLbl="node1" presStyleIdx="2" presStyleCnt="4">
        <dgm:presLayoutVars>
          <dgm:bulletEnabled val="1"/>
        </dgm:presLayoutVars>
      </dgm:prSet>
      <dgm:spPr/>
    </dgm:pt>
    <dgm:pt modelId="{49963E8E-59C6-49D4-B699-CB34E279AFDB}" type="pres">
      <dgm:prSet presAssocID="{2D40ABD5-1E0B-4BC6-87FD-84D23188C3C4}" presName="FourNodes_4" presStyleLbl="node1" presStyleIdx="3" presStyleCnt="4">
        <dgm:presLayoutVars>
          <dgm:bulletEnabled val="1"/>
        </dgm:presLayoutVars>
      </dgm:prSet>
      <dgm:spPr/>
    </dgm:pt>
    <dgm:pt modelId="{FA36B6DA-A310-405B-AD3D-5AB176F8A300}" type="pres">
      <dgm:prSet presAssocID="{2D40ABD5-1E0B-4BC6-87FD-84D23188C3C4}" presName="FourConn_1-2" presStyleLbl="fgAccFollowNode1" presStyleIdx="0" presStyleCnt="3">
        <dgm:presLayoutVars>
          <dgm:bulletEnabled val="1"/>
        </dgm:presLayoutVars>
      </dgm:prSet>
      <dgm:spPr/>
    </dgm:pt>
    <dgm:pt modelId="{198C806C-B88A-47F5-80DB-05985A644F73}" type="pres">
      <dgm:prSet presAssocID="{2D40ABD5-1E0B-4BC6-87FD-84D23188C3C4}" presName="FourConn_2-3" presStyleLbl="fgAccFollowNode1" presStyleIdx="1" presStyleCnt="3">
        <dgm:presLayoutVars>
          <dgm:bulletEnabled val="1"/>
        </dgm:presLayoutVars>
      </dgm:prSet>
      <dgm:spPr/>
    </dgm:pt>
    <dgm:pt modelId="{98D4AB9B-404B-472D-B025-B92EF2200355}" type="pres">
      <dgm:prSet presAssocID="{2D40ABD5-1E0B-4BC6-87FD-84D23188C3C4}" presName="FourConn_3-4" presStyleLbl="fgAccFollowNode1" presStyleIdx="2" presStyleCnt="3">
        <dgm:presLayoutVars>
          <dgm:bulletEnabled val="1"/>
        </dgm:presLayoutVars>
      </dgm:prSet>
      <dgm:spPr/>
    </dgm:pt>
    <dgm:pt modelId="{AA422443-2FB1-47DC-B0E2-5E9A7BA0F53D}" type="pres">
      <dgm:prSet presAssocID="{2D40ABD5-1E0B-4BC6-87FD-84D23188C3C4}" presName="FourNodes_1_text" presStyleLbl="node1" presStyleIdx="3" presStyleCnt="4">
        <dgm:presLayoutVars>
          <dgm:bulletEnabled val="1"/>
        </dgm:presLayoutVars>
      </dgm:prSet>
      <dgm:spPr/>
    </dgm:pt>
    <dgm:pt modelId="{AED619AB-4523-422A-B13B-2EE5565D9E99}" type="pres">
      <dgm:prSet presAssocID="{2D40ABD5-1E0B-4BC6-87FD-84D23188C3C4}" presName="FourNodes_2_text" presStyleLbl="node1" presStyleIdx="3" presStyleCnt="4">
        <dgm:presLayoutVars>
          <dgm:bulletEnabled val="1"/>
        </dgm:presLayoutVars>
      </dgm:prSet>
      <dgm:spPr/>
    </dgm:pt>
    <dgm:pt modelId="{685CBEF2-B950-462D-9D07-63C33124D1C5}" type="pres">
      <dgm:prSet presAssocID="{2D40ABD5-1E0B-4BC6-87FD-84D23188C3C4}" presName="FourNodes_3_text" presStyleLbl="node1" presStyleIdx="3" presStyleCnt="4">
        <dgm:presLayoutVars>
          <dgm:bulletEnabled val="1"/>
        </dgm:presLayoutVars>
      </dgm:prSet>
      <dgm:spPr/>
    </dgm:pt>
    <dgm:pt modelId="{215ADCD6-CA18-4490-80BD-51FB0AFC76CD}" type="pres">
      <dgm:prSet presAssocID="{2D40ABD5-1E0B-4BC6-87FD-84D23188C3C4}" presName="FourNodes_4_text" presStyleLbl="node1" presStyleIdx="3" presStyleCnt="4">
        <dgm:presLayoutVars>
          <dgm:bulletEnabled val="1"/>
        </dgm:presLayoutVars>
      </dgm:prSet>
      <dgm:spPr/>
    </dgm:pt>
  </dgm:ptLst>
  <dgm:cxnLst>
    <dgm:cxn modelId="{A6C73A02-86BA-434C-9DCE-C32B173099D2}" type="presOf" srcId="{6C8463FB-A0F2-4C29-81C9-453415591ADF}" destId="{AEF69B56-FB8E-4854-9546-FBD5E1AED26C}" srcOrd="0" destOrd="0" presId="urn:microsoft.com/office/officeart/2005/8/layout/vProcess5"/>
    <dgm:cxn modelId="{ABF65321-08BD-435E-AD3A-D4F6D079B7E4}" type="presOf" srcId="{B63C4F3D-E922-494F-BAC0-CF262047AB2C}" destId="{215ADCD6-CA18-4490-80BD-51FB0AFC76CD}" srcOrd="1" destOrd="0" presId="urn:microsoft.com/office/officeart/2005/8/layout/vProcess5"/>
    <dgm:cxn modelId="{64855762-3579-4F21-B084-890FC9961247}" srcId="{2D40ABD5-1E0B-4BC6-87FD-84D23188C3C4}" destId="{B63C4F3D-E922-494F-BAC0-CF262047AB2C}" srcOrd="3" destOrd="0" parTransId="{002BEA26-6E0A-4A6C-A745-D6DF7FAEF4DC}" sibTransId="{9C54CAB5-6EA1-4CA0-A6E1-921992C22EC0}"/>
    <dgm:cxn modelId="{45120865-4D50-4F9D-BB9E-2A615A370E84}" type="presOf" srcId="{EA18C938-A8DC-4998-9C0F-368959D41030}" destId="{AA422443-2FB1-47DC-B0E2-5E9A7BA0F53D}" srcOrd="1" destOrd="0" presId="urn:microsoft.com/office/officeart/2005/8/layout/vProcess5"/>
    <dgm:cxn modelId="{36C16F66-6993-4196-A994-68864F88869A}" type="presOf" srcId="{EA18C938-A8DC-4998-9C0F-368959D41030}" destId="{DAFB241A-544A-461B-A95C-B07F3E997F1D}" srcOrd="0" destOrd="0" presId="urn:microsoft.com/office/officeart/2005/8/layout/vProcess5"/>
    <dgm:cxn modelId="{E31E0E68-C619-4F58-ACA7-2529616E0DE7}" srcId="{2D40ABD5-1E0B-4BC6-87FD-84D23188C3C4}" destId="{EA18C938-A8DC-4998-9C0F-368959D41030}" srcOrd="0" destOrd="0" parTransId="{2E385FE4-3E39-411B-84FF-64331B5DFBB3}" sibTransId="{BC1D0A43-8D31-4DA9-BAB6-4E89FC10CD27}"/>
    <dgm:cxn modelId="{421F5849-C2A3-4381-9978-4A825AB8C381}" type="presOf" srcId="{C33447E7-646B-4CF0-A816-8A8DE6E10EE1}" destId="{ED9719AF-CC90-4B6F-9E1D-037687794592}" srcOrd="0" destOrd="0" presId="urn:microsoft.com/office/officeart/2005/8/layout/vProcess5"/>
    <dgm:cxn modelId="{235EB054-4C04-4F7D-BEE9-F3AF4999AC3D}" type="presOf" srcId="{2D40ABD5-1E0B-4BC6-87FD-84D23188C3C4}" destId="{124D7A95-D0E7-4548-8446-59EBD090E8E5}" srcOrd="0" destOrd="0" presId="urn:microsoft.com/office/officeart/2005/8/layout/vProcess5"/>
    <dgm:cxn modelId="{00B3BF7A-62BF-42AF-8090-44488F5E2128}" type="presOf" srcId="{915141B5-E1E8-4B6C-83A0-931CA07C51F0}" destId="{198C806C-B88A-47F5-80DB-05985A644F73}" srcOrd="0" destOrd="0" presId="urn:microsoft.com/office/officeart/2005/8/layout/vProcess5"/>
    <dgm:cxn modelId="{50108787-492E-43C0-A9B2-6CF08FA5D30E}" srcId="{2D40ABD5-1E0B-4BC6-87FD-84D23188C3C4}" destId="{C33447E7-646B-4CF0-A816-8A8DE6E10EE1}" srcOrd="1" destOrd="0" parTransId="{E874802E-E363-4A43-B544-BCA572688FD9}" sibTransId="{915141B5-E1E8-4B6C-83A0-931CA07C51F0}"/>
    <dgm:cxn modelId="{A7FE4289-6016-4311-B2B7-1EC7048CBFC9}" type="presOf" srcId="{C33447E7-646B-4CF0-A816-8A8DE6E10EE1}" destId="{AED619AB-4523-422A-B13B-2EE5565D9E99}" srcOrd="1" destOrd="0" presId="urn:microsoft.com/office/officeart/2005/8/layout/vProcess5"/>
    <dgm:cxn modelId="{21E736AF-E608-41FE-B206-FA23A4C46F8C}" srcId="{2D40ABD5-1E0B-4BC6-87FD-84D23188C3C4}" destId="{6C8463FB-A0F2-4C29-81C9-453415591ADF}" srcOrd="2" destOrd="0" parTransId="{5DA5C314-72D3-4100-9BB5-5EA6176CF54A}" sibTransId="{BA71C31C-4C32-4EC1-8E48-C50DE98B9E96}"/>
    <dgm:cxn modelId="{DEDC5CBC-4198-43CC-9F62-80A99670C552}" type="presOf" srcId="{BA71C31C-4C32-4EC1-8E48-C50DE98B9E96}" destId="{98D4AB9B-404B-472D-B025-B92EF2200355}" srcOrd="0" destOrd="0" presId="urn:microsoft.com/office/officeart/2005/8/layout/vProcess5"/>
    <dgm:cxn modelId="{A7AECCE0-AD41-453B-87C2-C006D30FE459}" type="presOf" srcId="{6C8463FB-A0F2-4C29-81C9-453415591ADF}" destId="{685CBEF2-B950-462D-9D07-63C33124D1C5}" srcOrd="1" destOrd="0" presId="urn:microsoft.com/office/officeart/2005/8/layout/vProcess5"/>
    <dgm:cxn modelId="{2D743BE9-EDC1-4461-BDD6-5BBF5F9F0630}" type="presOf" srcId="{BC1D0A43-8D31-4DA9-BAB6-4E89FC10CD27}" destId="{FA36B6DA-A310-405B-AD3D-5AB176F8A300}" srcOrd="0" destOrd="0" presId="urn:microsoft.com/office/officeart/2005/8/layout/vProcess5"/>
    <dgm:cxn modelId="{C9750DFE-6948-4BA1-9DFC-2244BFF80D9B}" type="presOf" srcId="{B63C4F3D-E922-494F-BAC0-CF262047AB2C}" destId="{49963E8E-59C6-49D4-B699-CB34E279AFDB}" srcOrd="0" destOrd="0" presId="urn:microsoft.com/office/officeart/2005/8/layout/vProcess5"/>
    <dgm:cxn modelId="{173A182D-BFE1-4DD1-B376-E7BC3103E83E}" type="presParOf" srcId="{124D7A95-D0E7-4548-8446-59EBD090E8E5}" destId="{7858D35A-391A-4097-B5CA-502F266F4C27}" srcOrd="0" destOrd="0" presId="urn:microsoft.com/office/officeart/2005/8/layout/vProcess5"/>
    <dgm:cxn modelId="{BB09F87D-17DE-49EF-96D3-B3AAA9455DF8}" type="presParOf" srcId="{124D7A95-D0E7-4548-8446-59EBD090E8E5}" destId="{DAFB241A-544A-461B-A95C-B07F3E997F1D}" srcOrd="1" destOrd="0" presId="urn:microsoft.com/office/officeart/2005/8/layout/vProcess5"/>
    <dgm:cxn modelId="{062DFF78-8C5B-4F26-8D9F-A4F9FB07F213}" type="presParOf" srcId="{124D7A95-D0E7-4548-8446-59EBD090E8E5}" destId="{ED9719AF-CC90-4B6F-9E1D-037687794592}" srcOrd="2" destOrd="0" presId="urn:microsoft.com/office/officeart/2005/8/layout/vProcess5"/>
    <dgm:cxn modelId="{5E5CC5FE-5CD4-4BF9-BDFA-9916C4DBA385}" type="presParOf" srcId="{124D7A95-D0E7-4548-8446-59EBD090E8E5}" destId="{AEF69B56-FB8E-4854-9546-FBD5E1AED26C}" srcOrd="3" destOrd="0" presId="urn:microsoft.com/office/officeart/2005/8/layout/vProcess5"/>
    <dgm:cxn modelId="{B9C01C04-0526-4FDD-8980-39646FD906EF}" type="presParOf" srcId="{124D7A95-D0E7-4548-8446-59EBD090E8E5}" destId="{49963E8E-59C6-49D4-B699-CB34E279AFDB}" srcOrd="4" destOrd="0" presId="urn:microsoft.com/office/officeart/2005/8/layout/vProcess5"/>
    <dgm:cxn modelId="{D8FF8CB0-919F-472C-ACB6-01D4695F93A7}" type="presParOf" srcId="{124D7A95-D0E7-4548-8446-59EBD090E8E5}" destId="{FA36B6DA-A310-405B-AD3D-5AB176F8A300}" srcOrd="5" destOrd="0" presId="urn:microsoft.com/office/officeart/2005/8/layout/vProcess5"/>
    <dgm:cxn modelId="{B69BBDBD-696D-4B91-A133-B78A82944B4D}" type="presParOf" srcId="{124D7A95-D0E7-4548-8446-59EBD090E8E5}" destId="{198C806C-B88A-47F5-80DB-05985A644F73}" srcOrd="6" destOrd="0" presId="urn:microsoft.com/office/officeart/2005/8/layout/vProcess5"/>
    <dgm:cxn modelId="{0567B265-5979-4529-A4D6-E6E32545DF4F}" type="presParOf" srcId="{124D7A95-D0E7-4548-8446-59EBD090E8E5}" destId="{98D4AB9B-404B-472D-B025-B92EF2200355}" srcOrd="7" destOrd="0" presId="urn:microsoft.com/office/officeart/2005/8/layout/vProcess5"/>
    <dgm:cxn modelId="{28EDF6F1-117D-47A0-9394-9717DD8C601F}" type="presParOf" srcId="{124D7A95-D0E7-4548-8446-59EBD090E8E5}" destId="{AA422443-2FB1-47DC-B0E2-5E9A7BA0F53D}" srcOrd="8" destOrd="0" presId="urn:microsoft.com/office/officeart/2005/8/layout/vProcess5"/>
    <dgm:cxn modelId="{4E1F38F1-6E3A-46DA-9232-0ACE3C684B6A}" type="presParOf" srcId="{124D7A95-D0E7-4548-8446-59EBD090E8E5}" destId="{AED619AB-4523-422A-B13B-2EE5565D9E99}" srcOrd="9" destOrd="0" presId="urn:microsoft.com/office/officeart/2005/8/layout/vProcess5"/>
    <dgm:cxn modelId="{65AA68EB-BA3B-458C-9E4C-48A09BB10020}" type="presParOf" srcId="{124D7A95-D0E7-4548-8446-59EBD090E8E5}" destId="{685CBEF2-B950-462D-9D07-63C33124D1C5}" srcOrd="10" destOrd="0" presId="urn:microsoft.com/office/officeart/2005/8/layout/vProcess5"/>
    <dgm:cxn modelId="{922FA169-8DE4-465A-9455-95094EE13DA7}" type="presParOf" srcId="{124D7A95-D0E7-4548-8446-59EBD090E8E5}" destId="{215ADCD6-CA18-4490-80BD-51FB0AFC76CD}"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7303FC3-52B0-44EB-9FBA-E5CE3B8AA105}" type="doc">
      <dgm:prSet loTypeId="urn:microsoft.com/office/officeart/2018/2/layout/IconVerticalSolid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DBC0993F-3C83-4A66-B585-23D89E0EB656}">
      <dgm:prSet/>
      <dgm:spPr/>
      <dgm:t>
        <a:bodyPr/>
        <a:lstStyle/>
        <a:p>
          <a:r>
            <a:rPr lang="en-US" b="1"/>
            <a:t>Why Chunk?</a:t>
          </a:r>
          <a:r>
            <a:rPr lang="en-US"/>
            <a:t> Context Window limits &amp; Cost. Need small, relevant pieces.</a:t>
          </a:r>
        </a:p>
      </dgm:t>
    </dgm:pt>
    <dgm:pt modelId="{3BE79EEB-6067-4FF4-9DEC-27C4E835B192}" type="parTrans" cxnId="{4C8A6E7B-31CE-4666-ABCF-03720A7D182E}">
      <dgm:prSet/>
      <dgm:spPr/>
      <dgm:t>
        <a:bodyPr/>
        <a:lstStyle/>
        <a:p>
          <a:endParaRPr lang="en-US"/>
        </a:p>
      </dgm:t>
    </dgm:pt>
    <dgm:pt modelId="{E82EECAE-319B-48C9-9CC2-C7AC3D4A763D}" type="sibTrans" cxnId="{4C8A6E7B-31CE-4666-ABCF-03720A7D182E}">
      <dgm:prSet/>
      <dgm:spPr/>
      <dgm:t>
        <a:bodyPr/>
        <a:lstStyle/>
        <a:p>
          <a:endParaRPr lang="en-US"/>
        </a:p>
      </dgm:t>
    </dgm:pt>
    <dgm:pt modelId="{1A6D0855-B54C-4CAB-AD47-82C0401326ED}">
      <dgm:prSet/>
      <dgm:spPr/>
      <dgm:t>
        <a:bodyPr/>
        <a:lstStyle/>
        <a:p>
          <a:r>
            <a:rPr lang="en-US" b="1"/>
            <a:t>Strategies:</a:t>
          </a:r>
          <a:endParaRPr lang="en-US"/>
        </a:p>
      </dgm:t>
    </dgm:pt>
    <dgm:pt modelId="{F0B778FC-8933-4114-A254-D6A7F1B975BF}" type="parTrans" cxnId="{E89C20BF-CD86-4B8A-8EA5-A000C44C8866}">
      <dgm:prSet/>
      <dgm:spPr/>
      <dgm:t>
        <a:bodyPr/>
        <a:lstStyle/>
        <a:p>
          <a:endParaRPr lang="en-US"/>
        </a:p>
      </dgm:t>
    </dgm:pt>
    <dgm:pt modelId="{D5D62195-AC49-4FC7-8C47-67BC18423FCD}" type="sibTrans" cxnId="{E89C20BF-CD86-4B8A-8EA5-A000C44C8866}">
      <dgm:prSet/>
      <dgm:spPr/>
      <dgm:t>
        <a:bodyPr/>
        <a:lstStyle/>
        <a:p>
          <a:endParaRPr lang="en-US"/>
        </a:p>
      </dgm:t>
    </dgm:pt>
    <dgm:pt modelId="{CC055265-1DFA-4BD5-AE7A-228100C36020}">
      <dgm:prSet/>
      <dgm:spPr/>
      <dgm:t>
        <a:bodyPr/>
        <a:lstStyle/>
        <a:p>
          <a:r>
            <a:rPr lang="en-US" b="1"/>
            <a:t>Fixed Size:</a:t>
          </a:r>
          <a:r>
            <a:rPr lang="en-US"/>
            <a:t> Every 500 chars. (Simple, breaks sentences).</a:t>
          </a:r>
        </a:p>
      </dgm:t>
    </dgm:pt>
    <dgm:pt modelId="{4DFDBA12-A280-4B8F-8E64-481F99750E34}" type="parTrans" cxnId="{B350F9FE-94D2-46FF-A979-4CBA44906AE0}">
      <dgm:prSet/>
      <dgm:spPr/>
      <dgm:t>
        <a:bodyPr/>
        <a:lstStyle/>
        <a:p>
          <a:endParaRPr lang="en-US"/>
        </a:p>
      </dgm:t>
    </dgm:pt>
    <dgm:pt modelId="{C433157B-9038-4A37-8D96-33B84D814371}" type="sibTrans" cxnId="{B350F9FE-94D2-46FF-A979-4CBA44906AE0}">
      <dgm:prSet/>
      <dgm:spPr/>
      <dgm:t>
        <a:bodyPr/>
        <a:lstStyle/>
        <a:p>
          <a:endParaRPr lang="en-US"/>
        </a:p>
      </dgm:t>
    </dgm:pt>
    <dgm:pt modelId="{E42C3EEA-032A-4AAA-AFB8-F28EA0D1BD69}">
      <dgm:prSet/>
      <dgm:spPr/>
      <dgm:t>
        <a:bodyPr/>
        <a:lstStyle/>
        <a:p>
          <a:r>
            <a:rPr lang="en-US" b="1"/>
            <a:t>Recursive:</a:t>
          </a:r>
          <a:r>
            <a:rPr lang="en-US"/>
            <a:t> Split by paragraphs, then sentences. (Better context).</a:t>
          </a:r>
        </a:p>
      </dgm:t>
    </dgm:pt>
    <dgm:pt modelId="{9BEEFF34-BFBD-4A72-8435-D954A3591E95}" type="parTrans" cxnId="{264571ED-DEAE-4C5B-968B-D422BB291D4A}">
      <dgm:prSet/>
      <dgm:spPr/>
      <dgm:t>
        <a:bodyPr/>
        <a:lstStyle/>
        <a:p>
          <a:endParaRPr lang="en-US"/>
        </a:p>
      </dgm:t>
    </dgm:pt>
    <dgm:pt modelId="{BED36E83-B6C2-4B9B-AA95-1F673821B10F}" type="sibTrans" cxnId="{264571ED-DEAE-4C5B-968B-D422BB291D4A}">
      <dgm:prSet/>
      <dgm:spPr/>
      <dgm:t>
        <a:bodyPr/>
        <a:lstStyle/>
        <a:p>
          <a:endParaRPr lang="en-US"/>
        </a:p>
      </dgm:t>
    </dgm:pt>
    <dgm:pt modelId="{938B8C1E-4207-4633-8693-6FE28F134DFB}">
      <dgm:prSet/>
      <dgm:spPr/>
      <dgm:t>
        <a:bodyPr/>
        <a:lstStyle/>
        <a:p>
          <a:r>
            <a:rPr lang="en-US" b="1"/>
            <a:t>Semantic Chunking (2025 Standard):</a:t>
          </a:r>
          <a:r>
            <a:rPr lang="en-US"/>
            <a:t> Break when topic changes (embedding shifts).</a:t>
          </a:r>
        </a:p>
      </dgm:t>
    </dgm:pt>
    <dgm:pt modelId="{1FBF826F-11A0-4EE7-8104-09E332AC0FD2}" type="parTrans" cxnId="{4433092F-CAB2-446B-B0B2-942D69254426}">
      <dgm:prSet/>
      <dgm:spPr/>
      <dgm:t>
        <a:bodyPr/>
        <a:lstStyle/>
        <a:p>
          <a:endParaRPr lang="en-US"/>
        </a:p>
      </dgm:t>
    </dgm:pt>
    <dgm:pt modelId="{07CDF6B3-CFD5-4054-A006-0E93422D0ECE}" type="sibTrans" cxnId="{4433092F-CAB2-446B-B0B2-942D69254426}">
      <dgm:prSet/>
      <dgm:spPr/>
      <dgm:t>
        <a:bodyPr/>
        <a:lstStyle/>
        <a:p>
          <a:endParaRPr lang="en-US"/>
        </a:p>
      </dgm:t>
    </dgm:pt>
    <dgm:pt modelId="{474F19CC-A53A-4783-980F-D322E0D273FE}">
      <dgm:prSet/>
      <dgm:spPr/>
      <dgm:t>
        <a:bodyPr/>
        <a:lstStyle/>
        <a:p>
          <a:r>
            <a:rPr lang="en-US" dirty="0"/>
            <a:t>Think of it as </a:t>
          </a:r>
          <a:r>
            <a:rPr lang="en-US" dirty="0">
              <a:highlight>
                <a:srgbClr val="FFFF00"/>
              </a:highlight>
            </a:rPr>
            <a:t>Long doc being sliced into overlapping tiles</a:t>
          </a:r>
        </a:p>
      </dgm:t>
    </dgm:pt>
    <dgm:pt modelId="{C2A65F08-F834-4EDF-BC5A-2061DE28E9BD}" type="parTrans" cxnId="{F5237401-328B-4423-AD58-C9A1E0C75786}">
      <dgm:prSet/>
      <dgm:spPr/>
      <dgm:t>
        <a:bodyPr/>
        <a:lstStyle/>
        <a:p>
          <a:endParaRPr lang="en-US"/>
        </a:p>
      </dgm:t>
    </dgm:pt>
    <dgm:pt modelId="{7CB16DB7-9286-4AFD-B69A-42157BB1825D}" type="sibTrans" cxnId="{F5237401-328B-4423-AD58-C9A1E0C75786}">
      <dgm:prSet/>
      <dgm:spPr/>
      <dgm:t>
        <a:bodyPr/>
        <a:lstStyle/>
        <a:p>
          <a:endParaRPr lang="en-US"/>
        </a:p>
      </dgm:t>
    </dgm:pt>
    <dgm:pt modelId="{E6FF2C33-1903-4BA8-9EED-193DCF6ED584}" type="pres">
      <dgm:prSet presAssocID="{47303FC3-52B0-44EB-9FBA-E5CE3B8AA105}" presName="root" presStyleCnt="0">
        <dgm:presLayoutVars>
          <dgm:dir/>
          <dgm:resizeHandles val="exact"/>
        </dgm:presLayoutVars>
      </dgm:prSet>
      <dgm:spPr/>
    </dgm:pt>
    <dgm:pt modelId="{34E48C10-DD19-4032-92C5-0AB5CA0608C2}" type="pres">
      <dgm:prSet presAssocID="{DBC0993F-3C83-4A66-B585-23D89E0EB656}" presName="compNode" presStyleCnt="0"/>
      <dgm:spPr/>
    </dgm:pt>
    <dgm:pt modelId="{4D8178DE-DFA3-4115-AF90-BBC485E22210}" type="pres">
      <dgm:prSet presAssocID="{DBC0993F-3C83-4A66-B585-23D89E0EB656}" presName="bgRect" presStyleLbl="bgShp" presStyleIdx="0" presStyleCnt="3"/>
      <dgm:spPr/>
    </dgm:pt>
    <dgm:pt modelId="{BDCDA9C1-7A66-4338-AB1B-6956418DD02B}" type="pres">
      <dgm:prSet presAssocID="{DBC0993F-3C83-4A66-B585-23D89E0EB65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uzzle"/>
        </a:ext>
      </dgm:extLst>
    </dgm:pt>
    <dgm:pt modelId="{69B7D94E-5860-4BD4-AD47-08CD2FC16349}" type="pres">
      <dgm:prSet presAssocID="{DBC0993F-3C83-4A66-B585-23D89E0EB656}" presName="spaceRect" presStyleCnt="0"/>
      <dgm:spPr/>
    </dgm:pt>
    <dgm:pt modelId="{80A73A7E-5A1F-4A6F-9CC1-99D50DF721AE}" type="pres">
      <dgm:prSet presAssocID="{DBC0993F-3C83-4A66-B585-23D89E0EB656}" presName="parTx" presStyleLbl="revTx" presStyleIdx="0" presStyleCnt="4">
        <dgm:presLayoutVars>
          <dgm:chMax val="0"/>
          <dgm:chPref val="0"/>
        </dgm:presLayoutVars>
      </dgm:prSet>
      <dgm:spPr/>
    </dgm:pt>
    <dgm:pt modelId="{65552C17-CD4B-4233-9533-70CCD97E0D12}" type="pres">
      <dgm:prSet presAssocID="{E82EECAE-319B-48C9-9CC2-C7AC3D4A763D}" presName="sibTrans" presStyleCnt="0"/>
      <dgm:spPr/>
    </dgm:pt>
    <dgm:pt modelId="{4BFA1043-42D8-4F25-A03C-0DC8C7E0D035}" type="pres">
      <dgm:prSet presAssocID="{1A6D0855-B54C-4CAB-AD47-82C0401326ED}" presName="compNode" presStyleCnt="0"/>
      <dgm:spPr/>
    </dgm:pt>
    <dgm:pt modelId="{9668BA9C-5399-496D-8C02-790F6C00063B}" type="pres">
      <dgm:prSet presAssocID="{1A6D0855-B54C-4CAB-AD47-82C0401326ED}" presName="bgRect" presStyleLbl="bgShp" presStyleIdx="1" presStyleCnt="3"/>
      <dgm:spPr/>
    </dgm:pt>
    <dgm:pt modelId="{C36B3250-ECC5-433D-B499-C81F2B4F7751}" type="pres">
      <dgm:prSet presAssocID="{1A6D0855-B54C-4CAB-AD47-82C0401326E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d Quotation Mark"/>
        </a:ext>
      </dgm:extLst>
    </dgm:pt>
    <dgm:pt modelId="{B186AFDB-4D91-4ED3-9153-8C5674C296F3}" type="pres">
      <dgm:prSet presAssocID="{1A6D0855-B54C-4CAB-AD47-82C0401326ED}" presName="spaceRect" presStyleCnt="0"/>
      <dgm:spPr/>
    </dgm:pt>
    <dgm:pt modelId="{3D88A816-B44E-40CC-9BFB-F6E965F81B9C}" type="pres">
      <dgm:prSet presAssocID="{1A6D0855-B54C-4CAB-AD47-82C0401326ED}" presName="parTx" presStyleLbl="revTx" presStyleIdx="1" presStyleCnt="4">
        <dgm:presLayoutVars>
          <dgm:chMax val="0"/>
          <dgm:chPref val="0"/>
        </dgm:presLayoutVars>
      </dgm:prSet>
      <dgm:spPr/>
    </dgm:pt>
    <dgm:pt modelId="{AEF911C0-F3A6-4BE9-933D-388BDAB15A55}" type="pres">
      <dgm:prSet presAssocID="{1A6D0855-B54C-4CAB-AD47-82C0401326ED}" presName="desTx" presStyleLbl="revTx" presStyleIdx="2" presStyleCnt="4" custScaleX="161051" custLinFactNeighborX="-35851" custLinFactNeighborY="3821">
        <dgm:presLayoutVars/>
      </dgm:prSet>
      <dgm:spPr/>
    </dgm:pt>
    <dgm:pt modelId="{E6B9C210-2F43-4B6F-9E93-73FD0527D80F}" type="pres">
      <dgm:prSet presAssocID="{D5D62195-AC49-4FC7-8C47-67BC18423FCD}" presName="sibTrans" presStyleCnt="0"/>
      <dgm:spPr/>
    </dgm:pt>
    <dgm:pt modelId="{893317CD-5066-43A9-A6B7-AC9CA4CF152C}" type="pres">
      <dgm:prSet presAssocID="{474F19CC-A53A-4783-980F-D322E0D273FE}" presName="compNode" presStyleCnt="0"/>
      <dgm:spPr/>
    </dgm:pt>
    <dgm:pt modelId="{6F3F7693-6947-4DE4-A14C-B5F168801176}" type="pres">
      <dgm:prSet presAssocID="{474F19CC-A53A-4783-980F-D322E0D273FE}" presName="bgRect" presStyleLbl="bgShp" presStyleIdx="2" presStyleCnt="3"/>
      <dgm:spPr/>
    </dgm:pt>
    <dgm:pt modelId="{2A1004DC-C55C-4957-9E2E-D27A97FAB9CB}" type="pres">
      <dgm:prSet presAssocID="{474F19CC-A53A-4783-980F-D322E0D273F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07A1B809-32C7-4189-8EE9-22E3239FEEFD}" type="pres">
      <dgm:prSet presAssocID="{474F19CC-A53A-4783-980F-D322E0D273FE}" presName="spaceRect" presStyleCnt="0"/>
      <dgm:spPr/>
    </dgm:pt>
    <dgm:pt modelId="{28E38BF5-FE92-434C-A532-598B4169EB0A}" type="pres">
      <dgm:prSet presAssocID="{474F19CC-A53A-4783-980F-D322E0D273FE}" presName="parTx" presStyleLbl="revTx" presStyleIdx="3" presStyleCnt="4">
        <dgm:presLayoutVars>
          <dgm:chMax val="0"/>
          <dgm:chPref val="0"/>
        </dgm:presLayoutVars>
      </dgm:prSet>
      <dgm:spPr/>
    </dgm:pt>
  </dgm:ptLst>
  <dgm:cxnLst>
    <dgm:cxn modelId="{F5237401-328B-4423-AD58-C9A1E0C75786}" srcId="{47303FC3-52B0-44EB-9FBA-E5CE3B8AA105}" destId="{474F19CC-A53A-4783-980F-D322E0D273FE}" srcOrd="2" destOrd="0" parTransId="{C2A65F08-F834-4EDF-BC5A-2061DE28E9BD}" sibTransId="{7CB16DB7-9286-4AFD-B69A-42157BB1825D}"/>
    <dgm:cxn modelId="{022DEE16-730B-4B93-9EE7-0892681D4017}" type="presOf" srcId="{1A6D0855-B54C-4CAB-AD47-82C0401326ED}" destId="{3D88A816-B44E-40CC-9BFB-F6E965F81B9C}" srcOrd="0" destOrd="0" presId="urn:microsoft.com/office/officeart/2018/2/layout/IconVerticalSolidList"/>
    <dgm:cxn modelId="{AD373424-9710-443B-B782-B119EFF51D66}" type="presOf" srcId="{47303FC3-52B0-44EB-9FBA-E5CE3B8AA105}" destId="{E6FF2C33-1903-4BA8-9EED-193DCF6ED584}" srcOrd="0" destOrd="0" presId="urn:microsoft.com/office/officeart/2018/2/layout/IconVerticalSolidList"/>
    <dgm:cxn modelId="{4433092F-CAB2-446B-B0B2-942D69254426}" srcId="{1A6D0855-B54C-4CAB-AD47-82C0401326ED}" destId="{938B8C1E-4207-4633-8693-6FE28F134DFB}" srcOrd="2" destOrd="0" parTransId="{1FBF826F-11A0-4EE7-8104-09E332AC0FD2}" sibTransId="{07CDF6B3-CFD5-4054-A006-0E93422D0ECE}"/>
    <dgm:cxn modelId="{55783F3D-980B-4D77-BE1A-83DC333C7DC0}" type="presOf" srcId="{E42C3EEA-032A-4AAA-AFB8-F28EA0D1BD69}" destId="{AEF911C0-F3A6-4BE9-933D-388BDAB15A55}" srcOrd="0" destOrd="1" presId="urn:microsoft.com/office/officeart/2018/2/layout/IconVerticalSolidList"/>
    <dgm:cxn modelId="{C129AD64-320A-4FC4-BB9F-76ADDDFECD0C}" type="presOf" srcId="{938B8C1E-4207-4633-8693-6FE28F134DFB}" destId="{AEF911C0-F3A6-4BE9-933D-388BDAB15A55}" srcOrd="0" destOrd="2" presId="urn:microsoft.com/office/officeart/2018/2/layout/IconVerticalSolidList"/>
    <dgm:cxn modelId="{218BB544-419D-49FF-980B-7A7AC6500CFC}" type="presOf" srcId="{DBC0993F-3C83-4A66-B585-23D89E0EB656}" destId="{80A73A7E-5A1F-4A6F-9CC1-99D50DF721AE}" srcOrd="0" destOrd="0" presId="urn:microsoft.com/office/officeart/2018/2/layout/IconVerticalSolidList"/>
    <dgm:cxn modelId="{4C8A6E7B-31CE-4666-ABCF-03720A7D182E}" srcId="{47303FC3-52B0-44EB-9FBA-E5CE3B8AA105}" destId="{DBC0993F-3C83-4A66-B585-23D89E0EB656}" srcOrd="0" destOrd="0" parTransId="{3BE79EEB-6067-4FF4-9DEC-27C4E835B192}" sibTransId="{E82EECAE-319B-48C9-9CC2-C7AC3D4A763D}"/>
    <dgm:cxn modelId="{B6244696-ECA7-404C-A855-ED5D57BD3926}" type="presOf" srcId="{474F19CC-A53A-4783-980F-D322E0D273FE}" destId="{28E38BF5-FE92-434C-A532-598B4169EB0A}" srcOrd="0" destOrd="0" presId="urn:microsoft.com/office/officeart/2018/2/layout/IconVerticalSolidList"/>
    <dgm:cxn modelId="{3D31EAB2-0C26-4153-A8BC-899E631DE674}" type="presOf" srcId="{CC055265-1DFA-4BD5-AE7A-228100C36020}" destId="{AEF911C0-F3A6-4BE9-933D-388BDAB15A55}" srcOrd="0" destOrd="0" presId="urn:microsoft.com/office/officeart/2018/2/layout/IconVerticalSolidList"/>
    <dgm:cxn modelId="{E89C20BF-CD86-4B8A-8EA5-A000C44C8866}" srcId="{47303FC3-52B0-44EB-9FBA-E5CE3B8AA105}" destId="{1A6D0855-B54C-4CAB-AD47-82C0401326ED}" srcOrd="1" destOrd="0" parTransId="{F0B778FC-8933-4114-A254-D6A7F1B975BF}" sibTransId="{D5D62195-AC49-4FC7-8C47-67BC18423FCD}"/>
    <dgm:cxn modelId="{264571ED-DEAE-4C5B-968B-D422BB291D4A}" srcId="{1A6D0855-B54C-4CAB-AD47-82C0401326ED}" destId="{E42C3EEA-032A-4AAA-AFB8-F28EA0D1BD69}" srcOrd="1" destOrd="0" parTransId="{9BEEFF34-BFBD-4A72-8435-D954A3591E95}" sibTransId="{BED36E83-B6C2-4B9B-AA95-1F673821B10F}"/>
    <dgm:cxn modelId="{B350F9FE-94D2-46FF-A979-4CBA44906AE0}" srcId="{1A6D0855-B54C-4CAB-AD47-82C0401326ED}" destId="{CC055265-1DFA-4BD5-AE7A-228100C36020}" srcOrd="0" destOrd="0" parTransId="{4DFDBA12-A280-4B8F-8E64-481F99750E34}" sibTransId="{C433157B-9038-4A37-8D96-33B84D814371}"/>
    <dgm:cxn modelId="{C495D94D-758F-46B2-9CDC-BC819110968A}" type="presParOf" srcId="{E6FF2C33-1903-4BA8-9EED-193DCF6ED584}" destId="{34E48C10-DD19-4032-92C5-0AB5CA0608C2}" srcOrd="0" destOrd="0" presId="urn:microsoft.com/office/officeart/2018/2/layout/IconVerticalSolidList"/>
    <dgm:cxn modelId="{6750DA9E-0D75-4D95-8969-0819E21445FD}" type="presParOf" srcId="{34E48C10-DD19-4032-92C5-0AB5CA0608C2}" destId="{4D8178DE-DFA3-4115-AF90-BBC485E22210}" srcOrd="0" destOrd="0" presId="urn:microsoft.com/office/officeart/2018/2/layout/IconVerticalSolidList"/>
    <dgm:cxn modelId="{4FE6D800-877C-45D5-A429-65CD19C60854}" type="presParOf" srcId="{34E48C10-DD19-4032-92C5-0AB5CA0608C2}" destId="{BDCDA9C1-7A66-4338-AB1B-6956418DD02B}" srcOrd="1" destOrd="0" presId="urn:microsoft.com/office/officeart/2018/2/layout/IconVerticalSolidList"/>
    <dgm:cxn modelId="{4D4ED76A-0301-4DE7-9B6D-CDC023E4F9CE}" type="presParOf" srcId="{34E48C10-DD19-4032-92C5-0AB5CA0608C2}" destId="{69B7D94E-5860-4BD4-AD47-08CD2FC16349}" srcOrd="2" destOrd="0" presId="urn:microsoft.com/office/officeart/2018/2/layout/IconVerticalSolidList"/>
    <dgm:cxn modelId="{16F06739-9130-4743-9396-45B784585508}" type="presParOf" srcId="{34E48C10-DD19-4032-92C5-0AB5CA0608C2}" destId="{80A73A7E-5A1F-4A6F-9CC1-99D50DF721AE}" srcOrd="3" destOrd="0" presId="urn:microsoft.com/office/officeart/2018/2/layout/IconVerticalSolidList"/>
    <dgm:cxn modelId="{CB89477C-B809-43E4-8F93-70E5C62786B1}" type="presParOf" srcId="{E6FF2C33-1903-4BA8-9EED-193DCF6ED584}" destId="{65552C17-CD4B-4233-9533-70CCD97E0D12}" srcOrd="1" destOrd="0" presId="urn:microsoft.com/office/officeart/2018/2/layout/IconVerticalSolidList"/>
    <dgm:cxn modelId="{0C386E44-1D79-4B7B-B622-5CDFF8FACA7B}" type="presParOf" srcId="{E6FF2C33-1903-4BA8-9EED-193DCF6ED584}" destId="{4BFA1043-42D8-4F25-A03C-0DC8C7E0D035}" srcOrd="2" destOrd="0" presId="urn:microsoft.com/office/officeart/2018/2/layout/IconVerticalSolidList"/>
    <dgm:cxn modelId="{8FF98454-2778-4397-917A-068D74B33866}" type="presParOf" srcId="{4BFA1043-42D8-4F25-A03C-0DC8C7E0D035}" destId="{9668BA9C-5399-496D-8C02-790F6C00063B}" srcOrd="0" destOrd="0" presId="urn:microsoft.com/office/officeart/2018/2/layout/IconVerticalSolidList"/>
    <dgm:cxn modelId="{0F6B4FA1-5AEE-4055-9507-EEEA5DD0837E}" type="presParOf" srcId="{4BFA1043-42D8-4F25-A03C-0DC8C7E0D035}" destId="{C36B3250-ECC5-433D-B499-C81F2B4F7751}" srcOrd="1" destOrd="0" presId="urn:microsoft.com/office/officeart/2018/2/layout/IconVerticalSolidList"/>
    <dgm:cxn modelId="{C5C440A8-7C2B-45B5-89B6-6B6697BFF51B}" type="presParOf" srcId="{4BFA1043-42D8-4F25-A03C-0DC8C7E0D035}" destId="{B186AFDB-4D91-4ED3-9153-8C5674C296F3}" srcOrd="2" destOrd="0" presId="urn:microsoft.com/office/officeart/2018/2/layout/IconVerticalSolidList"/>
    <dgm:cxn modelId="{3B7DA9F8-1868-4E7E-AC29-35B2109285D9}" type="presParOf" srcId="{4BFA1043-42D8-4F25-A03C-0DC8C7E0D035}" destId="{3D88A816-B44E-40CC-9BFB-F6E965F81B9C}" srcOrd="3" destOrd="0" presId="urn:microsoft.com/office/officeart/2018/2/layout/IconVerticalSolidList"/>
    <dgm:cxn modelId="{0C319143-F773-438C-B192-20BB494CD30D}" type="presParOf" srcId="{4BFA1043-42D8-4F25-A03C-0DC8C7E0D035}" destId="{AEF911C0-F3A6-4BE9-933D-388BDAB15A55}" srcOrd="4" destOrd="0" presId="urn:microsoft.com/office/officeart/2018/2/layout/IconVerticalSolidList"/>
    <dgm:cxn modelId="{ED75A35F-77A5-48A0-9C1D-6202F23F2283}" type="presParOf" srcId="{E6FF2C33-1903-4BA8-9EED-193DCF6ED584}" destId="{E6B9C210-2F43-4B6F-9E93-73FD0527D80F}" srcOrd="3" destOrd="0" presId="urn:microsoft.com/office/officeart/2018/2/layout/IconVerticalSolidList"/>
    <dgm:cxn modelId="{8AB5200B-C1F3-4A55-AF49-EBFC40729563}" type="presParOf" srcId="{E6FF2C33-1903-4BA8-9EED-193DCF6ED584}" destId="{893317CD-5066-43A9-A6B7-AC9CA4CF152C}" srcOrd="4" destOrd="0" presId="urn:microsoft.com/office/officeart/2018/2/layout/IconVerticalSolidList"/>
    <dgm:cxn modelId="{43571574-E167-45EE-B756-1E8C8DE7D2BD}" type="presParOf" srcId="{893317CD-5066-43A9-A6B7-AC9CA4CF152C}" destId="{6F3F7693-6947-4DE4-A14C-B5F168801176}" srcOrd="0" destOrd="0" presId="urn:microsoft.com/office/officeart/2018/2/layout/IconVerticalSolidList"/>
    <dgm:cxn modelId="{1A4236C9-2E75-4B66-8E3D-FD76774FACCF}" type="presParOf" srcId="{893317CD-5066-43A9-A6B7-AC9CA4CF152C}" destId="{2A1004DC-C55C-4957-9E2E-D27A97FAB9CB}" srcOrd="1" destOrd="0" presId="urn:microsoft.com/office/officeart/2018/2/layout/IconVerticalSolidList"/>
    <dgm:cxn modelId="{DFEB2014-4BA3-4755-9459-B4C62219C458}" type="presParOf" srcId="{893317CD-5066-43A9-A6B7-AC9CA4CF152C}" destId="{07A1B809-32C7-4189-8EE9-22E3239FEEFD}" srcOrd="2" destOrd="0" presId="urn:microsoft.com/office/officeart/2018/2/layout/IconVerticalSolidList"/>
    <dgm:cxn modelId="{8C2ED92D-C928-45EE-B0D4-3635881179D5}" type="presParOf" srcId="{893317CD-5066-43A9-A6B7-AC9CA4CF152C}" destId="{28E38BF5-FE92-434C-A532-598B4169EB0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06E4E09-C0DE-441F-B7C9-C4DF94FBF92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7163F4D-2BE5-4067-B81A-92F958353407}">
      <dgm:prSet/>
      <dgm:spPr/>
      <dgm:t>
        <a:bodyPr/>
        <a:lstStyle/>
        <a:p>
          <a:r>
            <a:rPr lang="en-US" b="1" dirty="0"/>
            <a:t>Recall Module 2:</a:t>
          </a:r>
          <a:r>
            <a:rPr lang="en-US" dirty="0"/>
            <a:t> Convert text to Vectors.</a:t>
          </a:r>
        </a:p>
      </dgm:t>
    </dgm:pt>
    <dgm:pt modelId="{949DA67F-0A2E-45A2-AFFA-E6AD802E32F8}" type="parTrans" cxnId="{A592FF26-C3F0-4EB2-9E0F-996C389B3B01}">
      <dgm:prSet/>
      <dgm:spPr/>
      <dgm:t>
        <a:bodyPr/>
        <a:lstStyle/>
        <a:p>
          <a:endParaRPr lang="en-US"/>
        </a:p>
      </dgm:t>
    </dgm:pt>
    <dgm:pt modelId="{FA6CF07B-65F2-4160-B2B3-D807C482FEFC}" type="sibTrans" cxnId="{A592FF26-C3F0-4EB2-9E0F-996C389B3B01}">
      <dgm:prSet/>
      <dgm:spPr/>
      <dgm:t>
        <a:bodyPr/>
        <a:lstStyle/>
        <a:p>
          <a:endParaRPr lang="en-US"/>
        </a:p>
      </dgm:t>
    </dgm:pt>
    <dgm:pt modelId="{3C1CE416-D31A-4AC6-A466-5216EAF617A4}">
      <dgm:prSet/>
      <dgm:spPr/>
      <dgm:t>
        <a:bodyPr/>
        <a:lstStyle/>
        <a:p>
          <a:r>
            <a:rPr lang="en-US" b="1"/>
            <a:t>The Process:</a:t>
          </a:r>
          <a:endParaRPr lang="en-US"/>
        </a:p>
      </dgm:t>
    </dgm:pt>
    <dgm:pt modelId="{438AB5CA-F51D-46C8-A9FC-A3F1BA685BF6}" type="parTrans" cxnId="{4B7E1339-0B09-4BE2-B9F6-E1AFAC2CD8C6}">
      <dgm:prSet/>
      <dgm:spPr/>
      <dgm:t>
        <a:bodyPr/>
        <a:lstStyle/>
        <a:p>
          <a:endParaRPr lang="en-US"/>
        </a:p>
      </dgm:t>
    </dgm:pt>
    <dgm:pt modelId="{2E1C4C19-2A1A-4EAA-800F-9158BB0CE218}" type="sibTrans" cxnId="{4B7E1339-0B09-4BE2-B9F6-E1AFAC2CD8C6}">
      <dgm:prSet/>
      <dgm:spPr/>
      <dgm:t>
        <a:bodyPr/>
        <a:lstStyle/>
        <a:p>
          <a:endParaRPr lang="en-US"/>
        </a:p>
      </dgm:t>
    </dgm:pt>
    <dgm:pt modelId="{32EAB21B-E4FF-4846-968E-CAB2389B8A35}">
      <dgm:prSet/>
      <dgm:spPr/>
      <dgm:t>
        <a:bodyPr/>
        <a:lstStyle/>
        <a:p>
          <a:r>
            <a:rPr lang="en-US" dirty="0"/>
            <a:t>Pass every chunk through an Embedding Model.</a:t>
          </a:r>
        </a:p>
      </dgm:t>
    </dgm:pt>
    <dgm:pt modelId="{1C81AE55-3308-467C-8B5B-55217BA0F6DF}" type="parTrans" cxnId="{CB269A42-0D09-4EFF-9CE5-645AC6E48B35}">
      <dgm:prSet/>
      <dgm:spPr/>
      <dgm:t>
        <a:bodyPr/>
        <a:lstStyle/>
        <a:p>
          <a:endParaRPr lang="en-US"/>
        </a:p>
      </dgm:t>
    </dgm:pt>
    <dgm:pt modelId="{91DFCF66-C4F3-4F48-B7F4-746E91D60160}" type="sibTrans" cxnId="{CB269A42-0D09-4EFF-9CE5-645AC6E48B35}">
      <dgm:prSet/>
      <dgm:spPr/>
      <dgm:t>
        <a:bodyPr/>
        <a:lstStyle/>
        <a:p>
          <a:endParaRPr lang="en-US"/>
        </a:p>
      </dgm:t>
    </dgm:pt>
    <dgm:pt modelId="{B7EAC8FC-34FA-4207-9DC2-E3C63EF5673E}">
      <dgm:prSet/>
      <dgm:spPr/>
      <dgm:t>
        <a:bodyPr/>
        <a:lstStyle/>
        <a:p>
          <a:r>
            <a:rPr lang="en-US"/>
            <a:t>e.g., OpenAI text-embedding-3-small or Hugging Face all-MiniLM-L6-v2.</a:t>
          </a:r>
        </a:p>
      </dgm:t>
    </dgm:pt>
    <dgm:pt modelId="{A4E71C4A-4767-431B-8CB6-85A4A5ECB324}" type="parTrans" cxnId="{B340B839-A2B6-444B-A576-150B3640728D}">
      <dgm:prSet/>
      <dgm:spPr/>
      <dgm:t>
        <a:bodyPr/>
        <a:lstStyle/>
        <a:p>
          <a:endParaRPr lang="en-US"/>
        </a:p>
      </dgm:t>
    </dgm:pt>
    <dgm:pt modelId="{F8117F53-9284-41DD-A80D-C4147D7AEBE4}" type="sibTrans" cxnId="{B340B839-A2B6-444B-A576-150B3640728D}">
      <dgm:prSet/>
      <dgm:spPr/>
      <dgm:t>
        <a:bodyPr/>
        <a:lstStyle/>
        <a:p>
          <a:endParaRPr lang="en-US"/>
        </a:p>
      </dgm:t>
    </dgm:pt>
    <dgm:pt modelId="{CBE754A9-C80A-4F04-9D03-7069C7566E59}">
      <dgm:prSet/>
      <dgm:spPr/>
      <dgm:t>
        <a:bodyPr/>
        <a:lstStyle/>
        <a:p>
          <a:r>
            <a:rPr lang="en-US" b="1" dirty="0"/>
            <a:t>Result:</a:t>
          </a:r>
          <a:r>
            <a:rPr lang="en-US" dirty="0"/>
            <a:t> A list of </a:t>
          </a:r>
          <a:r>
            <a:rPr lang="en-US" u="sng" dirty="0"/>
            <a:t>floating-point numbers </a:t>
          </a:r>
          <a:r>
            <a:rPr lang="en-US" dirty="0"/>
            <a:t>representing the meaning.</a:t>
          </a:r>
        </a:p>
      </dgm:t>
    </dgm:pt>
    <dgm:pt modelId="{FDC36ACF-4F1D-46B2-82EC-43426FD67957}" type="parTrans" cxnId="{77D80EB1-9E71-4922-ACCC-3D25343D300A}">
      <dgm:prSet/>
      <dgm:spPr/>
      <dgm:t>
        <a:bodyPr/>
        <a:lstStyle/>
        <a:p>
          <a:endParaRPr lang="en-US"/>
        </a:p>
      </dgm:t>
    </dgm:pt>
    <dgm:pt modelId="{8214616E-0D06-4E18-9C22-1F85B81EA45F}" type="sibTrans" cxnId="{77D80EB1-9E71-4922-ACCC-3D25343D300A}">
      <dgm:prSet/>
      <dgm:spPr/>
      <dgm:t>
        <a:bodyPr/>
        <a:lstStyle/>
        <a:p>
          <a:endParaRPr lang="en-US"/>
        </a:p>
      </dgm:t>
    </dgm:pt>
    <dgm:pt modelId="{38A721E7-FAA4-4BC3-BF1F-F68A8FAF2063}" type="pres">
      <dgm:prSet presAssocID="{106E4E09-C0DE-441F-B7C9-C4DF94FBF92D}" presName="root" presStyleCnt="0">
        <dgm:presLayoutVars>
          <dgm:dir/>
          <dgm:resizeHandles val="exact"/>
        </dgm:presLayoutVars>
      </dgm:prSet>
      <dgm:spPr/>
    </dgm:pt>
    <dgm:pt modelId="{B90DC3B3-DA1D-4B6A-B6D2-E5AA1AE92C11}" type="pres">
      <dgm:prSet presAssocID="{37163F4D-2BE5-4067-B81A-92F958353407}" presName="compNode" presStyleCnt="0"/>
      <dgm:spPr/>
    </dgm:pt>
    <dgm:pt modelId="{5BA136C6-7672-4CBF-A00E-FDF187390545}" type="pres">
      <dgm:prSet presAssocID="{37163F4D-2BE5-4067-B81A-92F958353407}" presName="bgRect" presStyleLbl="bgShp" presStyleIdx="0" presStyleCnt="3"/>
      <dgm:spPr/>
    </dgm:pt>
    <dgm:pt modelId="{C6802954-307E-4136-BFC2-C511A1606D57}" type="pres">
      <dgm:prSet presAssocID="{37163F4D-2BE5-4067-B81A-92F95835340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01D3BF6C-896E-41F1-BC42-AE3DDF19C8DF}" type="pres">
      <dgm:prSet presAssocID="{37163F4D-2BE5-4067-B81A-92F958353407}" presName="spaceRect" presStyleCnt="0"/>
      <dgm:spPr/>
    </dgm:pt>
    <dgm:pt modelId="{3FC828E1-021F-4A9E-8A66-5071BBFFC713}" type="pres">
      <dgm:prSet presAssocID="{37163F4D-2BE5-4067-B81A-92F958353407}" presName="parTx" presStyleLbl="revTx" presStyleIdx="0" presStyleCnt="4">
        <dgm:presLayoutVars>
          <dgm:chMax val="0"/>
          <dgm:chPref val="0"/>
        </dgm:presLayoutVars>
      </dgm:prSet>
      <dgm:spPr/>
    </dgm:pt>
    <dgm:pt modelId="{3FF2F97E-3EFD-4120-94A2-5589B25B6FED}" type="pres">
      <dgm:prSet presAssocID="{FA6CF07B-65F2-4160-B2B3-D807C482FEFC}" presName="sibTrans" presStyleCnt="0"/>
      <dgm:spPr/>
    </dgm:pt>
    <dgm:pt modelId="{D46A2688-9C8C-4C74-89E8-FB7DD703FA99}" type="pres">
      <dgm:prSet presAssocID="{3C1CE416-D31A-4AC6-A466-5216EAF617A4}" presName="compNode" presStyleCnt="0"/>
      <dgm:spPr/>
    </dgm:pt>
    <dgm:pt modelId="{D01AF7F2-E525-4526-9AB6-FBAF2FCCFDD4}" type="pres">
      <dgm:prSet presAssocID="{3C1CE416-D31A-4AC6-A466-5216EAF617A4}" presName="bgRect" presStyleLbl="bgShp" presStyleIdx="1" presStyleCnt="3"/>
      <dgm:spPr/>
    </dgm:pt>
    <dgm:pt modelId="{29BBAC81-B017-4D55-A6E6-ECC3F28EEC6B}" type="pres">
      <dgm:prSet presAssocID="{3C1CE416-D31A-4AC6-A466-5216EAF617A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1064B677-8F1C-47EE-BD43-EDC9B448A343}" type="pres">
      <dgm:prSet presAssocID="{3C1CE416-D31A-4AC6-A466-5216EAF617A4}" presName="spaceRect" presStyleCnt="0"/>
      <dgm:spPr/>
    </dgm:pt>
    <dgm:pt modelId="{6EB4C299-D561-4725-A151-277E913F4487}" type="pres">
      <dgm:prSet presAssocID="{3C1CE416-D31A-4AC6-A466-5216EAF617A4}" presName="parTx" presStyleLbl="revTx" presStyleIdx="1" presStyleCnt="4">
        <dgm:presLayoutVars>
          <dgm:chMax val="0"/>
          <dgm:chPref val="0"/>
        </dgm:presLayoutVars>
      </dgm:prSet>
      <dgm:spPr/>
    </dgm:pt>
    <dgm:pt modelId="{97A6D151-3B47-4FBC-A2B6-716233D6F421}" type="pres">
      <dgm:prSet presAssocID="{3C1CE416-D31A-4AC6-A466-5216EAF617A4}" presName="desTx" presStyleLbl="revTx" presStyleIdx="2" presStyleCnt="4">
        <dgm:presLayoutVars/>
      </dgm:prSet>
      <dgm:spPr/>
    </dgm:pt>
    <dgm:pt modelId="{EF6D60C0-A18A-4C1D-BD7B-A066B8B70EE1}" type="pres">
      <dgm:prSet presAssocID="{2E1C4C19-2A1A-4EAA-800F-9158BB0CE218}" presName="sibTrans" presStyleCnt="0"/>
      <dgm:spPr/>
    </dgm:pt>
    <dgm:pt modelId="{1E59A5AC-5A82-44A7-9845-4CBDE4D56DFF}" type="pres">
      <dgm:prSet presAssocID="{CBE754A9-C80A-4F04-9D03-7069C7566E59}" presName="compNode" presStyleCnt="0"/>
      <dgm:spPr/>
    </dgm:pt>
    <dgm:pt modelId="{B4AE71E0-A011-4D7B-B022-E01910861A3D}" type="pres">
      <dgm:prSet presAssocID="{CBE754A9-C80A-4F04-9D03-7069C7566E59}" presName="bgRect" presStyleLbl="bgShp" presStyleIdx="2" presStyleCnt="3"/>
      <dgm:spPr/>
    </dgm:pt>
    <dgm:pt modelId="{F857DD80-DF17-49C0-9909-7C3FCC0E6BA5}" type="pres">
      <dgm:prSet presAssocID="{CBE754A9-C80A-4F04-9D03-7069C7566E5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rget"/>
        </a:ext>
      </dgm:extLst>
    </dgm:pt>
    <dgm:pt modelId="{F95EEABD-1820-4CC5-A743-59DA37C55704}" type="pres">
      <dgm:prSet presAssocID="{CBE754A9-C80A-4F04-9D03-7069C7566E59}" presName="spaceRect" presStyleCnt="0"/>
      <dgm:spPr/>
    </dgm:pt>
    <dgm:pt modelId="{8FE0B792-DDF9-42CA-92B1-A84575F9B2B0}" type="pres">
      <dgm:prSet presAssocID="{CBE754A9-C80A-4F04-9D03-7069C7566E59}" presName="parTx" presStyleLbl="revTx" presStyleIdx="3" presStyleCnt="4">
        <dgm:presLayoutVars>
          <dgm:chMax val="0"/>
          <dgm:chPref val="0"/>
        </dgm:presLayoutVars>
      </dgm:prSet>
      <dgm:spPr/>
    </dgm:pt>
  </dgm:ptLst>
  <dgm:cxnLst>
    <dgm:cxn modelId="{7CF18B1B-8C5F-4FF0-9DD3-3184DE0449DD}" type="presOf" srcId="{B7EAC8FC-34FA-4207-9DC2-E3C63EF5673E}" destId="{97A6D151-3B47-4FBC-A2B6-716233D6F421}" srcOrd="0" destOrd="1" presId="urn:microsoft.com/office/officeart/2018/2/layout/IconVerticalSolidList"/>
    <dgm:cxn modelId="{A592FF26-C3F0-4EB2-9E0F-996C389B3B01}" srcId="{106E4E09-C0DE-441F-B7C9-C4DF94FBF92D}" destId="{37163F4D-2BE5-4067-B81A-92F958353407}" srcOrd="0" destOrd="0" parTransId="{949DA67F-0A2E-45A2-AFFA-E6AD802E32F8}" sibTransId="{FA6CF07B-65F2-4160-B2B3-D807C482FEFC}"/>
    <dgm:cxn modelId="{4B7E1339-0B09-4BE2-B9F6-E1AFAC2CD8C6}" srcId="{106E4E09-C0DE-441F-B7C9-C4DF94FBF92D}" destId="{3C1CE416-D31A-4AC6-A466-5216EAF617A4}" srcOrd="1" destOrd="0" parTransId="{438AB5CA-F51D-46C8-A9FC-A3F1BA685BF6}" sibTransId="{2E1C4C19-2A1A-4EAA-800F-9158BB0CE218}"/>
    <dgm:cxn modelId="{B340B839-A2B6-444B-A576-150B3640728D}" srcId="{3C1CE416-D31A-4AC6-A466-5216EAF617A4}" destId="{B7EAC8FC-34FA-4207-9DC2-E3C63EF5673E}" srcOrd="1" destOrd="0" parTransId="{A4E71C4A-4767-431B-8CB6-85A4A5ECB324}" sibTransId="{F8117F53-9284-41DD-A80D-C4147D7AEBE4}"/>
    <dgm:cxn modelId="{CB269A42-0D09-4EFF-9CE5-645AC6E48B35}" srcId="{3C1CE416-D31A-4AC6-A466-5216EAF617A4}" destId="{32EAB21B-E4FF-4846-968E-CAB2389B8A35}" srcOrd="0" destOrd="0" parTransId="{1C81AE55-3308-467C-8B5B-55217BA0F6DF}" sibTransId="{91DFCF66-C4F3-4F48-B7F4-746E91D60160}"/>
    <dgm:cxn modelId="{B7BEE065-A02A-4A71-8513-F1B71D427891}" type="presOf" srcId="{37163F4D-2BE5-4067-B81A-92F958353407}" destId="{3FC828E1-021F-4A9E-8A66-5071BBFFC713}" srcOrd="0" destOrd="0" presId="urn:microsoft.com/office/officeart/2018/2/layout/IconVerticalSolidList"/>
    <dgm:cxn modelId="{DF8EFBA1-CF66-48C7-84FE-486E18041EC8}" type="presOf" srcId="{106E4E09-C0DE-441F-B7C9-C4DF94FBF92D}" destId="{38A721E7-FAA4-4BC3-BF1F-F68A8FAF2063}" srcOrd="0" destOrd="0" presId="urn:microsoft.com/office/officeart/2018/2/layout/IconVerticalSolidList"/>
    <dgm:cxn modelId="{77D80EB1-9E71-4922-ACCC-3D25343D300A}" srcId="{106E4E09-C0DE-441F-B7C9-C4DF94FBF92D}" destId="{CBE754A9-C80A-4F04-9D03-7069C7566E59}" srcOrd="2" destOrd="0" parTransId="{FDC36ACF-4F1D-46B2-82EC-43426FD67957}" sibTransId="{8214616E-0D06-4E18-9C22-1F85B81EA45F}"/>
    <dgm:cxn modelId="{AD0E8AD2-F25B-4288-A277-F9C2A9F1AD7A}" type="presOf" srcId="{CBE754A9-C80A-4F04-9D03-7069C7566E59}" destId="{8FE0B792-DDF9-42CA-92B1-A84575F9B2B0}" srcOrd="0" destOrd="0" presId="urn:microsoft.com/office/officeart/2018/2/layout/IconVerticalSolidList"/>
    <dgm:cxn modelId="{3BF104D3-CCE4-4474-B4BD-8CCB90FAEB1B}" type="presOf" srcId="{32EAB21B-E4FF-4846-968E-CAB2389B8A35}" destId="{97A6D151-3B47-4FBC-A2B6-716233D6F421}" srcOrd="0" destOrd="0" presId="urn:microsoft.com/office/officeart/2018/2/layout/IconVerticalSolidList"/>
    <dgm:cxn modelId="{B7055EFB-8829-4252-9C10-E970967A19F7}" type="presOf" srcId="{3C1CE416-D31A-4AC6-A466-5216EAF617A4}" destId="{6EB4C299-D561-4725-A151-277E913F4487}" srcOrd="0" destOrd="0" presId="urn:microsoft.com/office/officeart/2018/2/layout/IconVerticalSolidList"/>
    <dgm:cxn modelId="{CCA07C99-C7FC-4397-A8EC-ACB3491BFFE1}" type="presParOf" srcId="{38A721E7-FAA4-4BC3-BF1F-F68A8FAF2063}" destId="{B90DC3B3-DA1D-4B6A-B6D2-E5AA1AE92C11}" srcOrd="0" destOrd="0" presId="urn:microsoft.com/office/officeart/2018/2/layout/IconVerticalSolidList"/>
    <dgm:cxn modelId="{6BE2A3A1-880B-4366-97E2-38F5FB838F04}" type="presParOf" srcId="{B90DC3B3-DA1D-4B6A-B6D2-E5AA1AE92C11}" destId="{5BA136C6-7672-4CBF-A00E-FDF187390545}" srcOrd="0" destOrd="0" presId="urn:microsoft.com/office/officeart/2018/2/layout/IconVerticalSolidList"/>
    <dgm:cxn modelId="{D2D857A6-7702-406E-B576-1AEDF15FE443}" type="presParOf" srcId="{B90DC3B3-DA1D-4B6A-B6D2-E5AA1AE92C11}" destId="{C6802954-307E-4136-BFC2-C511A1606D57}" srcOrd="1" destOrd="0" presId="urn:microsoft.com/office/officeart/2018/2/layout/IconVerticalSolidList"/>
    <dgm:cxn modelId="{5FB8F869-0917-4CD2-8018-3B1929078D91}" type="presParOf" srcId="{B90DC3B3-DA1D-4B6A-B6D2-E5AA1AE92C11}" destId="{01D3BF6C-896E-41F1-BC42-AE3DDF19C8DF}" srcOrd="2" destOrd="0" presId="urn:microsoft.com/office/officeart/2018/2/layout/IconVerticalSolidList"/>
    <dgm:cxn modelId="{18C8706A-346F-4C0F-B643-E2544507A585}" type="presParOf" srcId="{B90DC3B3-DA1D-4B6A-B6D2-E5AA1AE92C11}" destId="{3FC828E1-021F-4A9E-8A66-5071BBFFC713}" srcOrd="3" destOrd="0" presId="urn:microsoft.com/office/officeart/2018/2/layout/IconVerticalSolidList"/>
    <dgm:cxn modelId="{4152024D-A274-44F9-9079-9536ECF1639D}" type="presParOf" srcId="{38A721E7-FAA4-4BC3-BF1F-F68A8FAF2063}" destId="{3FF2F97E-3EFD-4120-94A2-5589B25B6FED}" srcOrd="1" destOrd="0" presId="urn:microsoft.com/office/officeart/2018/2/layout/IconVerticalSolidList"/>
    <dgm:cxn modelId="{B36E6D78-8B5B-4C3E-85BA-9CEFBE3F4A22}" type="presParOf" srcId="{38A721E7-FAA4-4BC3-BF1F-F68A8FAF2063}" destId="{D46A2688-9C8C-4C74-89E8-FB7DD703FA99}" srcOrd="2" destOrd="0" presId="urn:microsoft.com/office/officeart/2018/2/layout/IconVerticalSolidList"/>
    <dgm:cxn modelId="{C5247A95-790E-4514-B4BC-0BD5DE2FD22F}" type="presParOf" srcId="{D46A2688-9C8C-4C74-89E8-FB7DD703FA99}" destId="{D01AF7F2-E525-4526-9AB6-FBAF2FCCFDD4}" srcOrd="0" destOrd="0" presId="urn:microsoft.com/office/officeart/2018/2/layout/IconVerticalSolidList"/>
    <dgm:cxn modelId="{975C88E2-E476-4AD3-BBB2-67F137EC0362}" type="presParOf" srcId="{D46A2688-9C8C-4C74-89E8-FB7DD703FA99}" destId="{29BBAC81-B017-4D55-A6E6-ECC3F28EEC6B}" srcOrd="1" destOrd="0" presId="urn:microsoft.com/office/officeart/2018/2/layout/IconVerticalSolidList"/>
    <dgm:cxn modelId="{1B20C5BF-8B62-4761-9694-DC067E21D871}" type="presParOf" srcId="{D46A2688-9C8C-4C74-89E8-FB7DD703FA99}" destId="{1064B677-8F1C-47EE-BD43-EDC9B448A343}" srcOrd="2" destOrd="0" presId="urn:microsoft.com/office/officeart/2018/2/layout/IconVerticalSolidList"/>
    <dgm:cxn modelId="{7B5DC6FD-FCC5-4102-A689-A5123DBC32C9}" type="presParOf" srcId="{D46A2688-9C8C-4C74-89E8-FB7DD703FA99}" destId="{6EB4C299-D561-4725-A151-277E913F4487}" srcOrd="3" destOrd="0" presId="urn:microsoft.com/office/officeart/2018/2/layout/IconVerticalSolidList"/>
    <dgm:cxn modelId="{C34D7A5C-E39A-4D34-934C-54C41840F1C8}" type="presParOf" srcId="{D46A2688-9C8C-4C74-89E8-FB7DD703FA99}" destId="{97A6D151-3B47-4FBC-A2B6-716233D6F421}" srcOrd="4" destOrd="0" presId="urn:microsoft.com/office/officeart/2018/2/layout/IconVerticalSolidList"/>
    <dgm:cxn modelId="{D35A146D-2807-4B41-B386-30EA63CF7CD3}" type="presParOf" srcId="{38A721E7-FAA4-4BC3-BF1F-F68A8FAF2063}" destId="{EF6D60C0-A18A-4C1D-BD7B-A066B8B70EE1}" srcOrd="3" destOrd="0" presId="urn:microsoft.com/office/officeart/2018/2/layout/IconVerticalSolidList"/>
    <dgm:cxn modelId="{0DC182D5-78B7-48D2-B623-84B371C4833B}" type="presParOf" srcId="{38A721E7-FAA4-4BC3-BF1F-F68A8FAF2063}" destId="{1E59A5AC-5A82-44A7-9845-4CBDE4D56DFF}" srcOrd="4" destOrd="0" presId="urn:microsoft.com/office/officeart/2018/2/layout/IconVerticalSolidList"/>
    <dgm:cxn modelId="{FA037FCA-62C6-4927-B2F8-751F2736BC52}" type="presParOf" srcId="{1E59A5AC-5A82-44A7-9845-4CBDE4D56DFF}" destId="{B4AE71E0-A011-4D7B-B022-E01910861A3D}" srcOrd="0" destOrd="0" presId="urn:microsoft.com/office/officeart/2018/2/layout/IconVerticalSolidList"/>
    <dgm:cxn modelId="{9C486552-2D26-489F-ADDA-92BA21080707}" type="presParOf" srcId="{1E59A5AC-5A82-44A7-9845-4CBDE4D56DFF}" destId="{F857DD80-DF17-49C0-9909-7C3FCC0E6BA5}" srcOrd="1" destOrd="0" presId="urn:microsoft.com/office/officeart/2018/2/layout/IconVerticalSolidList"/>
    <dgm:cxn modelId="{7BA86B35-B1B4-46F2-A742-A1C14632C1F7}" type="presParOf" srcId="{1E59A5AC-5A82-44A7-9845-4CBDE4D56DFF}" destId="{F95EEABD-1820-4CC5-A743-59DA37C55704}" srcOrd="2" destOrd="0" presId="urn:microsoft.com/office/officeart/2018/2/layout/IconVerticalSolidList"/>
    <dgm:cxn modelId="{657A3C03-D0F8-484D-90A1-C78CFC7FBA41}" type="presParOf" srcId="{1E59A5AC-5A82-44A7-9845-4CBDE4D56DFF}" destId="{8FE0B792-DDF9-42CA-92B1-A84575F9B2B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8BFCF0-7C9B-48F3-8249-4A8C3F31BBD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1DD5FE7-78FF-4543-9C17-81FC82A7BDFE}">
      <dgm:prSet/>
      <dgm:spPr/>
      <dgm:t>
        <a:bodyPr/>
        <a:lstStyle/>
        <a:p>
          <a:pPr>
            <a:lnSpc>
              <a:spcPct val="100000"/>
            </a:lnSpc>
          </a:pPr>
          <a:r>
            <a:rPr lang="en-US" b="1" dirty="0"/>
            <a:t>What is it?</a:t>
          </a:r>
          <a:r>
            <a:rPr lang="en-US" dirty="0"/>
            <a:t> DB optimized for </a:t>
          </a:r>
          <a:r>
            <a:rPr lang="en-US" dirty="0">
              <a:highlight>
                <a:srgbClr val="FFFF00"/>
              </a:highlight>
            </a:rPr>
            <a:t>similarity search of vectors</a:t>
          </a:r>
          <a:r>
            <a:rPr lang="en-US" dirty="0"/>
            <a:t>.</a:t>
          </a:r>
        </a:p>
      </dgm:t>
    </dgm:pt>
    <dgm:pt modelId="{163556DF-8285-44F7-B7F0-7B769960E76F}" type="parTrans" cxnId="{C381A61E-0D54-4336-AABC-975CC9779DD7}">
      <dgm:prSet/>
      <dgm:spPr/>
      <dgm:t>
        <a:bodyPr/>
        <a:lstStyle/>
        <a:p>
          <a:endParaRPr lang="en-US"/>
        </a:p>
      </dgm:t>
    </dgm:pt>
    <dgm:pt modelId="{6C6D3C24-A28E-4B71-A4C8-1F3E461EB280}" type="sibTrans" cxnId="{C381A61E-0D54-4336-AABC-975CC9779DD7}">
      <dgm:prSet/>
      <dgm:spPr/>
      <dgm:t>
        <a:bodyPr/>
        <a:lstStyle/>
        <a:p>
          <a:endParaRPr lang="en-US"/>
        </a:p>
      </dgm:t>
    </dgm:pt>
    <dgm:pt modelId="{5D109CC0-7582-412E-8BB2-511AF56EDC8B}">
      <dgm:prSet/>
      <dgm:spPr/>
      <dgm:t>
        <a:bodyPr/>
        <a:lstStyle/>
        <a:p>
          <a:pPr>
            <a:lnSpc>
              <a:spcPct val="100000"/>
            </a:lnSpc>
          </a:pPr>
          <a:r>
            <a:rPr lang="en-US" b="1"/>
            <a:t>The Landscape:</a:t>
          </a:r>
          <a:endParaRPr lang="en-US"/>
        </a:p>
      </dgm:t>
    </dgm:pt>
    <dgm:pt modelId="{33D85207-580B-401D-86A8-DABBED95E479}" type="parTrans" cxnId="{0291A2B4-F21B-4CF7-97F2-3656B5436130}">
      <dgm:prSet/>
      <dgm:spPr/>
      <dgm:t>
        <a:bodyPr/>
        <a:lstStyle/>
        <a:p>
          <a:endParaRPr lang="en-US"/>
        </a:p>
      </dgm:t>
    </dgm:pt>
    <dgm:pt modelId="{A2D3BD40-2F00-401F-86B3-1F214B35A3C5}" type="sibTrans" cxnId="{0291A2B4-F21B-4CF7-97F2-3656B5436130}">
      <dgm:prSet/>
      <dgm:spPr/>
      <dgm:t>
        <a:bodyPr/>
        <a:lstStyle/>
        <a:p>
          <a:endParaRPr lang="en-US"/>
        </a:p>
      </dgm:t>
    </dgm:pt>
    <dgm:pt modelId="{CD531007-05EE-452B-A633-875014EF539C}">
      <dgm:prSet/>
      <dgm:spPr/>
      <dgm:t>
        <a:bodyPr/>
        <a:lstStyle/>
        <a:p>
          <a:pPr>
            <a:lnSpc>
              <a:spcPct val="100000"/>
            </a:lnSpc>
          </a:pPr>
          <a:r>
            <a:rPr lang="en-US" dirty="0"/>
            <a:t>Azure AI Search: Microsoft, Postgres </a:t>
          </a:r>
          <a:r>
            <a:rPr lang="en-US" dirty="0" err="1"/>
            <a:t>pgvector</a:t>
          </a:r>
          <a:r>
            <a:rPr lang="en-US" dirty="0"/>
            <a:t>, </a:t>
          </a:r>
          <a:br>
            <a:rPr lang="en-US" dirty="0"/>
          </a:br>
          <a:r>
            <a:rPr lang="en-US" dirty="0"/>
            <a:t>Pinecone: Managed, scalable, cloud-native.</a:t>
          </a:r>
        </a:p>
      </dgm:t>
    </dgm:pt>
    <dgm:pt modelId="{8A8E958A-5A0F-42A6-B3F1-E200849E579D}" type="parTrans" cxnId="{35AD2EB6-FD9B-4C3C-AF27-E61257BB5D42}">
      <dgm:prSet/>
      <dgm:spPr/>
      <dgm:t>
        <a:bodyPr/>
        <a:lstStyle/>
        <a:p>
          <a:endParaRPr lang="en-US"/>
        </a:p>
      </dgm:t>
    </dgm:pt>
    <dgm:pt modelId="{DC8040C9-1784-48ED-A868-D5CC791452BB}" type="sibTrans" cxnId="{35AD2EB6-FD9B-4C3C-AF27-E61257BB5D42}">
      <dgm:prSet/>
      <dgm:spPr/>
      <dgm:t>
        <a:bodyPr/>
        <a:lstStyle/>
        <a:p>
          <a:endParaRPr lang="en-US"/>
        </a:p>
      </dgm:t>
    </dgm:pt>
    <dgm:pt modelId="{76674415-0C00-4480-A1FE-6B3838707931}">
      <dgm:prSet/>
      <dgm:spPr/>
      <dgm:t>
        <a:bodyPr/>
        <a:lstStyle/>
        <a:p>
          <a:pPr>
            <a:lnSpc>
              <a:spcPct val="100000"/>
            </a:lnSpc>
          </a:pPr>
          <a:r>
            <a:rPr lang="en-US"/>
            <a:t>ChromaDB / FAISS: Open-source, runs locally (Our Lab).</a:t>
          </a:r>
        </a:p>
      </dgm:t>
    </dgm:pt>
    <dgm:pt modelId="{B569B9C1-A219-4CD6-B197-22488E47C7E5}" type="parTrans" cxnId="{2F976ACF-6EC7-4E36-997D-2508584DE6EE}">
      <dgm:prSet/>
      <dgm:spPr/>
      <dgm:t>
        <a:bodyPr/>
        <a:lstStyle/>
        <a:p>
          <a:endParaRPr lang="en-US"/>
        </a:p>
      </dgm:t>
    </dgm:pt>
    <dgm:pt modelId="{CECAA13B-1ABB-49B3-8F20-DBF0AE3FFA72}" type="sibTrans" cxnId="{2F976ACF-6EC7-4E36-997D-2508584DE6EE}">
      <dgm:prSet/>
      <dgm:spPr/>
      <dgm:t>
        <a:bodyPr/>
        <a:lstStyle/>
        <a:p>
          <a:endParaRPr lang="en-US"/>
        </a:p>
      </dgm:t>
    </dgm:pt>
    <dgm:pt modelId="{73EE74DD-287F-401B-B639-A5E4949DF1F3}">
      <dgm:prSet/>
      <dgm:spPr/>
      <dgm:t>
        <a:bodyPr/>
        <a:lstStyle/>
        <a:p>
          <a:pPr>
            <a:lnSpc>
              <a:spcPct val="100000"/>
            </a:lnSpc>
          </a:pPr>
          <a:r>
            <a:rPr lang="en-US" dirty="0" err="1"/>
            <a:t>Weaviate</a:t>
          </a:r>
          <a:r>
            <a:rPr lang="en-US" dirty="0"/>
            <a:t> / </a:t>
          </a:r>
          <a:r>
            <a:rPr lang="en-US" dirty="0" err="1"/>
            <a:t>Qdrant</a:t>
          </a:r>
          <a:r>
            <a:rPr lang="en-US" dirty="0"/>
            <a:t>: Feature-rich, hybrid search.</a:t>
          </a:r>
        </a:p>
      </dgm:t>
    </dgm:pt>
    <dgm:pt modelId="{F850279E-0D30-4C99-8F1D-8765081043A5}" type="parTrans" cxnId="{CADB3AA8-3C24-432A-856F-DCE62DF23B60}">
      <dgm:prSet/>
      <dgm:spPr/>
      <dgm:t>
        <a:bodyPr/>
        <a:lstStyle/>
        <a:p>
          <a:endParaRPr lang="en-US"/>
        </a:p>
      </dgm:t>
    </dgm:pt>
    <dgm:pt modelId="{7714BFF4-BAAC-41B8-BC69-7E1AA22A5A63}" type="sibTrans" cxnId="{CADB3AA8-3C24-432A-856F-DCE62DF23B60}">
      <dgm:prSet/>
      <dgm:spPr/>
      <dgm:t>
        <a:bodyPr/>
        <a:lstStyle/>
        <a:p>
          <a:endParaRPr lang="en-US"/>
        </a:p>
      </dgm:t>
    </dgm:pt>
    <dgm:pt modelId="{5C4889B8-C26B-481A-BAB4-BD464E522BAA}">
      <dgm:prSet/>
      <dgm:spPr/>
      <dgm:t>
        <a:bodyPr/>
        <a:lstStyle/>
        <a:p>
          <a:pPr>
            <a:lnSpc>
              <a:spcPct val="100000"/>
            </a:lnSpc>
          </a:pPr>
          <a:r>
            <a:rPr lang="en-US" b="1"/>
            <a:t>Robotics Context:</a:t>
          </a:r>
          <a:r>
            <a:rPr lang="en-US"/>
            <a:t> The robot stores its map and object definitions here.</a:t>
          </a:r>
        </a:p>
      </dgm:t>
    </dgm:pt>
    <dgm:pt modelId="{27FA2522-55F3-4A86-A5B2-29C4789ECB45}" type="parTrans" cxnId="{ECEBB95A-1EFE-4541-82F9-72A4A1F3C7B8}">
      <dgm:prSet/>
      <dgm:spPr/>
      <dgm:t>
        <a:bodyPr/>
        <a:lstStyle/>
        <a:p>
          <a:endParaRPr lang="en-US"/>
        </a:p>
      </dgm:t>
    </dgm:pt>
    <dgm:pt modelId="{7F04F7B5-26FE-4A5F-892B-8D02AA38AEFE}" type="sibTrans" cxnId="{ECEBB95A-1EFE-4541-82F9-72A4A1F3C7B8}">
      <dgm:prSet/>
      <dgm:spPr/>
      <dgm:t>
        <a:bodyPr/>
        <a:lstStyle/>
        <a:p>
          <a:endParaRPr lang="en-US"/>
        </a:p>
      </dgm:t>
    </dgm:pt>
    <dgm:pt modelId="{E59CCD08-A18C-456F-B9B9-C8AA8F8CA286}" type="pres">
      <dgm:prSet presAssocID="{F68BFCF0-7C9B-48F3-8249-4A8C3F31BBD4}" presName="root" presStyleCnt="0">
        <dgm:presLayoutVars>
          <dgm:dir/>
          <dgm:resizeHandles val="exact"/>
        </dgm:presLayoutVars>
      </dgm:prSet>
      <dgm:spPr/>
    </dgm:pt>
    <dgm:pt modelId="{9CA97D2C-BAD0-4999-872C-25A23E6DE316}" type="pres">
      <dgm:prSet presAssocID="{A1DD5FE7-78FF-4543-9C17-81FC82A7BDFE}" presName="compNode" presStyleCnt="0"/>
      <dgm:spPr/>
    </dgm:pt>
    <dgm:pt modelId="{E4C7E900-F990-4C71-A2B9-2566289244DA}" type="pres">
      <dgm:prSet presAssocID="{A1DD5FE7-78FF-4543-9C17-81FC82A7BDFE}" presName="bgRect" presStyleLbl="bgShp" presStyleIdx="0" presStyleCnt="3"/>
      <dgm:spPr/>
    </dgm:pt>
    <dgm:pt modelId="{50D7D0F6-9851-442B-BCDB-6FB606425D5F}" type="pres">
      <dgm:prSet presAssocID="{A1DD5FE7-78FF-4543-9C17-81FC82A7BDF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478E011E-A13E-402F-BC81-94990B50EA12}" type="pres">
      <dgm:prSet presAssocID="{A1DD5FE7-78FF-4543-9C17-81FC82A7BDFE}" presName="spaceRect" presStyleCnt="0"/>
      <dgm:spPr/>
    </dgm:pt>
    <dgm:pt modelId="{D70A6E2A-9B63-4C2D-818F-9FC8DCCB298D}" type="pres">
      <dgm:prSet presAssocID="{A1DD5FE7-78FF-4543-9C17-81FC82A7BDFE}" presName="parTx" presStyleLbl="revTx" presStyleIdx="0" presStyleCnt="4">
        <dgm:presLayoutVars>
          <dgm:chMax val="0"/>
          <dgm:chPref val="0"/>
        </dgm:presLayoutVars>
      </dgm:prSet>
      <dgm:spPr/>
    </dgm:pt>
    <dgm:pt modelId="{D204BF95-7EB4-44CF-B19F-94E485BDDADA}" type="pres">
      <dgm:prSet presAssocID="{6C6D3C24-A28E-4B71-A4C8-1F3E461EB280}" presName="sibTrans" presStyleCnt="0"/>
      <dgm:spPr/>
    </dgm:pt>
    <dgm:pt modelId="{B370EB3B-7282-4CFC-AD95-AEC802168821}" type="pres">
      <dgm:prSet presAssocID="{5D109CC0-7582-412E-8BB2-511AF56EDC8B}" presName="compNode" presStyleCnt="0"/>
      <dgm:spPr/>
    </dgm:pt>
    <dgm:pt modelId="{12CE2C85-DA3B-471D-A448-DF0793B5199B}" type="pres">
      <dgm:prSet presAssocID="{5D109CC0-7582-412E-8BB2-511AF56EDC8B}" presName="bgRect" presStyleLbl="bgShp" presStyleIdx="1" presStyleCnt="3"/>
      <dgm:spPr/>
    </dgm:pt>
    <dgm:pt modelId="{D1B2C63E-7FE3-42F3-8FB5-D2A0CFE7999D}" type="pres">
      <dgm:prSet presAssocID="{5D109CC0-7582-412E-8BB2-511AF56EDC8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ainbow"/>
        </a:ext>
      </dgm:extLst>
    </dgm:pt>
    <dgm:pt modelId="{6439B812-3484-46D5-879E-40FE2AD3BEC5}" type="pres">
      <dgm:prSet presAssocID="{5D109CC0-7582-412E-8BB2-511AF56EDC8B}" presName="spaceRect" presStyleCnt="0"/>
      <dgm:spPr/>
    </dgm:pt>
    <dgm:pt modelId="{83C0B854-EBA2-4235-ADC7-9CCF964B16F3}" type="pres">
      <dgm:prSet presAssocID="{5D109CC0-7582-412E-8BB2-511AF56EDC8B}" presName="parTx" presStyleLbl="revTx" presStyleIdx="1" presStyleCnt="4">
        <dgm:presLayoutVars>
          <dgm:chMax val="0"/>
          <dgm:chPref val="0"/>
        </dgm:presLayoutVars>
      </dgm:prSet>
      <dgm:spPr/>
    </dgm:pt>
    <dgm:pt modelId="{B29497C0-FA17-4D99-8424-247AF0FEFE0C}" type="pres">
      <dgm:prSet presAssocID="{5D109CC0-7582-412E-8BB2-511AF56EDC8B}" presName="desTx" presStyleLbl="revTx" presStyleIdx="2" presStyleCnt="4">
        <dgm:presLayoutVars/>
      </dgm:prSet>
      <dgm:spPr/>
    </dgm:pt>
    <dgm:pt modelId="{802D45A3-DA0D-43C8-A19D-537983621CBA}" type="pres">
      <dgm:prSet presAssocID="{A2D3BD40-2F00-401F-86B3-1F214B35A3C5}" presName="sibTrans" presStyleCnt="0"/>
      <dgm:spPr/>
    </dgm:pt>
    <dgm:pt modelId="{F3161710-DBD1-4213-8BDE-01394B9E63F2}" type="pres">
      <dgm:prSet presAssocID="{5C4889B8-C26B-481A-BAB4-BD464E522BAA}" presName="compNode" presStyleCnt="0"/>
      <dgm:spPr/>
    </dgm:pt>
    <dgm:pt modelId="{76AEB852-B46F-4A30-BF84-4A085BC9D4A7}" type="pres">
      <dgm:prSet presAssocID="{5C4889B8-C26B-481A-BAB4-BD464E522BAA}" presName="bgRect" presStyleLbl="bgShp" presStyleIdx="2" presStyleCnt="3"/>
      <dgm:spPr/>
    </dgm:pt>
    <dgm:pt modelId="{FFF69A11-FA1E-4AC4-9CBC-F0B07FA783F3}" type="pres">
      <dgm:prSet presAssocID="{5C4889B8-C26B-481A-BAB4-BD464E522BA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713ECFCD-9C1F-4CA0-9296-ABD2BBF95CE8}" type="pres">
      <dgm:prSet presAssocID="{5C4889B8-C26B-481A-BAB4-BD464E522BAA}" presName="spaceRect" presStyleCnt="0"/>
      <dgm:spPr/>
    </dgm:pt>
    <dgm:pt modelId="{52F2FC76-93A2-4739-9BF9-70EF762E465C}" type="pres">
      <dgm:prSet presAssocID="{5C4889B8-C26B-481A-BAB4-BD464E522BAA}" presName="parTx" presStyleLbl="revTx" presStyleIdx="3" presStyleCnt="4">
        <dgm:presLayoutVars>
          <dgm:chMax val="0"/>
          <dgm:chPref val="0"/>
        </dgm:presLayoutVars>
      </dgm:prSet>
      <dgm:spPr/>
    </dgm:pt>
  </dgm:ptLst>
  <dgm:cxnLst>
    <dgm:cxn modelId="{C381A61E-0D54-4336-AABC-975CC9779DD7}" srcId="{F68BFCF0-7C9B-48F3-8249-4A8C3F31BBD4}" destId="{A1DD5FE7-78FF-4543-9C17-81FC82A7BDFE}" srcOrd="0" destOrd="0" parTransId="{163556DF-8285-44F7-B7F0-7B769960E76F}" sibTransId="{6C6D3C24-A28E-4B71-A4C8-1F3E461EB280}"/>
    <dgm:cxn modelId="{AEAAD824-4F4B-480F-B7DA-F6129113FF78}" type="presOf" srcId="{5C4889B8-C26B-481A-BAB4-BD464E522BAA}" destId="{52F2FC76-93A2-4739-9BF9-70EF762E465C}" srcOrd="0" destOrd="0" presId="urn:microsoft.com/office/officeart/2018/2/layout/IconVerticalSolidList"/>
    <dgm:cxn modelId="{DAF95941-158E-4525-881D-2EAA4EC9692F}" type="presOf" srcId="{CD531007-05EE-452B-A633-875014EF539C}" destId="{B29497C0-FA17-4D99-8424-247AF0FEFE0C}" srcOrd="0" destOrd="0" presId="urn:microsoft.com/office/officeart/2018/2/layout/IconVerticalSolidList"/>
    <dgm:cxn modelId="{1A47EF77-BD55-4A70-9997-D157C770EC64}" type="presOf" srcId="{73EE74DD-287F-401B-B639-A5E4949DF1F3}" destId="{B29497C0-FA17-4D99-8424-247AF0FEFE0C}" srcOrd="0" destOrd="2" presId="urn:microsoft.com/office/officeart/2018/2/layout/IconVerticalSolidList"/>
    <dgm:cxn modelId="{ECEBB95A-1EFE-4541-82F9-72A4A1F3C7B8}" srcId="{F68BFCF0-7C9B-48F3-8249-4A8C3F31BBD4}" destId="{5C4889B8-C26B-481A-BAB4-BD464E522BAA}" srcOrd="2" destOrd="0" parTransId="{27FA2522-55F3-4A86-A5B2-29C4789ECB45}" sibTransId="{7F04F7B5-26FE-4A5F-892B-8D02AA38AEFE}"/>
    <dgm:cxn modelId="{2B15369E-3759-4D7F-9965-73AE935547C1}" type="presOf" srcId="{F68BFCF0-7C9B-48F3-8249-4A8C3F31BBD4}" destId="{E59CCD08-A18C-456F-B9B9-C8AA8F8CA286}" srcOrd="0" destOrd="0" presId="urn:microsoft.com/office/officeart/2018/2/layout/IconVerticalSolidList"/>
    <dgm:cxn modelId="{A79FAFA1-B893-4387-93F4-06F2015DC2AD}" type="presOf" srcId="{76674415-0C00-4480-A1FE-6B3838707931}" destId="{B29497C0-FA17-4D99-8424-247AF0FEFE0C}" srcOrd="0" destOrd="1" presId="urn:microsoft.com/office/officeart/2018/2/layout/IconVerticalSolidList"/>
    <dgm:cxn modelId="{CADB3AA8-3C24-432A-856F-DCE62DF23B60}" srcId="{5D109CC0-7582-412E-8BB2-511AF56EDC8B}" destId="{73EE74DD-287F-401B-B639-A5E4949DF1F3}" srcOrd="2" destOrd="0" parTransId="{F850279E-0D30-4C99-8F1D-8765081043A5}" sibTransId="{7714BFF4-BAAC-41B8-BC69-7E1AA22A5A63}"/>
    <dgm:cxn modelId="{0291A2B4-F21B-4CF7-97F2-3656B5436130}" srcId="{F68BFCF0-7C9B-48F3-8249-4A8C3F31BBD4}" destId="{5D109CC0-7582-412E-8BB2-511AF56EDC8B}" srcOrd="1" destOrd="0" parTransId="{33D85207-580B-401D-86A8-DABBED95E479}" sibTransId="{A2D3BD40-2F00-401F-86B3-1F214B35A3C5}"/>
    <dgm:cxn modelId="{35AD2EB6-FD9B-4C3C-AF27-E61257BB5D42}" srcId="{5D109CC0-7582-412E-8BB2-511AF56EDC8B}" destId="{CD531007-05EE-452B-A633-875014EF539C}" srcOrd="0" destOrd="0" parTransId="{8A8E958A-5A0F-42A6-B3F1-E200849E579D}" sibTransId="{DC8040C9-1784-48ED-A868-D5CC791452BB}"/>
    <dgm:cxn modelId="{2F976ACF-6EC7-4E36-997D-2508584DE6EE}" srcId="{5D109CC0-7582-412E-8BB2-511AF56EDC8B}" destId="{76674415-0C00-4480-A1FE-6B3838707931}" srcOrd="1" destOrd="0" parTransId="{B569B9C1-A219-4CD6-B197-22488E47C7E5}" sibTransId="{CECAA13B-1ABB-49B3-8F20-DBF0AE3FFA72}"/>
    <dgm:cxn modelId="{3958F0D0-33CC-43D3-8A24-091A102E3347}" type="presOf" srcId="{A1DD5FE7-78FF-4543-9C17-81FC82A7BDFE}" destId="{D70A6E2A-9B63-4C2D-818F-9FC8DCCB298D}" srcOrd="0" destOrd="0" presId="urn:microsoft.com/office/officeart/2018/2/layout/IconVerticalSolidList"/>
    <dgm:cxn modelId="{3286A7F4-EF33-4113-8C5B-29780FCB5F43}" type="presOf" srcId="{5D109CC0-7582-412E-8BB2-511AF56EDC8B}" destId="{83C0B854-EBA2-4235-ADC7-9CCF964B16F3}" srcOrd="0" destOrd="0" presId="urn:microsoft.com/office/officeart/2018/2/layout/IconVerticalSolidList"/>
    <dgm:cxn modelId="{9D26BCF1-7354-4B0E-AC0D-91BD532524A4}" type="presParOf" srcId="{E59CCD08-A18C-456F-B9B9-C8AA8F8CA286}" destId="{9CA97D2C-BAD0-4999-872C-25A23E6DE316}" srcOrd="0" destOrd="0" presId="urn:microsoft.com/office/officeart/2018/2/layout/IconVerticalSolidList"/>
    <dgm:cxn modelId="{9425E8A1-ED22-466F-906D-1FA977A054E0}" type="presParOf" srcId="{9CA97D2C-BAD0-4999-872C-25A23E6DE316}" destId="{E4C7E900-F990-4C71-A2B9-2566289244DA}" srcOrd="0" destOrd="0" presId="urn:microsoft.com/office/officeart/2018/2/layout/IconVerticalSolidList"/>
    <dgm:cxn modelId="{651B527F-0DA0-46CF-AA48-DA9F783DF1B2}" type="presParOf" srcId="{9CA97D2C-BAD0-4999-872C-25A23E6DE316}" destId="{50D7D0F6-9851-442B-BCDB-6FB606425D5F}" srcOrd="1" destOrd="0" presId="urn:microsoft.com/office/officeart/2018/2/layout/IconVerticalSolidList"/>
    <dgm:cxn modelId="{70B35915-D7F4-47BB-A000-226DC4E82289}" type="presParOf" srcId="{9CA97D2C-BAD0-4999-872C-25A23E6DE316}" destId="{478E011E-A13E-402F-BC81-94990B50EA12}" srcOrd="2" destOrd="0" presId="urn:microsoft.com/office/officeart/2018/2/layout/IconVerticalSolidList"/>
    <dgm:cxn modelId="{F85F23C6-AF8F-4945-8C78-9FA4429468C7}" type="presParOf" srcId="{9CA97D2C-BAD0-4999-872C-25A23E6DE316}" destId="{D70A6E2A-9B63-4C2D-818F-9FC8DCCB298D}" srcOrd="3" destOrd="0" presId="urn:microsoft.com/office/officeart/2018/2/layout/IconVerticalSolidList"/>
    <dgm:cxn modelId="{67D60622-7DEA-47E1-8462-B85CB94D7CE1}" type="presParOf" srcId="{E59CCD08-A18C-456F-B9B9-C8AA8F8CA286}" destId="{D204BF95-7EB4-44CF-B19F-94E485BDDADA}" srcOrd="1" destOrd="0" presId="urn:microsoft.com/office/officeart/2018/2/layout/IconVerticalSolidList"/>
    <dgm:cxn modelId="{1E86D3C6-7F12-4988-A466-6810E278EAE6}" type="presParOf" srcId="{E59CCD08-A18C-456F-B9B9-C8AA8F8CA286}" destId="{B370EB3B-7282-4CFC-AD95-AEC802168821}" srcOrd="2" destOrd="0" presId="urn:microsoft.com/office/officeart/2018/2/layout/IconVerticalSolidList"/>
    <dgm:cxn modelId="{72E89B05-5845-4E0E-89C7-C9FFE4986F21}" type="presParOf" srcId="{B370EB3B-7282-4CFC-AD95-AEC802168821}" destId="{12CE2C85-DA3B-471D-A448-DF0793B5199B}" srcOrd="0" destOrd="0" presId="urn:microsoft.com/office/officeart/2018/2/layout/IconVerticalSolidList"/>
    <dgm:cxn modelId="{C620FA6F-A6B2-448F-A168-08F62F2CF1DC}" type="presParOf" srcId="{B370EB3B-7282-4CFC-AD95-AEC802168821}" destId="{D1B2C63E-7FE3-42F3-8FB5-D2A0CFE7999D}" srcOrd="1" destOrd="0" presId="urn:microsoft.com/office/officeart/2018/2/layout/IconVerticalSolidList"/>
    <dgm:cxn modelId="{62A87D89-F39F-4F12-9BE5-2B28B52E4EC4}" type="presParOf" srcId="{B370EB3B-7282-4CFC-AD95-AEC802168821}" destId="{6439B812-3484-46D5-879E-40FE2AD3BEC5}" srcOrd="2" destOrd="0" presId="urn:microsoft.com/office/officeart/2018/2/layout/IconVerticalSolidList"/>
    <dgm:cxn modelId="{78FF5B7E-8A30-4460-9059-8BFDDFBEADB6}" type="presParOf" srcId="{B370EB3B-7282-4CFC-AD95-AEC802168821}" destId="{83C0B854-EBA2-4235-ADC7-9CCF964B16F3}" srcOrd="3" destOrd="0" presId="urn:microsoft.com/office/officeart/2018/2/layout/IconVerticalSolidList"/>
    <dgm:cxn modelId="{35A915E7-614A-44B8-8EBB-C9B705672E4D}" type="presParOf" srcId="{B370EB3B-7282-4CFC-AD95-AEC802168821}" destId="{B29497C0-FA17-4D99-8424-247AF0FEFE0C}" srcOrd="4" destOrd="0" presId="urn:microsoft.com/office/officeart/2018/2/layout/IconVerticalSolidList"/>
    <dgm:cxn modelId="{FFAAEC86-1532-415D-8C27-313D4885BBD5}" type="presParOf" srcId="{E59CCD08-A18C-456F-B9B9-C8AA8F8CA286}" destId="{802D45A3-DA0D-43C8-A19D-537983621CBA}" srcOrd="3" destOrd="0" presId="urn:microsoft.com/office/officeart/2018/2/layout/IconVerticalSolidList"/>
    <dgm:cxn modelId="{652D0C3E-1FAD-4936-8569-77974ADC24A6}" type="presParOf" srcId="{E59CCD08-A18C-456F-B9B9-C8AA8F8CA286}" destId="{F3161710-DBD1-4213-8BDE-01394B9E63F2}" srcOrd="4" destOrd="0" presId="urn:microsoft.com/office/officeart/2018/2/layout/IconVerticalSolidList"/>
    <dgm:cxn modelId="{7DF9CAEB-9F52-4FA2-86FD-248EFD64EA44}" type="presParOf" srcId="{F3161710-DBD1-4213-8BDE-01394B9E63F2}" destId="{76AEB852-B46F-4A30-BF84-4A085BC9D4A7}" srcOrd="0" destOrd="0" presId="urn:microsoft.com/office/officeart/2018/2/layout/IconVerticalSolidList"/>
    <dgm:cxn modelId="{DC60C66E-77E4-4E0C-B592-74D5DB577C00}" type="presParOf" srcId="{F3161710-DBD1-4213-8BDE-01394B9E63F2}" destId="{FFF69A11-FA1E-4AC4-9CBC-F0B07FA783F3}" srcOrd="1" destOrd="0" presId="urn:microsoft.com/office/officeart/2018/2/layout/IconVerticalSolidList"/>
    <dgm:cxn modelId="{A59D7A20-A167-4BED-B0EC-69B3B76C7DE9}" type="presParOf" srcId="{F3161710-DBD1-4213-8BDE-01394B9E63F2}" destId="{713ECFCD-9C1F-4CA0-9296-ABD2BBF95CE8}" srcOrd="2" destOrd="0" presId="urn:microsoft.com/office/officeart/2018/2/layout/IconVerticalSolidList"/>
    <dgm:cxn modelId="{A28D0DC0-1C02-4F8C-918C-DA4835D67360}" type="presParOf" srcId="{F3161710-DBD1-4213-8BDE-01394B9E63F2}" destId="{52F2FC76-93A2-4739-9BF9-70EF762E465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86B4D6-5B03-4F7A-B448-2298651342E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4F274EB-3184-4CDD-BD53-B2F42E80922E}">
      <dgm:prSet/>
      <dgm:spPr/>
      <dgm:t>
        <a:bodyPr/>
        <a:lstStyle/>
        <a:p>
          <a:r>
            <a:rPr lang="en-US" b="1"/>
            <a:t>The Output:</a:t>
          </a:r>
          <a:r>
            <a:rPr lang="en-US"/>
            <a:t> The LLM generates the answer based on provided chunks.</a:t>
          </a:r>
        </a:p>
      </dgm:t>
    </dgm:pt>
    <dgm:pt modelId="{95D23AFD-BBFB-42CD-8E25-8CDB8E2DDBFB}" type="parTrans" cxnId="{BFDCB6E2-741B-4936-ACA6-983E2AEF96F9}">
      <dgm:prSet/>
      <dgm:spPr/>
      <dgm:t>
        <a:bodyPr/>
        <a:lstStyle/>
        <a:p>
          <a:endParaRPr lang="en-US"/>
        </a:p>
      </dgm:t>
    </dgm:pt>
    <dgm:pt modelId="{D4997028-2658-4085-AB43-3F69F6AD25AF}" type="sibTrans" cxnId="{BFDCB6E2-741B-4936-ACA6-983E2AEF96F9}">
      <dgm:prSet/>
      <dgm:spPr/>
      <dgm:t>
        <a:bodyPr/>
        <a:lstStyle/>
        <a:p>
          <a:endParaRPr lang="en-US"/>
        </a:p>
      </dgm:t>
    </dgm:pt>
    <dgm:pt modelId="{0D7D23A3-D6C8-4309-8FF9-D26ECD0C5655}">
      <dgm:prSet/>
      <dgm:spPr/>
      <dgm:t>
        <a:bodyPr/>
        <a:lstStyle/>
        <a:p>
          <a:r>
            <a:rPr lang="en-US" b="1"/>
            <a:t>Verification:</a:t>
          </a:r>
          <a:endParaRPr lang="en-US"/>
        </a:p>
      </dgm:t>
    </dgm:pt>
    <dgm:pt modelId="{F1405BD7-B6AC-4900-960A-602656C9EC68}" type="parTrans" cxnId="{FD0C4085-975A-4ABE-957A-6D4499C77717}">
      <dgm:prSet/>
      <dgm:spPr/>
      <dgm:t>
        <a:bodyPr/>
        <a:lstStyle/>
        <a:p>
          <a:endParaRPr lang="en-US"/>
        </a:p>
      </dgm:t>
    </dgm:pt>
    <dgm:pt modelId="{E7BE6815-DEAA-4BE1-856D-4AE3457F15B9}" type="sibTrans" cxnId="{FD0C4085-975A-4ABE-957A-6D4499C77717}">
      <dgm:prSet/>
      <dgm:spPr/>
      <dgm:t>
        <a:bodyPr/>
        <a:lstStyle/>
        <a:p>
          <a:endParaRPr lang="en-US"/>
        </a:p>
      </dgm:t>
    </dgm:pt>
    <dgm:pt modelId="{5C467053-67F3-4C11-B6BF-EB8FC109DC34}">
      <dgm:prSet/>
      <dgm:spPr/>
      <dgm:t>
        <a:bodyPr/>
        <a:lstStyle/>
        <a:p>
          <a:r>
            <a:rPr lang="en-US" dirty="0"/>
            <a:t>Because we know which chunks we sent, </a:t>
          </a:r>
          <a:r>
            <a:rPr lang="en-US" dirty="0">
              <a:highlight>
                <a:srgbClr val="FFFF00"/>
              </a:highlight>
            </a:rPr>
            <a:t>we can force citations</a:t>
          </a:r>
          <a:r>
            <a:rPr lang="en-US" dirty="0"/>
            <a:t>.</a:t>
          </a:r>
        </a:p>
      </dgm:t>
    </dgm:pt>
    <dgm:pt modelId="{F8C80D6C-06D3-44B2-993A-41F972D614B6}" type="parTrans" cxnId="{BD0825E7-159B-42C8-BB62-F37E077A9DC4}">
      <dgm:prSet/>
      <dgm:spPr/>
      <dgm:t>
        <a:bodyPr/>
        <a:lstStyle/>
        <a:p>
          <a:endParaRPr lang="en-US"/>
        </a:p>
      </dgm:t>
    </dgm:pt>
    <dgm:pt modelId="{E4A519D7-A5D8-4694-B635-45586F951FE1}" type="sibTrans" cxnId="{BD0825E7-159B-42C8-BB62-F37E077A9DC4}">
      <dgm:prSet/>
      <dgm:spPr/>
      <dgm:t>
        <a:bodyPr/>
        <a:lstStyle/>
        <a:p>
          <a:endParaRPr lang="en-US"/>
        </a:p>
      </dgm:t>
    </dgm:pt>
    <dgm:pt modelId="{4F4DA62E-8F7D-4A41-BBB0-74C676516FE1}">
      <dgm:prSet/>
      <dgm:spPr/>
      <dgm:t>
        <a:bodyPr/>
        <a:lstStyle/>
        <a:p>
          <a:r>
            <a:rPr lang="en-US" b="1"/>
            <a:t>Example:</a:t>
          </a:r>
          <a:r>
            <a:rPr lang="en-US"/>
            <a:t> "Reset the servo by holding the red button (Source: Manual Pg 4)."</a:t>
          </a:r>
        </a:p>
      </dgm:t>
    </dgm:pt>
    <dgm:pt modelId="{E1B89F7E-74F2-42C3-B91A-FB360DEEE16F}" type="parTrans" cxnId="{08FA74DD-0FDD-46C8-BA81-2868F5EA40B7}">
      <dgm:prSet/>
      <dgm:spPr/>
      <dgm:t>
        <a:bodyPr/>
        <a:lstStyle/>
        <a:p>
          <a:endParaRPr lang="en-US"/>
        </a:p>
      </dgm:t>
    </dgm:pt>
    <dgm:pt modelId="{F87E57DE-82FE-45C7-BE12-189C07C08710}" type="sibTrans" cxnId="{08FA74DD-0FDD-46C8-BA81-2868F5EA40B7}">
      <dgm:prSet/>
      <dgm:spPr/>
      <dgm:t>
        <a:bodyPr/>
        <a:lstStyle/>
        <a:p>
          <a:endParaRPr lang="en-US"/>
        </a:p>
      </dgm:t>
    </dgm:pt>
    <dgm:pt modelId="{F35F54DB-0712-4769-B94F-07BDE2163894}" type="pres">
      <dgm:prSet presAssocID="{CF86B4D6-5B03-4F7A-B448-2298651342E2}" presName="linear" presStyleCnt="0">
        <dgm:presLayoutVars>
          <dgm:animLvl val="lvl"/>
          <dgm:resizeHandles val="exact"/>
        </dgm:presLayoutVars>
      </dgm:prSet>
      <dgm:spPr/>
    </dgm:pt>
    <dgm:pt modelId="{26EF8C78-0A06-45F6-87FD-6CE203F5666D}" type="pres">
      <dgm:prSet presAssocID="{C4F274EB-3184-4CDD-BD53-B2F42E80922E}" presName="parentText" presStyleLbl="node1" presStyleIdx="0" presStyleCnt="3">
        <dgm:presLayoutVars>
          <dgm:chMax val="0"/>
          <dgm:bulletEnabled val="1"/>
        </dgm:presLayoutVars>
      </dgm:prSet>
      <dgm:spPr/>
    </dgm:pt>
    <dgm:pt modelId="{716C2D6C-DAC8-47CC-A169-D7C5B5E205FA}" type="pres">
      <dgm:prSet presAssocID="{D4997028-2658-4085-AB43-3F69F6AD25AF}" presName="spacer" presStyleCnt="0"/>
      <dgm:spPr/>
    </dgm:pt>
    <dgm:pt modelId="{D6550658-12A1-4CB3-A811-2E8576149863}" type="pres">
      <dgm:prSet presAssocID="{0D7D23A3-D6C8-4309-8FF9-D26ECD0C5655}" presName="parentText" presStyleLbl="node1" presStyleIdx="1" presStyleCnt="3">
        <dgm:presLayoutVars>
          <dgm:chMax val="0"/>
          <dgm:bulletEnabled val="1"/>
        </dgm:presLayoutVars>
      </dgm:prSet>
      <dgm:spPr/>
    </dgm:pt>
    <dgm:pt modelId="{ABBDFE3D-21CB-4649-9DD3-11E8F463AFC4}" type="pres">
      <dgm:prSet presAssocID="{0D7D23A3-D6C8-4309-8FF9-D26ECD0C5655}" presName="childText" presStyleLbl="revTx" presStyleIdx="0" presStyleCnt="1">
        <dgm:presLayoutVars>
          <dgm:bulletEnabled val="1"/>
        </dgm:presLayoutVars>
      </dgm:prSet>
      <dgm:spPr/>
    </dgm:pt>
    <dgm:pt modelId="{F5CD6D17-8F58-43EA-AC70-AA225CB935DD}" type="pres">
      <dgm:prSet presAssocID="{4F4DA62E-8F7D-4A41-BBB0-74C676516FE1}" presName="parentText" presStyleLbl="node1" presStyleIdx="2" presStyleCnt="3">
        <dgm:presLayoutVars>
          <dgm:chMax val="0"/>
          <dgm:bulletEnabled val="1"/>
        </dgm:presLayoutVars>
      </dgm:prSet>
      <dgm:spPr/>
    </dgm:pt>
  </dgm:ptLst>
  <dgm:cxnLst>
    <dgm:cxn modelId="{04157C15-A46B-439B-9FCE-D8E9B312E8DD}" type="presOf" srcId="{0D7D23A3-D6C8-4309-8FF9-D26ECD0C5655}" destId="{D6550658-12A1-4CB3-A811-2E8576149863}" srcOrd="0" destOrd="0" presId="urn:microsoft.com/office/officeart/2005/8/layout/vList2"/>
    <dgm:cxn modelId="{1B6B3822-32BD-45DE-9858-B21542C92FE4}" type="presOf" srcId="{C4F274EB-3184-4CDD-BD53-B2F42E80922E}" destId="{26EF8C78-0A06-45F6-87FD-6CE203F5666D}" srcOrd="0" destOrd="0" presId="urn:microsoft.com/office/officeart/2005/8/layout/vList2"/>
    <dgm:cxn modelId="{96BCDE37-7728-4CD0-A509-2630AB7B6E89}" type="presOf" srcId="{4F4DA62E-8F7D-4A41-BBB0-74C676516FE1}" destId="{F5CD6D17-8F58-43EA-AC70-AA225CB935DD}" srcOrd="0" destOrd="0" presId="urn:microsoft.com/office/officeart/2005/8/layout/vList2"/>
    <dgm:cxn modelId="{5D5C7E46-5755-42E3-AEAD-F54E5E4CE2F3}" type="presOf" srcId="{CF86B4D6-5B03-4F7A-B448-2298651342E2}" destId="{F35F54DB-0712-4769-B94F-07BDE2163894}" srcOrd="0" destOrd="0" presId="urn:microsoft.com/office/officeart/2005/8/layout/vList2"/>
    <dgm:cxn modelId="{FD0C4085-975A-4ABE-957A-6D4499C77717}" srcId="{CF86B4D6-5B03-4F7A-B448-2298651342E2}" destId="{0D7D23A3-D6C8-4309-8FF9-D26ECD0C5655}" srcOrd="1" destOrd="0" parTransId="{F1405BD7-B6AC-4900-960A-602656C9EC68}" sibTransId="{E7BE6815-DEAA-4BE1-856D-4AE3457F15B9}"/>
    <dgm:cxn modelId="{2614E4A9-01FE-4F63-A45B-9F6D6D5C965B}" type="presOf" srcId="{5C467053-67F3-4C11-B6BF-EB8FC109DC34}" destId="{ABBDFE3D-21CB-4649-9DD3-11E8F463AFC4}" srcOrd="0" destOrd="0" presId="urn:microsoft.com/office/officeart/2005/8/layout/vList2"/>
    <dgm:cxn modelId="{08FA74DD-0FDD-46C8-BA81-2868F5EA40B7}" srcId="{CF86B4D6-5B03-4F7A-B448-2298651342E2}" destId="{4F4DA62E-8F7D-4A41-BBB0-74C676516FE1}" srcOrd="2" destOrd="0" parTransId="{E1B89F7E-74F2-42C3-B91A-FB360DEEE16F}" sibTransId="{F87E57DE-82FE-45C7-BE12-189C07C08710}"/>
    <dgm:cxn modelId="{BFDCB6E2-741B-4936-ACA6-983E2AEF96F9}" srcId="{CF86B4D6-5B03-4F7A-B448-2298651342E2}" destId="{C4F274EB-3184-4CDD-BD53-B2F42E80922E}" srcOrd="0" destOrd="0" parTransId="{95D23AFD-BBFB-42CD-8E25-8CDB8E2DDBFB}" sibTransId="{D4997028-2658-4085-AB43-3F69F6AD25AF}"/>
    <dgm:cxn modelId="{BD0825E7-159B-42C8-BB62-F37E077A9DC4}" srcId="{0D7D23A3-D6C8-4309-8FF9-D26ECD0C5655}" destId="{5C467053-67F3-4C11-B6BF-EB8FC109DC34}" srcOrd="0" destOrd="0" parTransId="{F8C80D6C-06D3-44B2-993A-41F972D614B6}" sibTransId="{E4A519D7-A5D8-4694-B635-45586F951FE1}"/>
    <dgm:cxn modelId="{10C58F80-37E2-4B61-AC3E-2F20C0BDE6AA}" type="presParOf" srcId="{F35F54DB-0712-4769-B94F-07BDE2163894}" destId="{26EF8C78-0A06-45F6-87FD-6CE203F5666D}" srcOrd="0" destOrd="0" presId="urn:microsoft.com/office/officeart/2005/8/layout/vList2"/>
    <dgm:cxn modelId="{31FD6572-8E88-437D-B6A0-BA0BDEB24AB6}" type="presParOf" srcId="{F35F54DB-0712-4769-B94F-07BDE2163894}" destId="{716C2D6C-DAC8-47CC-A169-D7C5B5E205FA}" srcOrd="1" destOrd="0" presId="urn:microsoft.com/office/officeart/2005/8/layout/vList2"/>
    <dgm:cxn modelId="{93447B9B-DE74-47D1-AF27-4262CEA7DA3F}" type="presParOf" srcId="{F35F54DB-0712-4769-B94F-07BDE2163894}" destId="{D6550658-12A1-4CB3-A811-2E8576149863}" srcOrd="2" destOrd="0" presId="urn:microsoft.com/office/officeart/2005/8/layout/vList2"/>
    <dgm:cxn modelId="{1FAD9760-B59C-4CF7-AEE8-522D0259A988}" type="presParOf" srcId="{F35F54DB-0712-4769-B94F-07BDE2163894}" destId="{ABBDFE3D-21CB-4649-9DD3-11E8F463AFC4}" srcOrd="3" destOrd="0" presId="urn:microsoft.com/office/officeart/2005/8/layout/vList2"/>
    <dgm:cxn modelId="{A01E2978-6113-4616-9989-D1767C49B8BD}" type="presParOf" srcId="{F35F54DB-0712-4769-B94F-07BDE2163894}" destId="{F5CD6D17-8F58-43EA-AC70-AA225CB935DD}"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EAD2FB3-A3F1-4C3B-834C-E95A3FD3667A}"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D0FA52EB-D3BA-4240-8B0A-2706C778E5BB}">
      <dgm:prSet/>
      <dgm:spPr/>
      <dgm:t>
        <a:bodyPr/>
        <a:lstStyle/>
        <a:p>
          <a:r>
            <a:rPr lang="en-US" b="1"/>
            <a:t>Hybrid Search:</a:t>
          </a:r>
          <a:endParaRPr lang="en-US"/>
        </a:p>
      </dgm:t>
    </dgm:pt>
    <dgm:pt modelId="{EC0FEA13-4A9A-4731-864D-11000D0BEBEB}" type="parTrans" cxnId="{843FF41E-09CA-40F6-83B5-4E269367DC97}">
      <dgm:prSet/>
      <dgm:spPr/>
      <dgm:t>
        <a:bodyPr/>
        <a:lstStyle/>
        <a:p>
          <a:endParaRPr lang="en-US"/>
        </a:p>
      </dgm:t>
    </dgm:pt>
    <dgm:pt modelId="{8927B3CF-9CB5-4E4B-A35A-10E3EF88CF66}" type="sibTrans" cxnId="{843FF41E-09CA-40F6-83B5-4E269367DC97}">
      <dgm:prSet/>
      <dgm:spPr/>
      <dgm:t>
        <a:bodyPr/>
        <a:lstStyle/>
        <a:p>
          <a:endParaRPr lang="en-US"/>
        </a:p>
      </dgm:t>
    </dgm:pt>
    <dgm:pt modelId="{E0F6E0DD-AA24-4818-A034-FACEDF156748}">
      <dgm:prSet/>
      <dgm:spPr/>
      <dgm:t>
        <a:bodyPr/>
        <a:lstStyle/>
        <a:p>
          <a:r>
            <a:rPr lang="en-US"/>
            <a:t>Vectors are bad at exact part numbers ("#XJ-9"). Keywords (BM25) are good.</a:t>
          </a:r>
        </a:p>
      </dgm:t>
    </dgm:pt>
    <dgm:pt modelId="{B5A89B7B-6812-46C9-88A4-7A36926B8AA3}" type="parTrans" cxnId="{F4944C51-7289-4316-82B0-B093ED9C2C67}">
      <dgm:prSet/>
      <dgm:spPr/>
      <dgm:t>
        <a:bodyPr/>
        <a:lstStyle/>
        <a:p>
          <a:endParaRPr lang="en-US"/>
        </a:p>
      </dgm:t>
    </dgm:pt>
    <dgm:pt modelId="{E6A07B79-3E08-496E-8AA9-BD157547474D}" type="sibTrans" cxnId="{F4944C51-7289-4316-82B0-B093ED9C2C67}">
      <dgm:prSet/>
      <dgm:spPr/>
      <dgm:t>
        <a:bodyPr/>
        <a:lstStyle/>
        <a:p>
          <a:endParaRPr lang="en-US"/>
        </a:p>
      </dgm:t>
    </dgm:pt>
    <dgm:pt modelId="{6AB87698-5A09-4ECA-A3A0-1AD7EBAF1CEC}">
      <dgm:prSet/>
      <dgm:spPr/>
      <dgm:t>
        <a:bodyPr/>
        <a:lstStyle/>
        <a:p>
          <a:r>
            <a:rPr lang="en-US"/>
            <a:t>Hybrid RAG combines both.</a:t>
          </a:r>
        </a:p>
      </dgm:t>
    </dgm:pt>
    <dgm:pt modelId="{9C83C6C5-6D2A-4273-8434-BD9D2AE7FC72}" type="parTrans" cxnId="{8A337F8A-332A-4544-B2B7-F7488ECC5BDA}">
      <dgm:prSet/>
      <dgm:spPr/>
      <dgm:t>
        <a:bodyPr/>
        <a:lstStyle/>
        <a:p>
          <a:endParaRPr lang="en-US"/>
        </a:p>
      </dgm:t>
    </dgm:pt>
    <dgm:pt modelId="{38E4E58C-8DF1-4F43-89D7-353F2113ED53}" type="sibTrans" cxnId="{8A337F8A-332A-4544-B2B7-F7488ECC5BDA}">
      <dgm:prSet/>
      <dgm:spPr/>
      <dgm:t>
        <a:bodyPr/>
        <a:lstStyle/>
        <a:p>
          <a:endParaRPr lang="en-US"/>
        </a:p>
      </dgm:t>
    </dgm:pt>
    <dgm:pt modelId="{8F2BD78E-DBA0-450D-AA62-FE68484195D4}">
      <dgm:prSet/>
      <dgm:spPr/>
      <dgm:t>
        <a:bodyPr/>
        <a:lstStyle/>
        <a:p>
          <a:r>
            <a:rPr lang="en-US" b="1"/>
            <a:t>Re-Ranking (Cross-Encoders):</a:t>
          </a:r>
          <a:endParaRPr lang="en-US"/>
        </a:p>
      </dgm:t>
    </dgm:pt>
    <dgm:pt modelId="{CF65D708-AEA8-44B1-B4C5-D26B4F651F09}" type="parTrans" cxnId="{88C609CF-4A2B-4761-AD35-0310B5A72E15}">
      <dgm:prSet/>
      <dgm:spPr/>
      <dgm:t>
        <a:bodyPr/>
        <a:lstStyle/>
        <a:p>
          <a:endParaRPr lang="en-US"/>
        </a:p>
      </dgm:t>
    </dgm:pt>
    <dgm:pt modelId="{34138761-8F4C-455E-933F-9EB3ABED8A69}" type="sibTrans" cxnId="{88C609CF-4A2B-4761-AD35-0310B5A72E15}">
      <dgm:prSet/>
      <dgm:spPr/>
      <dgm:t>
        <a:bodyPr/>
        <a:lstStyle/>
        <a:p>
          <a:endParaRPr lang="en-US"/>
        </a:p>
      </dgm:t>
    </dgm:pt>
    <dgm:pt modelId="{5BA15A0E-5ED8-40CF-8C39-0D590663FA66}">
      <dgm:prSet/>
      <dgm:spPr/>
      <dgm:t>
        <a:bodyPr/>
        <a:lstStyle/>
        <a:p>
          <a:r>
            <a:rPr lang="en-US"/>
            <a:t>1. Retrieve 50 documents (fast).</a:t>
          </a:r>
        </a:p>
      </dgm:t>
    </dgm:pt>
    <dgm:pt modelId="{BB7FE9B5-CE7A-4B77-BDCA-F655D25BF587}" type="parTrans" cxnId="{2ED2E0D0-B6C8-4F05-A973-FDAE959A2567}">
      <dgm:prSet/>
      <dgm:spPr/>
      <dgm:t>
        <a:bodyPr/>
        <a:lstStyle/>
        <a:p>
          <a:endParaRPr lang="en-US"/>
        </a:p>
      </dgm:t>
    </dgm:pt>
    <dgm:pt modelId="{93508D09-383B-4740-BD70-FDFCD630F42D}" type="sibTrans" cxnId="{2ED2E0D0-B6C8-4F05-A973-FDAE959A2567}">
      <dgm:prSet/>
      <dgm:spPr/>
      <dgm:t>
        <a:bodyPr/>
        <a:lstStyle/>
        <a:p>
          <a:endParaRPr lang="en-US"/>
        </a:p>
      </dgm:t>
    </dgm:pt>
    <dgm:pt modelId="{5C2C567E-30E4-49B3-B09A-91937E491CAF}">
      <dgm:prSet/>
      <dgm:spPr/>
      <dgm:t>
        <a:bodyPr/>
        <a:lstStyle/>
        <a:p>
          <a:r>
            <a:rPr lang="en-US"/>
            <a:t>2. Use "Re-ranker" model to score against query.</a:t>
          </a:r>
        </a:p>
      </dgm:t>
    </dgm:pt>
    <dgm:pt modelId="{62B2447F-ADD7-4ACF-A086-35D1134AAFC9}" type="parTrans" cxnId="{16EA0080-756B-48D3-AFA0-9249CF432893}">
      <dgm:prSet/>
      <dgm:spPr/>
      <dgm:t>
        <a:bodyPr/>
        <a:lstStyle/>
        <a:p>
          <a:endParaRPr lang="en-US"/>
        </a:p>
      </dgm:t>
    </dgm:pt>
    <dgm:pt modelId="{3318A45F-10BB-4A19-9A95-78D3FA5A2229}" type="sibTrans" cxnId="{16EA0080-756B-48D3-AFA0-9249CF432893}">
      <dgm:prSet/>
      <dgm:spPr/>
      <dgm:t>
        <a:bodyPr/>
        <a:lstStyle/>
        <a:p>
          <a:endParaRPr lang="en-US"/>
        </a:p>
      </dgm:t>
    </dgm:pt>
    <dgm:pt modelId="{D9B5989B-E07A-4201-8A2C-F5D03D7538BF}">
      <dgm:prSet/>
      <dgm:spPr/>
      <dgm:t>
        <a:bodyPr/>
        <a:lstStyle/>
        <a:p>
          <a:r>
            <a:rPr lang="en-US"/>
            <a:t>3. Send top 5 to LLM. (Significantly boosts accuracy).</a:t>
          </a:r>
        </a:p>
      </dgm:t>
    </dgm:pt>
    <dgm:pt modelId="{B81BB1D7-B4B1-4BD7-8E65-67E7FCEB3EC2}" type="parTrans" cxnId="{04CFABA6-52EB-4842-86FB-801EA57F8A02}">
      <dgm:prSet/>
      <dgm:spPr/>
      <dgm:t>
        <a:bodyPr/>
        <a:lstStyle/>
        <a:p>
          <a:endParaRPr lang="en-US"/>
        </a:p>
      </dgm:t>
    </dgm:pt>
    <dgm:pt modelId="{105BE46B-3B12-47C6-9FA0-92C6835A6219}" type="sibTrans" cxnId="{04CFABA6-52EB-4842-86FB-801EA57F8A02}">
      <dgm:prSet/>
      <dgm:spPr/>
      <dgm:t>
        <a:bodyPr/>
        <a:lstStyle/>
        <a:p>
          <a:endParaRPr lang="en-US"/>
        </a:p>
      </dgm:t>
    </dgm:pt>
    <dgm:pt modelId="{078A0153-86BE-4FF7-8A30-8BD5050D3BAA}" type="pres">
      <dgm:prSet presAssocID="{6EAD2FB3-A3F1-4C3B-834C-E95A3FD3667A}" presName="linear" presStyleCnt="0">
        <dgm:presLayoutVars>
          <dgm:dir/>
          <dgm:animLvl val="lvl"/>
          <dgm:resizeHandles val="exact"/>
        </dgm:presLayoutVars>
      </dgm:prSet>
      <dgm:spPr/>
    </dgm:pt>
    <dgm:pt modelId="{E4EB07A5-EFD2-4189-A16E-B9CCBFF5CA31}" type="pres">
      <dgm:prSet presAssocID="{D0FA52EB-D3BA-4240-8B0A-2706C778E5BB}" presName="parentLin" presStyleCnt="0"/>
      <dgm:spPr/>
    </dgm:pt>
    <dgm:pt modelId="{A47FFAA4-86BF-4882-B77B-ABED875E0964}" type="pres">
      <dgm:prSet presAssocID="{D0FA52EB-D3BA-4240-8B0A-2706C778E5BB}" presName="parentLeftMargin" presStyleLbl="node1" presStyleIdx="0" presStyleCnt="2"/>
      <dgm:spPr/>
    </dgm:pt>
    <dgm:pt modelId="{1D8F5F13-FC47-463E-A414-05AC889FBDD7}" type="pres">
      <dgm:prSet presAssocID="{D0FA52EB-D3BA-4240-8B0A-2706C778E5BB}" presName="parentText" presStyleLbl="node1" presStyleIdx="0" presStyleCnt="2">
        <dgm:presLayoutVars>
          <dgm:chMax val="0"/>
          <dgm:bulletEnabled val="1"/>
        </dgm:presLayoutVars>
      </dgm:prSet>
      <dgm:spPr/>
    </dgm:pt>
    <dgm:pt modelId="{A8985CB1-7634-4C46-891B-1768EA22DEE8}" type="pres">
      <dgm:prSet presAssocID="{D0FA52EB-D3BA-4240-8B0A-2706C778E5BB}" presName="negativeSpace" presStyleCnt="0"/>
      <dgm:spPr/>
    </dgm:pt>
    <dgm:pt modelId="{CC244E5A-C6A9-4B55-8B16-6579C4E2B5AA}" type="pres">
      <dgm:prSet presAssocID="{D0FA52EB-D3BA-4240-8B0A-2706C778E5BB}" presName="childText" presStyleLbl="conFgAcc1" presStyleIdx="0" presStyleCnt="2">
        <dgm:presLayoutVars>
          <dgm:bulletEnabled val="1"/>
        </dgm:presLayoutVars>
      </dgm:prSet>
      <dgm:spPr/>
    </dgm:pt>
    <dgm:pt modelId="{2C2D671E-D185-452B-B792-337D7C7D208E}" type="pres">
      <dgm:prSet presAssocID="{8927B3CF-9CB5-4E4B-A35A-10E3EF88CF66}" presName="spaceBetweenRectangles" presStyleCnt="0"/>
      <dgm:spPr/>
    </dgm:pt>
    <dgm:pt modelId="{4565B368-2FC5-41A6-A979-319F87439829}" type="pres">
      <dgm:prSet presAssocID="{8F2BD78E-DBA0-450D-AA62-FE68484195D4}" presName="parentLin" presStyleCnt="0"/>
      <dgm:spPr/>
    </dgm:pt>
    <dgm:pt modelId="{F236AC0A-4822-4B02-B821-D7E02E47416F}" type="pres">
      <dgm:prSet presAssocID="{8F2BD78E-DBA0-450D-AA62-FE68484195D4}" presName="parentLeftMargin" presStyleLbl="node1" presStyleIdx="0" presStyleCnt="2"/>
      <dgm:spPr/>
    </dgm:pt>
    <dgm:pt modelId="{C74DA242-3CF1-46B5-A8B5-3778B7428BB5}" type="pres">
      <dgm:prSet presAssocID="{8F2BD78E-DBA0-450D-AA62-FE68484195D4}" presName="parentText" presStyleLbl="node1" presStyleIdx="1" presStyleCnt="2">
        <dgm:presLayoutVars>
          <dgm:chMax val="0"/>
          <dgm:bulletEnabled val="1"/>
        </dgm:presLayoutVars>
      </dgm:prSet>
      <dgm:spPr/>
    </dgm:pt>
    <dgm:pt modelId="{611858A0-13C8-4422-81D6-58B3180C1322}" type="pres">
      <dgm:prSet presAssocID="{8F2BD78E-DBA0-450D-AA62-FE68484195D4}" presName="negativeSpace" presStyleCnt="0"/>
      <dgm:spPr/>
    </dgm:pt>
    <dgm:pt modelId="{395B8822-5E55-4780-8EDE-D8F15C684093}" type="pres">
      <dgm:prSet presAssocID="{8F2BD78E-DBA0-450D-AA62-FE68484195D4}" presName="childText" presStyleLbl="conFgAcc1" presStyleIdx="1" presStyleCnt="2">
        <dgm:presLayoutVars>
          <dgm:bulletEnabled val="1"/>
        </dgm:presLayoutVars>
      </dgm:prSet>
      <dgm:spPr/>
    </dgm:pt>
  </dgm:ptLst>
  <dgm:cxnLst>
    <dgm:cxn modelId="{95CBD116-D45F-4391-9139-E611BF773C77}" type="presOf" srcId="{6EAD2FB3-A3F1-4C3B-834C-E95A3FD3667A}" destId="{078A0153-86BE-4FF7-8A30-8BD5050D3BAA}" srcOrd="0" destOrd="0" presId="urn:microsoft.com/office/officeart/2005/8/layout/list1"/>
    <dgm:cxn modelId="{843FF41E-09CA-40F6-83B5-4E269367DC97}" srcId="{6EAD2FB3-A3F1-4C3B-834C-E95A3FD3667A}" destId="{D0FA52EB-D3BA-4240-8B0A-2706C778E5BB}" srcOrd="0" destOrd="0" parTransId="{EC0FEA13-4A9A-4731-864D-11000D0BEBEB}" sibTransId="{8927B3CF-9CB5-4E4B-A35A-10E3EF88CF66}"/>
    <dgm:cxn modelId="{1AE8175F-7C39-438F-AF0F-0CC1102D2221}" type="presOf" srcId="{8F2BD78E-DBA0-450D-AA62-FE68484195D4}" destId="{F236AC0A-4822-4B02-B821-D7E02E47416F}" srcOrd="0" destOrd="0" presId="urn:microsoft.com/office/officeart/2005/8/layout/list1"/>
    <dgm:cxn modelId="{CFA1CF6A-48FB-4DD7-83EB-FD1C8206397C}" type="presOf" srcId="{5BA15A0E-5ED8-40CF-8C39-0D590663FA66}" destId="{395B8822-5E55-4780-8EDE-D8F15C684093}" srcOrd="0" destOrd="0" presId="urn:microsoft.com/office/officeart/2005/8/layout/list1"/>
    <dgm:cxn modelId="{F4944C51-7289-4316-82B0-B093ED9C2C67}" srcId="{D0FA52EB-D3BA-4240-8B0A-2706C778E5BB}" destId="{E0F6E0DD-AA24-4818-A034-FACEDF156748}" srcOrd="0" destOrd="0" parTransId="{B5A89B7B-6812-46C9-88A4-7A36926B8AA3}" sibTransId="{E6A07B79-3E08-496E-8AA9-BD157547474D}"/>
    <dgm:cxn modelId="{CEDA4472-EA70-421D-BB73-F35624FED859}" type="presOf" srcId="{5C2C567E-30E4-49B3-B09A-91937E491CAF}" destId="{395B8822-5E55-4780-8EDE-D8F15C684093}" srcOrd="0" destOrd="1" presId="urn:microsoft.com/office/officeart/2005/8/layout/list1"/>
    <dgm:cxn modelId="{3BA26753-7823-4085-A784-44D16BBF403C}" type="presOf" srcId="{D0FA52EB-D3BA-4240-8B0A-2706C778E5BB}" destId="{1D8F5F13-FC47-463E-A414-05AC889FBDD7}" srcOrd="1" destOrd="0" presId="urn:microsoft.com/office/officeart/2005/8/layout/list1"/>
    <dgm:cxn modelId="{14C9F65A-E92F-4F53-9CD1-97F38479A0BC}" type="presOf" srcId="{D0FA52EB-D3BA-4240-8B0A-2706C778E5BB}" destId="{A47FFAA4-86BF-4882-B77B-ABED875E0964}" srcOrd="0" destOrd="0" presId="urn:microsoft.com/office/officeart/2005/8/layout/list1"/>
    <dgm:cxn modelId="{16EA0080-756B-48D3-AFA0-9249CF432893}" srcId="{8F2BD78E-DBA0-450D-AA62-FE68484195D4}" destId="{5C2C567E-30E4-49B3-B09A-91937E491CAF}" srcOrd="1" destOrd="0" parTransId="{62B2447F-ADD7-4ACF-A086-35D1134AAFC9}" sibTransId="{3318A45F-10BB-4A19-9A95-78D3FA5A2229}"/>
    <dgm:cxn modelId="{6943AA82-0180-40FF-A7FD-55EF428F9FA2}" type="presOf" srcId="{D9B5989B-E07A-4201-8A2C-F5D03D7538BF}" destId="{395B8822-5E55-4780-8EDE-D8F15C684093}" srcOrd="0" destOrd="2" presId="urn:microsoft.com/office/officeart/2005/8/layout/list1"/>
    <dgm:cxn modelId="{8A337F8A-332A-4544-B2B7-F7488ECC5BDA}" srcId="{D0FA52EB-D3BA-4240-8B0A-2706C778E5BB}" destId="{6AB87698-5A09-4ECA-A3A0-1AD7EBAF1CEC}" srcOrd="1" destOrd="0" parTransId="{9C83C6C5-6D2A-4273-8434-BD9D2AE7FC72}" sibTransId="{38E4E58C-8DF1-4F43-89D7-353F2113ED53}"/>
    <dgm:cxn modelId="{6E4A50A0-B202-43FF-8D18-D8B754EA4D6E}" type="presOf" srcId="{E0F6E0DD-AA24-4818-A034-FACEDF156748}" destId="{CC244E5A-C6A9-4B55-8B16-6579C4E2B5AA}" srcOrd="0" destOrd="0" presId="urn:microsoft.com/office/officeart/2005/8/layout/list1"/>
    <dgm:cxn modelId="{04CFABA6-52EB-4842-86FB-801EA57F8A02}" srcId="{8F2BD78E-DBA0-450D-AA62-FE68484195D4}" destId="{D9B5989B-E07A-4201-8A2C-F5D03D7538BF}" srcOrd="2" destOrd="0" parTransId="{B81BB1D7-B4B1-4BD7-8E65-67E7FCEB3EC2}" sibTransId="{105BE46B-3B12-47C6-9FA0-92C6835A6219}"/>
    <dgm:cxn modelId="{88C609CF-4A2B-4761-AD35-0310B5A72E15}" srcId="{6EAD2FB3-A3F1-4C3B-834C-E95A3FD3667A}" destId="{8F2BD78E-DBA0-450D-AA62-FE68484195D4}" srcOrd="1" destOrd="0" parTransId="{CF65D708-AEA8-44B1-B4C5-D26B4F651F09}" sibTransId="{34138761-8F4C-455E-933F-9EB3ABED8A69}"/>
    <dgm:cxn modelId="{2ED2E0D0-B6C8-4F05-A973-FDAE959A2567}" srcId="{8F2BD78E-DBA0-450D-AA62-FE68484195D4}" destId="{5BA15A0E-5ED8-40CF-8C39-0D590663FA66}" srcOrd="0" destOrd="0" parTransId="{BB7FE9B5-CE7A-4B77-BDCA-F655D25BF587}" sibTransId="{93508D09-383B-4740-BD70-FDFCD630F42D}"/>
    <dgm:cxn modelId="{75034EE1-7A93-45E7-A129-E23DC3CA2F16}" type="presOf" srcId="{8F2BD78E-DBA0-450D-AA62-FE68484195D4}" destId="{C74DA242-3CF1-46B5-A8B5-3778B7428BB5}" srcOrd="1" destOrd="0" presId="urn:microsoft.com/office/officeart/2005/8/layout/list1"/>
    <dgm:cxn modelId="{374802F2-79FC-4F95-AEFC-42BE2ABEFCF3}" type="presOf" srcId="{6AB87698-5A09-4ECA-A3A0-1AD7EBAF1CEC}" destId="{CC244E5A-C6A9-4B55-8B16-6579C4E2B5AA}" srcOrd="0" destOrd="1" presId="urn:microsoft.com/office/officeart/2005/8/layout/list1"/>
    <dgm:cxn modelId="{4FE4216C-3021-4664-81F7-423C2834F3F0}" type="presParOf" srcId="{078A0153-86BE-4FF7-8A30-8BD5050D3BAA}" destId="{E4EB07A5-EFD2-4189-A16E-B9CCBFF5CA31}" srcOrd="0" destOrd="0" presId="urn:microsoft.com/office/officeart/2005/8/layout/list1"/>
    <dgm:cxn modelId="{4E44817A-9A56-46C8-BF8F-8F0ECF7B47A5}" type="presParOf" srcId="{E4EB07A5-EFD2-4189-A16E-B9CCBFF5CA31}" destId="{A47FFAA4-86BF-4882-B77B-ABED875E0964}" srcOrd="0" destOrd="0" presId="urn:microsoft.com/office/officeart/2005/8/layout/list1"/>
    <dgm:cxn modelId="{6DAC3DDE-B491-4FB8-BDAA-9F34E524E87A}" type="presParOf" srcId="{E4EB07A5-EFD2-4189-A16E-B9CCBFF5CA31}" destId="{1D8F5F13-FC47-463E-A414-05AC889FBDD7}" srcOrd="1" destOrd="0" presId="urn:microsoft.com/office/officeart/2005/8/layout/list1"/>
    <dgm:cxn modelId="{9936D73F-C9B2-46B6-A6F6-0230E9B26346}" type="presParOf" srcId="{078A0153-86BE-4FF7-8A30-8BD5050D3BAA}" destId="{A8985CB1-7634-4C46-891B-1768EA22DEE8}" srcOrd="1" destOrd="0" presId="urn:microsoft.com/office/officeart/2005/8/layout/list1"/>
    <dgm:cxn modelId="{9A17098F-3285-47E3-AB7A-40058CACBFEA}" type="presParOf" srcId="{078A0153-86BE-4FF7-8A30-8BD5050D3BAA}" destId="{CC244E5A-C6A9-4B55-8B16-6579C4E2B5AA}" srcOrd="2" destOrd="0" presId="urn:microsoft.com/office/officeart/2005/8/layout/list1"/>
    <dgm:cxn modelId="{64F832F1-1D06-48A4-B679-4EF021473073}" type="presParOf" srcId="{078A0153-86BE-4FF7-8A30-8BD5050D3BAA}" destId="{2C2D671E-D185-452B-B792-337D7C7D208E}" srcOrd="3" destOrd="0" presId="urn:microsoft.com/office/officeart/2005/8/layout/list1"/>
    <dgm:cxn modelId="{D505B0B2-1451-4008-B37E-4C2A65EAF5E3}" type="presParOf" srcId="{078A0153-86BE-4FF7-8A30-8BD5050D3BAA}" destId="{4565B368-2FC5-41A6-A979-319F87439829}" srcOrd="4" destOrd="0" presId="urn:microsoft.com/office/officeart/2005/8/layout/list1"/>
    <dgm:cxn modelId="{FEE4AD24-74D7-45F0-B17A-B25A089C6F73}" type="presParOf" srcId="{4565B368-2FC5-41A6-A979-319F87439829}" destId="{F236AC0A-4822-4B02-B821-D7E02E47416F}" srcOrd="0" destOrd="0" presId="urn:microsoft.com/office/officeart/2005/8/layout/list1"/>
    <dgm:cxn modelId="{180580FF-A2C7-484E-A591-9FEA4639CF0E}" type="presParOf" srcId="{4565B368-2FC5-41A6-A979-319F87439829}" destId="{C74DA242-3CF1-46B5-A8B5-3778B7428BB5}" srcOrd="1" destOrd="0" presId="urn:microsoft.com/office/officeart/2005/8/layout/list1"/>
    <dgm:cxn modelId="{1B9E261C-AD4D-4EE5-95EE-F121957E4CCD}" type="presParOf" srcId="{078A0153-86BE-4FF7-8A30-8BD5050D3BAA}" destId="{611858A0-13C8-4422-81D6-58B3180C1322}" srcOrd="5" destOrd="0" presId="urn:microsoft.com/office/officeart/2005/8/layout/list1"/>
    <dgm:cxn modelId="{A7F4771C-A333-40B0-A9B9-24D69F79B17B}" type="presParOf" srcId="{078A0153-86BE-4FF7-8A30-8BD5050D3BAA}" destId="{395B8822-5E55-4780-8EDE-D8F15C68409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904E2E9-4926-4189-A2F9-36E8BB7CFDD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15ABE8C-3AC6-4E78-98BC-2129FC6EF636}">
      <dgm:prSet/>
      <dgm:spPr/>
      <dgm:t>
        <a:bodyPr/>
        <a:lstStyle/>
        <a:p>
          <a:r>
            <a:rPr lang="en-US" b="1"/>
            <a:t>Goal:</a:t>
          </a:r>
          <a:r>
            <a:rPr lang="en-US"/>
            <a:t> Build a QA system for this course's syllabus.</a:t>
          </a:r>
        </a:p>
      </dgm:t>
    </dgm:pt>
    <dgm:pt modelId="{A9322B29-ED03-4E75-82AE-928298D079DD}" type="parTrans" cxnId="{12E170DD-0863-4198-8F48-E4A32628FA91}">
      <dgm:prSet/>
      <dgm:spPr/>
      <dgm:t>
        <a:bodyPr/>
        <a:lstStyle/>
        <a:p>
          <a:endParaRPr lang="en-US"/>
        </a:p>
      </dgm:t>
    </dgm:pt>
    <dgm:pt modelId="{B1F3F8C3-22F9-4045-BB36-DA60155E393A}" type="sibTrans" cxnId="{12E170DD-0863-4198-8F48-E4A32628FA91}">
      <dgm:prSet/>
      <dgm:spPr/>
      <dgm:t>
        <a:bodyPr/>
        <a:lstStyle/>
        <a:p>
          <a:endParaRPr lang="en-US"/>
        </a:p>
      </dgm:t>
    </dgm:pt>
    <dgm:pt modelId="{00E80E55-280D-44EB-9ECE-999F5C2C0636}">
      <dgm:prSet/>
      <dgm:spPr/>
      <dgm:t>
        <a:bodyPr/>
        <a:lstStyle/>
        <a:p>
          <a:r>
            <a:rPr lang="en-US" b="1"/>
            <a:t>The Stack: PIP Install relevant libraries</a:t>
          </a:r>
          <a:endParaRPr lang="en-US"/>
        </a:p>
      </dgm:t>
    </dgm:pt>
    <dgm:pt modelId="{49B1C026-6480-495B-8511-D01E231356B3}" type="parTrans" cxnId="{9FEAE6FB-E097-4401-9E12-028AA343FABF}">
      <dgm:prSet/>
      <dgm:spPr/>
      <dgm:t>
        <a:bodyPr/>
        <a:lstStyle/>
        <a:p>
          <a:endParaRPr lang="en-US"/>
        </a:p>
      </dgm:t>
    </dgm:pt>
    <dgm:pt modelId="{44DF756C-A9C1-4B11-9A04-B11768DF84A9}" type="sibTrans" cxnId="{9FEAE6FB-E097-4401-9E12-028AA343FABF}">
      <dgm:prSet/>
      <dgm:spPr/>
      <dgm:t>
        <a:bodyPr/>
        <a:lstStyle/>
        <a:p>
          <a:endParaRPr lang="en-US"/>
        </a:p>
      </dgm:t>
    </dgm:pt>
    <dgm:pt modelId="{78C81A20-38EA-4930-80CD-8F590514BEFD}">
      <dgm:prSet/>
      <dgm:spPr/>
      <dgm:t>
        <a:bodyPr/>
        <a:lstStyle/>
        <a:p>
          <a:r>
            <a:rPr lang="en-US" b="1"/>
            <a:t>Orchestrator:</a:t>
          </a:r>
          <a:r>
            <a:rPr lang="en-US"/>
            <a:t> Use your own framework or Lang Chain (The glue code).</a:t>
          </a:r>
        </a:p>
      </dgm:t>
    </dgm:pt>
    <dgm:pt modelId="{0E99A8E1-0DEA-4C85-9937-9FC914DFFFEE}" type="parTrans" cxnId="{3310BDCB-8C89-4E56-B26A-F90D869498C6}">
      <dgm:prSet/>
      <dgm:spPr/>
      <dgm:t>
        <a:bodyPr/>
        <a:lstStyle/>
        <a:p>
          <a:endParaRPr lang="en-US"/>
        </a:p>
      </dgm:t>
    </dgm:pt>
    <dgm:pt modelId="{A6DD0EEB-84C3-4ECC-81A0-E26398BC6351}" type="sibTrans" cxnId="{3310BDCB-8C89-4E56-B26A-F90D869498C6}">
      <dgm:prSet/>
      <dgm:spPr/>
      <dgm:t>
        <a:bodyPr/>
        <a:lstStyle/>
        <a:p>
          <a:endParaRPr lang="en-US"/>
        </a:p>
      </dgm:t>
    </dgm:pt>
    <dgm:pt modelId="{3F6313CA-58CB-4083-B8F8-08D1F7364941}">
      <dgm:prSet/>
      <dgm:spPr/>
      <dgm:t>
        <a:bodyPr/>
        <a:lstStyle/>
        <a:p>
          <a:r>
            <a:rPr lang="en-US" b="1"/>
            <a:t>Database:</a:t>
          </a:r>
          <a:r>
            <a:rPr lang="en-US"/>
            <a:t> Chroma DB (Local vector store).</a:t>
          </a:r>
        </a:p>
      </dgm:t>
    </dgm:pt>
    <dgm:pt modelId="{6078ACDB-5FC5-40CF-9A26-1195D4C6E77E}" type="parTrans" cxnId="{1A024FC6-9AAB-4825-B961-B43B51E5444C}">
      <dgm:prSet/>
      <dgm:spPr/>
      <dgm:t>
        <a:bodyPr/>
        <a:lstStyle/>
        <a:p>
          <a:endParaRPr lang="en-US"/>
        </a:p>
      </dgm:t>
    </dgm:pt>
    <dgm:pt modelId="{8773CAD3-4D22-4B83-80CB-4CAA205A8E66}" type="sibTrans" cxnId="{1A024FC6-9AAB-4825-B961-B43B51E5444C}">
      <dgm:prSet/>
      <dgm:spPr/>
      <dgm:t>
        <a:bodyPr/>
        <a:lstStyle/>
        <a:p>
          <a:endParaRPr lang="en-US"/>
        </a:p>
      </dgm:t>
    </dgm:pt>
    <dgm:pt modelId="{7AF0F656-4A61-4BC8-A641-B60568157B9E}">
      <dgm:prSet/>
      <dgm:spPr/>
      <dgm:t>
        <a:bodyPr/>
        <a:lstStyle/>
        <a:p>
          <a:r>
            <a:rPr lang="en-US" b="1"/>
            <a:t>Embeddings:</a:t>
          </a:r>
          <a:r>
            <a:rPr lang="en-US"/>
            <a:t> Huggingface (Free, local).</a:t>
          </a:r>
        </a:p>
      </dgm:t>
    </dgm:pt>
    <dgm:pt modelId="{9CCDD380-CFF4-4FFE-ADF8-665C7D2C70F8}" type="parTrans" cxnId="{2F17D4DF-1F2F-49AF-9E06-F1B8610A098F}">
      <dgm:prSet/>
      <dgm:spPr/>
      <dgm:t>
        <a:bodyPr/>
        <a:lstStyle/>
        <a:p>
          <a:endParaRPr lang="en-US"/>
        </a:p>
      </dgm:t>
    </dgm:pt>
    <dgm:pt modelId="{24E05360-C6B7-4092-A877-F250F4FF34A5}" type="sibTrans" cxnId="{2F17D4DF-1F2F-49AF-9E06-F1B8610A098F}">
      <dgm:prSet/>
      <dgm:spPr/>
      <dgm:t>
        <a:bodyPr/>
        <a:lstStyle/>
        <a:p>
          <a:endParaRPr lang="en-US"/>
        </a:p>
      </dgm:t>
    </dgm:pt>
    <dgm:pt modelId="{09BF242D-9377-4860-98BD-C1FB4AA0F073}">
      <dgm:prSet/>
      <dgm:spPr/>
      <dgm:t>
        <a:bodyPr/>
        <a:lstStyle/>
        <a:p>
          <a:r>
            <a:rPr lang="en-US" b="1"/>
            <a:t>LLM:</a:t>
          </a:r>
          <a:r>
            <a:rPr lang="en-US"/>
            <a:t> OpenAI API or Google Gemini API or local ollama or LM Studio.</a:t>
          </a:r>
        </a:p>
      </dgm:t>
    </dgm:pt>
    <dgm:pt modelId="{67AE839A-BD26-4DCE-8BAB-25626361FFC2}" type="parTrans" cxnId="{E2352B76-B366-4659-A88B-57BF2E8FA3F1}">
      <dgm:prSet/>
      <dgm:spPr/>
      <dgm:t>
        <a:bodyPr/>
        <a:lstStyle/>
        <a:p>
          <a:endParaRPr lang="en-US"/>
        </a:p>
      </dgm:t>
    </dgm:pt>
    <dgm:pt modelId="{5C704715-6C97-4ABF-ACE3-007F1CFD2064}" type="sibTrans" cxnId="{E2352B76-B366-4659-A88B-57BF2E8FA3F1}">
      <dgm:prSet/>
      <dgm:spPr/>
      <dgm:t>
        <a:bodyPr/>
        <a:lstStyle/>
        <a:p>
          <a:endParaRPr lang="en-US"/>
        </a:p>
      </dgm:t>
    </dgm:pt>
    <dgm:pt modelId="{B83B4303-AC9B-4D80-A8A6-BBC4A6DEEA0C}" type="pres">
      <dgm:prSet presAssocID="{C904E2E9-4926-4189-A2F9-36E8BB7CFDDA}" presName="linear" presStyleCnt="0">
        <dgm:presLayoutVars>
          <dgm:animLvl val="lvl"/>
          <dgm:resizeHandles val="exact"/>
        </dgm:presLayoutVars>
      </dgm:prSet>
      <dgm:spPr/>
    </dgm:pt>
    <dgm:pt modelId="{B4F8BC0D-EC41-4748-9BD6-07E68508C107}" type="pres">
      <dgm:prSet presAssocID="{315ABE8C-3AC6-4E78-98BC-2129FC6EF636}" presName="parentText" presStyleLbl="node1" presStyleIdx="0" presStyleCnt="3">
        <dgm:presLayoutVars>
          <dgm:chMax val="0"/>
          <dgm:bulletEnabled val="1"/>
        </dgm:presLayoutVars>
      </dgm:prSet>
      <dgm:spPr/>
    </dgm:pt>
    <dgm:pt modelId="{C18182BD-01C8-4059-953B-260F90C11EF7}" type="pres">
      <dgm:prSet presAssocID="{B1F3F8C3-22F9-4045-BB36-DA60155E393A}" presName="spacer" presStyleCnt="0"/>
      <dgm:spPr/>
    </dgm:pt>
    <dgm:pt modelId="{906B28A9-50F0-4DD3-8F7F-16E295824066}" type="pres">
      <dgm:prSet presAssocID="{00E80E55-280D-44EB-9ECE-999F5C2C0636}" presName="parentText" presStyleLbl="node1" presStyleIdx="1" presStyleCnt="3">
        <dgm:presLayoutVars>
          <dgm:chMax val="0"/>
          <dgm:bulletEnabled val="1"/>
        </dgm:presLayoutVars>
      </dgm:prSet>
      <dgm:spPr/>
    </dgm:pt>
    <dgm:pt modelId="{2327014C-B707-4764-953C-57A3FCE9C284}" type="pres">
      <dgm:prSet presAssocID="{00E80E55-280D-44EB-9ECE-999F5C2C0636}" presName="childText" presStyleLbl="revTx" presStyleIdx="0" presStyleCnt="1">
        <dgm:presLayoutVars>
          <dgm:bulletEnabled val="1"/>
        </dgm:presLayoutVars>
      </dgm:prSet>
      <dgm:spPr/>
    </dgm:pt>
    <dgm:pt modelId="{A1A6002F-3729-46FC-899F-03D4216A5DCA}" type="pres">
      <dgm:prSet presAssocID="{09BF242D-9377-4860-98BD-C1FB4AA0F073}" presName="parentText" presStyleLbl="node1" presStyleIdx="2" presStyleCnt="3">
        <dgm:presLayoutVars>
          <dgm:chMax val="0"/>
          <dgm:bulletEnabled val="1"/>
        </dgm:presLayoutVars>
      </dgm:prSet>
      <dgm:spPr/>
    </dgm:pt>
  </dgm:ptLst>
  <dgm:cxnLst>
    <dgm:cxn modelId="{45DEC621-2CA8-41BF-8479-EECE0D12C421}" type="presOf" srcId="{00E80E55-280D-44EB-9ECE-999F5C2C0636}" destId="{906B28A9-50F0-4DD3-8F7F-16E295824066}" srcOrd="0" destOrd="0" presId="urn:microsoft.com/office/officeart/2005/8/layout/vList2"/>
    <dgm:cxn modelId="{19EEA844-9FA0-4E18-8D48-8F02A22FBF77}" type="presOf" srcId="{78C81A20-38EA-4930-80CD-8F590514BEFD}" destId="{2327014C-B707-4764-953C-57A3FCE9C284}" srcOrd="0" destOrd="0" presId="urn:microsoft.com/office/officeart/2005/8/layout/vList2"/>
    <dgm:cxn modelId="{E2352B76-B366-4659-A88B-57BF2E8FA3F1}" srcId="{C904E2E9-4926-4189-A2F9-36E8BB7CFDDA}" destId="{09BF242D-9377-4860-98BD-C1FB4AA0F073}" srcOrd="2" destOrd="0" parTransId="{67AE839A-BD26-4DCE-8BAB-25626361FFC2}" sibTransId="{5C704715-6C97-4ABF-ACE3-007F1CFD2064}"/>
    <dgm:cxn modelId="{4DADB677-479E-47A6-BD79-B87825F7FB37}" type="presOf" srcId="{3F6313CA-58CB-4083-B8F8-08D1F7364941}" destId="{2327014C-B707-4764-953C-57A3FCE9C284}" srcOrd="0" destOrd="1" presId="urn:microsoft.com/office/officeart/2005/8/layout/vList2"/>
    <dgm:cxn modelId="{2E24107D-F820-4B23-ABAC-B3594A905874}" type="presOf" srcId="{7AF0F656-4A61-4BC8-A641-B60568157B9E}" destId="{2327014C-B707-4764-953C-57A3FCE9C284}" srcOrd="0" destOrd="2" presId="urn:microsoft.com/office/officeart/2005/8/layout/vList2"/>
    <dgm:cxn modelId="{FD0E8687-8A97-49B7-B702-075488643BBB}" type="presOf" srcId="{C904E2E9-4926-4189-A2F9-36E8BB7CFDDA}" destId="{B83B4303-AC9B-4D80-A8A6-BBC4A6DEEA0C}" srcOrd="0" destOrd="0" presId="urn:microsoft.com/office/officeart/2005/8/layout/vList2"/>
    <dgm:cxn modelId="{4F4DCFBB-2774-45F7-BD96-1280527E9DB4}" type="presOf" srcId="{09BF242D-9377-4860-98BD-C1FB4AA0F073}" destId="{A1A6002F-3729-46FC-899F-03D4216A5DCA}" srcOrd="0" destOrd="0" presId="urn:microsoft.com/office/officeart/2005/8/layout/vList2"/>
    <dgm:cxn modelId="{1A024FC6-9AAB-4825-B961-B43B51E5444C}" srcId="{00E80E55-280D-44EB-9ECE-999F5C2C0636}" destId="{3F6313CA-58CB-4083-B8F8-08D1F7364941}" srcOrd="1" destOrd="0" parTransId="{6078ACDB-5FC5-40CF-9A26-1195D4C6E77E}" sibTransId="{8773CAD3-4D22-4B83-80CB-4CAA205A8E66}"/>
    <dgm:cxn modelId="{23EC82C9-1E8A-41C2-AA40-6071E2969688}" type="presOf" srcId="{315ABE8C-3AC6-4E78-98BC-2129FC6EF636}" destId="{B4F8BC0D-EC41-4748-9BD6-07E68508C107}" srcOrd="0" destOrd="0" presId="urn:microsoft.com/office/officeart/2005/8/layout/vList2"/>
    <dgm:cxn modelId="{3310BDCB-8C89-4E56-B26A-F90D869498C6}" srcId="{00E80E55-280D-44EB-9ECE-999F5C2C0636}" destId="{78C81A20-38EA-4930-80CD-8F590514BEFD}" srcOrd="0" destOrd="0" parTransId="{0E99A8E1-0DEA-4C85-9937-9FC914DFFFEE}" sibTransId="{A6DD0EEB-84C3-4ECC-81A0-E26398BC6351}"/>
    <dgm:cxn modelId="{12E170DD-0863-4198-8F48-E4A32628FA91}" srcId="{C904E2E9-4926-4189-A2F9-36E8BB7CFDDA}" destId="{315ABE8C-3AC6-4E78-98BC-2129FC6EF636}" srcOrd="0" destOrd="0" parTransId="{A9322B29-ED03-4E75-82AE-928298D079DD}" sibTransId="{B1F3F8C3-22F9-4045-BB36-DA60155E393A}"/>
    <dgm:cxn modelId="{2F17D4DF-1F2F-49AF-9E06-F1B8610A098F}" srcId="{00E80E55-280D-44EB-9ECE-999F5C2C0636}" destId="{7AF0F656-4A61-4BC8-A641-B60568157B9E}" srcOrd="2" destOrd="0" parTransId="{9CCDD380-CFF4-4FFE-ADF8-665C7D2C70F8}" sibTransId="{24E05360-C6B7-4092-A877-F250F4FF34A5}"/>
    <dgm:cxn modelId="{9FEAE6FB-E097-4401-9E12-028AA343FABF}" srcId="{C904E2E9-4926-4189-A2F9-36E8BB7CFDDA}" destId="{00E80E55-280D-44EB-9ECE-999F5C2C0636}" srcOrd="1" destOrd="0" parTransId="{49B1C026-6480-495B-8511-D01E231356B3}" sibTransId="{44DF756C-A9C1-4B11-9A04-B11768DF84A9}"/>
    <dgm:cxn modelId="{014982F5-8255-41B0-8D0B-327A132CE50B}" type="presParOf" srcId="{B83B4303-AC9B-4D80-A8A6-BBC4A6DEEA0C}" destId="{B4F8BC0D-EC41-4748-9BD6-07E68508C107}" srcOrd="0" destOrd="0" presId="urn:microsoft.com/office/officeart/2005/8/layout/vList2"/>
    <dgm:cxn modelId="{D6FDB3D1-8E2E-47CC-B490-ABADDD7873C3}" type="presParOf" srcId="{B83B4303-AC9B-4D80-A8A6-BBC4A6DEEA0C}" destId="{C18182BD-01C8-4059-953B-260F90C11EF7}" srcOrd="1" destOrd="0" presId="urn:microsoft.com/office/officeart/2005/8/layout/vList2"/>
    <dgm:cxn modelId="{2523C9E8-363B-4B9C-BDF2-CC682A8EAB02}" type="presParOf" srcId="{B83B4303-AC9B-4D80-A8A6-BBC4A6DEEA0C}" destId="{906B28A9-50F0-4DD3-8F7F-16E295824066}" srcOrd="2" destOrd="0" presId="urn:microsoft.com/office/officeart/2005/8/layout/vList2"/>
    <dgm:cxn modelId="{2A0FCCC8-3E09-4FD7-AF9A-3366DDEE3FBB}" type="presParOf" srcId="{B83B4303-AC9B-4D80-A8A6-BBC4A6DEEA0C}" destId="{2327014C-B707-4764-953C-57A3FCE9C284}" srcOrd="3" destOrd="0" presId="urn:microsoft.com/office/officeart/2005/8/layout/vList2"/>
    <dgm:cxn modelId="{A9385C7E-B3A0-4B67-898A-1BB8821A1BA8}" type="presParOf" srcId="{B83B4303-AC9B-4D80-A8A6-BBC4A6DEEA0C}" destId="{A1A6002F-3729-46FC-899F-03D4216A5DCA}"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415B4C6-EDAF-4277-AACF-9C6AFECB6198}"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971E525C-AD39-4ABE-9878-9B529872C667}">
      <dgm:prSet/>
      <dgm:spPr/>
      <dgm:t>
        <a:bodyPr/>
        <a:lstStyle/>
        <a:p>
          <a:r>
            <a:rPr lang="en-US" b="1"/>
            <a:t>Takeaway:</a:t>
          </a:r>
          <a:r>
            <a:rPr lang="en-US"/>
            <a:t> RAG is the industry standard. Combines reasoning (LLM) with facts (DB).</a:t>
          </a:r>
        </a:p>
      </dgm:t>
    </dgm:pt>
    <dgm:pt modelId="{BD4B2B7D-8B39-47FE-9828-8FC34935019C}" type="parTrans" cxnId="{209EA666-0B4F-43C6-B900-AA64555F25DD}">
      <dgm:prSet/>
      <dgm:spPr/>
      <dgm:t>
        <a:bodyPr/>
        <a:lstStyle/>
        <a:p>
          <a:endParaRPr lang="en-US"/>
        </a:p>
      </dgm:t>
    </dgm:pt>
    <dgm:pt modelId="{6370FC8A-95B9-4B89-B384-5E6F1D38F3DE}" type="sibTrans" cxnId="{209EA666-0B4F-43C6-B900-AA64555F25DD}">
      <dgm:prSet/>
      <dgm:spPr/>
      <dgm:t>
        <a:bodyPr/>
        <a:lstStyle/>
        <a:p>
          <a:endParaRPr lang="en-US"/>
        </a:p>
      </dgm:t>
    </dgm:pt>
    <dgm:pt modelId="{74A8D9F4-71A9-4570-8203-10C598A596E5}">
      <dgm:prSet/>
      <dgm:spPr/>
      <dgm:t>
        <a:bodyPr/>
        <a:lstStyle/>
        <a:p>
          <a:r>
            <a:rPr lang="en-US" b="1"/>
            <a:t>References:</a:t>
          </a:r>
          <a:endParaRPr lang="en-US"/>
        </a:p>
      </dgm:t>
    </dgm:pt>
    <dgm:pt modelId="{0D1B86E1-A6F6-4618-9A0A-5B3EC12AF565}" type="parTrans" cxnId="{19B33504-C6A4-49E7-94E5-0C9BC7A2B6AF}">
      <dgm:prSet/>
      <dgm:spPr/>
      <dgm:t>
        <a:bodyPr/>
        <a:lstStyle/>
        <a:p>
          <a:endParaRPr lang="en-US"/>
        </a:p>
      </dgm:t>
    </dgm:pt>
    <dgm:pt modelId="{390086A9-DAE7-490A-B478-91F644950AE4}" type="sibTrans" cxnId="{19B33504-C6A4-49E7-94E5-0C9BC7A2B6AF}">
      <dgm:prSet/>
      <dgm:spPr/>
      <dgm:t>
        <a:bodyPr/>
        <a:lstStyle/>
        <a:p>
          <a:endParaRPr lang="en-US"/>
        </a:p>
      </dgm:t>
    </dgm:pt>
    <dgm:pt modelId="{3A37BCE5-B73D-406B-A1B4-8A2FD7EC0679}">
      <dgm:prSet/>
      <dgm:spPr/>
      <dgm:t>
        <a:bodyPr/>
        <a:lstStyle/>
        <a:p>
          <a:r>
            <a:rPr lang="en-US"/>
            <a:t>Lewis et al. (2020) "Retrieval-Augmented Generation..."</a:t>
          </a:r>
        </a:p>
      </dgm:t>
    </dgm:pt>
    <dgm:pt modelId="{0EC9C88F-D0F7-463D-A374-133954A74838}" type="parTrans" cxnId="{B1C3B593-7795-4BC7-9819-B0077DB94C6F}">
      <dgm:prSet/>
      <dgm:spPr/>
      <dgm:t>
        <a:bodyPr/>
        <a:lstStyle/>
        <a:p>
          <a:endParaRPr lang="en-US"/>
        </a:p>
      </dgm:t>
    </dgm:pt>
    <dgm:pt modelId="{A8D0214C-35FD-4964-AA45-2C6B37E195FF}" type="sibTrans" cxnId="{B1C3B593-7795-4BC7-9819-B0077DB94C6F}">
      <dgm:prSet/>
      <dgm:spPr/>
      <dgm:t>
        <a:bodyPr/>
        <a:lstStyle/>
        <a:p>
          <a:endParaRPr lang="en-US"/>
        </a:p>
      </dgm:t>
    </dgm:pt>
    <dgm:pt modelId="{991393ED-921D-4086-9920-704BC2B5A773}">
      <dgm:prSet/>
      <dgm:spPr/>
      <dgm:t>
        <a:bodyPr/>
        <a:lstStyle/>
        <a:p>
          <a:r>
            <a:rPr lang="en-US"/>
            <a:t>Lang Chain RAG Tutorials / Pinecone Advanced RAG.</a:t>
          </a:r>
        </a:p>
      </dgm:t>
    </dgm:pt>
    <dgm:pt modelId="{610573B6-D7B4-43FE-B2D0-65A8022607BA}" type="parTrans" cxnId="{8B8F205E-FC56-463B-AEBC-AC3663B09A7E}">
      <dgm:prSet/>
      <dgm:spPr/>
      <dgm:t>
        <a:bodyPr/>
        <a:lstStyle/>
        <a:p>
          <a:endParaRPr lang="en-US"/>
        </a:p>
      </dgm:t>
    </dgm:pt>
    <dgm:pt modelId="{C525226E-6A67-4F9E-8FFE-090380F9F229}" type="sibTrans" cxnId="{8B8F205E-FC56-463B-AEBC-AC3663B09A7E}">
      <dgm:prSet/>
      <dgm:spPr/>
      <dgm:t>
        <a:bodyPr/>
        <a:lstStyle/>
        <a:p>
          <a:endParaRPr lang="en-US"/>
        </a:p>
      </dgm:t>
    </dgm:pt>
    <dgm:pt modelId="{2839EABA-2EFA-4DF1-8DB1-8EEEF4A75E01}">
      <dgm:prSet/>
      <dgm:spPr/>
      <dgm:t>
        <a:bodyPr/>
        <a:lstStyle/>
        <a:p>
          <a:r>
            <a:rPr lang="en-US"/>
            <a:t>RAG Survey: </a:t>
          </a:r>
          <a:r>
            <a:rPr lang="en-US">
              <a:hlinkClick xmlns:r="http://schemas.openxmlformats.org/officeDocument/2006/relationships" r:id="rId1"/>
            </a:rPr>
            <a:t>https://arxiv.org/pdf/2312.10997</a:t>
          </a:r>
          <a:endParaRPr lang="en-US"/>
        </a:p>
      </dgm:t>
    </dgm:pt>
    <dgm:pt modelId="{9B0E2897-E399-4CC7-8E4F-4AED899F4EDA}" type="parTrans" cxnId="{58E4B22C-BB3F-4F8E-8E95-99F0D0F4E329}">
      <dgm:prSet/>
      <dgm:spPr/>
      <dgm:t>
        <a:bodyPr/>
        <a:lstStyle/>
        <a:p>
          <a:endParaRPr lang="en-US"/>
        </a:p>
      </dgm:t>
    </dgm:pt>
    <dgm:pt modelId="{F8B0E942-BC35-4190-8F0E-3B4D1A54BEE2}" type="sibTrans" cxnId="{58E4B22C-BB3F-4F8E-8E95-99F0D0F4E329}">
      <dgm:prSet/>
      <dgm:spPr/>
      <dgm:t>
        <a:bodyPr/>
        <a:lstStyle/>
        <a:p>
          <a:endParaRPr lang="en-US"/>
        </a:p>
      </dgm:t>
    </dgm:pt>
    <dgm:pt modelId="{14DAFA36-E74C-4452-B71E-287FE262DD4C}">
      <dgm:prSet/>
      <dgm:spPr/>
      <dgm:t>
        <a:bodyPr/>
        <a:lstStyle/>
        <a:p>
          <a:r>
            <a:rPr lang="en-US"/>
            <a:t>Effective Context Engineering - Anthropic: </a:t>
          </a:r>
          <a:r>
            <a:rPr lang="en-US">
              <a:hlinkClick xmlns:r="http://schemas.openxmlformats.org/officeDocument/2006/relationships" r:id="rId2"/>
            </a:rPr>
            <a:t>https://www.anthropic.com/engineering/effective-context-engineering-for-ai-agents</a:t>
          </a:r>
          <a:endParaRPr lang="en-US"/>
        </a:p>
      </dgm:t>
    </dgm:pt>
    <dgm:pt modelId="{670A6C33-FDCD-4068-9028-332993A51A2A}" type="parTrans" cxnId="{A524CE49-53C5-41B3-BC01-167904F9E68A}">
      <dgm:prSet/>
      <dgm:spPr/>
      <dgm:t>
        <a:bodyPr/>
        <a:lstStyle/>
        <a:p>
          <a:endParaRPr lang="en-US"/>
        </a:p>
      </dgm:t>
    </dgm:pt>
    <dgm:pt modelId="{72913829-C9BE-4F65-9EB9-C2837074BCED}" type="sibTrans" cxnId="{A524CE49-53C5-41B3-BC01-167904F9E68A}">
      <dgm:prSet/>
      <dgm:spPr/>
      <dgm:t>
        <a:bodyPr/>
        <a:lstStyle/>
        <a:p>
          <a:endParaRPr lang="en-US"/>
        </a:p>
      </dgm:t>
    </dgm:pt>
    <dgm:pt modelId="{282FA794-4C88-4000-B0C7-8A653CFAD032}">
      <dgm:prSet/>
      <dgm:spPr/>
      <dgm:t>
        <a:bodyPr/>
        <a:lstStyle/>
        <a:p>
          <a:r>
            <a:rPr lang="en-US"/>
            <a:t>Context Engineering 2.0: </a:t>
          </a:r>
          <a:r>
            <a:rPr lang="en-US">
              <a:hlinkClick xmlns:r="http://schemas.openxmlformats.org/officeDocument/2006/relationships" r:id="rId3"/>
            </a:rPr>
            <a:t>https://arxiv.org/pdf/2510.26493</a:t>
          </a:r>
          <a:endParaRPr lang="en-US"/>
        </a:p>
      </dgm:t>
    </dgm:pt>
    <dgm:pt modelId="{CEB58326-C840-4106-8E7C-51F189F893CE}" type="parTrans" cxnId="{0625E70A-1470-4E5A-BCBC-E36423FFD0D6}">
      <dgm:prSet/>
      <dgm:spPr/>
      <dgm:t>
        <a:bodyPr/>
        <a:lstStyle/>
        <a:p>
          <a:endParaRPr lang="en-US"/>
        </a:p>
      </dgm:t>
    </dgm:pt>
    <dgm:pt modelId="{D8FA7245-FB96-4EAF-827B-04B2EE9C4615}" type="sibTrans" cxnId="{0625E70A-1470-4E5A-BCBC-E36423FFD0D6}">
      <dgm:prSet/>
      <dgm:spPr/>
      <dgm:t>
        <a:bodyPr/>
        <a:lstStyle/>
        <a:p>
          <a:endParaRPr lang="en-US"/>
        </a:p>
      </dgm:t>
    </dgm:pt>
    <dgm:pt modelId="{A866B7B0-2917-4CB9-81FD-A1FF6925B7AF}">
      <dgm:prSet/>
      <dgm:spPr/>
      <dgm:t>
        <a:bodyPr/>
        <a:lstStyle/>
        <a:p>
          <a:r>
            <a:rPr lang="en-US"/>
            <a:t>AI on AI Podcast: </a:t>
          </a:r>
          <a:r>
            <a:rPr lang="en-US">
              <a:hlinkClick xmlns:r="http://schemas.openxmlformats.org/officeDocument/2006/relationships" r:id="rId4"/>
            </a:rPr>
            <a:t>https://www.youtube.com/watch?v=CA-QTmeAoyg</a:t>
          </a:r>
          <a:endParaRPr lang="en-US"/>
        </a:p>
      </dgm:t>
    </dgm:pt>
    <dgm:pt modelId="{6320ABE7-C541-4113-94A9-EEAA3AACCC3E}" type="parTrans" cxnId="{B30693D2-D5B4-4DB0-BC1A-76B9BAA5BD56}">
      <dgm:prSet/>
      <dgm:spPr/>
      <dgm:t>
        <a:bodyPr/>
        <a:lstStyle/>
        <a:p>
          <a:endParaRPr lang="en-US"/>
        </a:p>
      </dgm:t>
    </dgm:pt>
    <dgm:pt modelId="{47E7B7C0-F763-4D77-8FD7-307D5C6DDC98}" type="sibTrans" cxnId="{B30693D2-D5B4-4DB0-BC1A-76B9BAA5BD56}">
      <dgm:prSet/>
      <dgm:spPr/>
      <dgm:t>
        <a:bodyPr/>
        <a:lstStyle/>
        <a:p>
          <a:endParaRPr lang="en-US"/>
        </a:p>
      </dgm:t>
    </dgm:pt>
    <dgm:pt modelId="{25306422-2B35-46BE-AA73-2EFA35824BC4}">
      <dgm:prSet/>
      <dgm:spPr/>
      <dgm:t>
        <a:bodyPr/>
        <a:lstStyle/>
        <a:p>
          <a:r>
            <a:rPr lang="en-US" b="1"/>
            <a:t>Next Module:</a:t>
          </a:r>
          <a:r>
            <a:rPr lang="en-US"/>
            <a:t> Module 8: Chatbots &amp; Agents.</a:t>
          </a:r>
        </a:p>
      </dgm:t>
    </dgm:pt>
    <dgm:pt modelId="{FD5CBF87-D3FA-414D-A3F6-6A2FACAC4FBD}" type="parTrans" cxnId="{E1368513-F669-4647-A370-11FF49980CFA}">
      <dgm:prSet/>
      <dgm:spPr/>
      <dgm:t>
        <a:bodyPr/>
        <a:lstStyle/>
        <a:p>
          <a:endParaRPr lang="en-US"/>
        </a:p>
      </dgm:t>
    </dgm:pt>
    <dgm:pt modelId="{8CB4913D-EB0F-475C-B73C-69612D4D76FD}" type="sibTrans" cxnId="{E1368513-F669-4647-A370-11FF49980CFA}">
      <dgm:prSet/>
      <dgm:spPr/>
      <dgm:t>
        <a:bodyPr/>
        <a:lstStyle/>
        <a:p>
          <a:endParaRPr lang="en-US"/>
        </a:p>
      </dgm:t>
    </dgm:pt>
    <dgm:pt modelId="{85FD5B89-8550-4900-B27E-D76FD6EA2512}" type="pres">
      <dgm:prSet presAssocID="{6415B4C6-EDAF-4277-AACF-9C6AFECB6198}" presName="linear" presStyleCnt="0">
        <dgm:presLayoutVars>
          <dgm:dir/>
          <dgm:animLvl val="lvl"/>
          <dgm:resizeHandles val="exact"/>
        </dgm:presLayoutVars>
      </dgm:prSet>
      <dgm:spPr/>
    </dgm:pt>
    <dgm:pt modelId="{635EA6A4-C1ED-4746-9694-CFEC08AB18CC}" type="pres">
      <dgm:prSet presAssocID="{971E525C-AD39-4ABE-9878-9B529872C667}" presName="parentLin" presStyleCnt="0"/>
      <dgm:spPr/>
    </dgm:pt>
    <dgm:pt modelId="{67E35D70-72F9-4D96-86C1-46EFC0EC5FDB}" type="pres">
      <dgm:prSet presAssocID="{971E525C-AD39-4ABE-9878-9B529872C667}" presName="parentLeftMargin" presStyleLbl="node1" presStyleIdx="0" presStyleCnt="3"/>
      <dgm:spPr/>
    </dgm:pt>
    <dgm:pt modelId="{F1E27490-457D-4DBD-8393-9DCC63D2364A}" type="pres">
      <dgm:prSet presAssocID="{971E525C-AD39-4ABE-9878-9B529872C667}" presName="parentText" presStyleLbl="node1" presStyleIdx="0" presStyleCnt="3">
        <dgm:presLayoutVars>
          <dgm:chMax val="0"/>
          <dgm:bulletEnabled val="1"/>
        </dgm:presLayoutVars>
      </dgm:prSet>
      <dgm:spPr/>
    </dgm:pt>
    <dgm:pt modelId="{8B00713C-826B-40B6-9834-C032CF853E0B}" type="pres">
      <dgm:prSet presAssocID="{971E525C-AD39-4ABE-9878-9B529872C667}" presName="negativeSpace" presStyleCnt="0"/>
      <dgm:spPr/>
    </dgm:pt>
    <dgm:pt modelId="{D82AA3A8-01DA-4837-8ED2-F115D4408891}" type="pres">
      <dgm:prSet presAssocID="{971E525C-AD39-4ABE-9878-9B529872C667}" presName="childText" presStyleLbl="conFgAcc1" presStyleIdx="0" presStyleCnt="3">
        <dgm:presLayoutVars>
          <dgm:bulletEnabled val="1"/>
        </dgm:presLayoutVars>
      </dgm:prSet>
      <dgm:spPr/>
    </dgm:pt>
    <dgm:pt modelId="{DDC522CE-42A7-4F10-AB6D-04481475D176}" type="pres">
      <dgm:prSet presAssocID="{6370FC8A-95B9-4B89-B384-5E6F1D38F3DE}" presName="spaceBetweenRectangles" presStyleCnt="0"/>
      <dgm:spPr/>
    </dgm:pt>
    <dgm:pt modelId="{15368F81-1A78-4773-870E-8CD278F0F793}" type="pres">
      <dgm:prSet presAssocID="{74A8D9F4-71A9-4570-8203-10C598A596E5}" presName="parentLin" presStyleCnt="0"/>
      <dgm:spPr/>
    </dgm:pt>
    <dgm:pt modelId="{406B6EF1-6B63-4992-8FB2-6E5283629EA5}" type="pres">
      <dgm:prSet presAssocID="{74A8D9F4-71A9-4570-8203-10C598A596E5}" presName="parentLeftMargin" presStyleLbl="node1" presStyleIdx="0" presStyleCnt="3"/>
      <dgm:spPr/>
    </dgm:pt>
    <dgm:pt modelId="{6E9B8BB2-7137-484D-B7EB-82E11466458C}" type="pres">
      <dgm:prSet presAssocID="{74A8D9F4-71A9-4570-8203-10C598A596E5}" presName="parentText" presStyleLbl="node1" presStyleIdx="1" presStyleCnt="3">
        <dgm:presLayoutVars>
          <dgm:chMax val="0"/>
          <dgm:bulletEnabled val="1"/>
        </dgm:presLayoutVars>
      </dgm:prSet>
      <dgm:spPr/>
    </dgm:pt>
    <dgm:pt modelId="{3F9FC2B2-3982-4853-AC72-A580C28BD5D3}" type="pres">
      <dgm:prSet presAssocID="{74A8D9F4-71A9-4570-8203-10C598A596E5}" presName="negativeSpace" presStyleCnt="0"/>
      <dgm:spPr/>
    </dgm:pt>
    <dgm:pt modelId="{C0043988-CE44-44A7-BCB6-0D05AABE38C9}" type="pres">
      <dgm:prSet presAssocID="{74A8D9F4-71A9-4570-8203-10C598A596E5}" presName="childText" presStyleLbl="conFgAcc1" presStyleIdx="1" presStyleCnt="3">
        <dgm:presLayoutVars>
          <dgm:bulletEnabled val="1"/>
        </dgm:presLayoutVars>
      </dgm:prSet>
      <dgm:spPr/>
    </dgm:pt>
    <dgm:pt modelId="{8FC6F57E-1559-4409-BA3B-667DFA7B1D40}" type="pres">
      <dgm:prSet presAssocID="{390086A9-DAE7-490A-B478-91F644950AE4}" presName="spaceBetweenRectangles" presStyleCnt="0"/>
      <dgm:spPr/>
    </dgm:pt>
    <dgm:pt modelId="{30A7B55C-1019-443B-A261-72A633602859}" type="pres">
      <dgm:prSet presAssocID="{25306422-2B35-46BE-AA73-2EFA35824BC4}" presName="parentLin" presStyleCnt="0"/>
      <dgm:spPr/>
    </dgm:pt>
    <dgm:pt modelId="{0A017800-9035-4E63-9ACC-BC0F6B5DDFB0}" type="pres">
      <dgm:prSet presAssocID="{25306422-2B35-46BE-AA73-2EFA35824BC4}" presName="parentLeftMargin" presStyleLbl="node1" presStyleIdx="1" presStyleCnt="3"/>
      <dgm:spPr/>
    </dgm:pt>
    <dgm:pt modelId="{21526134-2328-4A52-AC0F-17F7A529F532}" type="pres">
      <dgm:prSet presAssocID="{25306422-2B35-46BE-AA73-2EFA35824BC4}" presName="parentText" presStyleLbl="node1" presStyleIdx="2" presStyleCnt="3">
        <dgm:presLayoutVars>
          <dgm:chMax val="0"/>
          <dgm:bulletEnabled val="1"/>
        </dgm:presLayoutVars>
      </dgm:prSet>
      <dgm:spPr/>
    </dgm:pt>
    <dgm:pt modelId="{5D2F9DEA-250A-436E-8DD3-B4357E24A58B}" type="pres">
      <dgm:prSet presAssocID="{25306422-2B35-46BE-AA73-2EFA35824BC4}" presName="negativeSpace" presStyleCnt="0"/>
      <dgm:spPr/>
    </dgm:pt>
    <dgm:pt modelId="{C04768C5-BCDC-4CD1-AE7A-FEDA2C10724D}" type="pres">
      <dgm:prSet presAssocID="{25306422-2B35-46BE-AA73-2EFA35824BC4}" presName="childText" presStyleLbl="conFgAcc1" presStyleIdx="2" presStyleCnt="3">
        <dgm:presLayoutVars>
          <dgm:bulletEnabled val="1"/>
        </dgm:presLayoutVars>
      </dgm:prSet>
      <dgm:spPr/>
    </dgm:pt>
  </dgm:ptLst>
  <dgm:cxnLst>
    <dgm:cxn modelId="{ADD65300-7176-4524-9EC5-43BCA18637C9}" type="presOf" srcId="{74A8D9F4-71A9-4570-8203-10C598A596E5}" destId="{6E9B8BB2-7137-484D-B7EB-82E11466458C}" srcOrd="1" destOrd="0" presId="urn:microsoft.com/office/officeart/2005/8/layout/list1"/>
    <dgm:cxn modelId="{19B33504-C6A4-49E7-94E5-0C9BC7A2B6AF}" srcId="{6415B4C6-EDAF-4277-AACF-9C6AFECB6198}" destId="{74A8D9F4-71A9-4570-8203-10C598A596E5}" srcOrd="1" destOrd="0" parTransId="{0D1B86E1-A6F6-4618-9A0A-5B3EC12AF565}" sibTransId="{390086A9-DAE7-490A-B478-91F644950AE4}"/>
    <dgm:cxn modelId="{0625E70A-1470-4E5A-BCBC-E36423FFD0D6}" srcId="{74A8D9F4-71A9-4570-8203-10C598A596E5}" destId="{282FA794-4C88-4000-B0C7-8A653CFAD032}" srcOrd="4" destOrd="0" parTransId="{CEB58326-C840-4106-8E7C-51F189F893CE}" sibTransId="{D8FA7245-FB96-4EAF-827B-04B2EE9C4615}"/>
    <dgm:cxn modelId="{1AFFEE0A-CE5B-4375-A8E2-CD72D6BC87D6}" type="presOf" srcId="{3A37BCE5-B73D-406B-A1B4-8A2FD7EC0679}" destId="{C0043988-CE44-44A7-BCB6-0D05AABE38C9}" srcOrd="0" destOrd="0" presId="urn:microsoft.com/office/officeart/2005/8/layout/list1"/>
    <dgm:cxn modelId="{E1368513-F669-4647-A370-11FF49980CFA}" srcId="{6415B4C6-EDAF-4277-AACF-9C6AFECB6198}" destId="{25306422-2B35-46BE-AA73-2EFA35824BC4}" srcOrd="2" destOrd="0" parTransId="{FD5CBF87-D3FA-414D-A3F6-6A2FACAC4FBD}" sibTransId="{8CB4913D-EB0F-475C-B73C-69612D4D76FD}"/>
    <dgm:cxn modelId="{58E4B22C-BB3F-4F8E-8E95-99F0D0F4E329}" srcId="{74A8D9F4-71A9-4570-8203-10C598A596E5}" destId="{2839EABA-2EFA-4DF1-8DB1-8EEEF4A75E01}" srcOrd="2" destOrd="0" parTransId="{9B0E2897-E399-4CC7-8E4F-4AED899F4EDA}" sibTransId="{F8B0E942-BC35-4190-8F0E-3B4D1A54BEE2}"/>
    <dgm:cxn modelId="{1665E02E-5404-48BA-AF46-7265C81F442D}" type="presOf" srcId="{991393ED-921D-4086-9920-704BC2B5A773}" destId="{C0043988-CE44-44A7-BCB6-0D05AABE38C9}" srcOrd="0" destOrd="1" presId="urn:microsoft.com/office/officeart/2005/8/layout/list1"/>
    <dgm:cxn modelId="{5C175D3C-3629-4720-9304-080AB5C35E83}" type="presOf" srcId="{14DAFA36-E74C-4452-B71E-287FE262DD4C}" destId="{C0043988-CE44-44A7-BCB6-0D05AABE38C9}" srcOrd="0" destOrd="3" presId="urn:microsoft.com/office/officeart/2005/8/layout/list1"/>
    <dgm:cxn modelId="{7BD17A3C-58EA-4265-A150-FB6E513C9903}" type="presOf" srcId="{2839EABA-2EFA-4DF1-8DB1-8EEEF4A75E01}" destId="{C0043988-CE44-44A7-BCB6-0D05AABE38C9}" srcOrd="0" destOrd="2" presId="urn:microsoft.com/office/officeart/2005/8/layout/list1"/>
    <dgm:cxn modelId="{8B8F205E-FC56-463B-AEBC-AC3663B09A7E}" srcId="{74A8D9F4-71A9-4570-8203-10C598A596E5}" destId="{991393ED-921D-4086-9920-704BC2B5A773}" srcOrd="1" destOrd="0" parTransId="{610573B6-D7B4-43FE-B2D0-65A8022607BA}" sibTransId="{C525226E-6A67-4F9E-8FFE-090380F9F229}"/>
    <dgm:cxn modelId="{209EA666-0B4F-43C6-B900-AA64555F25DD}" srcId="{6415B4C6-EDAF-4277-AACF-9C6AFECB6198}" destId="{971E525C-AD39-4ABE-9878-9B529872C667}" srcOrd="0" destOrd="0" parTransId="{BD4B2B7D-8B39-47FE-9828-8FC34935019C}" sibTransId="{6370FC8A-95B9-4B89-B384-5E6F1D38F3DE}"/>
    <dgm:cxn modelId="{A524CE49-53C5-41B3-BC01-167904F9E68A}" srcId="{74A8D9F4-71A9-4570-8203-10C598A596E5}" destId="{14DAFA36-E74C-4452-B71E-287FE262DD4C}" srcOrd="3" destOrd="0" parTransId="{670A6C33-FDCD-4068-9028-332993A51A2A}" sibTransId="{72913829-C9BE-4F65-9EB9-C2837074BCED}"/>
    <dgm:cxn modelId="{E967866C-C772-493B-9E4B-52CE89C166D0}" type="presOf" srcId="{25306422-2B35-46BE-AA73-2EFA35824BC4}" destId="{21526134-2328-4A52-AC0F-17F7A529F532}" srcOrd="1" destOrd="0" presId="urn:microsoft.com/office/officeart/2005/8/layout/list1"/>
    <dgm:cxn modelId="{C4415051-2DB0-451D-B023-30FF76F994AF}" type="presOf" srcId="{74A8D9F4-71A9-4570-8203-10C598A596E5}" destId="{406B6EF1-6B63-4992-8FB2-6E5283629EA5}" srcOrd="0" destOrd="0" presId="urn:microsoft.com/office/officeart/2005/8/layout/list1"/>
    <dgm:cxn modelId="{70EDE385-30D6-4494-B81B-2977B668E31F}" type="presOf" srcId="{6415B4C6-EDAF-4277-AACF-9C6AFECB6198}" destId="{85FD5B89-8550-4900-B27E-D76FD6EA2512}" srcOrd="0" destOrd="0" presId="urn:microsoft.com/office/officeart/2005/8/layout/list1"/>
    <dgm:cxn modelId="{B1C3B593-7795-4BC7-9819-B0077DB94C6F}" srcId="{74A8D9F4-71A9-4570-8203-10C598A596E5}" destId="{3A37BCE5-B73D-406B-A1B4-8A2FD7EC0679}" srcOrd="0" destOrd="0" parTransId="{0EC9C88F-D0F7-463D-A374-133954A74838}" sibTransId="{A8D0214C-35FD-4964-AA45-2C6B37E195FF}"/>
    <dgm:cxn modelId="{9181EC9C-092F-4850-8F01-85777E7422BF}" type="presOf" srcId="{A866B7B0-2917-4CB9-81FD-A1FF6925B7AF}" destId="{C0043988-CE44-44A7-BCB6-0D05AABE38C9}" srcOrd="0" destOrd="5" presId="urn:microsoft.com/office/officeart/2005/8/layout/list1"/>
    <dgm:cxn modelId="{FF501DB6-72F4-4A53-BFCE-2066013CCBA0}" type="presOf" srcId="{25306422-2B35-46BE-AA73-2EFA35824BC4}" destId="{0A017800-9035-4E63-9ACC-BC0F6B5DDFB0}" srcOrd="0" destOrd="0" presId="urn:microsoft.com/office/officeart/2005/8/layout/list1"/>
    <dgm:cxn modelId="{156127CA-42CE-490B-A011-7191706C704E}" type="presOf" srcId="{971E525C-AD39-4ABE-9878-9B529872C667}" destId="{67E35D70-72F9-4D96-86C1-46EFC0EC5FDB}" srcOrd="0" destOrd="0" presId="urn:microsoft.com/office/officeart/2005/8/layout/list1"/>
    <dgm:cxn modelId="{B30693D2-D5B4-4DB0-BC1A-76B9BAA5BD56}" srcId="{74A8D9F4-71A9-4570-8203-10C598A596E5}" destId="{A866B7B0-2917-4CB9-81FD-A1FF6925B7AF}" srcOrd="5" destOrd="0" parTransId="{6320ABE7-C541-4113-94A9-EEAA3AACCC3E}" sibTransId="{47E7B7C0-F763-4D77-8FD7-307D5C6DDC98}"/>
    <dgm:cxn modelId="{6744DAE9-6806-4FC4-B4F8-BA437B6BCB0E}" type="presOf" srcId="{282FA794-4C88-4000-B0C7-8A653CFAD032}" destId="{C0043988-CE44-44A7-BCB6-0D05AABE38C9}" srcOrd="0" destOrd="4" presId="urn:microsoft.com/office/officeart/2005/8/layout/list1"/>
    <dgm:cxn modelId="{7823B2F1-A1F4-4714-8009-A916530A5BAE}" type="presOf" srcId="{971E525C-AD39-4ABE-9878-9B529872C667}" destId="{F1E27490-457D-4DBD-8393-9DCC63D2364A}" srcOrd="1" destOrd="0" presId="urn:microsoft.com/office/officeart/2005/8/layout/list1"/>
    <dgm:cxn modelId="{4A509C96-338F-47F5-91A1-F10FA3EB5EDC}" type="presParOf" srcId="{85FD5B89-8550-4900-B27E-D76FD6EA2512}" destId="{635EA6A4-C1ED-4746-9694-CFEC08AB18CC}" srcOrd="0" destOrd="0" presId="urn:microsoft.com/office/officeart/2005/8/layout/list1"/>
    <dgm:cxn modelId="{65948FE6-7DFB-436F-80EA-3CC62333B44A}" type="presParOf" srcId="{635EA6A4-C1ED-4746-9694-CFEC08AB18CC}" destId="{67E35D70-72F9-4D96-86C1-46EFC0EC5FDB}" srcOrd="0" destOrd="0" presId="urn:microsoft.com/office/officeart/2005/8/layout/list1"/>
    <dgm:cxn modelId="{7F9D36D0-31E3-4B96-9DEA-061FE903EBB4}" type="presParOf" srcId="{635EA6A4-C1ED-4746-9694-CFEC08AB18CC}" destId="{F1E27490-457D-4DBD-8393-9DCC63D2364A}" srcOrd="1" destOrd="0" presId="urn:microsoft.com/office/officeart/2005/8/layout/list1"/>
    <dgm:cxn modelId="{92DF4A02-C740-43A1-80FD-55319CF82712}" type="presParOf" srcId="{85FD5B89-8550-4900-B27E-D76FD6EA2512}" destId="{8B00713C-826B-40B6-9834-C032CF853E0B}" srcOrd="1" destOrd="0" presId="urn:microsoft.com/office/officeart/2005/8/layout/list1"/>
    <dgm:cxn modelId="{1E45C32F-B7D2-47B5-9EA8-AF6879A295C1}" type="presParOf" srcId="{85FD5B89-8550-4900-B27E-D76FD6EA2512}" destId="{D82AA3A8-01DA-4837-8ED2-F115D4408891}" srcOrd="2" destOrd="0" presId="urn:microsoft.com/office/officeart/2005/8/layout/list1"/>
    <dgm:cxn modelId="{73560080-2E40-4E3C-AA88-14B4B0AEF512}" type="presParOf" srcId="{85FD5B89-8550-4900-B27E-D76FD6EA2512}" destId="{DDC522CE-42A7-4F10-AB6D-04481475D176}" srcOrd="3" destOrd="0" presId="urn:microsoft.com/office/officeart/2005/8/layout/list1"/>
    <dgm:cxn modelId="{3010E472-8BCC-4213-ADD5-96DBE335243F}" type="presParOf" srcId="{85FD5B89-8550-4900-B27E-D76FD6EA2512}" destId="{15368F81-1A78-4773-870E-8CD278F0F793}" srcOrd="4" destOrd="0" presId="urn:microsoft.com/office/officeart/2005/8/layout/list1"/>
    <dgm:cxn modelId="{AFE7B5D3-91B5-4F7D-8B81-97AA417263A2}" type="presParOf" srcId="{15368F81-1A78-4773-870E-8CD278F0F793}" destId="{406B6EF1-6B63-4992-8FB2-6E5283629EA5}" srcOrd="0" destOrd="0" presId="urn:microsoft.com/office/officeart/2005/8/layout/list1"/>
    <dgm:cxn modelId="{39A9DC51-EDFE-4DE6-9C5A-5B44819F6486}" type="presParOf" srcId="{15368F81-1A78-4773-870E-8CD278F0F793}" destId="{6E9B8BB2-7137-484D-B7EB-82E11466458C}" srcOrd="1" destOrd="0" presId="urn:microsoft.com/office/officeart/2005/8/layout/list1"/>
    <dgm:cxn modelId="{6A6E58F5-359E-4E05-94DE-099CFE4BE5B9}" type="presParOf" srcId="{85FD5B89-8550-4900-B27E-D76FD6EA2512}" destId="{3F9FC2B2-3982-4853-AC72-A580C28BD5D3}" srcOrd="5" destOrd="0" presId="urn:microsoft.com/office/officeart/2005/8/layout/list1"/>
    <dgm:cxn modelId="{6E2B0E63-37B0-4C63-8BA5-2F09B39AB87C}" type="presParOf" srcId="{85FD5B89-8550-4900-B27E-D76FD6EA2512}" destId="{C0043988-CE44-44A7-BCB6-0D05AABE38C9}" srcOrd="6" destOrd="0" presId="urn:microsoft.com/office/officeart/2005/8/layout/list1"/>
    <dgm:cxn modelId="{B6C2F18E-A01B-4591-9A02-DCBC815B8949}" type="presParOf" srcId="{85FD5B89-8550-4900-B27E-D76FD6EA2512}" destId="{8FC6F57E-1559-4409-BA3B-667DFA7B1D40}" srcOrd="7" destOrd="0" presId="urn:microsoft.com/office/officeart/2005/8/layout/list1"/>
    <dgm:cxn modelId="{F196C5EE-9D2F-4A7B-B6F0-789068D7F662}" type="presParOf" srcId="{85FD5B89-8550-4900-B27E-D76FD6EA2512}" destId="{30A7B55C-1019-443B-A261-72A633602859}" srcOrd="8" destOrd="0" presId="urn:microsoft.com/office/officeart/2005/8/layout/list1"/>
    <dgm:cxn modelId="{DB2E11D7-9F28-4231-B461-4EB37473D25F}" type="presParOf" srcId="{30A7B55C-1019-443B-A261-72A633602859}" destId="{0A017800-9035-4E63-9ACC-BC0F6B5DDFB0}" srcOrd="0" destOrd="0" presId="urn:microsoft.com/office/officeart/2005/8/layout/list1"/>
    <dgm:cxn modelId="{280772BB-C40C-4DAA-916E-984E16D9BBA6}" type="presParOf" srcId="{30A7B55C-1019-443B-A261-72A633602859}" destId="{21526134-2328-4A52-AC0F-17F7A529F532}" srcOrd="1" destOrd="0" presId="urn:microsoft.com/office/officeart/2005/8/layout/list1"/>
    <dgm:cxn modelId="{48CC0CAF-DC72-4F53-BE33-8B729FD3837B}" type="presParOf" srcId="{85FD5B89-8550-4900-B27E-D76FD6EA2512}" destId="{5D2F9DEA-250A-436E-8DD3-B4357E24A58B}" srcOrd="9" destOrd="0" presId="urn:microsoft.com/office/officeart/2005/8/layout/list1"/>
    <dgm:cxn modelId="{D1C83FDA-CAA8-4F08-AC29-D4DB5D15AEB2}" type="presParOf" srcId="{85FD5B89-8550-4900-B27E-D76FD6EA2512}" destId="{C04768C5-BCDC-4CD1-AE7A-FEDA2C10724D}"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83A15-1670-4F47-91B7-F1DD7CB38A46}">
      <dsp:nvSpPr>
        <dsp:cNvPr id="0" name=""/>
        <dsp:cNvSpPr/>
      </dsp:nvSpPr>
      <dsp:spPr>
        <a:xfrm>
          <a:off x="0" y="3100718"/>
          <a:ext cx="1678388" cy="1017725"/>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9367" tIns="92456" rIns="119367" bIns="92456" numCol="1" spcCol="1270" anchor="ctr" anchorCtr="0">
          <a:noAutofit/>
        </a:bodyPr>
        <a:lstStyle/>
        <a:p>
          <a:pPr marL="0" lvl="0" indent="0" algn="ctr" defTabSz="577850">
            <a:lnSpc>
              <a:spcPct val="90000"/>
            </a:lnSpc>
            <a:spcBef>
              <a:spcPct val="0"/>
            </a:spcBef>
            <a:spcAft>
              <a:spcPct val="35000"/>
            </a:spcAft>
            <a:buNone/>
          </a:pPr>
          <a:r>
            <a:rPr lang="en-US" sz="1300" b="1" kern="1200"/>
            <a:t>The RAG Solution:</a:t>
          </a:r>
          <a:r>
            <a:rPr lang="en-US" sz="1300" kern="1200"/>
            <a:t> Don't ask to memorize. Ask to process provided facts.</a:t>
          </a:r>
        </a:p>
      </dsp:txBody>
      <dsp:txXfrm>
        <a:off x="0" y="3100718"/>
        <a:ext cx="1678388" cy="1017725"/>
      </dsp:txXfrm>
    </dsp:sp>
    <dsp:sp modelId="{DF63132D-54EA-46E0-B94D-DFB214641331}">
      <dsp:nvSpPr>
        <dsp:cNvPr id="0" name=""/>
        <dsp:cNvSpPr/>
      </dsp:nvSpPr>
      <dsp:spPr>
        <a:xfrm>
          <a:off x="1678387" y="3100718"/>
          <a:ext cx="5035164" cy="1017725"/>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67C168-969B-4A6C-AD4D-27E662428BB3}">
      <dsp:nvSpPr>
        <dsp:cNvPr id="0" name=""/>
        <dsp:cNvSpPr/>
      </dsp:nvSpPr>
      <dsp:spPr>
        <a:xfrm rot="10800000">
          <a:off x="0" y="1550723"/>
          <a:ext cx="1678388" cy="1565261"/>
        </a:xfrm>
        <a:prstGeom prst="upArrowCallout">
          <a:avLst>
            <a:gd name="adj1" fmla="val 5000"/>
            <a:gd name="adj2" fmla="val 10000"/>
            <a:gd name="adj3" fmla="val 15000"/>
            <a:gd name="adj4" fmla="val 64977"/>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9367" tIns="92456" rIns="119367" bIns="92456" numCol="1" spcCol="1270" anchor="ctr" anchorCtr="0">
          <a:noAutofit/>
        </a:bodyPr>
        <a:lstStyle/>
        <a:p>
          <a:pPr marL="0" lvl="0" indent="0" algn="ctr" defTabSz="577850">
            <a:lnSpc>
              <a:spcPct val="90000"/>
            </a:lnSpc>
            <a:spcBef>
              <a:spcPct val="0"/>
            </a:spcBef>
            <a:spcAft>
              <a:spcPct val="35000"/>
            </a:spcAft>
            <a:buNone/>
          </a:pPr>
          <a:r>
            <a:rPr lang="en-US" sz="1300" b="1" kern="1200"/>
            <a:t>2. Hallucination:</a:t>
          </a:r>
          <a:endParaRPr lang="en-US" sz="1300" kern="1200"/>
        </a:p>
      </dsp:txBody>
      <dsp:txXfrm rot="-10800000">
        <a:off x="0" y="1550723"/>
        <a:ext cx="1678388" cy="1017419"/>
      </dsp:txXfrm>
    </dsp:sp>
    <dsp:sp modelId="{8F9B6139-D64C-44C7-B9E7-5A4CDDC40661}">
      <dsp:nvSpPr>
        <dsp:cNvPr id="0" name=""/>
        <dsp:cNvSpPr/>
      </dsp:nvSpPr>
      <dsp:spPr>
        <a:xfrm>
          <a:off x="1678387" y="1550723"/>
          <a:ext cx="5035164" cy="1017419"/>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137" tIns="165100" rIns="102137" bIns="165100" numCol="1" spcCol="1270" anchor="ctr" anchorCtr="0">
          <a:noAutofit/>
        </a:bodyPr>
        <a:lstStyle/>
        <a:p>
          <a:pPr marL="0" lvl="0" indent="0" algn="l" defTabSz="577850">
            <a:lnSpc>
              <a:spcPct val="90000"/>
            </a:lnSpc>
            <a:spcBef>
              <a:spcPct val="0"/>
            </a:spcBef>
            <a:spcAft>
              <a:spcPct val="35000"/>
            </a:spcAft>
            <a:buNone/>
          </a:pPr>
          <a:r>
            <a:rPr lang="en-US" sz="1300" kern="1200"/>
            <a:t>Scenario: "Summarize the safety manual for this specific robot arm."</a:t>
          </a:r>
        </a:p>
        <a:p>
          <a:pPr marL="0" lvl="0" indent="0" algn="l" defTabSz="577850">
            <a:lnSpc>
              <a:spcPct val="90000"/>
            </a:lnSpc>
            <a:spcBef>
              <a:spcPct val="0"/>
            </a:spcBef>
            <a:spcAft>
              <a:spcPct val="35000"/>
            </a:spcAft>
            <a:buNone/>
          </a:pPr>
          <a:r>
            <a:rPr lang="en-US" sz="1300" kern="1200"/>
            <a:t>Model: Invents a plausible but dangerous procedure.</a:t>
          </a:r>
        </a:p>
      </dsp:txBody>
      <dsp:txXfrm>
        <a:off x="1678387" y="1550723"/>
        <a:ext cx="5035164" cy="1017419"/>
      </dsp:txXfrm>
    </dsp:sp>
    <dsp:sp modelId="{98290FC4-AB35-4D5A-B7E5-5E352B4A6320}">
      <dsp:nvSpPr>
        <dsp:cNvPr id="0" name=""/>
        <dsp:cNvSpPr/>
      </dsp:nvSpPr>
      <dsp:spPr>
        <a:xfrm rot="10800000">
          <a:off x="0" y="728"/>
          <a:ext cx="1678388" cy="1565261"/>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9367" tIns="92456" rIns="119367" bIns="92456" numCol="1" spcCol="1270" anchor="ctr" anchorCtr="0">
          <a:noAutofit/>
        </a:bodyPr>
        <a:lstStyle/>
        <a:p>
          <a:pPr marL="0" lvl="0" indent="0" algn="ctr" defTabSz="577850">
            <a:lnSpc>
              <a:spcPct val="90000"/>
            </a:lnSpc>
            <a:spcBef>
              <a:spcPct val="0"/>
            </a:spcBef>
            <a:spcAft>
              <a:spcPct val="35000"/>
            </a:spcAft>
            <a:buNone/>
          </a:pPr>
          <a:r>
            <a:rPr lang="en-US" sz="1300" b="1" kern="1200"/>
            <a:t>1. Knowledge Cutoff:</a:t>
          </a:r>
          <a:endParaRPr lang="en-US" sz="1300" kern="1200"/>
        </a:p>
      </dsp:txBody>
      <dsp:txXfrm rot="-10800000">
        <a:off x="0" y="728"/>
        <a:ext cx="1678388" cy="1017419"/>
      </dsp:txXfrm>
    </dsp:sp>
    <dsp:sp modelId="{65E6787B-9782-41C6-827F-7AA4D5C16498}">
      <dsp:nvSpPr>
        <dsp:cNvPr id="0" name=""/>
        <dsp:cNvSpPr/>
      </dsp:nvSpPr>
      <dsp:spPr>
        <a:xfrm>
          <a:off x="1678387" y="728"/>
          <a:ext cx="5035164" cy="1017419"/>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137" tIns="165100" rIns="102137" bIns="165100" numCol="1" spcCol="1270" anchor="ctr" anchorCtr="0">
          <a:noAutofit/>
        </a:bodyPr>
        <a:lstStyle/>
        <a:p>
          <a:pPr marL="0" lvl="0" indent="0" algn="l" defTabSz="577850">
            <a:lnSpc>
              <a:spcPct val="90000"/>
            </a:lnSpc>
            <a:spcBef>
              <a:spcPct val="0"/>
            </a:spcBef>
            <a:spcAft>
              <a:spcPct val="35000"/>
            </a:spcAft>
            <a:buNone/>
          </a:pPr>
          <a:r>
            <a:rPr lang="en-US" sz="1300" kern="1200"/>
            <a:t>Scenario: "Who won the World Series in 2025?"</a:t>
          </a:r>
        </a:p>
        <a:p>
          <a:pPr marL="0" lvl="0" indent="0" algn="l" defTabSz="577850">
            <a:lnSpc>
              <a:spcPct val="90000"/>
            </a:lnSpc>
            <a:spcBef>
              <a:spcPct val="0"/>
            </a:spcBef>
            <a:spcAft>
              <a:spcPct val="35000"/>
            </a:spcAft>
            <a:buNone/>
          </a:pPr>
          <a:r>
            <a:rPr lang="en-US" sz="1300" kern="1200"/>
            <a:t>Model: "I do not know" or guesses based on old probabilities.</a:t>
          </a:r>
        </a:p>
      </dsp:txBody>
      <dsp:txXfrm>
        <a:off x="1678387" y="728"/>
        <a:ext cx="5035164" cy="10174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072BD7-131F-46AD-8C27-1213BF1188D1}">
      <dsp:nvSpPr>
        <dsp:cNvPr id="0" name=""/>
        <dsp:cNvSpPr/>
      </dsp:nvSpPr>
      <dsp:spPr>
        <a:xfrm>
          <a:off x="1963800" y="418539"/>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2F82EC-DB31-4D31-AAB7-3A16A452B451}">
      <dsp:nvSpPr>
        <dsp:cNvPr id="0" name=""/>
        <dsp:cNvSpPr/>
      </dsp:nvSpPr>
      <dsp:spPr>
        <a:xfrm>
          <a:off x="559800" y="208170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b="1"/>
          </a:pPr>
          <a:r>
            <a:rPr lang="en-US" sz="2900" b="1" kern="1200"/>
            <a:t>Standard LLM (Fine-Tuning):</a:t>
          </a:r>
          <a:endParaRPr lang="en-US" sz="2900" kern="1200"/>
        </a:p>
      </dsp:txBody>
      <dsp:txXfrm>
        <a:off x="559800" y="2081704"/>
        <a:ext cx="4320000" cy="648000"/>
      </dsp:txXfrm>
    </dsp:sp>
    <dsp:sp modelId="{80EE6694-0F5C-46B9-B0AA-94890C3C4601}">
      <dsp:nvSpPr>
        <dsp:cNvPr id="0" name=""/>
        <dsp:cNvSpPr/>
      </dsp:nvSpPr>
      <dsp:spPr>
        <a:xfrm>
          <a:off x="559800" y="2800013"/>
          <a:ext cx="4320000" cy="1133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Student memorizes textbook, throws it away, takes test from memory.</a:t>
          </a:r>
        </a:p>
        <a:p>
          <a:pPr marL="0" lvl="0" indent="0" algn="ctr" defTabSz="755650">
            <a:lnSpc>
              <a:spcPct val="90000"/>
            </a:lnSpc>
            <a:spcBef>
              <a:spcPct val="0"/>
            </a:spcBef>
            <a:spcAft>
              <a:spcPct val="35000"/>
            </a:spcAft>
            <a:buNone/>
          </a:pPr>
          <a:r>
            <a:rPr lang="en-US" sz="1700" kern="1200"/>
            <a:t>Risk: Memory is fuzzy.</a:t>
          </a:r>
        </a:p>
      </dsp:txBody>
      <dsp:txXfrm>
        <a:off x="559800" y="2800013"/>
        <a:ext cx="4320000" cy="1133990"/>
      </dsp:txXfrm>
    </dsp:sp>
    <dsp:sp modelId="{F83F04FF-2B58-4A76-8508-93E2029B818F}">
      <dsp:nvSpPr>
        <dsp:cNvPr id="0" name=""/>
        <dsp:cNvSpPr/>
      </dsp:nvSpPr>
      <dsp:spPr>
        <a:xfrm>
          <a:off x="7039800" y="418539"/>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CA6731-5AD7-4534-82FC-995E40B349BF}">
      <dsp:nvSpPr>
        <dsp:cNvPr id="0" name=""/>
        <dsp:cNvSpPr/>
      </dsp:nvSpPr>
      <dsp:spPr>
        <a:xfrm>
          <a:off x="5635800" y="208170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b="1"/>
          </a:pPr>
          <a:r>
            <a:rPr lang="en-US" sz="2900" b="1" kern="1200"/>
            <a:t>RAG:</a:t>
          </a:r>
          <a:endParaRPr lang="en-US" sz="2900" kern="1200"/>
        </a:p>
      </dsp:txBody>
      <dsp:txXfrm>
        <a:off x="5635800" y="2081704"/>
        <a:ext cx="4320000" cy="648000"/>
      </dsp:txXfrm>
    </dsp:sp>
    <dsp:sp modelId="{745D809E-5570-45C0-9ED1-0EDAF649A283}">
      <dsp:nvSpPr>
        <dsp:cNvPr id="0" name=""/>
        <dsp:cNvSpPr/>
      </dsp:nvSpPr>
      <dsp:spPr>
        <a:xfrm>
          <a:off x="5635800" y="2800013"/>
          <a:ext cx="4320000" cy="1133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Student takes test with textbook open on the desk.</a:t>
          </a:r>
        </a:p>
        <a:p>
          <a:pPr marL="0" lvl="0" indent="0" algn="ctr" defTabSz="755650">
            <a:lnSpc>
              <a:spcPct val="90000"/>
            </a:lnSpc>
            <a:spcBef>
              <a:spcPct val="0"/>
            </a:spcBef>
            <a:spcAft>
              <a:spcPct val="35000"/>
            </a:spcAft>
            <a:buNone/>
          </a:pPr>
          <a:r>
            <a:rPr lang="en-US" sz="1700" kern="1200"/>
            <a:t>Benefit: Look up exact page, read, synthesize.</a:t>
          </a:r>
        </a:p>
        <a:p>
          <a:pPr marL="0" lvl="0" indent="0" algn="ctr" defTabSz="755650">
            <a:lnSpc>
              <a:spcPct val="90000"/>
            </a:lnSpc>
            <a:spcBef>
              <a:spcPct val="0"/>
            </a:spcBef>
            <a:spcAft>
              <a:spcPct val="35000"/>
            </a:spcAft>
            <a:buNone/>
          </a:pPr>
          <a:r>
            <a:rPr lang="en-US" sz="1700" kern="1200" dirty="0"/>
            <a:t>Result: </a:t>
          </a:r>
          <a:r>
            <a:rPr lang="en-US" sz="1700" kern="1200" dirty="0">
              <a:highlight>
                <a:srgbClr val="FFFF00"/>
              </a:highlight>
            </a:rPr>
            <a:t>High accuracy</a:t>
          </a:r>
          <a:r>
            <a:rPr lang="en-US" sz="1700" kern="1200" dirty="0"/>
            <a:t>, </a:t>
          </a:r>
          <a:r>
            <a:rPr lang="en-US" sz="1700" kern="1200" dirty="0">
              <a:highlight>
                <a:srgbClr val="FFFF00"/>
              </a:highlight>
            </a:rPr>
            <a:t>verifiable sources</a:t>
          </a:r>
          <a:r>
            <a:rPr lang="en-US" sz="1700" kern="1200" dirty="0"/>
            <a:t>.</a:t>
          </a:r>
        </a:p>
      </dsp:txBody>
      <dsp:txXfrm>
        <a:off x="5635800" y="2800013"/>
        <a:ext cx="4320000" cy="11339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FB241A-544A-461B-A95C-B07F3E997F1D}">
      <dsp:nvSpPr>
        <dsp:cNvPr id="0" name=""/>
        <dsp:cNvSpPr/>
      </dsp:nvSpPr>
      <dsp:spPr>
        <a:xfrm>
          <a:off x="0" y="0"/>
          <a:ext cx="8412480" cy="95755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The Triad:</a:t>
          </a:r>
          <a:endParaRPr lang="en-US" sz="2500" kern="1200"/>
        </a:p>
      </dsp:txBody>
      <dsp:txXfrm>
        <a:off x="28046" y="28046"/>
        <a:ext cx="7298284" cy="901467"/>
      </dsp:txXfrm>
    </dsp:sp>
    <dsp:sp modelId="{ED9719AF-CC90-4B6F-9E1D-037687794592}">
      <dsp:nvSpPr>
        <dsp:cNvPr id="0" name=""/>
        <dsp:cNvSpPr/>
      </dsp:nvSpPr>
      <dsp:spPr>
        <a:xfrm>
          <a:off x="704545" y="1131661"/>
          <a:ext cx="8412480" cy="95755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1. Indexer:</a:t>
          </a:r>
          <a:r>
            <a:rPr lang="en-US" sz="2500" kern="1200"/>
            <a:t> Prepares your private data (PDFs, Wikis, Databases).</a:t>
          </a:r>
        </a:p>
      </dsp:txBody>
      <dsp:txXfrm>
        <a:off x="732591" y="1159707"/>
        <a:ext cx="7029429" cy="901467"/>
      </dsp:txXfrm>
    </dsp:sp>
    <dsp:sp modelId="{AEF69B56-FB8E-4854-9546-FBD5E1AED26C}">
      <dsp:nvSpPr>
        <dsp:cNvPr id="0" name=""/>
        <dsp:cNvSpPr/>
      </dsp:nvSpPr>
      <dsp:spPr>
        <a:xfrm>
          <a:off x="1398574" y="2263322"/>
          <a:ext cx="8412480" cy="95755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2. Retriever:</a:t>
          </a:r>
          <a:r>
            <a:rPr lang="en-US" sz="2500" kern="1200"/>
            <a:t> Finds the most relevant "chunks" based on user question.</a:t>
          </a:r>
        </a:p>
      </dsp:txBody>
      <dsp:txXfrm>
        <a:off x="1426620" y="2291368"/>
        <a:ext cx="7039944" cy="901467"/>
      </dsp:txXfrm>
    </dsp:sp>
    <dsp:sp modelId="{49963E8E-59C6-49D4-B699-CB34E279AFDB}">
      <dsp:nvSpPr>
        <dsp:cNvPr id="0" name=""/>
        <dsp:cNvSpPr/>
      </dsp:nvSpPr>
      <dsp:spPr>
        <a:xfrm>
          <a:off x="2103119" y="3394984"/>
          <a:ext cx="8412480" cy="95755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3. Generator:</a:t>
          </a:r>
          <a:r>
            <a:rPr lang="en-US" sz="2500" kern="1200"/>
            <a:t> The LLM takes chunks + question and writes the answer.</a:t>
          </a:r>
        </a:p>
      </dsp:txBody>
      <dsp:txXfrm>
        <a:off x="2131165" y="3423030"/>
        <a:ext cx="7029429" cy="901467"/>
      </dsp:txXfrm>
    </dsp:sp>
    <dsp:sp modelId="{FA36B6DA-A310-405B-AD3D-5AB176F8A300}">
      <dsp:nvSpPr>
        <dsp:cNvPr id="0" name=""/>
        <dsp:cNvSpPr/>
      </dsp:nvSpPr>
      <dsp:spPr>
        <a:xfrm>
          <a:off x="7790066" y="733403"/>
          <a:ext cx="622413" cy="622413"/>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930109" y="733403"/>
        <a:ext cx="342327" cy="468366"/>
      </dsp:txXfrm>
    </dsp:sp>
    <dsp:sp modelId="{198C806C-B88A-47F5-80DB-05985A644F73}">
      <dsp:nvSpPr>
        <dsp:cNvPr id="0" name=""/>
        <dsp:cNvSpPr/>
      </dsp:nvSpPr>
      <dsp:spPr>
        <a:xfrm>
          <a:off x="8494611" y="1865065"/>
          <a:ext cx="622413" cy="622413"/>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8634654" y="1865065"/>
        <a:ext cx="342327" cy="468366"/>
      </dsp:txXfrm>
    </dsp:sp>
    <dsp:sp modelId="{98D4AB9B-404B-472D-B025-B92EF2200355}">
      <dsp:nvSpPr>
        <dsp:cNvPr id="0" name=""/>
        <dsp:cNvSpPr/>
      </dsp:nvSpPr>
      <dsp:spPr>
        <a:xfrm>
          <a:off x="9188641" y="2996726"/>
          <a:ext cx="622413" cy="622413"/>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328684" y="2996726"/>
        <a:ext cx="342327" cy="4683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8178DE-DFA3-4115-AF90-BBC485E22210}">
      <dsp:nvSpPr>
        <dsp:cNvPr id="0" name=""/>
        <dsp:cNvSpPr/>
      </dsp:nvSpPr>
      <dsp:spPr>
        <a:xfrm>
          <a:off x="-662375" y="6899"/>
          <a:ext cx="10515600" cy="12396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CDA9C1-7A66-4338-AB1B-6956418DD02B}">
      <dsp:nvSpPr>
        <dsp:cNvPr id="0" name=""/>
        <dsp:cNvSpPr/>
      </dsp:nvSpPr>
      <dsp:spPr>
        <a:xfrm>
          <a:off x="-287384" y="285818"/>
          <a:ext cx="681802" cy="6818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A73A7E-5A1F-4A6F-9CC1-99D50DF721AE}">
      <dsp:nvSpPr>
        <dsp:cNvPr id="0" name=""/>
        <dsp:cNvSpPr/>
      </dsp:nvSpPr>
      <dsp:spPr>
        <a:xfrm>
          <a:off x="769410" y="6899"/>
          <a:ext cx="9081013" cy="123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195" tIns="131195" rIns="131195" bIns="131195" numCol="1" spcCol="1270" anchor="ctr" anchorCtr="0">
          <a:noAutofit/>
        </a:bodyPr>
        <a:lstStyle/>
        <a:p>
          <a:pPr marL="0" lvl="0" indent="0" algn="l" defTabSz="1111250">
            <a:lnSpc>
              <a:spcPct val="90000"/>
            </a:lnSpc>
            <a:spcBef>
              <a:spcPct val="0"/>
            </a:spcBef>
            <a:spcAft>
              <a:spcPct val="35000"/>
            </a:spcAft>
            <a:buNone/>
          </a:pPr>
          <a:r>
            <a:rPr lang="en-US" sz="2500" b="1" kern="1200"/>
            <a:t>Why Chunk?</a:t>
          </a:r>
          <a:r>
            <a:rPr lang="en-US" sz="2500" kern="1200"/>
            <a:t> Context Window limits &amp; Cost. Need small, relevant pieces.</a:t>
          </a:r>
        </a:p>
      </dsp:txBody>
      <dsp:txXfrm>
        <a:off x="769410" y="6899"/>
        <a:ext cx="9081013" cy="1239641"/>
      </dsp:txXfrm>
    </dsp:sp>
    <dsp:sp modelId="{9668BA9C-5399-496D-8C02-790F6C00063B}">
      <dsp:nvSpPr>
        <dsp:cNvPr id="0" name=""/>
        <dsp:cNvSpPr/>
      </dsp:nvSpPr>
      <dsp:spPr>
        <a:xfrm>
          <a:off x="-662375" y="1556451"/>
          <a:ext cx="10515600" cy="12396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6B3250-ECC5-433D-B499-C81F2B4F7751}">
      <dsp:nvSpPr>
        <dsp:cNvPr id="0" name=""/>
        <dsp:cNvSpPr/>
      </dsp:nvSpPr>
      <dsp:spPr>
        <a:xfrm>
          <a:off x="-287384" y="1835370"/>
          <a:ext cx="681802" cy="6818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88A816-B44E-40CC-9BFB-F6E965F81B9C}">
      <dsp:nvSpPr>
        <dsp:cNvPr id="0" name=""/>
        <dsp:cNvSpPr/>
      </dsp:nvSpPr>
      <dsp:spPr>
        <a:xfrm>
          <a:off x="769410" y="1556451"/>
          <a:ext cx="4732020" cy="123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195" tIns="131195" rIns="131195" bIns="131195" numCol="1" spcCol="1270" anchor="ctr" anchorCtr="0">
          <a:noAutofit/>
        </a:bodyPr>
        <a:lstStyle/>
        <a:p>
          <a:pPr marL="0" lvl="0" indent="0" algn="l" defTabSz="1111250">
            <a:lnSpc>
              <a:spcPct val="90000"/>
            </a:lnSpc>
            <a:spcBef>
              <a:spcPct val="0"/>
            </a:spcBef>
            <a:spcAft>
              <a:spcPct val="35000"/>
            </a:spcAft>
            <a:buNone/>
          </a:pPr>
          <a:r>
            <a:rPr lang="en-US" sz="2500" b="1" kern="1200"/>
            <a:t>Strategies:</a:t>
          </a:r>
          <a:endParaRPr lang="en-US" sz="2500" kern="1200"/>
        </a:p>
      </dsp:txBody>
      <dsp:txXfrm>
        <a:off x="769410" y="1556451"/>
        <a:ext cx="4732020" cy="1239641"/>
      </dsp:txXfrm>
    </dsp:sp>
    <dsp:sp modelId="{AEF911C0-F3A6-4BE9-933D-388BDAB15A55}">
      <dsp:nvSpPr>
        <dsp:cNvPr id="0" name=""/>
        <dsp:cNvSpPr/>
      </dsp:nvSpPr>
      <dsp:spPr>
        <a:xfrm>
          <a:off x="2614720" y="1603817"/>
          <a:ext cx="7004097" cy="123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195" tIns="131195" rIns="131195" bIns="131195" numCol="1" spcCol="1270" anchor="ctr" anchorCtr="0">
          <a:noAutofit/>
        </a:bodyPr>
        <a:lstStyle/>
        <a:p>
          <a:pPr marL="0" lvl="0" indent="0" algn="l" defTabSz="533400">
            <a:lnSpc>
              <a:spcPct val="90000"/>
            </a:lnSpc>
            <a:spcBef>
              <a:spcPct val="0"/>
            </a:spcBef>
            <a:spcAft>
              <a:spcPct val="35000"/>
            </a:spcAft>
            <a:buNone/>
          </a:pPr>
          <a:r>
            <a:rPr lang="en-US" sz="1200" b="1" kern="1200"/>
            <a:t>Fixed Size:</a:t>
          </a:r>
          <a:r>
            <a:rPr lang="en-US" sz="1200" kern="1200"/>
            <a:t> Every 500 chars. (Simple, breaks sentences).</a:t>
          </a:r>
        </a:p>
        <a:p>
          <a:pPr marL="0" lvl="0" indent="0" algn="l" defTabSz="533400">
            <a:lnSpc>
              <a:spcPct val="90000"/>
            </a:lnSpc>
            <a:spcBef>
              <a:spcPct val="0"/>
            </a:spcBef>
            <a:spcAft>
              <a:spcPct val="35000"/>
            </a:spcAft>
            <a:buNone/>
          </a:pPr>
          <a:r>
            <a:rPr lang="en-US" sz="1200" b="1" kern="1200"/>
            <a:t>Recursive:</a:t>
          </a:r>
          <a:r>
            <a:rPr lang="en-US" sz="1200" kern="1200"/>
            <a:t> Split by paragraphs, then sentences. (Better context).</a:t>
          </a:r>
        </a:p>
        <a:p>
          <a:pPr marL="0" lvl="0" indent="0" algn="l" defTabSz="533400">
            <a:lnSpc>
              <a:spcPct val="90000"/>
            </a:lnSpc>
            <a:spcBef>
              <a:spcPct val="0"/>
            </a:spcBef>
            <a:spcAft>
              <a:spcPct val="35000"/>
            </a:spcAft>
            <a:buNone/>
          </a:pPr>
          <a:r>
            <a:rPr lang="en-US" sz="1200" b="1" kern="1200"/>
            <a:t>Semantic Chunking (2025 Standard):</a:t>
          </a:r>
          <a:r>
            <a:rPr lang="en-US" sz="1200" kern="1200"/>
            <a:t> Break when topic changes (embedding shifts).</a:t>
          </a:r>
        </a:p>
      </dsp:txBody>
      <dsp:txXfrm>
        <a:off x="2614720" y="1603817"/>
        <a:ext cx="7004097" cy="1239641"/>
      </dsp:txXfrm>
    </dsp:sp>
    <dsp:sp modelId="{6F3F7693-6947-4DE4-A14C-B5F168801176}">
      <dsp:nvSpPr>
        <dsp:cNvPr id="0" name=""/>
        <dsp:cNvSpPr/>
      </dsp:nvSpPr>
      <dsp:spPr>
        <a:xfrm>
          <a:off x="-662375" y="3106003"/>
          <a:ext cx="10515600" cy="12396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1004DC-C55C-4957-9E2E-D27A97FAB9CB}">
      <dsp:nvSpPr>
        <dsp:cNvPr id="0" name=""/>
        <dsp:cNvSpPr/>
      </dsp:nvSpPr>
      <dsp:spPr>
        <a:xfrm>
          <a:off x="-287384" y="3384922"/>
          <a:ext cx="681802" cy="6818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E38BF5-FE92-434C-A532-598B4169EB0A}">
      <dsp:nvSpPr>
        <dsp:cNvPr id="0" name=""/>
        <dsp:cNvSpPr/>
      </dsp:nvSpPr>
      <dsp:spPr>
        <a:xfrm>
          <a:off x="769410" y="3106003"/>
          <a:ext cx="9081013" cy="123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195" tIns="131195" rIns="131195" bIns="131195" numCol="1" spcCol="1270" anchor="ctr" anchorCtr="0">
          <a:noAutofit/>
        </a:bodyPr>
        <a:lstStyle/>
        <a:p>
          <a:pPr marL="0" lvl="0" indent="0" algn="l" defTabSz="1111250">
            <a:lnSpc>
              <a:spcPct val="90000"/>
            </a:lnSpc>
            <a:spcBef>
              <a:spcPct val="0"/>
            </a:spcBef>
            <a:spcAft>
              <a:spcPct val="35000"/>
            </a:spcAft>
            <a:buNone/>
          </a:pPr>
          <a:r>
            <a:rPr lang="en-US" sz="2500" kern="1200" dirty="0"/>
            <a:t>Think of it as </a:t>
          </a:r>
          <a:r>
            <a:rPr lang="en-US" sz="2500" kern="1200" dirty="0">
              <a:highlight>
                <a:srgbClr val="FFFF00"/>
              </a:highlight>
            </a:rPr>
            <a:t>Long doc being sliced into overlapping tiles</a:t>
          </a:r>
        </a:p>
      </dsp:txBody>
      <dsp:txXfrm>
        <a:off x="769410" y="3106003"/>
        <a:ext cx="9081013" cy="12396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A136C6-7672-4CBF-A00E-FDF187390545}">
      <dsp:nvSpPr>
        <dsp:cNvPr id="0" name=""/>
        <dsp:cNvSpPr/>
      </dsp:nvSpPr>
      <dsp:spPr>
        <a:xfrm>
          <a:off x="0" y="531"/>
          <a:ext cx="10515600" cy="1243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802954-307E-4136-BFC2-C511A1606D57}">
      <dsp:nvSpPr>
        <dsp:cNvPr id="0" name=""/>
        <dsp:cNvSpPr/>
      </dsp:nvSpPr>
      <dsp:spPr>
        <a:xfrm>
          <a:off x="376092" y="280269"/>
          <a:ext cx="683804" cy="6838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C828E1-021F-4A9E-8A66-5071BBFFC713}">
      <dsp:nvSpPr>
        <dsp:cNvPr id="0" name=""/>
        <dsp:cNvSpPr/>
      </dsp:nvSpPr>
      <dsp:spPr>
        <a:xfrm>
          <a:off x="1435988" y="5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90000"/>
            </a:lnSpc>
            <a:spcBef>
              <a:spcPct val="0"/>
            </a:spcBef>
            <a:spcAft>
              <a:spcPct val="35000"/>
            </a:spcAft>
            <a:buNone/>
          </a:pPr>
          <a:r>
            <a:rPr lang="en-US" sz="2500" b="1" kern="1200" dirty="0"/>
            <a:t>Recall Module 2:</a:t>
          </a:r>
          <a:r>
            <a:rPr lang="en-US" sz="2500" kern="1200" dirty="0"/>
            <a:t> Convert text to Vectors.</a:t>
          </a:r>
        </a:p>
      </dsp:txBody>
      <dsp:txXfrm>
        <a:off x="1435988" y="531"/>
        <a:ext cx="9079611" cy="1243280"/>
      </dsp:txXfrm>
    </dsp:sp>
    <dsp:sp modelId="{D01AF7F2-E525-4526-9AB6-FBAF2FCCFDD4}">
      <dsp:nvSpPr>
        <dsp:cNvPr id="0" name=""/>
        <dsp:cNvSpPr/>
      </dsp:nvSpPr>
      <dsp:spPr>
        <a:xfrm>
          <a:off x="0" y="1554631"/>
          <a:ext cx="10515600" cy="12432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BBAC81-B017-4D55-A6E6-ECC3F28EEC6B}">
      <dsp:nvSpPr>
        <dsp:cNvPr id="0" name=""/>
        <dsp:cNvSpPr/>
      </dsp:nvSpPr>
      <dsp:spPr>
        <a:xfrm>
          <a:off x="376092" y="1834369"/>
          <a:ext cx="683804" cy="6838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B4C299-D561-4725-A151-277E913F4487}">
      <dsp:nvSpPr>
        <dsp:cNvPr id="0" name=""/>
        <dsp:cNvSpPr/>
      </dsp:nvSpPr>
      <dsp:spPr>
        <a:xfrm>
          <a:off x="1435988" y="1554631"/>
          <a:ext cx="4732020"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90000"/>
            </a:lnSpc>
            <a:spcBef>
              <a:spcPct val="0"/>
            </a:spcBef>
            <a:spcAft>
              <a:spcPct val="35000"/>
            </a:spcAft>
            <a:buNone/>
          </a:pPr>
          <a:r>
            <a:rPr lang="en-US" sz="2500" b="1" kern="1200"/>
            <a:t>The Process:</a:t>
          </a:r>
          <a:endParaRPr lang="en-US" sz="2500" kern="1200"/>
        </a:p>
      </dsp:txBody>
      <dsp:txXfrm>
        <a:off x="1435988" y="1554631"/>
        <a:ext cx="4732020" cy="1243280"/>
      </dsp:txXfrm>
    </dsp:sp>
    <dsp:sp modelId="{97A6D151-3B47-4FBC-A2B6-716233D6F421}">
      <dsp:nvSpPr>
        <dsp:cNvPr id="0" name=""/>
        <dsp:cNvSpPr/>
      </dsp:nvSpPr>
      <dsp:spPr>
        <a:xfrm>
          <a:off x="6168008" y="1554631"/>
          <a:ext cx="434759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711200">
            <a:lnSpc>
              <a:spcPct val="90000"/>
            </a:lnSpc>
            <a:spcBef>
              <a:spcPct val="0"/>
            </a:spcBef>
            <a:spcAft>
              <a:spcPct val="35000"/>
            </a:spcAft>
            <a:buNone/>
          </a:pPr>
          <a:r>
            <a:rPr lang="en-US" sz="1600" kern="1200" dirty="0"/>
            <a:t>Pass every chunk through an Embedding Model.</a:t>
          </a:r>
        </a:p>
        <a:p>
          <a:pPr marL="0" lvl="0" indent="0" algn="l" defTabSz="711200">
            <a:lnSpc>
              <a:spcPct val="90000"/>
            </a:lnSpc>
            <a:spcBef>
              <a:spcPct val="0"/>
            </a:spcBef>
            <a:spcAft>
              <a:spcPct val="35000"/>
            </a:spcAft>
            <a:buNone/>
          </a:pPr>
          <a:r>
            <a:rPr lang="en-US" sz="1600" kern="1200"/>
            <a:t>e.g., OpenAI text-embedding-3-small or Hugging Face all-MiniLM-L6-v2.</a:t>
          </a:r>
        </a:p>
      </dsp:txBody>
      <dsp:txXfrm>
        <a:off x="6168008" y="1554631"/>
        <a:ext cx="4347591" cy="1243280"/>
      </dsp:txXfrm>
    </dsp:sp>
    <dsp:sp modelId="{B4AE71E0-A011-4D7B-B022-E01910861A3D}">
      <dsp:nvSpPr>
        <dsp:cNvPr id="0" name=""/>
        <dsp:cNvSpPr/>
      </dsp:nvSpPr>
      <dsp:spPr>
        <a:xfrm>
          <a:off x="0" y="3108732"/>
          <a:ext cx="10515600" cy="12432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57DD80-DF17-49C0-9909-7C3FCC0E6BA5}">
      <dsp:nvSpPr>
        <dsp:cNvPr id="0" name=""/>
        <dsp:cNvSpPr/>
      </dsp:nvSpPr>
      <dsp:spPr>
        <a:xfrm>
          <a:off x="376092" y="3388470"/>
          <a:ext cx="683804" cy="6838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E0B792-DDF9-42CA-92B1-A84575F9B2B0}">
      <dsp:nvSpPr>
        <dsp:cNvPr id="0" name=""/>
        <dsp:cNvSpPr/>
      </dsp:nvSpPr>
      <dsp:spPr>
        <a:xfrm>
          <a:off x="1435988" y="3108732"/>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90000"/>
            </a:lnSpc>
            <a:spcBef>
              <a:spcPct val="0"/>
            </a:spcBef>
            <a:spcAft>
              <a:spcPct val="35000"/>
            </a:spcAft>
            <a:buNone/>
          </a:pPr>
          <a:r>
            <a:rPr lang="en-US" sz="2500" b="1" kern="1200" dirty="0"/>
            <a:t>Result:</a:t>
          </a:r>
          <a:r>
            <a:rPr lang="en-US" sz="2500" kern="1200" dirty="0"/>
            <a:t> A list of </a:t>
          </a:r>
          <a:r>
            <a:rPr lang="en-US" sz="2500" u="sng" kern="1200" dirty="0"/>
            <a:t>floating-point numbers </a:t>
          </a:r>
          <a:r>
            <a:rPr lang="en-US" sz="2500" kern="1200" dirty="0"/>
            <a:t>representing the meaning.</a:t>
          </a:r>
        </a:p>
      </dsp:txBody>
      <dsp:txXfrm>
        <a:off x="1435988" y="3108732"/>
        <a:ext cx="9079611" cy="12432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C7E900-F990-4C71-A2B9-2566289244DA}">
      <dsp:nvSpPr>
        <dsp:cNvPr id="0" name=""/>
        <dsp:cNvSpPr/>
      </dsp:nvSpPr>
      <dsp:spPr>
        <a:xfrm>
          <a:off x="0" y="2655"/>
          <a:ext cx="7886700" cy="12417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D7D0F6-9851-442B-BCDB-6FB606425D5F}">
      <dsp:nvSpPr>
        <dsp:cNvPr id="0" name=""/>
        <dsp:cNvSpPr/>
      </dsp:nvSpPr>
      <dsp:spPr>
        <a:xfrm>
          <a:off x="375620" y="282042"/>
          <a:ext cx="682947" cy="6829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0A6E2A-9B63-4C2D-818F-9FC8DCCB298D}">
      <dsp:nvSpPr>
        <dsp:cNvPr id="0" name=""/>
        <dsp:cNvSpPr/>
      </dsp:nvSpPr>
      <dsp:spPr>
        <a:xfrm>
          <a:off x="1434189" y="2655"/>
          <a:ext cx="6451109" cy="1241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416" tIns="131416" rIns="131416" bIns="131416" numCol="1" spcCol="1270" anchor="ctr" anchorCtr="0">
          <a:noAutofit/>
        </a:bodyPr>
        <a:lstStyle/>
        <a:p>
          <a:pPr marL="0" lvl="0" indent="0" algn="l" defTabSz="1111250">
            <a:lnSpc>
              <a:spcPct val="100000"/>
            </a:lnSpc>
            <a:spcBef>
              <a:spcPct val="0"/>
            </a:spcBef>
            <a:spcAft>
              <a:spcPct val="35000"/>
            </a:spcAft>
            <a:buNone/>
          </a:pPr>
          <a:r>
            <a:rPr lang="en-US" sz="2500" b="1" kern="1200" dirty="0"/>
            <a:t>What is it?</a:t>
          </a:r>
          <a:r>
            <a:rPr lang="en-US" sz="2500" kern="1200" dirty="0"/>
            <a:t> DB optimized for </a:t>
          </a:r>
          <a:r>
            <a:rPr lang="en-US" sz="2500" kern="1200" dirty="0">
              <a:highlight>
                <a:srgbClr val="FFFF00"/>
              </a:highlight>
            </a:rPr>
            <a:t>similarity search of vectors</a:t>
          </a:r>
          <a:r>
            <a:rPr lang="en-US" sz="2500" kern="1200" dirty="0"/>
            <a:t>.</a:t>
          </a:r>
        </a:p>
      </dsp:txBody>
      <dsp:txXfrm>
        <a:off x="1434189" y="2655"/>
        <a:ext cx="6451109" cy="1241722"/>
      </dsp:txXfrm>
    </dsp:sp>
    <dsp:sp modelId="{12CE2C85-DA3B-471D-A448-DF0793B5199B}">
      <dsp:nvSpPr>
        <dsp:cNvPr id="0" name=""/>
        <dsp:cNvSpPr/>
      </dsp:nvSpPr>
      <dsp:spPr>
        <a:xfrm>
          <a:off x="0" y="1554807"/>
          <a:ext cx="7886700" cy="12417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B2C63E-7FE3-42F3-8FB5-D2A0CFE7999D}">
      <dsp:nvSpPr>
        <dsp:cNvPr id="0" name=""/>
        <dsp:cNvSpPr/>
      </dsp:nvSpPr>
      <dsp:spPr>
        <a:xfrm>
          <a:off x="375620" y="1834195"/>
          <a:ext cx="682947" cy="6829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C0B854-EBA2-4235-ADC7-9CCF964B16F3}">
      <dsp:nvSpPr>
        <dsp:cNvPr id="0" name=""/>
        <dsp:cNvSpPr/>
      </dsp:nvSpPr>
      <dsp:spPr>
        <a:xfrm>
          <a:off x="1434189" y="1554807"/>
          <a:ext cx="3549015" cy="1241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416" tIns="131416" rIns="131416" bIns="131416" numCol="1" spcCol="1270" anchor="ctr" anchorCtr="0">
          <a:noAutofit/>
        </a:bodyPr>
        <a:lstStyle/>
        <a:p>
          <a:pPr marL="0" lvl="0" indent="0" algn="l" defTabSz="1111250">
            <a:lnSpc>
              <a:spcPct val="100000"/>
            </a:lnSpc>
            <a:spcBef>
              <a:spcPct val="0"/>
            </a:spcBef>
            <a:spcAft>
              <a:spcPct val="35000"/>
            </a:spcAft>
            <a:buNone/>
          </a:pPr>
          <a:r>
            <a:rPr lang="en-US" sz="2500" b="1" kern="1200"/>
            <a:t>The Landscape:</a:t>
          </a:r>
          <a:endParaRPr lang="en-US" sz="2500" kern="1200"/>
        </a:p>
      </dsp:txBody>
      <dsp:txXfrm>
        <a:off x="1434189" y="1554807"/>
        <a:ext cx="3549015" cy="1241722"/>
      </dsp:txXfrm>
    </dsp:sp>
    <dsp:sp modelId="{B29497C0-FA17-4D99-8424-247AF0FEFE0C}">
      <dsp:nvSpPr>
        <dsp:cNvPr id="0" name=""/>
        <dsp:cNvSpPr/>
      </dsp:nvSpPr>
      <dsp:spPr>
        <a:xfrm>
          <a:off x="4983204" y="1554807"/>
          <a:ext cx="2902094" cy="1241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416" tIns="131416" rIns="131416" bIns="131416" numCol="1" spcCol="1270" anchor="ctr" anchorCtr="0">
          <a:noAutofit/>
        </a:bodyPr>
        <a:lstStyle/>
        <a:p>
          <a:pPr marL="0" lvl="0" indent="0" algn="l" defTabSz="488950">
            <a:lnSpc>
              <a:spcPct val="100000"/>
            </a:lnSpc>
            <a:spcBef>
              <a:spcPct val="0"/>
            </a:spcBef>
            <a:spcAft>
              <a:spcPct val="35000"/>
            </a:spcAft>
            <a:buNone/>
          </a:pPr>
          <a:r>
            <a:rPr lang="en-US" sz="1100" kern="1200" dirty="0"/>
            <a:t>Azure AI Search: Microsoft, Postgres </a:t>
          </a:r>
          <a:r>
            <a:rPr lang="en-US" sz="1100" kern="1200" dirty="0" err="1"/>
            <a:t>pgvector</a:t>
          </a:r>
          <a:r>
            <a:rPr lang="en-US" sz="1100" kern="1200" dirty="0"/>
            <a:t>, </a:t>
          </a:r>
          <a:br>
            <a:rPr lang="en-US" sz="1100" kern="1200" dirty="0"/>
          </a:br>
          <a:r>
            <a:rPr lang="en-US" sz="1100" kern="1200" dirty="0"/>
            <a:t>Pinecone: Managed, scalable, cloud-native.</a:t>
          </a:r>
        </a:p>
        <a:p>
          <a:pPr marL="0" lvl="0" indent="0" algn="l" defTabSz="488950">
            <a:lnSpc>
              <a:spcPct val="100000"/>
            </a:lnSpc>
            <a:spcBef>
              <a:spcPct val="0"/>
            </a:spcBef>
            <a:spcAft>
              <a:spcPct val="35000"/>
            </a:spcAft>
            <a:buNone/>
          </a:pPr>
          <a:r>
            <a:rPr lang="en-US" sz="1100" kern="1200"/>
            <a:t>ChromaDB / FAISS: Open-source, runs locally (Our Lab).</a:t>
          </a:r>
        </a:p>
        <a:p>
          <a:pPr marL="0" lvl="0" indent="0" algn="l" defTabSz="488950">
            <a:lnSpc>
              <a:spcPct val="100000"/>
            </a:lnSpc>
            <a:spcBef>
              <a:spcPct val="0"/>
            </a:spcBef>
            <a:spcAft>
              <a:spcPct val="35000"/>
            </a:spcAft>
            <a:buNone/>
          </a:pPr>
          <a:r>
            <a:rPr lang="en-US" sz="1100" kern="1200" dirty="0" err="1"/>
            <a:t>Weaviate</a:t>
          </a:r>
          <a:r>
            <a:rPr lang="en-US" sz="1100" kern="1200" dirty="0"/>
            <a:t> / </a:t>
          </a:r>
          <a:r>
            <a:rPr lang="en-US" sz="1100" kern="1200" dirty="0" err="1"/>
            <a:t>Qdrant</a:t>
          </a:r>
          <a:r>
            <a:rPr lang="en-US" sz="1100" kern="1200" dirty="0"/>
            <a:t>: Feature-rich, hybrid search.</a:t>
          </a:r>
        </a:p>
      </dsp:txBody>
      <dsp:txXfrm>
        <a:off x="4983204" y="1554807"/>
        <a:ext cx="2902094" cy="1241722"/>
      </dsp:txXfrm>
    </dsp:sp>
    <dsp:sp modelId="{76AEB852-B46F-4A30-BF84-4A085BC9D4A7}">
      <dsp:nvSpPr>
        <dsp:cNvPr id="0" name=""/>
        <dsp:cNvSpPr/>
      </dsp:nvSpPr>
      <dsp:spPr>
        <a:xfrm>
          <a:off x="0" y="3106960"/>
          <a:ext cx="7886700" cy="12417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F69A11-FA1E-4AC4-9CBC-F0B07FA783F3}">
      <dsp:nvSpPr>
        <dsp:cNvPr id="0" name=""/>
        <dsp:cNvSpPr/>
      </dsp:nvSpPr>
      <dsp:spPr>
        <a:xfrm>
          <a:off x="375620" y="3386348"/>
          <a:ext cx="682947" cy="6829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F2FC76-93A2-4739-9BF9-70EF762E465C}">
      <dsp:nvSpPr>
        <dsp:cNvPr id="0" name=""/>
        <dsp:cNvSpPr/>
      </dsp:nvSpPr>
      <dsp:spPr>
        <a:xfrm>
          <a:off x="1434189" y="3106960"/>
          <a:ext cx="6451109" cy="1241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416" tIns="131416" rIns="131416" bIns="131416" numCol="1" spcCol="1270" anchor="ctr" anchorCtr="0">
          <a:noAutofit/>
        </a:bodyPr>
        <a:lstStyle/>
        <a:p>
          <a:pPr marL="0" lvl="0" indent="0" algn="l" defTabSz="1111250">
            <a:lnSpc>
              <a:spcPct val="100000"/>
            </a:lnSpc>
            <a:spcBef>
              <a:spcPct val="0"/>
            </a:spcBef>
            <a:spcAft>
              <a:spcPct val="35000"/>
            </a:spcAft>
            <a:buNone/>
          </a:pPr>
          <a:r>
            <a:rPr lang="en-US" sz="2500" b="1" kern="1200"/>
            <a:t>Robotics Context:</a:t>
          </a:r>
          <a:r>
            <a:rPr lang="en-US" sz="2500" kern="1200"/>
            <a:t> The robot stores its map and object definitions here.</a:t>
          </a:r>
        </a:p>
      </dsp:txBody>
      <dsp:txXfrm>
        <a:off x="1434189" y="3106960"/>
        <a:ext cx="6451109" cy="12417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EF8C78-0A06-45F6-87FD-6CE203F5666D}">
      <dsp:nvSpPr>
        <dsp:cNvPr id="0" name=""/>
        <dsp:cNvSpPr/>
      </dsp:nvSpPr>
      <dsp:spPr>
        <a:xfrm>
          <a:off x="0" y="24579"/>
          <a:ext cx="10515600" cy="12331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kern="1200"/>
            <a:t>The Output:</a:t>
          </a:r>
          <a:r>
            <a:rPr lang="en-US" sz="3100" kern="1200"/>
            <a:t> The LLM generates the answer based on provided chunks.</a:t>
          </a:r>
        </a:p>
      </dsp:txBody>
      <dsp:txXfrm>
        <a:off x="60199" y="84778"/>
        <a:ext cx="10395202" cy="1112781"/>
      </dsp:txXfrm>
    </dsp:sp>
    <dsp:sp modelId="{D6550658-12A1-4CB3-A811-2E8576149863}">
      <dsp:nvSpPr>
        <dsp:cNvPr id="0" name=""/>
        <dsp:cNvSpPr/>
      </dsp:nvSpPr>
      <dsp:spPr>
        <a:xfrm>
          <a:off x="0" y="1347039"/>
          <a:ext cx="10515600" cy="1233179"/>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kern="1200"/>
            <a:t>Verification:</a:t>
          </a:r>
          <a:endParaRPr lang="en-US" sz="3100" kern="1200"/>
        </a:p>
      </dsp:txBody>
      <dsp:txXfrm>
        <a:off x="60199" y="1407238"/>
        <a:ext cx="10395202" cy="1112781"/>
      </dsp:txXfrm>
    </dsp:sp>
    <dsp:sp modelId="{ABBDFE3D-21CB-4649-9DD3-11E8F463AFC4}">
      <dsp:nvSpPr>
        <dsp:cNvPr id="0" name=""/>
        <dsp:cNvSpPr/>
      </dsp:nvSpPr>
      <dsp:spPr>
        <a:xfrm>
          <a:off x="0" y="2580219"/>
          <a:ext cx="10515600"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Because we know which chunks we sent, </a:t>
          </a:r>
          <a:r>
            <a:rPr lang="en-US" sz="2400" kern="1200" dirty="0">
              <a:highlight>
                <a:srgbClr val="FFFF00"/>
              </a:highlight>
            </a:rPr>
            <a:t>we can force citations</a:t>
          </a:r>
          <a:r>
            <a:rPr lang="en-US" sz="2400" kern="1200" dirty="0"/>
            <a:t>.</a:t>
          </a:r>
        </a:p>
      </dsp:txBody>
      <dsp:txXfrm>
        <a:off x="0" y="2580219"/>
        <a:ext cx="10515600" cy="513360"/>
      </dsp:txXfrm>
    </dsp:sp>
    <dsp:sp modelId="{F5CD6D17-8F58-43EA-AC70-AA225CB935DD}">
      <dsp:nvSpPr>
        <dsp:cNvPr id="0" name=""/>
        <dsp:cNvSpPr/>
      </dsp:nvSpPr>
      <dsp:spPr>
        <a:xfrm>
          <a:off x="0" y="3093579"/>
          <a:ext cx="10515600" cy="123317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kern="1200"/>
            <a:t>Example:</a:t>
          </a:r>
          <a:r>
            <a:rPr lang="en-US" sz="3100" kern="1200"/>
            <a:t> "Reset the servo by holding the red button (Source: Manual Pg 4)."</a:t>
          </a:r>
        </a:p>
      </dsp:txBody>
      <dsp:txXfrm>
        <a:off x="60199" y="3153778"/>
        <a:ext cx="10395202" cy="11127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44E5A-C6A9-4B55-8B16-6579C4E2B5AA}">
      <dsp:nvSpPr>
        <dsp:cNvPr id="0" name=""/>
        <dsp:cNvSpPr/>
      </dsp:nvSpPr>
      <dsp:spPr>
        <a:xfrm>
          <a:off x="0" y="410994"/>
          <a:ext cx="10515600" cy="166635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479044" rIns="816127"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Vectors are bad at exact part numbers ("#XJ-9"). Keywords (BM25) are good.</a:t>
          </a:r>
        </a:p>
        <a:p>
          <a:pPr marL="228600" lvl="1" indent="-228600" algn="l" defTabSz="1022350">
            <a:lnSpc>
              <a:spcPct val="90000"/>
            </a:lnSpc>
            <a:spcBef>
              <a:spcPct val="0"/>
            </a:spcBef>
            <a:spcAft>
              <a:spcPct val="15000"/>
            </a:spcAft>
            <a:buChar char="•"/>
          </a:pPr>
          <a:r>
            <a:rPr lang="en-US" sz="2300" kern="1200"/>
            <a:t>Hybrid RAG combines both.</a:t>
          </a:r>
        </a:p>
      </dsp:txBody>
      <dsp:txXfrm>
        <a:off x="0" y="410994"/>
        <a:ext cx="10515600" cy="1666350"/>
      </dsp:txXfrm>
    </dsp:sp>
    <dsp:sp modelId="{1D8F5F13-FC47-463E-A414-05AC889FBDD7}">
      <dsp:nvSpPr>
        <dsp:cNvPr id="0" name=""/>
        <dsp:cNvSpPr/>
      </dsp:nvSpPr>
      <dsp:spPr>
        <a:xfrm>
          <a:off x="525780" y="71513"/>
          <a:ext cx="7360920" cy="6789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22350">
            <a:lnSpc>
              <a:spcPct val="90000"/>
            </a:lnSpc>
            <a:spcBef>
              <a:spcPct val="0"/>
            </a:spcBef>
            <a:spcAft>
              <a:spcPct val="35000"/>
            </a:spcAft>
            <a:buNone/>
          </a:pPr>
          <a:r>
            <a:rPr lang="en-US" sz="2300" b="1" kern="1200"/>
            <a:t>Hybrid Search:</a:t>
          </a:r>
          <a:endParaRPr lang="en-US" sz="2300" kern="1200"/>
        </a:p>
      </dsp:txBody>
      <dsp:txXfrm>
        <a:off x="558924" y="104657"/>
        <a:ext cx="7294632" cy="612672"/>
      </dsp:txXfrm>
    </dsp:sp>
    <dsp:sp modelId="{395B8822-5E55-4780-8EDE-D8F15C684093}">
      <dsp:nvSpPr>
        <dsp:cNvPr id="0" name=""/>
        <dsp:cNvSpPr/>
      </dsp:nvSpPr>
      <dsp:spPr>
        <a:xfrm>
          <a:off x="0" y="2541024"/>
          <a:ext cx="10515600" cy="173880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479044" rIns="816127"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1. Retrieve 50 documents (fast).</a:t>
          </a:r>
        </a:p>
        <a:p>
          <a:pPr marL="228600" lvl="1" indent="-228600" algn="l" defTabSz="1022350">
            <a:lnSpc>
              <a:spcPct val="90000"/>
            </a:lnSpc>
            <a:spcBef>
              <a:spcPct val="0"/>
            </a:spcBef>
            <a:spcAft>
              <a:spcPct val="15000"/>
            </a:spcAft>
            <a:buChar char="•"/>
          </a:pPr>
          <a:r>
            <a:rPr lang="en-US" sz="2300" kern="1200"/>
            <a:t>2. Use "Re-ranker" model to score against query.</a:t>
          </a:r>
        </a:p>
        <a:p>
          <a:pPr marL="228600" lvl="1" indent="-228600" algn="l" defTabSz="1022350">
            <a:lnSpc>
              <a:spcPct val="90000"/>
            </a:lnSpc>
            <a:spcBef>
              <a:spcPct val="0"/>
            </a:spcBef>
            <a:spcAft>
              <a:spcPct val="15000"/>
            </a:spcAft>
            <a:buChar char="•"/>
          </a:pPr>
          <a:r>
            <a:rPr lang="en-US" sz="2300" kern="1200"/>
            <a:t>3. Send top 5 to LLM. (Significantly boosts accuracy).</a:t>
          </a:r>
        </a:p>
      </dsp:txBody>
      <dsp:txXfrm>
        <a:off x="0" y="2541024"/>
        <a:ext cx="10515600" cy="1738800"/>
      </dsp:txXfrm>
    </dsp:sp>
    <dsp:sp modelId="{C74DA242-3CF1-46B5-A8B5-3778B7428BB5}">
      <dsp:nvSpPr>
        <dsp:cNvPr id="0" name=""/>
        <dsp:cNvSpPr/>
      </dsp:nvSpPr>
      <dsp:spPr>
        <a:xfrm>
          <a:off x="525780" y="2201544"/>
          <a:ext cx="7360920" cy="6789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22350">
            <a:lnSpc>
              <a:spcPct val="90000"/>
            </a:lnSpc>
            <a:spcBef>
              <a:spcPct val="0"/>
            </a:spcBef>
            <a:spcAft>
              <a:spcPct val="35000"/>
            </a:spcAft>
            <a:buNone/>
          </a:pPr>
          <a:r>
            <a:rPr lang="en-US" sz="2300" b="1" kern="1200"/>
            <a:t>Re-Ranking (Cross-Encoders):</a:t>
          </a:r>
          <a:endParaRPr lang="en-US" sz="2300" kern="1200"/>
        </a:p>
      </dsp:txBody>
      <dsp:txXfrm>
        <a:off x="558924" y="2234688"/>
        <a:ext cx="7294632" cy="61267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F8BC0D-EC41-4748-9BD6-07E68508C107}">
      <dsp:nvSpPr>
        <dsp:cNvPr id="0" name=""/>
        <dsp:cNvSpPr/>
      </dsp:nvSpPr>
      <dsp:spPr>
        <a:xfrm>
          <a:off x="0" y="490261"/>
          <a:ext cx="10515600" cy="69556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1" kern="1200"/>
            <a:t>Goal:</a:t>
          </a:r>
          <a:r>
            <a:rPr lang="en-US" sz="2900" kern="1200"/>
            <a:t> Build a QA system for this course's syllabus.</a:t>
          </a:r>
        </a:p>
      </dsp:txBody>
      <dsp:txXfrm>
        <a:off x="33955" y="524216"/>
        <a:ext cx="10447690" cy="627655"/>
      </dsp:txXfrm>
    </dsp:sp>
    <dsp:sp modelId="{906B28A9-50F0-4DD3-8F7F-16E295824066}">
      <dsp:nvSpPr>
        <dsp:cNvPr id="0" name=""/>
        <dsp:cNvSpPr/>
      </dsp:nvSpPr>
      <dsp:spPr>
        <a:xfrm>
          <a:off x="0" y="1269346"/>
          <a:ext cx="10515600" cy="695565"/>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1" kern="1200"/>
            <a:t>The Stack: PIP Install relevant libraries</a:t>
          </a:r>
          <a:endParaRPr lang="en-US" sz="2900" kern="1200"/>
        </a:p>
      </dsp:txBody>
      <dsp:txXfrm>
        <a:off x="33955" y="1303301"/>
        <a:ext cx="10447690" cy="627655"/>
      </dsp:txXfrm>
    </dsp:sp>
    <dsp:sp modelId="{2327014C-B707-4764-953C-57A3FCE9C284}">
      <dsp:nvSpPr>
        <dsp:cNvPr id="0" name=""/>
        <dsp:cNvSpPr/>
      </dsp:nvSpPr>
      <dsp:spPr>
        <a:xfrm>
          <a:off x="0" y="1964911"/>
          <a:ext cx="10515600" cy="1200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b="1" kern="1200"/>
            <a:t>Orchestrator:</a:t>
          </a:r>
          <a:r>
            <a:rPr lang="en-US" sz="2300" kern="1200"/>
            <a:t> Use your own framework or Lang Chain (The glue code).</a:t>
          </a:r>
        </a:p>
        <a:p>
          <a:pPr marL="228600" lvl="1" indent="-228600" algn="l" defTabSz="1022350">
            <a:lnSpc>
              <a:spcPct val="90000"/>
            </a:lnSpc>
            <a:spcBef>
              <a:spcPct val="0"/>
            </a:spcBef>
            <a:spcAft>
              <a:spcPct val="20000"/>
            </a:spcAft>
            <a:buChar char="•"/>
          </a:pPr>
          <a:r>
            <a:rPr lang="en-US" sz="2300" b="1" kern="1200"/>
            <a:t>Database:</a:t>
          </a:r>
          <a:r>
            <a:rPr lang="en-US" sz="2300" kern="1200"/>
            <a:t> Chroma DB (Local vector store).</a:t>
          </a:r>
        </a:p>
        <a:p>
          <a:pPr marL="228600" lvl="1" indent="-228600" algn="l" defTabSz="1022350">
            <a:lnSpc>
              <a:spcPct val="90000"/>
            </a:lnSpc>
            <a:spcBef>
              <a:spcPct val="0"/>
            </a:spcBef>
            <a:spcAft>
              <a:spcPct val="20000"/>
            </a:spcAft>
            <a:buChar char="•"/>
          </a:pPr>
          <a:r>
            <a:rPr lang="en-US" sz="2300" b="1" kern="1200"/>
            <a:t>Embeddings:</a:t>
          </a:r>
          <a:r>
            <a:rPr lang="en-US" sz="2300" kern="1200"/>
            <a:t> Huggingface (Free, local).</a:t>
          </a:r>
        </a:p>
      </dsp:txBody>
      <dsp:txXfrm>
        <a:off x="0" y="1964911"/>
        <a:ext cx="10515600" cy="1200599"/>
      </dsp:txXfrm>
    </dsp:sp>
    <dsp:sp modelId="{A1A6002F-3729-46FC-899F-03D4216A5DCA}">
      <dsp:nvSpPr>
        <dsp:cNvPr id="0" name=""/>
        <dsp:cNvSpPr/>
      </dsp:nvSpPr>
      <dsp:spPr>
        <a:xfrm>
          <a:off x="0" y="3165511"/>
          <a:ext cx="10515600" cy="69556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1" kern="1200"/>
            <a:t>LLM:</a:t>
          </a:r>
          <a:r>
            <a:rPr lang="en-US" sz="2900" kern="1200"/>
            <a:t> OpenAI API or Google Gemini API or local ollama or LM Studio.</a:t>
          </a:r>
        </a:p>
      </dsp:txBody>
      <dsp:txXfrm>
        <a:off x="33955" y="3199466"/>
        <a:ext cx="10447690" cy="62765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2AA3A8-01DA-4837-8ED2-F115D4408891}">
      <dsp:nvSpPr>
        <dsp:cNvPr id="0" name=""/>
        <dsp:cNvSpPr/>
      </dsp:nvSpPr>
      <dsp:spPr>
        <a:xfrm>
          <a:off x="0" y="566469"/>
          <a:ext cx="10515600" cy="378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1E27490-457D-4DBD-8393-9DCC63D2364A}">
      <dsp:nvSpPr>
        <dsp:cNvPr id="0" name=""/>
        <dsp:cNvSpPr/>
      </dsp:nvSpPr>
      <dsp:spPr>
        <a:xfrm>
          <a:off x="525780" y="345069"/>
          <a:ext cx="7360920"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b="1" kern="1200"/>
            <a:t>Takeaway:</a:t>
          </a:r>
          <a:r>
            <a:rPr lang="en-US" sz="1500" kern="1200"/>
            <a:t> RAG is the industry standard. Combines reasoning (LLM) with facts (DB).</a:t>
          </a:r>
        </a:p>
      </dsp:txBody>
      <dsp:txXfrm>
        <a:off x="547396" y="366685"/>
        <a:ext cx="7317688" cy="399568"/>
      </dsp:txXfrm>
    </dsp:sp>
    <dsp:sp modelId="{C0043988-CE44-44A7-BCB6-0D05AABE38C9}">
      <dsp:nvSpPr>
        <dsp:cNvPr id="0" name=""/>
        <dsp:cNvSpPr/>
      </dsp:nvSpPr>
      <dsp:spPr>
        <a:xfrm>
          <a:off x="0" y="1246869"/>
          <a:ext cx="10515600" cy="2079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t>Lewis et al. (2020) "Retrieval-Augmented Generation..."</a:t>
          </a:r>
        </a:p>
        <a:p>
          <a:pPr marL="114300" lvl="1" indent="-114300" algn="l" defTabSz="666750">
            <a:lnSpc>
              <a:spcPct val="90000"/>
            </a:lnSpc>
            <a:spcBef>
              <a:spcPct val="0"/>
            </a:spcBef>
            <a:spcAft>
              <a:spcPct val="15000"/>
            </a:spcAft>
            <a:buChar char="•"/>
          </a:pPr>
          <a:r>
            <a:rPr lang="en-US" sz="1500" kern="1200"/>
            <a:t>Lang Chain RAG Tutorials / Pinecone Advanced RAG.</a:t>
          </a:r>
        </a:p>
        <a:p>
          <a:pPr marL="114300" lvl="1" indent="-114300" algn="l" defTabSz="666750">
            <a:lnSpc>
              <a:spcPct val="90000"/>
            </a:lnSpc>
            <a:spcBef>
              <a:spcPct val="0"/>
            </a:spcBef>
            <a:spcAft>
              <a:spcPct val="15000"/>
            </a:spcAft>
            <a:buChar char="•"/>
          </a:pPr>
          <a:r>
            <a:rPr lang="en-US" sz="1500" kern="1200"/>
            <a:t>RAG Survey: </a:t>
          </a:r>
          <a:r>
            <a:rPr lang="en-US" sz="1500" kern="1200">
              <a:hlinkClick xmlns:r="http://schemas.openxmlformats.org/officeDocument/2006/relationships" r:id="rId1"/>
            </a:rPr>
            <a:t>https://arxiv.org/pdf/2312.10997</a:t>
          </a:r>
          <a:endParaRPr lang="en-US" sz="1500" kern="1200"/>
        </a:p>
        <a:p>
          <a:pPr marL="114300" lvl="1" indent="-114300" algn="l" defTabSz="666750">
            <a:lnSpc>
              <a:spcPct val="90000"/>
            </a:lnSpc>
            <a:spcBef>
              <a:spcPct val="0"/>
            </a:spcBef>
            <a:spcAft>
              <a:spcPct val="15000"/>
            </a:spcAft>
            <a:buChar char="•"/>
          </a:pPr>
          <a:r>
            <a:rPr lang="en-US" sz="1500" kern="1200"/>
            <a:t>Effective Context Engineering - Anthropic: </a:t>
          </a:r>
          <a:r>
            <a:rPr lang="en-US" sz="1500" kern="1200">
              <a:hlinkClick xmlns:r="http://schemas.openxmlformats.org/officeDocument/2006/relationships" r:id="rId2"/>
            </a:rPr>
            <a:t>https://www.anthropic.com/engineering/effective-context-engineering-for-ai-agents</a:t>
          </a:r>
          <a:endParaRPr lang="en-US" sz="1500" kern="1200"/>
        </a:p>
        <a:p>
          <a:pPr marL="114300" lvl="1" indent="-114300" algn="l" defTabSz="666750">
            <a:lnSpc>
              <a:spcPct val="90000"/>
            </a:lnSpc>
            <a:spcBef>
              <a:spcPct val="0"/>
            </a:spcBef>
            <a:spcAft>
              <a:spcPct val="15000"/>
            </a:spcAft>
            <a:buChar char="•"/>
          </a:pPr>
          <a:r>
            <a:rPr lang="en-US" sz="1500" kern="1200"/>
            <a:t>Context Engineering 2.0: </a:t>
          </a:r>
          <a:r>
            <a:rPr lang="en-US" sz="1500" kern="1200">
              <a:hlinkClick xmlns:r="http://schemas.openxmlformats.org/officeDocument/2006/relationships" r:id="rId3"/>
            </a:rPr>
            <a:t>https://arxiv.org/pdf/2510.26493</a:t>
          </a:r>
          <a:endParaRPr lang="en-US" sz="1500" kern="1200"/>
        </a:p>
        <a:p>
          <a:pPr marL="114300" lvl="1" indent="-114300" algn="l" defTabSz="666750">
            <a:lnSpc>
              <a:spcPct val="90000"/>
            </a:lnSpc>
            <a:spcBef>
              <a:spcPct val="0"/>
            </a:spcBef>
            <a:spcAft>
              <a:spcPct val="15000"/>
            </a:spcAft>
            <a:buChar char="•"/>
          </a:pPr>
          <a:r>
            <a:rPr lang="en-US" sz="1500" kern="1200"/>
            <a:t>AI on AI Podcast: </a:t>
          </a:r>
          <a:r>
            <a:rPr lang="en-US" sz="1500" kern="1200">
              <a:hlinkClick xmlns:r="http://schemas.openxmlformats.org/officeDocument/2006/relationships" r:id="rId4"/>
            </a:rPr>
            <a:t>https://www.youtube.com/watch?v=CA-QTmeAoyg</a:t>
          </a:r>
          <a:endParaRPr lang="en-US" sz="1500" kern="1200"/>
        </a:p>
      </dsp:txBody>
      <dsp:txXfrm>
        <a:off x="0" y="1246869"/>
        <a:ext cx="10515600" cy="2079000"/>
      </dsp:txXfrm>
    </dsp:sp>
    <dsp:sp modelId="{6E9B8BB2-7137-484D-B7EB-82E11466458C}">
      <dsp:nvSpPr>
        <dsp:cNvPr id="0" name=""/>
        <dsp:cNvSpPr/>
      </dsp:nvSpPr>
      <dsp:spPr>
        <a:xfrm>
          <a:off x="525780" y="1025469"/>
          <a:ext cx="7360920"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b="1" kern="1200"/>
            <a:t>References:</a:t>
          </a:r>
          <a:endParaRPr lang="en-US" sz="1500" kern="1200"/>
        </a:p>
      </dsp:txBody>
      <dsp:txXfrm>
        <a:off x="547396" y="1047085"/>
        <a:ext cx="7317688" cy="399568"/>
      </dsp:txXfrm>
    </dsp:sp>
    <dsp:sp modelId="{C04768C5-BCDC-4CD1-AE7A-FEDA2C10724D}">
      <dsp:nvSpPr>
        <dsp:cNvPr id="0" name=""/>
        <dsp:cNvSpPr/>
      </dsp:nvSpPr>
      <dsp:spPr>
        <a:xfrm>
          <a:off x="0" y="3628269"/>
          <a:ext cx="10515600" cy="378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1526134-2328-4A52-AC0F-17F7A529F532}">
      <dsp:nvSpPr>
        <dsp:cNvPr id="0" name=""/>
        <dsp:cNvSpPr/>
      </dsp:nvSpPr>
      <dsp:spPr>
        <a:xfrm>
          <a:off x="525780" y="3406869"/>
          <a:ext cx="7360920"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b="1" kern="1200"/>
            <a:t>Next Module:</a:t>
          </a:r>
          <a:r>
            <a:rPr lang="en-US" sz="1500" kern="1200"/>
            <a:t> Module 8: Chatbots &amp; Agents.</a:t>
          </a:r>
        </a:p>
      </dsp:txBody>
      <dsp:txXfrm>
        <a:off x="547396" y="3428485"/>
        <a:ext cx="7317688" cy="399568"/>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FF134-497A-4585-8310-0125DCEB2ADF}" type="datetimeFigureOut">
              <a:rPr lang="en-US" smtClean="0"/>
              <a:t>12/20/2025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A16ABF-38CF-442B-9FCE-4F6484331F81}" type="slidenum">
              <a:rPr lang="en-US" smtClean="0"/>
              <a:t>‹#›</a:t>
            </a:fld>
            <a:endParaRPr lang="en-US"/>
          </a:p>
        </p:txBody>
      </p:sp>
    </p:spTree>
    <p:extLst>
      <p:ext uri="{BB962C8B-B14F-4D97-AF65-F5344CB8AC3E}">
        <p14:creationId xmlns:p14="http://schemas.microsoft.com/office/powerpoint/2010/main" val="1071045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r>
              <a:rPr lang="en-US" dirty="0"/>
              <a:t>Read Kaggle (Google White Paper) on Context Engineering</a:t>
            </a:r>
          </a:p>
        </p:txBody>
      </p:sp>
      <p:sp>
        <p:nvSpPr>
          <p:cNvPr id="4" name="Slide Number Placeholder 3"/>
          <p:cNvSpPr>
            <a:spLocks noGrp="1"/>
          </p:cNvSpPr>
          <p:nvPr>
            <p:ph type="sldNum" sz="quarter" idx="5"/>
          </p:nvPr>
        </p:nvSpPr>
        <p:spPr/>
        <p:txBody>
          <a:bodyPr/>
          <a:lstStyle/>
          <a:p>
            <a:fld id="{D7A16ABF-38CF-442B-9FCE-4F6484331F81}" type="slidenum">
              <a:rPr lang="en-US" smtClean="0"/>
              <a:t>1</a:t>
            </a:fld>
            <a:endParaRPr lang="en-US"/>
          </a:p>
        </p:txBody>
      </p:sp>
    </p:spTree>
    <p:extLst>
      <p:ext uri="{BB962C8B-B14F-4D97-AF65-F5344CB8AC3E}">
        <p14:creationId xmlns:p14="http://schemas.microsoft.com/office/powerpoint/2010/main" val="1789836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r>
              <a:rPr lang="en-US" dirty="0"/>
              <a:t>For larger image: Agentic_RAG_Architecture_2026</a:t>
            </a:r>
          </a:p>
        </p:txBody>
      </p:sp>
      <p:sp>
        <p:nvSpPr>
          <p:cNvPr id="4" name="Slide Number Placeholder 3"/>
          <p:cNvSpPr>
            <a:spLocks noGrp="1"/>
          </p:cNvSpPr>
          <p:nvPr>
            <p:ph type="sldNum" sz="quarter" idx="5"/>
          </p:nvPr>
        </p:nvSpPr>
        <p:spPr/>
        <p:txBody>
          <a:bodyPr/>
          <a:lstStyle/>
          <a:p>
            <a:fld id="{D7A16ABF-38CF-442B-9FCE-4F6484331F81}" type="slidenum">
              <a:rPr lang="en-US" smtClean="0"/>
              <a:t>2</a:t>
            </a:fld>
            <a:endParaRPr lang="en-US"/>
          </a:p>
        </p:txBody>
      </p:sp>
    </p:spTree>
    <p:extLst>
      <p:ext uri="{BB962C8B-B14F-4D97-AF65-F5344CB8AC3E}">
        <p14:creationId xmlns:p14="http://schemas.microsoft.com/office/powerpoint/2010/main" val="160052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A16ABF-38CF-442B-9FCE-4F6484331F81}" type="slidenum">
              <a:rPr lang="en-US" smtClean="0"/>
              <a:t>9</a:t>
            </a:fld>
            <a:endParaRPr lang="en-US"/>
          </a:p>
        </p:txBody>
      </p:sp>
    </p:spTree>
    <p:extLst>
      <p:ext uri="{BB962C8B-B14F-4D97-AF65-F5344CB8AC3E}">
        <p14:creationId xmlns:p14="http://schemas.microsoft.com/office/powerpoint/2010/main" val="2653243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r>
              <a:rPr lang="en-US" dirty="0"/>
              <a:t>Show &amp; tell: Azure AI Search</a:t>
            </a:r>
          </a:p>
        </p:txBody>
      </p:sp>
      <p:sp>
        <p:nvSpPr>
          <p:cNvPr id="4" name="Slide Number Placeholder 3"/>
          <p:cNvSpPr>
            <a:spLocks noGrp="1"/>
          </p:cNvSpPr>
          <p:nvPr>
            <p:ph type="sldNum" sz="quarter" idx="5"/>
          </p:nvPr>
        </p:nvSpPr>
        <p:spPr/>
        <p:txBody>
          <a:bodyPr/>
          <a:lstStyle/>
          <a:p>
            <a:fld id="{D7A16ABF-38CF-442B-9FCE-4F6484331F81}" type="slidenum">
              <a:rPr lang="en-US" smtClean="0"/>
              <a:t>11</a:t>
            </a:fld>
            <a:endParaRPr lang="en-US"/>
          </a:p>
        </p:txBody>
      </p:sp>
    </p:spTree>
    <p:extLst>
      <p:ext uri="{BB962C8B-B14F-4D97-AF65-F5344CB8AC3E}">
        <p14:creationId xmlns:p14="http://schemas.microsoft.com/office/powerpoint/2010/main" val="2677762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A16ABF-38CF-442B-9FCE-4F6484331F81}" type="slidenum">
              <a:rPr lang="en-US" smtClean="0"/>
              <a:t>16</a:t>
            </a:fld>
            <a:endParaRPr lang="en-US"/>
          </a:p>
        </p:txBody>
      </p:sp>
    </p:spTree>
    <p:extLst>
      <p:ext uri="{BB962C8B-B14F-4D97-AF65-F5344CB8AC3E}">
        <p14:creationId xmlns:p14="http://schemas.microsoft.com/office/powerpoint/2010/main" val="1950136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Build Trust</a:t>
            </a:r>
            <a:br>
              <a:rPr lang="en-US" dirty="0"/>
            </a:br>
            <a:r>
              <a:rPr lang="en-US" dirty="0"/>
              <a:t>Give user the source citation</a:t>
            </a:r>
          </a:p>
          <a:p>
            <a:r>
              <a:rPr lang="en-US" dirty="0"/>
              <a:t>Provide relevant Enterprise resource for the user</a:t>
            </a:r>
            <a:br>
              <a:rPr lang="en-US" dirty="0"/>
            </a:br>
            <a:r>
              <a:rPr lang="en-US" dirty="0"/>
              <a:t>Bring confidence – click the link to see the actual pdf</a:t>
            </a:r>
          </a:p>
        </p:txBody>
      </p:sp>
      <p:sp>
        <p:nvSpPr>
          <p:cNvPr id="4" name="Slide Number Placeholder 3"/>
          <p:cNvSpPr>
            <a:spLocks noGrp="1"/>
          </p:cNvSpPr>
          <p:nvPr>
            <p:ph type="sldNum" sz="quarter" idx="5"/>
          </p:nvPr>
        </p:nvSpPr>
        <p:spPr/>
        <p:txBody>
          <a:bodyPr/>
          <a:lstStyle/>
          <a:p>
            <a:fld id="{D7A16ABF-38CF-442B-9FCE-4F6484331F81}" type="slidenum">
              <a:rPr lang="en-US" smtClean="0"/>
              <a:t>17</a:t>
            </a:fld>
            <a:endParaRPr lang="en-US"/>
          </a:p>
        </p:txBody>
      </p:sp>
    </p:spTree>
    <p:extLst>
      <p:ext uri="{BB962C8B-B14F-4D97-AF65-F5344CB8AC3E}">
        <p14:creationId xmlns:p14="http://schemas.microsoft.com/office/powerpoint/2010/main" val="2361318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RAG compared with other model optimization methods in the aspects of “External Knowledge Required” and “Model Adaption Required”</a:t>
            </a:r>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D7A16ABF-38CF-442B-9FCE-4F6484331F81}" type="slidenum">
              <a:rPr lang="en-US" smtClean="0"/>
              <a:t>19</a:t>
            </a:fld>
            <a:endParaRPr lang="en-US"/>
          </a:p>
        </p:txBody>
      </p:sp>
    </p:spTree>
    <p:extLst>
      <p:ext uri="{BB962C8B-B14F-4D97-AF65-F5344CB8AC3E}">
        <p14:creationId xmlns:p14="http://schemas.microsoft.com/office/powerpoint/2010/main" val="1285156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A16ABF-38CF-442B-9FCE-4F6484331F81}" type="slidenum">
              <a:rPr lang="en-US" smtClean="0"/>
              <a:t>20</a:t>
            </a:fld>
            <a:endParaRPr lang="en-US"/>
          </a:p>
        </p:txBody>
      </p:sp>
    </p:spTree>
    <p:extLst>
      <p:ext uri="{BB962C8B-B14F-4D97-AF65-F5344CB8AC3E}">
        <p14:creationId xmlns:p14="http://schemas.microsoft.com/office/powerpoint/2010/main" val="2187149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A16ABF-38CF-442B-9FCE-4F6484331F81}" type="slidenum">
              <a:rPr lang="en-US" smtClean="0"/>
              <a:t>22</a:t>
            </a:fld>
            <a:endParaRPr lang="en-US"/>
          </a:p>
        </p:txBody>
      </p:sp>
    </p:spTree>
    <p:extLst>
      <p:ext uri="{BB962C8B-B14F-4D97-AF65-F5344CB8AC3E}">
        <p14:creationId xmlns:p14="http://schemas.microsoft.com/office/powerpoint/2010/main" val="2504387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Ontology:</a:t>
            </a:r>
            <a:r>
              <a:rPr lang="en-US" sz="1200" b="0" i="0" kern="1200" dirty="0">
                <a:solidFill>
                  <a:schemeClr val="tx1"/>
                </a:solidFill>
                <a:effectLst/>
                <a:latin typeface="+mn-lt"/>
                <a:ea typeface="+mn-ea"/>
                <a:cs typeface="+mn-cs"/>
              </a:rPr>
              <a:t> shared model of business entities, relationships, rules, and objectives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Ref: https://blog.fabric.microsoft.com/en-us/blog/from-data-platform-to-intelligence-platform-introducing-microsoft-fabric-iq</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These are the key business concepts captured or enabled by the ontology in Fabric IQ (Microsoft Unified Data Intelligence Platform):</a:t>
            </a:r>
          </a:p>
          <a:p>
            <a:r>
              <a:rPr lang="en-US" sz="1200" b="1" i="0" kern="1200" dirty="0">
                <a:solidFill>
                  <a:schemeClr val="tx1"/>
                </a:solidFill>
                <a:effectLst/>
                <a:latin typeface="+mn-lt"/>
                <a:ea typeface="+mn-ea"/>
                <a:cs typeface="+mn-cs"/>
              </a:rPr>
              <a:t>Entity Types:</a:t>
            </a:r>
            <a:r>
              <a:rPr lang="en-US" sz="1200" b="0" i="0" kern="1200" dirty="0">
                <a:solidFill>
                  <a:schemeClr val="tx1"/>
                </a:solidFill>
                <a:effectLst/>
                <a:latin typeface="+mn-lt"/>
                <a:ea typeface="+mn-ea"/>
                <a:cs typeface="+mn-cs"/>
              </a:rPr>
              <a:t> Real-world or abstract concepts that your business manages (e.g., Plane, Flight, Pilot).</a:t>
            </a:r>
          </a:p>
          <a:p>
            <a:r>
              <a:rPr lang="en-US" sz="1200" b="1" i="0" kern="1200" dirty="0">
                <a:solidFill>
                  <a:schemeClr val="tx1"/>
                </a:solidFill>
                <a:effectLst/>
                <a:latin typeface="+mn-lt"/>
                <a:ea typeface="+mn-ea"/>
                <a:cs typeface="+mn-cs"/>
              </a:rPr>
              <a:t>Relationship Types:</a:t>
            </a:r>
            <a:r>
              <a:rPr lang="en-US" sz="1200" b="0" i="0" kern="1200" dirty="0">
                <a:solidFill>
                  <a:schemeClr val="tx1"/>
                </a:solidFill>
                <a:effectLst/>
                <a:latin typeface="+mn-lt"/>
                <a:ea typeface="+mn-ea"/>
                <a:cs typeface="+mn-cs"/>
              </a:rPr>
              <a:t> How entity types relate (e.g., Passenger booked on Flight, Pilot certified for Aircraft Type).</a:t>
            </a:r>
          </a:p>
          <a:p>
            <a:r>
              <a:rPr lang="en-US" sz="1200" b="1" i="0" kern="1200" dirty="0">
                <a:solidFill>
                  <a:schemeClr val="tx1"/>
                </a:solidFill>
                <a:effectLst/>
                <a:latin typeface="+mn-lt"/>
                <a:ea typeface="+mn-ea"/>
                <a:cs typeface="+mn-cs"/>
              </a:rPr>
              <a:t>Properties:</a:t>
            </a:r>
            <a:r>
              <a:rPr lang="en-US" sz="1200" b="0" i="0" kern="1200" dirty="0">
                <a:solidFill>
                  <a:schemeClr val="tx1"/>
                </a:solidFill>
                <a:effectLst/>
                <a:latin typeface="+mn-lt"/>
                <a:ea typeface="+mn-ea"/>
                <a:cs typeface="+mn-cs"/>
              </a:rPr>
              <a:t> Facts that describes their state (example: location, fuel level, aircraft model).</a:t>
            </a:r>
          </a:p>
          <a:p>
            <a:r>
              <a:rPr lang="en-US" sz="1200" b="1" i="0" kern="1200" dirty="0">
                <a:solidFill>
                  <a:schemeClr val="tx1"/>
                </a:solidFill>
                <a:effectLst/>
                <a:latin typeface="+mn-lt"/>
                <a:ea typeface="+mn-ea"/>
                <a:cs typeface="+mn-cs"/>
              </a:rPr>
              <a:t>Actions:</a:t>
            </a:r>
            <a:r>
              <a:rPr lang="en-US" sz="1200" b="0" i="0" kern="1200" dirty="0">
                <a:solidFill>
                  <a:schemeClr val="tx1"/>
                </a:solidFill>
                <a:effectLst/>
                <a:latin typeface="+mn-lt"/>
                <a:ea typeface="+mn-ea"/>
                <a:cs typeface="+mn-cs"/>
              </a:rPr>
              <a:t> Operations that can be performed on entities (example: reroute aircraft, schedule repair, notify pilot).</a:t>
            </a:r>
          </a:p>
          <a:p>
            <a:r>
              <a:rPr lang="en-US" sz="1200" b="1" i="0" kern="1200" dirty="0">
                <a:solidFill>
                  <a:schemeClr val="tx1"/>
                </a:solidFill>
                <a:effectLst/>
                <a:latin typeface="+mn-lt"/>
                <a:ea typeface="+mn-ea"/>
                <a:cs typeface="+mn-cs"/>
              </a:rPr>
              <a:t>Rules: </a:t>
            </a:r>
            <a:r>
              <a:rPr lang="en-US" sz="1200" b="0" i="0" kern="1200" dirty="0">
                <a:solidFill>
                  <a:schemeClr val="tx1"/>
                </a:solidFill>
                <a:effectLst/>
                <a:latin typeface="+mn-lt"/>
                <a:ea typeface="+mn-ea"/>
                <a:cs typeface="+mn-cs"/>
              </a:rPr>
              <a:t>Event-driven triggers that initiate actions (example: if connection time &lt; 20 min, then rebook passengers).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7A16ABF-38CF-442B-9FCE-4F6484331F81}" type="slidenum">
              <a:rPr lang="en-US" smtClean="0"/>
              <a:t>23</a:t>
            </a:fld>
            <a:endParaRPr lang="en-US"/>
          </a:p>
        </p:txBody>
      </p:sp>
    </p:spTree>
    <p:extLst>
      <p:ext uri="{BB962C8B-B14F-4D97-AF65-F5344CB8AC3E}">
        <p14:creationId xmlns:p14="http://schemas.microsoft.com/office/powerpoint/2010/main" val="1228016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My blog for details: https://bhakthan.substack.com/p/context-engineering-20-the-context</a:t>
            </a:r>
          </a:p>
        </p:txBody>
      </p:sp>
      <p:sp>
        <p:nvSpPr>
          <p:cNvPr id="4" name="Slide Number Placeholder 3"/>
          <p:cNvSpPr>
            <a:spLocks noGrp="1"/>
          </p:cNvSpPr>
          <p:nvPr>
            <p:ph type="sldNum" sz="quarter" idx="5"/>
          </p:nvPr>
        </p:nvSpPr>
        <p:spPr/>
        <p:txBody>
          <a:bodyPr/>
          <a:lstStyle/>
          <a:p>
            <a:fld id="{D7A16ABF-38CF-442B-9FCE-4F6484331F81}" type="slidenum">
              <a:rPr lang="en-US" smtClean="0"/>
              <a:t>24</a:t>
            </a:fld>
            <a:endParaRPr lang="en-US"/>
          </a:p>
        </p:txBody>
      </p:sp>
    </p:spTree>
    <p:extLst>
      <p:ext uri="{BB962C8B-B14F-4D97-AF65-F5344CB8AC3E}">
        <p14:creationId xmlns:p14="http://schemas.microsoft.com/office/powerpoint/2010/main" val="3805733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Refer code: https://github.com/Azure-Samples/azure-search-openai-demo</a:t>
            </a:r>
          </a:p>
          <a:p>
            <a:endParaRPr lang="en-US" dirty="0"/>
          </a:p>
        </p:txBody>
      </p:sp>
      <p:sp>
        <p:nvSpPr>
          <p:cNvPr id="4" name="Slide Number Placeholder 3"/>
          <p:cNvSpPr>
            <a:spLocks noGrp="1"/>
          </p:cNvSpPr>
          <p:nvPr>
            <p:ph type="sldNum" sz="quarter" idx="5"/>
          </p:nvPr>
        </p:nvSpPr>
        <p:spPr/>
        <p:txBody>
          <a:bodyPr/>
          <a:lstStyle/>
          <a:p>
            <a:fld id="{D7A16ABF-38CF-442B-9FCE-4F6484331F81}" type="slidenum">
              <a:rPr lang="en-US" smtClean="0"/>
              <a:t>25</a:t>
            </a:fld>
            <a:endParaRPr lang="en-US"/>
          </a:p>
        </p:txBody>
      </p:sp>
    </p:spTree>
    <p:extLst>
      <p:ext uri="{BB962C8B-B14F-4D97-AF65-F5344CB8AC3E}">
        <p14:creationId xmlns:p14="http://schemas.microsoft.com/office/powerpoint/2010/main" val="1130262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A16ABF-38CF-442B-9FCE-4F6484331F81}" type="slidenum">
              <a:rPr lang="en-US" smtClean="0"/>
              <a:t>27</a:t>
            </a:fld>
            <a:endParaRPr lang="en-US"/>
          </a:p>
        </p:txBody>
      </p:sp>
    </p:spTree>
    <p:extLst>
      <p:ext uri="{BB962C8B-B14F-4D97-AF65-F5344CB8AC3E}">
        <p14:creationId xmlns:p14="http://schemas.microsoft.com/office/powerpoint/2010/main" val="2951214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txBody>
          <a:bodyPr/>
          <a:lstStyle/>
          <a:p>
            <a:endParaRPr lang="en-US"/>
          </a:p>
        </p:txBody>
      </p:sp>
      <p:sp>
        <p:nvSpPr>
          <p:cNvPr id="3" name="Notes Placeholder 2"/>
          <p:cNvSpPr>
            <a:spLocks noGrp="1"/>
          </p:cNvSpPr>
          <p:nvPr>
            <p:ph type="body" sz="quarter" idx="3"/>
          </p:nvPr>
        </p:nvSpPr>
        <p:spPr/>
        <p:txBody>
          <a:bodyPr/>
          <a:lstStyle/>
          <a:p>
            <a:endParaRPr/>
          </a:p>
          <a:p>
            <a:r>
              <a:t>    INSTRUCTOR NOTES - The "Context Window" Trap:</a:t>
            </a:r>
          </a:p>
          <a:p>
            <a:r>
              <a:t>    Students often ask: "Gemini 1.5 has a 1 Million token context window. Is RAG dead?"</a:t>
            </a:r>
          </a:p>
          <a:p>
            <a:r>
              <a:t>    </a:t>
            </a:r>
          </a:p>
          <a:p>
            <a:r>
              <a:t>    Answer: No.</a:t>
            </a:r>
          </a:p>
          <a:p>
            <a:r>
              <a:t>    1. Cost: It's expensive to fill 1M tokens every query.</a:t>
            </a:r>
          </a:p>
          <a:p>
            <a:r>
              <a:t>    2. Accuracy: "Lost in the Middle" phenomenon still exists.</a:t>
            </a:r>
          </a:p>
          <a:p>
            <a:r>
              <a:t>    3. Latency: Processing 1M tokens takes seconds/minutes; RAG takes milliseconds.</a:t>
            </a:r>
          </a:p>
          <a:p>
            <a:r>
              <a:t>    </a:t>
            </a:r>
          </a:p>
          <a:p>
            <a:r>
              <a:t>    Robotics Application: A robot cannot be "Fine-Tuned" every time the environment changes. </a:t>
            </a:r>
          </a:p>
          <a:p>
            <a:r>
              <a:t>    If you move a chair, you update the Vector Database (RAG), not retrain the Neural Network.</a:t>
            </a:r>
          </a:p>
          <a:p>
            <a:r>
              <a:t>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132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6707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3785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59795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6435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1868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0637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3966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913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3804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449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12/20/2025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2155949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whitepaper-context-engineering-sessions-and-memory"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hyperlink" Target="https://thedataquarry.com/blog/vector-db-1/"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thedataquarry.com/blog/vector-db-2/#generative-qa-chatting-with-your-data"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8.jpeg"/><Relationship Id="rId7" Type="http://schemas.openxmlformats.org/officeDocument/2006/relationships/diagramColors" Target="../diagrams/colors7.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youtu.be/CA-QTmeAoyg"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hyperlink" Target="https://www.arxiv.org/pdf/2510.26493"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arxiv.org/pdf/2510.26493"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hyperlink" Target="https://www.arxiv.org/pdf/2510.26493" TargetMode="External"/></Relationships>
</file>

<file path=ppt/slides/_rels/slide25.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30.jpeg"/><Relationship Id="rId7" Type="http://schemas.openxmlformats.org/officeDocument/2006/relationships/diagramColors" Target="../diagrams/colors9.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36.jpeg"/><Relationship Id="rId7" Type="http://schemas.openxmlformats.org/officeDocument/2006/relationships/diagramColors" Target="../diagrams/colors10.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115568" y="548640"/>
            <a:ext cx="10168128" cy="1179576"/>
          </a:xfrm>
        </p:spPr>
        <p:txBody>
          <a:bodyPr vert="horz" lIns="91440" tIns="45720" rIns="91440" bIns="45720" rtlCol="0" anchor="ctr">
            <a:normAutofit/>
          </a:bodyPr>
          <a:lstStyle/>
          <a:p>
            <a:pPr algn="l"/>
            <a:r>
              <a:rPr lang="en-US" sz="4000" kern="1200">
                <a:solidFill>
                  <a:schemeClr val="tx1"/>
                </a:solidFill>
                <a:latin typeface="+mj-lt"/>
                <a:ea typeface="+mj-ea"/>
                <a:cs typeface="+mj-cs"/>
              </a:rPr>
              <a:t>Retrieval-Augmented Generation (RAG)</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p:cNvSpPr>
            <a:spLocks noGrp="1"/>
          </p:cNvSpPr>
          <p:nvPr>
            <p:ph type="subTitle" idx="1"/>
          </p:nvPr>
        </p:nvSpPr>
        <p:spPr>
          <a:xfrm>
            <a:off x="1115568" y="2481943"/>
            <a:ext cx="10168128" cy="3695020"/>
          </a:xfrm>
        </p:spPr>
        <p:txBody>
          <a:bodyPr vert="horz" lIns="91440" tIns="45720" rIns="91440" bIns="45720" rtlCol="0">
            <a:normAutofit/>
          </a:bodyPr>
          <a:lstStyle/>
          <a:p>
            <a:pPr indent="-228600" algn="l">
              <a:buFont typeface="Arial" panose="020B0604020202020204" pitchFamily="34" charset="0"/>
              <a:buChar char="•"/>
            </a:pPr>
            <a:r>
              <a:rPr lang="en-US" sz="3200" dirty="0"/>
              <a:t>Module 07: Grounding LLMs to Cure Hallucinations</a:t>
            </a:r>
          </a:p>
          <a:p>
            <a:pPr indent="-228600" algn="l">
              <a:buFont typeface="Arial" panose="020B0604020202020204" pitchFamily="34" charset="0"/>
              <a:buChar char="•"/>
            </a:pPr>
            <a:endParaRPr lang="en-US" sz="2200" dirty="0"/>
          </a:p>
          <a:p>
            <a:pPr indent="-228600" algn="l">
              <a:buFont typeface="Arial" panose="020B0604020202020204" pitchFamily="34" charset="0"/>
              <a:buChar char="•"/>
            </a:pPr>
            <a:r>
              <a:rPr lang="en-US" sz="2200" dirty="0"/>
              <a:t>Theme: "</a:t>
            </a:r>
            <a:r>
              <a:rPr lang="en-US" sz="2200" i="1" dirty="0"/>
              <a:t>Giving the Model an Open Book: Accuracy through Context</a:t>
            </a:r>
            <a:r>
              <a:rPr lang="en-US" sz="2200" dirty="0"/>
              <a:t>.“</a:t>
            </a:r>
          </a:p>
          <a:p>
            <a:pPr indent="-228600" algn="l">
              <a:buFont typeface="Arial" panose="020B0604020202020204" pitchFamily="34" charset="0"/>
              <a:buChar char="•"/>
            </a:pPr>
            <a:r>
              <a:rPr lang="en-US" sz="2200" dirty="0"/>
              <a:t>2025+  it is “</a:t>
            </a:r>
            <a:r>
              <a:rPr lang="en-US" sz="2200" dirty="0">
                <a:hlinkClick r:id="rId3"/>
              </a:rPr>
              <a:t>Context Engineering</a:t>
            </a:r>
            <a:r>
              <a:rPr lang="en-US" sz="2200" dirty="0"/>
              <a:t>”</a:t>
            </a:r>
          </a:p>
        </p:txBody>
      </p:sp>
      <p:sp>
        <p:nvSpPr>
          <p:cNvPr id="4" name="TextBox 3"/>
          <p:cNvSpPr txBox="1"/>
          <p:nvPr/>
        </p:nvSpPr>
        <p:spPr>
          <a:xfrm>
            <a:off x="5256023" y="3589866"/>
            <a:ext cx="4688205" cy="2304628"/>
          </a:xfrm>
          <a:prstGeom prst="rect">
            <a:avLst/>
          </a:prstGeom>
        </p:spPr>
        <p:txBody>
          <a:bodyPr vert="horz" lIns="91440" tIns="45720" rIns="91440" bIns="45720" rtlCol="0">
            <a:normAutofit/>
          </a:bodyPr>
          <a:lstStyle/>
          <a:p>
            <a:pPr defTabSz="914400">
              <a:lnSpc>
                <a:spcPct val="90000"/>
              </a:lnSpc>
              <a:spcAft>
                <a:spcPts val="600"/>
              </a:spcAft>
            </a:pP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Diagram titled &quot;Agentic RAG Architecture 2026: Taming the Stochastic Parrot&quot; illustrating a futuristic AI system with a glowing parrot at the center, symbolizing advanced reasoning and retrieval capabilities. It features labeled modules such as Agentic RAG Orchestrator, Retrieval, Generation Controller, and Grounded Output, alongside data visualization elements, key formulas, and a reasoning loop with components like Reflect, Plan, and Retrieve, highlighting development milestones from 2020 to 2026.">
            <a:extLst>
              <a:ext uri="{FF2B5EF4-FFF2-40B4-BE49-F238E27FC236}">
                <a16:creationId xmlns:a16="http://schemas.microsoft.com/office/drawing/2014/main" id="{A4CEE55F-BB90-19CC-2A4E-5D825DB8EA4F}"/>
              </a:ext>
            </a:extLst>
          </p:cNvPr>
          <p:cNvPicPr>
            <a:picLocks noChangeAspect="1"/>
          </p:cNvPicPr>
          <p:nvPr/>
        </p:nvPicPr>
        <p:blipFill>
          <a:blip r:embed="rId3"/>
          <a:srcRect t="7131" r="1" b="29528"/>
          <a:stretch>
            <a:fillRect/>
          </a:stretch>
        </p:blipFill>
        <p:spPr>
          <a:xfrm>
            <a:off x="826770" y="91376"/>
            <a:ext cx="10538460" cy="6675247"/>
          </a:xfrm>
          <a:prstGeom prst="rect">
            <a:avLst/>
          </a:prstGeom>
        </p:spPr>
      </p:pic>
    </p:spTree>
    <p:extLst>
      <p:ext uri="{BB962C8B-B14F-4D97-AF65-F5344CB8AC3E}">
        <p14:creationId xmlns:p14="http://schemas.microsoft.com/office/powerpoint/2010/main" val="657283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18520" cy="1434415"/>
          </a:xfrm>
        </p:spPr>
        <p:txBody>
          <a:bodyPr anchor="b">
            <a:normAutofit/>
          </a:bodyPr>
          <a:lstStyle/>
          <a:p>
            <a:r>
              <a:rPr lang="en-US" sz="5400"/>
              <a:t>The Two Failures of Frozen Models</a:t>
            </a:r>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28156E7-7A44-CB1F-5904-6FA71C513125}"/>
              </a:ext>
            </a:extLst>
          </p:cNvPr>
          <p:cNvPicPr>
            <a:picLocks noChangeAspect="1"/>
          </p:cNvPicPr>
          <p:nvPr/>
        </p:nvPicPr>
        <p:blipFill>
          <a:blip r:embed="rId2"/>
          <a:srcRect l="27846"/>
          <a:stretch>
            <a:fillRect/>
          </a:stretch>
        </p:blipFill>
        <p:spPr>
          <a:xfrm>
            <a:off x="7675658" y="2093976"/>
            <a:ext cx="3941064" cy="4096512"/>
          </a:xfrm>
          <a:prstGeom prst="rect">
            <a:avLst/>
          </a:prstGeom>
        </p:spPr>
      </p:pic>
      <p:graphicFrame>
        <p:nvGraphicFramePr>
          <p:cNvPr id="5" name="Content Placeholder 2">
            <a:extLst>
              <a:ext uri="{FF2B5EF4-FFF2-40B4-BE49-F238E27FC236}">
                <a16:creationId xmlns:a16="http://schemas.microsoft.com/office/drawing/2014/main" id="{884B547B-80E2-36CD-C26B-D508FA81A823}"/>
              </a:ext>
            </a:extLst>
          </p:cNvPr>
          <p:cNvGraphicFramePr>
            <a:graphicFrameLocks noGrp="1"/>
          </p:cNvGraphicFramePr>
          <p:nvPr>
            <p:ph idx="1"/>
            <p:extLst>
              <p:ext uri="{D42A27DB-BD31-4B8C-83A1-F6EECF244321}">
                <p14:modId xmlns:p14="http://schemas.microsoft.com/office/powerpoint/2010/main" val="430548593"/>
              </p:ext>
            </p:extLst>
          </p:nvPr>
        </p:nvGraphicFramePr>
        <p:xfrm>
          <a:off x="572493" y="2071316"/>
          <a:ext cx="6713552" cy="4119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on whiteboard compares three retrieval-augmented generation (RAG) architectures: RAG, Agentic RAG, and Multi-Agent RAG. Each section uses colored boxes and icons to show components like users, queries, data sources, agents, memory, planning, and output generation, highlighting differences in query processing and agent collaboration.">
            <a:extLst>
              <a:ext uri="{FF2B5EF4-FFF2-40B4-BE49-F238E27FC236}">
                <a16:creationId xmlns:a16="http://schemas.microsoft.com/office/drawing/2014/main" id="{D67C12A5-23B5-4242-329D-FD1407B77691}"/>
              </a:ext>
            </a:extLst>
          </p:cNvPr>
          <p:cNvPicPr>
            <a:picLocks noChangeAspect="1"/>
          </p:cNvPicPr>
          <p:nvPr/>
        </p:nvPicPr>
        <p:blipFill>
          <a:blip r:embed="rId2"/>
          <a:stretch>
            <a:fillRect/>
          </a:stretch>
        </p:blipFill>
        <p:spPr>
          <a:xfrm>
            <a:off x="3225959" y="0"/>
            <a:ext cx="5740082" cy="6858000"/>
          </a:xfrm>
          <a:prstGeom prst="rect">
            <a:avLst/>
          </a:prstGeom>
          <a:ln>
            <a:noFill/>
          </a:ln>
          <a:effectLst>
            <a:outerShdw blurRad="63500" sx="102000" sy="102000" algn="ctr" rotWithShape="0">
              <a:prstClr val="black">
                <a:alpha val="40000"/>
              </a:prstClr>
            </a:outerShdw>
          </a:effectLst>
        </p:spPr>
        <p:style>
          <a:lnRef idx="3">
            <a:schemeClr val="accent1"/>
          </a:lnRef>
          <a:fillRef idx="0">
            <a:schemeClr val="accent1"/>
          </a:fillRef>
          <a:effectRef idx="2">
            <a:schemeClr val="accent1"/>
          </a:effectRef>
          <a:fontRef idx="minor">
            <a:schemeClr val="tx1"/>
          </a:fontRef>
        </p:style>
      </p:pic>
      <p:cxnSp>
        <p:nvCxnSpPr>
          <p:cNvPr id="7" name="Straight Arrow Connector 6">
            <a:extLst>
              <a:ext uri="{FF2B5EF4-FFF2-40B4-BE49-F238E27FC236}">
                <a16:creationId xmlns:a16="http://schemas.microsoft.com/office/drawing/2014/main" id="{8F637A45-1A04-13AE-B170-1A89ACC1C0BB}"/>
              </a:ext>
            </a:extLst>
          </p:cNvPr>
          <p:cNvCxnSpPr>
            <a:cxnSpLocks noGrp="1" noRot="1" noMove="1" noResize="1" noEditPoints="1" noAdjustHandles="1" noChangeArrowheads="1" noChangeShapeType="1"/>
          </p:cNvCxnSpPr>
          <p:nvPr/>
        </p:nvCxnSpPr>
        <p:spPr>
          <a:xfrm>
            <a:off x="2557670" y="1179443"/>
            <a:ext cx="1073426" cy="3975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TextBox 7">
            <a:extLst>
              <a:ext uri="{FF2B5EF4-FFF2-40B4-BE49-F238E27FC236}">
                <a16:creationId xmlns:a16="http://schemas.microsoft.com/office/drawing/2014/main" id="{44EEE162-CD83-EA78-607D-38F3F761B04E}"/>
              </a:ext>
            </a:extLst>
          </p:cNvPr>
          <p:cNvSpPr txBox="1">
            <a:spLocks noGrp="1" noRot="1" noMove="1" noResize="1" noEditPoints="1" noAdjustHandles="1" noChangeArrowheads="1" noChangeShapeType="1"/>
          </p:cNvSpPr>
          <p:nvPr/>
        </p:nvSpPr>
        <p:spPr>
          <a:xfrm>
            <a:off x="1736036" y="810111"/>
            <a:ext cx="1431235" cy="338554"/>
          </a:xfrm>
          <a:prstGeom prst="rect">
            <a:avLst/>
          </a:prstGeom>
          <a:noFill/>
        </p:spPr>
        <p:txBody>
          <a:bodyPr wrap="square" rtlCol="0">
            <a:spAutoFit/>
          </a:bodyPr>
          <a:lstStyle/>
          <a:p>
            <a:r>
              <a:rPr lang="en-US" sz="1600" dirty="0"/>
              <a:t>*You are here</a:t>
            </a:r>
          </a:p>
        </p:txBody>
      </p:sp>
      <p:cxnSp>
        <p:nvCxnSpPr>
          <p:cNvPr id="9" name="Straight Arrow Connector 8">
            <a:extLst>
              <a:ext uri="{FF2B5EF4-FFF2-40B4-BE49-F238E27FC236}">
                <a16:creationId xmlns:a16="http://schemas.microsoft.com/office/drawing/2014/main" id="{8D965C5F-F64B-B4CC-6E28-97B5C9934E15}"/>
              </a:ext>
            </a:extLst>
          </p:cNvPr>
          <p:cNvCxnSpPr>
            <a:cxnSpLocks/>
          </p:cNvCxnSpPr>
          <p:nvPr/>
        </p:nvCxnSpPr>
        <p:spPr>
          <a:xfrm flipH="1">
            <a:off x="8706678" y="2676939"/>
            <a:ext cx="868018" cy="27167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C8040337-2C1C-2D8C-A908-44132B078240}"/>
              </a:ext>
            </a:extLst>
          </p:cNvPr>
          <p:cNvSpPr txBox="1"/>
          <p:nvPr/>
        </p:nvSpPr>
        <p:spPr>
          <a:xfrm>
            <a:off x="9140688" y="2302279"/>
            <a:ext cx="1431235" cy="646331"/>
          </a:xfrm>
          <a:prstGeom prst="rect">
            <a:avLst/>
          </a:prstGeom>
          <a:noFill/>
        </p:spPr>
        <p:txBody>
          <a:bodyPr wrap="square" rtlCol="0">
            <a:spAutoFit/>
          </a:bodyPr>
          <a:lstStyle/>
          <a:p>
            <a:pPr algn="ctr"/>
            <a:r>
              <a:rPr lang="en-US" dirty="0"/>
              <a:t>Enterprise in </a:t>
            </a:r>
            <a:r>
              <a:rPr lang="en-US" dirty="0">
                <a:highlight>
                  <a:srgbClr val="FFFF00"/>
                </a:highlight>
              </a:rPr>
              <a:t>2025</a:t>
            </a:r>
          </a:p>
        </p:txBody>
      </p:sp>
      <p:cxnSp>
        <p:nvCxnSpPr>
          <p:cNvPr id="13" name="Straight Arrow Connector 12">
            <a:extLst>
              <a:ext uri="{FF2B5EF4-FFF2-40B4-BE49-F238E27FC236}">
                <a16:creationId xmlns:a16="http://schemas.microsoft.com/office/drawing/2014/main" id="{A983B50E-F370-1D49-12A5-AAC05DF1DD5A}"/>
              </a:ext>
            </a:extLst>
          </p:cNvPr>
          <p:cNvCxnSpPr>
            <a:cxnSpLocks/>
          </p:cNvCxnSpPr>
          <p:nvPr/>
        </p:nvCxnSpPr>
        <p:spPr>
          <a:xfrm flipH="1">
            <a:off x="8706678" y="4611756"/>
            <a:ext cx="1080998" cy="58309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TextBox 13">
            <a:extLst>
              <a:ext uri="{FF2B5EF4-FFF2-40B4-BE49-F238E27FC236}">
                <a16:creationId xmlns:a16="http://schemas.microsoft.com/office/drawing/2014/main" id="{29462210-57CA-5C2E-FE15-4DC10941936C}"/>
              </a:ext>
            </a:extLst>
          </p:cNvPr>
          <p:cNvSpPr txBox="1"/>
          <p:nvPr/>
        </p:nvSpPr>
        <p:spPr>
          <a:xfrm>
            <a:off x="9072059" y="4302059"/>
            <a:ext cx="1431235" cy="369332"/>
          </a:xfrm>
          <a:prstGeom prst="rect">
            <a:avLst/>
          </a:prstGeom>
          <a:noFill/>
        </p:spPr>
        <p:txBody>
          <a:bodyPr wrap="square" rtlCol="0">
            <a:spAutoFit/>
          </a:bodyPr>
          <a:lstStyle/>
          <a:p>
            <a:pPr algn="ctr"/>
            <a:r>
              <a:rPr lang="en-US" dirty="0">
                <a:highlight>
                  <a:srgbClr val="FFFF00"/>
                </a:highlight>
              </a:rPr>
              <a:t>2026</a:t>
            </a:r>
          </a:p>
        </p:txBody>
      </p:sp>
    </p:spTree>
    <p:extLst>
      <p:ext uri="{BB962C8B-B14F-4D97-AF65-F5344CB8AC3E}">
        <p14:creationId xmlns:p14="http://schemas.microsoft.com/office/powerpoint/2010/main" val="582132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nfographic explaining Retrieval-Augmented Generation (RAG) for AI, detailing its components: Indexer, Retriever, and Generator, and their roles in processing data from 50GB of web pages and smart chunks to generate verified answers. It highlights challenges like frozen model knowledge, future AI advancements by 2026, and educational takeaways emphasizing RAG as an open book exam for AI with steps to memorize, lookup, and verify information.">
            <a:extLst>
              <a:ext uri="{FF2B5EF4-FFF2-40B4-BE49-F238E27FC236}">
                <a16:creationId xmlns:a16="http://schemas.microsoft.com/office/drawing/2014/main" id="{C2DB493E-7A70-4ECD-0BB3-87F37AB38919}"/>
              </a:ext>
            </a:extLst>
          </p:cNvPr>
          <p:cNvPicPr>
            <a:picLocks noChangeAspect="1"/>
          </p:cNvPicPr>
          <p:nvPr/>
        </p:nvPicPr>
        <p:blipFill>
          <a:blip r:embed="rId2"/>
          <a:stretch>
            <a:fillRect/>
          </a:stretch>
        </p:blipFill>
        <p:spPr>
          <a:xfrm>
            <a:off x="1524000" y="381000"/>
            <a:ext cx="9144000" cy="6096000"/>
          </a:xfrm>
          <a:prstGeom prst="rect">
            <a:avLst/>
          </a:prstGeom>
        </p:spPr>
      </p:pic>
    </p:spTree>
    <p:extLst>
      <p:ext uri="{BB962C8B-B14F-4D97-AF65-F5344CB8AC3E}">
        <p14:creationId xmlns:p14="http://schemas.microsoft.com/office/powerpoint/2010/main" val="380743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7188"/>
            <a:ext cx="10515600" cy="1133499"/>
          </a:xfrm>
        </p:spPr>
        <p:txBody>
          <a:bodyPr>
            <a:normAutofit/>
          </a:bodyPr>
          <a:lstStyle/>
          <a:p>
            <a:pPr algn="ctr"/>
            <a:r>
              <a:rPr lang="en-US" sz="5200"/>
              <a:t>The "Open Book Exam" Analogy</a:t>
            </a:r>
          </a:p>
        </p:txBody>
      </p:sp>
      <p:graphicFrame>
        <p:nvGraphicFramePr>
          <p:cNvPr id="5" name="Content Placeholder 2">
            <a:extLst>
              <a:ext uri="{FF2B5EF4-FFF2-40B4-BE49-F238E27FC236}">
                <a16:creationId xmlns:a16="http://schemas.microsoft.com/office/drawing/2014/main" id="{F2C30F50-74EC-497D-99BF-352A0D5C92A0}"/>
              </a:ext>
            </a:extLst>
          </p:cNvPr>
          <p:cNvGraphicFramePr>
            <a:graphicFrameLocks noGrp="1"/>
          </p:cNvGraphicFramePr>
          <p:nvPr>
            <p:ph idx="1"/>
            <p:extLst>
              <p:ext uri="{D42A27DB-BD31-4B8C-83A1-F6EECF244321}">
                <p14:modId xmlns:p14="http://schemas.microsoft.com/office/powerpoint/2010/main" val="44972713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7188"/>
            <a:ext cx="10515600" cy="1133499"/>
          </a:xfrm>
        </p:spPr>
        <p:txBody>
          <a:bodyPr>
            <a:normAutofit/>
          </a:bodyPr>
          <a:lstStyle/>
          <a:p>
            <a:pPr algn="ctr"/>
            <a:r>
              <a:rPr lang="en-US" sz="5200"/>
              <a:t>The Architecture High-Level</a:t>
            </a:r>
          </a:p>
        </p:txBody>
      </p:sp>
      <p:graphicFrame>
        <p:nvGraphicFramePr>
          <p:cNvPr id="5" name="Content Placeholder 2">
            <a:extLst>
              <a:ext uri="{FF2B5EF4-FFF2-40B4-BE49-F238E27FC236}">
                <a16:creationId xmlns:a16="http://schemas.microsoft.com/office/drawing/2014/main" id="{C5652AE9-BBE5-BBFC-2257-A2D9C61C4B68}"/>
              </a:ext>
            </a:extLst>
          </p:cNvPr>
          <p:cNvGraphicFramePr>
            <a:graphicFrameLocks noGrp="1"/>
          </p:cNvGraphicFramePr>
          <p:nvPr>
            <p:ph idx="1"/>
            <p:extLst>
              <p:ext uri="{D42A27DB-BD31-4B8C-83A1-F6EECF244321}">
                <p14:modId xmlns:p14="http://schemas.microsoft.com/office/powerpoint/2010/main" val="1826723634"/>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7188"/>
            <a:ext cx="10515600" cy="1133499"/>
          </a:xfrm>
        </p:spPr>
        <p:txBody>
          <a:bodyPr>
            <a:normAutofit/>
          </a:bodyPr>
          <a:lstStyle/>
          <a:p>
            <a:pPr algn="ctr"/>
            <a:r>
              <a:rPr lang="en-US" sz="5200"/>
              <a:t>Step 1: Ingestion &amp; Chunking (The Art)</a:t>
            </a:r>
          </a:p>
        </p:txBody>
      </p:sp>
      <p:graphicFrame>
        <p:nvGraphicFramePr>
          <p:cNvPr id="5" name="Content Placeholder 2">
            <a:extLst>
              <a:ext uri="{FF2B5EF4-FFF2-40B4-BE49-F238E27FC236}">
                <a16:creationId xmlns:a16="http://schemas.microsoft.com/office/drawing/2014/main" id="{80E069F4-6FC5-EA13-786E-3D25FC0C8F95}"/>
              </a:ext>
            </a:extLst>
          </p:cNvPr>
          <p:cNvGraphicFramePr>
            <a:graphicFrameLocks noGrp="1"/>
          </p:cNvGraphicFramePr>
          <p:nvPr>
            <p:ph idx="1"/>
            <p:extLst>
              <p:ext uri="{D42A27DB-BD31-4B8C-83A1-F6EECF244321}">
                <p14:modId xmlns:p14="http://schemas.microsoft.com/office/powerpoint/2010/main" val="166169370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7188"/>
            <a:ext cx="10515600" cy="1133499"/>
          </a:xfrm>
        </p:spPr>
        <p:txBody>
          <a:bodyPr>
            <a:normAutofit/>
          </a:bodyPr>
          <a:lstStyle/>
          <a:p>
            <a:pPr algn="ctr"/>
            <a:r>
              <a:rPr lang="en-US" sz="5200"/>
              <a:t>Step 2: Embedding the Chunks</a:t>
            </a:r>
          </a:p>
        </p:txBody>
      </p:sp>
      <p:graphicFrame>
        <p:nvGraphicFramePr>
          <p:cNvPr id="5" name="Content Placeholder 2">
            <a:extLst>
              <a:ext uri="{FF2B5EF4-FFF2-40B4-BE49-F238E27FC236}">
                <a16:creationId xmlns:a16="http://schemas.microsoft.com/office/drawing/2014/main" id="{CD1E5234-6FAA-A612-A011-9154DEBB70F7}"/>
              </a:ext>
            </a:extLst>
          </p:cNvPr>
          <p:cNvGraphicFramePr>
            <a:graphicFrameLocks noGrp="1"/>
          </p:cNvGraphicFramePr>
          <p:nvPr>
            <p:ph idx="1"/>
            <p:extLst>
              <p:ext uri="{D42A27DB-BD31-4B8C-83A1-F6EECF244321}">
                <p14:modId xmlns:p14="http://schemas.microsoft.com/office/powerpoint/2010/main" val="202827962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3: The Vector Database</a:t>
            </a:r>
          </a:p>
        </p:txBody>
      </p:sp>
      <p:graphicFrame>
        <p:nvGraphicFramePr>
          <p:cNvPr id="5" name="Content Placeholder 2">
            <a:extLst>
              <a:ext uri="{FF2B5EF4-FFF2-40B4-BE49-F238E27FC236}">
                <a16:creationId xmlns:a16="http://schemas.microsoft.com/office/drawing/2014/main" id="{526D621D-B2BF-FADA-EB50-EA60F31A9177}"/>
              </a:ext>
            </a:extLst>
          </p:cNvPr>
          <p:cNvGraphicFramePr>
            <a:graphicFrameLocks noGrp="1"/>
          </p:cNvGraphicFramePr>
          <p:nvPr>
            <p:ph idx="1"/>
            <p:extLst>
              <p:ext uri="{D42A27DB-BD31-4B8C-83A1-F6EECF244321}">
                <p14:modId xmlns:p14="http://schemas.microsoft.com/office/powerpoint/2010/main" val="926067815"/>
              </p:ext>
            </p:extLst>
          </p:nvPr>
        </p:nvGraphicFramePr>
        <p:xfrm>
          <a:off x="2152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C60845F8-9480-70F4-53C2-D7B08DD004BE}"/>
              </a:ext>
            </a:extLst>
          </p:cNvPr>
          <p:cNvSpPr txBox="1"/>
          <p:nvPr/>
        </p:nvSpPr>
        <p:spPr>
          <a:xfrm>
            <a:off x="6447184" y="6513444"/>
            <a:ext cx="4048539" cy="276999"/>
          </a:xfrm>
          <a:prstGeom prst="rect">
            <a:avLst/>
          </a:prstGeom>
          <a:noFill/>
        </p:spPr>
        <p:txBody>
          <a:bodyPr wrap="square" rtlCol="0">
            <a:spAutoFit/>
          </a:bodyPr>
          <a:lstStyle/>
          <a:p>
            <a:pPr algn="r"/>
            <a:r>
              <a:rPr lang="en-US" sz="1200" dirty="0">
                <a:solidFill>
                  <a:schemeClr val="bg1">
                    <a:lumMod val="50000"/>
                  </a:schemeClr>
                </a:solidFill>
              </a:rPr>
              <a:t>Refer: Vector Big Picture – Google Drive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452656" y="1444741"/>
            <a:ext cx="9357865" cy="1041901"/>
          </a:xfrm>
        </p:spPr>
        <p:txBody>
          <a:bodyPr vert="horz" lIns="91440" tIns="45720" rIns="91440" bIns="45720" rtlCol="0" anchor="ctr">
            <a:normAutofit/>
          </a:bodyPr>
          <a:lstStyle/>
          <a:p>
            <a:r>
              <a:rPr lang="en-US" sz="4000" kern="1200">
                <a:solidFill>
                  <a:schemeClr val="tx1"/>
                </a:solidFill>
                <a:latin typeface="+mj-lt"/>
                <a:ea typeface="+mj-ea"/>
                <a:cs typeface="+mj-cs"/>
              </a:rPr>
              <a:t>Indexing Visualization</a:t>
            </a:r>
          </a:p>
        </p:txBody>
      </p:sp>
      <p:sp>
        <p:nvSpPr>
          <p:cNvPr id="3" name="Content Placeholder 2"/>
          <p:cNvSpPr>
            <a:spLocks noGrp="1"/>
          </p:cNvSpPr>
          <p:nvPr>
            <p:ph idx="1"/>
          </p:nvPr>
        </p:nvSpPr>
        <p:spPr>
          <a:xfrm>
            <a:off x="1452656" y="2701427"/>
            <a:ext cx="4483324" cy="2699968"/>
          </a:xfrm>
        </p:spPr>
        <p:txBody>
          <a:bodyPr vert="horz" lIns="91440" tIns="45720" rIns="91440" bIns="45720" rtlCol="0">
            <a:normAutofit/>
          </a:bodyPr>
          <a:lstStyle/>
          <a:p>
            <a:endParaRPr lang="en-US" dirty="0"/>
          </a:p>
          <a:p>
            <a:pPr>
              <a:defRPr sz="2200"/>
            </a:pPr>
            <a:r>
              <a:rPr lang="en-US" b="1" dirty="0"/>
              <a:t>Flow :</a:t>
            </a:r>
          </a:p>
          <a:p>
            <a:pPr lvl="1">
              <a:defRPr sz="1800"/>
            </a:pPr>
            <a:r>
              <a:rPr lang="en-US" sz="2000" dirty="0"/>
              <a:t>[Document] -&gt; [Splitter] -&gt; [Chunks] -&gt; [Embedding Model] -&gt; [Vector DB]</a:t>
            </a:r>
          </a:p>
          <a:p>
            <a:pPr lvl="1">
              <a:defRPr sz="1800"/>
            </a:pPr>
            <a:r>
              <a:rPr lang="en-US" sz="2000" dirty="0"/>
              <a:t>Each step represents a data transformation from </a:t>
            </a:r>
            <a:r>
              <a:rPr lang="en-US" sz="2000" dirty="0">
                <a:highlight>
                  <a:srgbClr val="FFFF00"/>
                </a:highlight>
              </a:rPr>
              <a:t>raw text to mathematical understanding</a:t>
            </a:r>
            <a:r>
              <a:rPr lang="en-US" sz="2000" dirty="0"/>
              <a:t>.</a:t>
            </a:r>
          </a:p>
        </p:txBody>
      </p:sp>
      <p:sp>
        <p:nvSpPr>
          <p:cNvPr id="4" name="TextBox 3">
            <a:extLst>
              <a:ext uri="{FF2B5EF4-FFF2-40B4-BE49-F238E27FC236}">
                <a16:creationId xmlns:a16="http://schemas.microsoft.com/office/drawing/2014/main" id="{3BAC6893-AE39-6CAB-C8A4-AE86C49AA1B2}"/>
              </a:ext>
            </a:extLst>
          </p:cNvPr>
          <p:cNvSpPr txBox="1"/>
          <p:nvPr/>
        </p:nvSpPr>
        <p:spPr>
          <a:xfrm>
            <a:off x="6256020" y="4606289"/>
            <a:ext cx="4967956" cy="795105"/>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2000" dirty="0"/>
              <a:t>Refer: </a:t>
            </a:r>
            <a:r>
              <a:rPr lang="en-US" sz="2000" dirty="0">
                <a:hlinkClick r:id="rId3">
                  <a:extLst>
                    <a:ext uri="{A12FA001-AC4F-418D-AE19-62706E023703}">
                      <ahyp:hlinkClr xmlns:ahyp="http://schemas.microsoft.com/office/drawing/2018/hyperlinkcolor" val="tx"/>
                    </a:ext>
                  </a:extLst>
                </a:hlinkClick>
              </a:rPr>
              <a:t>https://thedataquarry.com/blog/vector-db-1/</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kern="1200" dirty="0">
                <a:solidFill>
                  <a:schemeClr val="accent1"/>
                </a:solidFill>
                <a:latin typeface="+mj-lt"/>
                <a:ea typeface="+mj-ea"/>
                <a:cs typeface="+mj-cs"/>
              </a:rPr>
              <a:t>Retrieval: Finding the Needle</a:t>
            </a:r>
          </a:p>
        </p:txBody>
      </p:sp>
      <p:cxnSp>
        <p:nvCxnSpPr>
          <p:cNvPr id="11" name="Straight Connector 10">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76029" y="963507"/>
            <a:ext cx="6533979" cy="2304627"/>
          </a:xfrm>
        </p:spPr>
        <p:txBody>
          <a:bodyPr vert="horz" lIns="91440" tIns="45720" rIns="91440" bIns="45720" rtlCol="0" anchor="b">
            <a:normAutofit fontScale="92500" lnSpcReduction="20000"/>
          </a:bodyPr>
          <a:lstStyle/>
          <a:p>
            <a:endParaRPr lang="en-US" sz="2400" dirty="0"/>
          </a:p>
          <a:p>
            <a:pPr>
              <a:defRPr sz="2200"/>
            </a:pPr>
            <a:r>
              <a:rPr lang="en-US" sz="2400" b="1" dirty="0"/>
              <a:t>The Query:</a:t>
            </a:r>
            <a:r>
              <a:rPr lang="en-US" sz="2400" dirty="0"/>
              <a:t> User asks, "How do I reset the servo?"</a:t>
            </a:r>
          </a:p>
          <a:p>
            <a:pPr>
              <a:defRPr sz="2200"/>
            </a:pPr>
            <a:r>
              <a:rPr lang="en-US" sz="2400" b="1" dirty="0"/>
              <a:t>Vectorization:</a:t>
            </a:r>
            <a:r>
              <a:rPr lang="en-US" sz="2400" dirty="0"/>
              <a:t> Convert </a:t>
            </a:r>
            <a:r>
              <a:rPr lang="en-US" sz="2400" dirty="0">
                <a:highlight>
                  <a:srgbClr val="FFFF00"/>
                </a:highlight>
              </a:rPr>
              <a:t>question into a vector</a:t>
            </a:r>
            <a:r>
              <a:rPr lang="en-US" sz="2400" dirty="0"/>
              <a:t>.</a:t>
            </a:r>
          </a:p>
          <a:p>
            <a:pPr>
              <a:defRPr sz="2200"/>
            </a:pPr>
            <a:r>
              <a:rPr lang="en-US" sz="2400" b="1" dirty="0"/>
              <a:t>Similarity Search (ANN):</a:t>
            </a:r>
            <a:r>
              <a:rPr lang="en-US" sz="2400" dirty="0"/>
              <a:t> DB calculates distance (Cosine Similarity) between Question and Stored Chunks.</a:t>
            </a:r>
          </a:p>
          <a:p>
            <a:pPr>
              <a:defRPr sz="2200"/>
            </a:pPr>
            <a:r>
              <a:rPr lang="en-US" sz="2400" b="1" dirty="0"/>
              <a:t>Top-K:</a:t>
            </a:r>
            <a:r>
              <a:rPr lang="en-US" sz="2400" dirty="0"/>
              <a:t> Retrieve the top 3 closest chunks.</a:t>
            </a:r>
          </a:p>
        </p:txBody>
      </p:sp>
      <p:sp>
        <p:nvSpPr>
          <p:cNvPr id="4" name="TextBox 3">
            <a:extLst>
              <a:ext uri="{FF2B5EF4-FFF2-40B4-BE49-F238E27FC236}">
                <a16:creationId xmlns:a16="http://schemas.microsoft.com/office/drawing/2014/main" id="{9F70F5BA-D5B6-9C6B-A258-3531275875E6}"/>
              </a:ext>
            </a:extLst>
          </p:cNvPr>
          <p:cNvSpPr txBox="1"/>
          <p:nvPr/>
        </p:nvSpPr>
        <p:spPr>
          <a:xfrm>
            <a:off x="4976030" y="3589866"/>
            <a:ext cx="6250940" cy="2304628"/>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2000"/>
              <a:t>Refer: </a:t>
            </a:r>
            <a:r>
              <a:rPr lang="en-US" sz="2000">
                <a:hlinkClick r:id="rId2">
                  <a:extLst>
                    <a:ext uri="{A12FA001-AC4F-418D-AE19-62706E023703}">
                      <ahyp:hlinkClr xmlns:ahyp="http://schemas.microsoft.com/office/drawing/2018/hyperlinkcolor" val="tx"/>
                    </a:ext>
                  </a:extLst>
                </a:hlinkClick>
              </a:rPr>
              <a:t>https://thedataquarry.com/blog/vector-db-2/#generative-qa-chatting-with-your-data</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illustrating Retrieval-Augmented Generation (RAG) process and challenges related to &quot;Lost in the Middle.&quot; It includes query input, vectorization, similarity search, and top-K retrieval steps on the left, with warnings and best practices on the right, highlighting issues like ignoring middle chunks when retrieving 20 and recommending fewer, higher-quality chunks (top 3-10).">
            <a:extLst>
              <a:ext uri="{FF2B5EF4-FFF2-40B4-BE49-F238E27FC236}">
                <a16:creationId xmlns:a16="http://schemas.microsoft.com/office/drawing/2014/main" id="{58D93BAE-88F9-86F6-7A32-B77A85DD6021}"/>
              </a:ext>
            </a:extLst>
          </p:cNvPr>
          <p:cNvPicPr>
            <a:picLocks noChangeAspect="1"/>
          </p:cNvPicPr>
          <p:nvPr/>
        </p:nvPicPr>
        <p:blipFill>
          <a:blip r:embed="rId2"/>
          <a:stretch>
            <a:fillRect/>
          </a:stretch>
        </p:blipFill>
        <p:spPr>
          <a:xfrm>
            <a:off x="1028700" y="50800"/>
            <a:ext cx="10115550" cy="67437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353007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06724" y="809898"/>
            <a:ext cx="7457037" cy="1554480"/>
          </a:xfrm>
        </p:spPr>
        <p:txBody>
          <a:bodyPr anchor="ctr">
            <a:normAutofit/>
          </a:bodyPr>
          <a:lstStyle/>
          <a:p>
            <a:r>
              <a:rPr lang="en-US" sz="4200"/>
              <a:t>The "Lost in the Middle" Phenomenon</a:t>
            </a:r>
          </a:p>
        </p:txBody>
      </p:sp>
      <p:sp>
        <p:nvSpPr>
          <p:cNvPr id="3" name="Content Placeholder 2"/>
          <p:cNvSpPr>
            <a:spLocks noGrp="1"/>
          </p:cNvSpPr>
          <p:nvPr>
            <p:ph idx="1"/>
          </p:nvPr>
        </p:nvSpPr>
        <p:spPr>
          <a:xfrm>
            <a:off x="2307772" y="3017522"/>
            <a:ext cx="7455989" cy="3124658"/>
          </a:xfrm>
        </p:spPr>
        <p:txBody>
          <a:bodyPr anchor="ctr">
            <a:normAutofit/>
          </a:bodyPr>
          <a:lstStyle/>
          <a:p>
            <a:endParaRPr lang="en-US" sz="2400" dirty="0"/>
          </a:p>
          <a:p>
            <a:pPr>
              <a:defRPr sz="2200"/>
            </a:pPr>
            <a:r>
              <a:rPr lang="en-US" sz="2400" b="1" dirty="0">
                <a:solidFill>
                  <a:srgbClr val="C00000"/>
                </a:solidFill>
              </a:rPr>
              <a:t>Warning</a:t>
            </a:r>
            <a:r>
              <a:rPr lang="en-US" sz="2400" b="1" dirty="0"/>
              <a:t>:</a:t>
            </a:r>
            <a:r>
              <a:rPr lang="en-US" sz="2400" dirty="0"/>
              <a:t> If you retrieve 20 chunks, the LLM often ignores the ones in the middle.</a:t>
            </a:r>
          </a:p>
          <a:p>
            <a:pPr>
              <a:defRPr sz="2200"/>
            </a:pPr>
            <a:r>
              <a:rPr lang="en-US" sz="2400" b="1" dirty="0">
                <a:solidFill>
                  <a:srgbClr val="0070C0"/>
                </a:solidFill>
              </a:rPr>
              <a:t>Best Practice</a:t>
            </a:r>
            <a:r>
              <a:rPr lang="en-US" sz="2400" b="1" dirty="0"/>
              <a:t>:</a:t>
            </a:r>
            <a:r>
              <a:rPr lang="en-US" sz="2400" dirty="0"/>
              <a:t> Retrieve fewer, higher-quality chunks (Top-3 or Top-5).</a:t>
            </a:r>
          </a:p>
          <a:p>
            <a:pPr>
              <a:defRPr sz="2200"/>
            </a:pPr>
            <a:r>
              <a:rPr lang="en-US" sz="2400" dirty="0">
                <a:solidFill>
                  <a:srgbClr val="0070C0"/>
                </a:solidFill>
              </a:rPr>
              <a:t>More context is not always better</a:t>
            </a:r>
            <a:r>
              <a:rPr lang="en-US" sz="2400" dirty="0"/>
              <a:t>; it can introduce </a:t>
            </a:r>
            <a:r>
              <a:rPr lang="en-US" sz="2400" dirty="0">
                <a:solidFill>
                  <a:srgbClr val="C00000"/>
                </a:solidFill>
              </a:rPr>
              <a:t>noise</a:t>
            </a:r>
            <a:r>
              <a:rPr lang="en-US" sz="2400"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sz="5400" dirty="0"/>
              <a:t>Augmentation: The Prompt Template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endParaRPr lang="en-US" sz="2200" dirty="0"/>
          </a:p>
          <a:p>
            <a:pPr>
              <a:defRPr sz="2200"/>
            </a:pPr>
            <a:r>
              <a:rPr lang="en-US" sz="2200" b="1" dirty="0">
                <a:solidFill>
                  <a:srgbClr val="0070C0"/>
                </a:solidFill>
              </a:rPr>
              <a:t>The "Magic" happens here</a:t>
            </a:r>
            <a:r>
              <a:rPr lang="en-US" sz="2200" b="1" dirty="0"/>
              <a:t>.</a:t>
            </a:r>
            <a:r>
              <a:rPr lang="en-US" sz="2200" dirty="0"/>
              <a:t> We </a:t>
            </a:r>
            <a:r>
              <a:rPr lang="en-US" sz="2200" u="sng" dirty="0"/>
              <a:t>dynamically</a:t>
            </a:r>
            <a:r>
              <a:rPr lang="en-US" sz="2200" dirty="0"/>
              <a:t> build a prompt.</a:t>
            </a:r>
          </a:p>
          <a:p>
            <a:pPr>
              <a:defRPr sz="1400">
                <a:latin typeface="Courier New"/>
              </a:defRPr>
            </a:pPr>
            <a:r>
              <a:rPr lang="en-US" sz="2200" dirty="0"/>
              <a:t>System: You are a helpful assistant. Use ONLY the context below to answer.</a:t>
            </a:r>
            <a:br>
              <a:rPr lang="en-US" sz="2200" dirty="0"/>
            </a:br>
            <a:br>
              <a:rPr lang="en-US" sz="2200" dirty="0"/>
            </a:br>
            <a:r>
              <a:rPr lang="en-US" sz="2200" dirty="0"/>
              <a:t>Context:</a:t>
            </a:r>
            <a:br>
              <a:rPr lang="en-US" sz="2200" dirty="0"/>
            </a:br>
            <a:r>
              <a:rPr lang="en-US" sz="2200" dirty="0"/>
              <a:t>- [Chunk 1 Text]</a:t>
            </a:r>
            <a:br>
              <a:rPr lang="en-US" sz="2200" dirty="0"/>
            </a:br>
            <a:r>
              <a:rPr lang="en-US" sz="2200" dirty="0"/>
              <a:t>- [Chunk 2 Text]</a:t>
            </a:r>
            <a:br>
              <a:rPr lang="en-US" sz="2200" dirty="0"/>
            </a:br>
            <a:r>
              <a:rPr lang="en-US" sz="2200" dirty="0"/>
              <a:t>- [Chunk 3 Text]</a:t>
            </a:r>
            <a:br>
              <a:rPr lang="en-US" sz="2200" dirty="0"/>
            </a:br>
            <a:br>
              <a:rPr lang="en-US" sz="2200" dirty="0"/>
            </a:br>
            <a:r>
              <a:rPr lang="en-US" sz="2200" dirty="0"/>
              <a:t>User Question: {question}</a:t>
            </a:r>
            <a:br>
              <a:rPr lang="en-US" sz="2200" dirty="0"/>
            </a:br>
            <a:r>
              <a:rPr lang="en-US" sz="2200" dirty="0"/>
              <a:t>Answer: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E133C9E-0670-2EF4-9798-5269C89C07B1}"/>
              </a:ext>
            </a:extLst>
          </p:cNvPr>
          <p:cNvPicPr>
            <a:picLocks noChangeAspect="1"/>
          </p:cNvPicPr>
          <p:nvPr/>
        </p:nvPicPr>
        <p:blipFill>
          <a:blip r:embed="rId3">
            <a:duotone>
              <a:schemeClr val="bg2">
                <a:shade val="45000"/>
                <a:satMod val="135000"/>
              </a:schemeClr>
              <a:prstClr val="white"/>
            </a:duotone>
          </a:blip>
          <a:srcRect t="7930" b="15278"/>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t>Generation &amp; Citation</a:t>
            </a:r>
          </a:p>
        </p:txBody>
      </p:sp>
      <p:graphicFrame>
        <p:nvGraphicFramePr>
          <p:cNvPr id="5" name="Content Placeholder 2">
            <a:extLst>
              <a:ext uri="{FF2B5EF4-FFF2-40B4-BE49-F238E27FC236}">
                <a16:creationId xmlns:a16="http://schemas.microsoft.com/office/drawing/2014/main" id="{B3CD3D0F-7A92-9655-9644-87FA3AED3AB9}"/>
              </a:ext>
            </a:extLst>
          </p:cNvPr>
          <p:cNvGraphicFramePr>
            <a:graphicFrameLocks noGrp="1"/>
          </p:cNvGraphicFramePr>
          <p:nvPr>
            <p:ph idx="1"/>
            <p:extLst>
              <p:ext uri="{D42A27DB-BD31-4B8C-83A1-F6EECF244321}">
                <p14:modId xmlns:p14="http://schemas.microsoft.com/office/powerpoint/2010/main" val="33266950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reenshot of a web page displaying a text excerpt about smart contracts and their role in decentralized and distributed ledger technologies. The page includes a header titled &quot;Azure AI,&quot; a paragraph explaining smart contracts, and two clickable PDF links labeled &quot;Chapter-Reading for Smart Contracts.pdf - Part 1&quot; and &quot;Chapter-Reading for Smart Contracts.pdf - Part 2&quot; in blue text.">
            <a:extLst>
              <a:ext uri="{FF2B5EF4-FFF2-40B4-BE49-F238E27FC236}">
                <a16:creationId xmlns:a16="http://schemas.microsoft.com/office/drawing/2014/main" id="{D1DD8882-71C8-98D9-BF8D-52F39ED025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070" y="726089"/>
            <a:ext cx="10801350" cy="5985748"/>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2" name="Straight Arrow Connector 1">
            <a:extLst>
              <a:ext uri="{FF2B5EF4-FFF2-40B4-BE49-F238E27FC236}">
                <a16:creationId xmlns:a16="http://schemas.microsoft.com/office/drawing/2014/main" id="{E562E12A-2B49-C64E-6B2D-9F5132D84FD5}"/>
              </a:ext>
            </a:extLst>
          </p:cNvPr>
          <p:cNvCxnSpPr>
            <a:cxnSpLocks/>
          </p:cNvCxnSpPr>
          <p:nvPr/>
        </p:nvCxnSpPr>
        <p:spPr>
          <a:xfrm flipH="1">
            <a:off x="5006340" y="4028660"/>
            <a:ext cx="1403136" cy="101972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 name="TextBox 2">
            <a:extLst>
              <a:ext uri="{FF2B5EF4-FFF2-40B4-BE49-F238E27FC236}">
                <a16:creationId xmlns:a16="http://schemas.microsoft.com/office/drawing/2014/main" id="{74FE1F47-FD43-F061-E40D-B87F9047FF38}"/>
              </a:ext>
            </a:extLst>
          </p:cNvPr>
          <p:cNvSpPr txBox="1"/>
          <p:nvPr/>
        </p:nvSpPr>
        <p:spPr>
          <a:xfrm>
            <a:off x="5693858" y="3718963"/>
            <a:ext cx="1640392" cy="369332"/>
          </a:xfrm>
          <a:prstGeom prst="rect">
            <a:avLst/>
          </a:prstGeom>
          <a:noFill/>
        </p:spPr>
        <p:txBody>
          <a:bodyPr wrap="square" rtlCol="0">
            <a:spAutoFit/>
          </a:bodyPr>
          <a:lstStyle/>
          <a:p>
            <a:pPr algn="ctr"/>
            <a:r>
              <a:rPr lang="en-US" dirty="0">
                <a:highlight>
                  <a:srgbClr val="FFFF00"/>
                </a:highlight>
              </a:rPr>
              <a:t>Source Citation</a:t>
            </a:r>
          </a:p>
        </p:txBody>
      </p:sp>
      <p:sp>
        <p:nvSpPr>
          <p:cNvPr id="4" name="TextBox 3">
            <a:extLst>
              <a:ext uri="{FF2B5EF4-FFF2-40B4-BE49-F238E27FC236}">
                <a16:creationId xmlns:a16="http://schemas.microsoft.com/office/drawing/2014/main" id="{7B89C205-2F15-747A-BC54-4EC640144F4B}"/>
              </a:ext>
            </a:extLst>
          </p:cNvPr>
          <p:cNvSpPr txBox="1"/>
          <p:nvPr/>
        </p:nvSpPr>
        <p:spPr>
          <a:xfrm>
            <a:off x="2866176" y="298450"/>
            <a:ext cx="7086600" cy="523220"/>
          </a:xfrm>
          <a:prstGeom prst="rect">
            <a:avLst/>
          </a:prstGeom>
          <a:noFill/>
        </p:spPr>
        <p:txBody>
          <a:bodyPr wrap="square" rtlCol="0">
            <a:spAutoFit/>
          </a:bodyPr>
          <a:lstStyle/>
          <a:p>
            <a:r>
              <a:rPr lang="en-US" sz="2800" dirty="0">
                <a:ln w="0"/>
                <a:effectLst>
                  <a:outerShdw blurRad="38100" dist="19050" dir="2700000" algn="tl" rotWithShape="0">
                    <a:schemeClr val="dk1">
                      <a:alpha val="40000"/>
                    </a:schemeClr>
                  </a:outerShdw>
                </a:effectLst>
              </a:rPr>
              <a:t>An Enterprise AI Search on Azure with Citations</a:t>
            </a:r>
          </a:p>
        </p:txBody>
      </p:sp>
    </p:spTree>
    <p:extLst>
      <p:ext uri="{BB962C8B-B14F-4D97-AF65-F5344CB8AC3E}">
        <p14:creationId xmlns:p14="http://schemas.microsoft.com/office/powerpoint/2010/main" val="1115050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056693-38D1-290B-895C-A96E8728725A}"/>
              </a:ext>
            </a:extLst>
          </p:cNvPr>
          <p:cNvPicPr>
            <a:picLocks noChangeAspect="1"/>
          </p:cNvPicPr>
          <p:nvPr/>
        </p:nvPicPr>
        <p:blipFill>
          <a:blip r:embed="rId2">
            <a:duotone>
              <a:schemeClr val="bg2">
                <a:shade val="45000"/>
                <a:satMod val="135000"/>
              </a:schemeClr>
              <a:prstClr val="white"/>
            </a:duotone>
          </a:blip>
          <a:srcRect t="2500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t>Advanced RAG (The "World Class" Edge)</a:t>
            </a:r>
          </a:p>
        </p:txBody>
      </p:sp>
      <p:graphicFrame>
        <p:nvGraphicFramePr>
          <p:cNvPr id="5" name="Content Placeholder 2">
            <a:extLst>
              <a:ext uri="{FF2B5EF4-FFF2-40B4-BE49-F238E27FC236}">
                <a16:creationId xmlns:a16="http://schemas.microsoft.com/office/drawing/2014/main" id="{3E123E9D-615E-8863-DD42-1F47F7E5DAEB}"/>
              </a:ext>
            </a:extLst>
          </p:cNvPr>
          <p:cNvGraphicFramePr>
            <a:graphicFrameLocks noGrp="1"/>
          </p:cNvGraphicFramePr>
          <p:nvPr>
            <p:ph idx="1"/>
            <p:extLst>
              <p:ext uri="{D42A27DB-BD31-4B8C-83A1-F6EECF244321}">
                <p14:modId xmlns:p14="http://schemas.microsoft.com/office/powerpoint/2010/main" val="19412413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agram illustrating different methods for adapting models based on levels of external knowledge required and model adaptation needed. It categorizes approaches into Prompt Engineering, RAG (Retrieval-Augmented Generation), Fine-tuning, and combinations like Modular RAG and All of the above, with labels showing examples such as Few-shot Prompt, Advanced RAG, and Generator Fine-tuning.">
            <a:extLst>
              <a:ext uri="{FF2B5EF4-FFF2-40B4-BE49-F238E27FC236}">
                <a16:creationId xmlns:a16="http://schemas.microsoft.com/office/drawing/2014/main" id="{AE7B0961-55C7-B4FB-75FB-B2FF5ECA389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8650" y="52911"/>
            <a:ext cx="10698479" cy="660631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799B6CD-EE35-D0D1-07BE-199771588ADA}"/>
              </a:ext>
            </a:extLst>
          </p:cNvPr>
          <p:cNvSpPr txBox="1"/>
          <p:nvPr/>
        </p:nvSpPr>
        <p:spPr>
          <a:xfrm>
            <a:off x="7224141" y="6475223"/>
            <a:ext cx="4572000" cy="307777"/>
          </a:xfrm>
          <a:prstGeom prst="rect">
            <a:avLst/>
          </a:prstGeom>
          <a:noFill/>
        </p:spPr>
        <p:txBody>
          <a:bodyPr wrap="square">
            <a:spAutoFit/>
          </a:bodyPr>
          <a:lstStyle/>
          <a:p>
            <a:pPr algn="r"/>
            <a:r>
              <a:rPr lang="en-US" sz="1400" dirty="0">
                <a:solidFill>
                  <a:schemeClr val="bg1">
                    <a:lumMod val="65000"/>
                  </a:schemeClr>
                </a:solidFill>
              </a:rPr>
              <a:t>Reference: https://arxiv.org/pdf/2312.10997</a:t>
            </a:r>
          </a:p>
        </p:txBody>
      </p:sp>
      <p:sp>
        <p:nvSpPr>
          <p:cNvPr id="4" name="TextBox 3">
            <a:extLst>
              <a:ext uri="{FF2B5EF4-FFF2-40B4-BE49-F238E27FC236}">
                <a16:creationId xmlns:a16="http://schemas.microsoft.com/office/drawing/2014/main" id="{C5662AE1-3612-53C1-5C2C-6D3ED015DEC0}"/>
              </a:ext>
            </a:extLst>
          </p:cNvPr>
          <p:cNvSpPr txBox="1"/>
          <p:nvPr/>
        </p:nvSpPr>
        <p:spPr>
          <a:xfrm>
            <a:off x="3876261" y="748748"/>
            <a:ext cx="4896678" cy="523220"/>
          </a:xfrm>
          <a:prstGeom prst="rect">
            <a:avLst/>
          </a:prstGeom>
          <a:noFill/>
        </p:spPr>
        <p:txBody>
          <a:bodyPr wrap="square" rtlCol="0">
            <a:spAutoFit/>
          </a:bodyPr>
          <a:lstStyle/>
          <a:p>
            <a:pPr algn="ctr"/>
            <a:r>
              <a:rPr lang="en-US" sz="2800" dirty="0">
                <a:ln w="0"/>
                <a:effectLst>
                  <a:outerShdw blurRad="38100" dist="19050" dir="2700000" algn="tl" rotWithShape="0">
                    <a:schemeClr val="dk1">
                      <a:alpha val="40000"/>
                    </a:schemeClr>
                  </a:outerShdw>
                </a:effectLst>
              </a:rPr>
              <a:t>When should I use what?</a:t>
            </a:r>
          </a:p>
        </p:txBody>
      </p:sp>
    </p:spTree>
    <p:extLst>
      <p:ext uri="{BB962C8B-B14F-4D97-AF65-F5344CB8AC3E}">
        <p14:creationId xmlns:p14="http://schemas.microsoft.com/office/powerpoint/2010/main" val="2479081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Diagram comparing Vector RAG and GraphRAG methods for global reasoning, highlighting Vector RAG's use of myopic similarity search with simple maintenance and low cost, versus GraphRAG's holistic complex reasoning involving hierarchical knowledge graph indexing and map-reduce search with higher cost and complex maintenance. Key components include labeled steps, color-coded sections (blue for Vector RAG, orange for GraphRAG), icons representing documents, queries, and processes, and success/failure indicators illustrating effectiveness of each approach.">
            <a:extLst>
              <a:ext uri="{FF2B5EF4-FFF2-40B4-BE49-F238E27FC236}">
                <a16:creationId xmlns:a16="http://schemas.microsoft.com/office/drawing/2014/main" id="{3381E8F4-F3DB-D67E-F85C-3AFA849B56CC}"/>
              </a:ext>
            </a:extLst>
          </p:cNvPr>
          <p:cNvPicPr>
            <a:picLocks noChangeAspect="1"/>
          </p:cNvPicPr>
          <p:nvPr/>
        </p:nvPicPr>
        <p:blipFill>
          <a:blip r:embed="rId3"/>
          <a:stretch>
            <a:fillRect/>
          </a:stretch>
        </p:blipFill>
        <p:spPr>
          <a:xfrm>
            <a:off x="328568" y="285750"/>
            <a:ext cx="11591309" cy="6317263"/>
          </a:xfrm>
          <a:prstGeom prst="rect">
            <a:avLst/>
          </a:prstGeom>
          <a:ln>
            <a:noFill/>
          </a:ln>
        </p:spPr>
      </p:pic>
      <p:sp>
        <p:nvSpPr>
          <p:cNvPr id="4" name="TextBox 3">
            <a:extLst>
              <a:ext uri="{FF2B5EF4-FFF2-40B4-BE49-F238E27FC236}">
                <a16:creationId xmlns:a16="http://schemas.microsoft.com/office/drawing/2014/main" id="{4D69A22B-1BA7-7763-B1BB-319EF58CFAB3}"/>
              </a:ext>
            </a:extLst>
          </p:cNvPr>
          <p:cNvSpPr txBox="1"/>
          <p:nvPr/>
        </p:nvSpPr>
        <p:spPr>
          <a:xfrm>
            <a:off x="4522516" y="6603013"/>
            <a:ext cx="6155211" cy="261610"/>
          </a:xfrm>
          <a:prstGeom prst="rect">
            <a:avLst/>
          </a:prstGeom>
          <a:noFill/>
        </p:spPr>
        <p:txBody>
          <a:bodyPr wrap="square" rtlCol="0">
            <a:spAutoFit/>
          </a:bodyPr>
          <a:lstStyle/>
          <a:p>
            <a:r>
              <a:rPr lang="en-US" sz="1050" dirty="0">
                <a:solidFill>
                  <a:schemeClr val="bg1">
                    <a:lumMod val="50000"/>
                  </a:schemeClr>
                </a:solidFill>
              </a:rPr>
              <a:t>Microsoft Graph RAG: https://microsoft.github.io/graphrag/</a:t>
            </a:r>
          </a:p>
        </p:txBody>
      </p:sp>
      <p:sp>
        <p:nvSpPr>
          <p:cNvPr id="5" name="Rectangle 4">
            <a:extLst>
              <a:ext uri="{FF2B5EF4-FFF2-40B4-BE49-F238E27FC236}">
                <a16:creationId xmlns:a16="http://schemas.microsoft.com/office/drawing/2014/main" id="{FF1F205D-3DC2-1C83-491B-6FB7BA28A0FD}"/>
              </a:ext>
            </a:extLst>
          </p:cNvPr>
          <p:cNvSpPr/>
          <p:nvPr/>
        </p:nvSpPr>
        <p:spPr>
          <a:xfrm>
            <a:off x="7600122" y="5413513"/>
            <a:ext cx="1683026" cy="185530"/>
          </a:xfrm>
          <a:prstGeom prst="rect">
            <a:avLst/>
          </a:prstGeom>
          <a:solidFill>
            <a:srgbClr val="FFFF00">
              <a:alpha val="29020"/>
            </a:srgbClr>
          </a:solidFill>
          <a:ln>
            <a:solidFill>
              <a:srgbClr val="C00000"/>
            </a:solidFill>
            <a:prstDash val="dash"/>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Tree>
    <p:extLst>
      <p:ext uri="{BB962C8B-B14F-4D97-AF65-F5344CB8AC3E}">
        <p14:creationId xmlns:p14="http://schemas.microsoft.com/office/powerpoint/2010/main" val="1575570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B876BE-01CB-696E-4E95-64E1AABC1250}"/>
              </a:ext>
            </a:extLst>
          </p:cNvPr>
          <p:cNvSpPr/>
          <p:nvPr/>
        </p:nvSpPr>
        <p:spPr>
          <a:xfrm>
            <a:off x="2264766" y="3071184"/>
            <a:ext cx="7432722" cy="2590027"/>
          </a:xfrm>
          <a:prstGeom prst="rect">
            <a:avLst/>
          </a:prstGeom>
        </p:spPr>
        <p:txBody>
          <a:bodyPr vert="horz" lIns="91440" tIns="45720" rIns="91440" bIns="45720" rtlCol="0" anchor="t">
            <a:normAutofit/>
          </a:bodyPr>
          <a:lstStyle/>
          <a:p>
            <a:pPr defTabSz="914400">
              <a:lnSpc>
                <a:spcPct val="90000"/>
              </a:lnSpc>
              <a:spcBef>
                <a:spcPct val="0"/>
              </a:spcBef>
              <a:spcAft>
                <a:spcPts val="600"/>
              </a:spcAft>
            </a:pPr>
            <a:r>
              <a:rPr lang="en-US" sz="5400" dirty="0">
                <a:ln w="0"/>
                <a:effectLst>
                  <a:outerShdw blurRad="38100" dist="19050" dir="2700000" algn="tl" rotWithShape="0">
                    <a:schemeClr val="dk1">
                      <a:alpha val="40000"/>
                    </a:schemeClr>
                  </a:outerShdw>
                </a:effectLst>
                <a:latin typeface="+mj-lt"/>
                <a:ea typeface="+mj-ea"/>
                <a:cs typeface="+mj-cs"/>
              </a:rPr>
              <a:t>Context Engineering 2.0</a:t>
            </a:r>
          </a:p>
        </p:txBody>
      </p:sp>
    </p:spTree>
    <p:extLst>
      <p:ext uri="{BB962C8B-B14F-4D97-AF65-F5344CB8AC3E}">
        <p14:creationId xmlns:p14="http://schemas.microsoft.com/office/powerpoint/2010/main" val="2896627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3D678B-F5DF-228A-5BF5-A7358D1DF471}"/>
              </a:ext>
            </a:extLst>
          </p:cNvPr>
          <p:cNvSpPr txBox="1"/>
          <p:nvPr/>
        </p:nvSpPr>
        <p:spPr>
          <a:xfrm>
            <a:off x="1524000" y="6621647"/>
            <a:ext cx="5276850" cy="276999"/>
          </a:xfrm>
          <a:prstGeom prst="rect">
            <a:avLst/>
          </a:prstGeom>
          <a:noFill/>
        </p:spPr>
        <p:txBody>
          <a:bodyPr wrap="square">
            <a:spAutoFit/>
          </a:bodyPr>
          <a:lstStyle/>
          <a:p>
            <a:r>
              <a:rPr lang="en-US" sz="1200" dirty="0">
                <a:ln w="0"/>
                <a:solidFill>
                  <a:schemeClr val="bg1">
                    <a:lumMod val="50000"/>
                  </a:schemeClr>
                </a:solidFill>
                <a:effectLst>
                  <a:outerShdw blurRad="38100" dist="19050" dir="2700000" algn="tl" rotWithShape="0">
                    <a:schemeClr val="dk1">
                      <a:alpha val="40000"/>
                    </a:schemeClr>
                  </a:outerShdw>
                </a:effectLst>
                <a:hlinkClick r:id="rId3">
                  <a:extLst>
                    <a:ext uri="{A12FA001-AC4F-418D-AE19-62706E023703}">
                      <ahyp:hlinkClr xmlns:ahyp="http://schemas.microsoft.com/office/drawing/2018/hyperlinkcolor" val="tx"/>
                    </a:ext>
                  </a:extLst>
                </a:hlinkClick>
              </a:rPr>
              <a:t>Optional Listen: https://youtu.be/CA-QTmeAoyg</a:t>
            </a:r>
            <a:endParaRPr lang="en-US" sz="1200" dirty="0">
              <a:ln w="0"/>
              <a:solidFill>
                <a:schemeClr val="bg1">
                  <a:lumMod val="50000"/>
                </a:schemeClr>
              </a:solidFill>
              <a:effectLst>
                <a:outerShdw blurRad="38100" dist="19050" dir="2700000" algn="tl" rotWithShape="0">
                  <a:schemeClr val="dk1">
                    <a:alpha val="40000"/>
                  </a:schemeClr>
                </a:outerShdw>
              </a:effectLst>
            </a:endParaRPr>
          </a:p>
        </p:txBody>
      </p:sp>
      <p:sp>
        <p:nvSpPr>
          <p:cNvPr id="4" name="TextBox 3">
            <a:extLst>
              <a:ext uri="{FF2B5EF4-FFF2-40B4-BE49-F238E27FC236}">
                <a16:creationId xmlns:a16="http://schemas.microsoft.com/office/drawing/2014/main" id="{911BA870-051B-9273-156C-DE4680F1348B}"/>
              </a:ext>
            </a:extLst>
          </p:cNvPr>
          <p:cNvSpPr txBox="1"/>
          <p:nvPr/>
        </p:nvSpPr>
        <p:spPr>
          <a:xfrm>
            <a:off x="6096000" y="6621646"/>
            <a:ext cx="4572000" cy="261610"/>
          </a:xfrm>
          <a:prstGeom prst="rect">
            <a:avLst/>
          </a:prstGeom>
          <a:noFill/>
        </p:spPr>
        <p:txBody>
          <a:bodyPr wrap="square">
            <a:spAutoFit/>
          </a:bodyPr>
          <a:lstStyle/>
          <a:p>
            <a:pPr algn="r"/>
            <a:r>
              <a:rPr lang="en-US" sz="1100" dirty="0">
                <a:solidFill>
                  <a:schemeClr val="bg1">
                    <a:lumMod val="50000"/>
                  </a:schemeClr>
                </a:solidFill>
                <a:latin typeface="Spectral"/>
              </a:rPr>
              <a:t>Source: </a:t>
            </a:r>
            <a:r>
              <a:rPr lang="en-US" sz="1100" u="sng" dirty="0">
                <a:solidFill>
                  <a:schemeClr val="bg1">
                    <a:lumMod val="50000"/>
                  </a:schemeClr>
                </a:solidFill>
                <a:latin typeface="Spectral"/>
                <a:hlinkClick r:id="rId4">
                  <a:extLst>
                    <a:ext uri="{A12FA001-AC4F-418D-AE19-62706E023703}">
                      <ahyp:hlinkClr xmlns:ahyp="http://schemas.microsoft.com/office/drawing/2018/hyperlinkcolor" val="tx"/>
                    </a:ext>
                  </a:extLst>
                </a:hlinkClick>
              </a:rPr>
              <a:t>https://www.arxiv.org/pdf/2510.26493</a:t>
            </a:r>
            <a:endParaRPr lang="en-US" sz="1100" dirty="0">
              <a:solidFill>
                <a:schemeClr val="bg1">
                  <a:lumMod val="50000"/>
                </a:schemeClr>
              </a:solidFill>
            </a:endParaRPr>
          </a:p>
        </p:txBody>
      </p:sp>
      <p:pic>
        <p:nvPicPr>
          <p:cNvPr id="6" name="Picture 5" descr="Diagram illustrating evolution from context engineering 1.0 to 4.0, showing increasing intelligence levels and context-processing abilities with decreasing human-AI interaction costs. Key components include four labeled eras with distinct colored characters representing roles from passive executor to considerate master, and a gradient arrow indicating reduced interaction cost.">
            <a:extLst>
              <a:ext uri="{FF2B5EF4-FFF2-40B4-BE49-F238E27FC236}">
                <a16:creationId xmlns:a16="http://schemas.microsoft.com/office/drawing/2014/main" id="{7ABA66A5-3C05-80D4-4043-DE7AA05D8B49}"/>
              </a:ext>
            </a:extLst>
          </p:cNvPr>
          <p:cNvPicPr>
            <a:picLocks noChangeAspect="1"/>
          </p:cNvPicPr>
          <p:nvPr/>
        </p:nvPicPr>
        <p:blipFill>
          <a:blip r:embed="rId5"/>
          <a:stretch>
            <a:fillRect/>
          </a:stretch>
        </p:blipFill>
        <p:spPr>
          <a:xfrm>
            <a:off x="1080711" y="543964"/>
            <a:ext cx="10177839" cy="5854784"/>
          </a:xfrm>
          <a:prstGeom prst="rect">
            <a:avLst/>
          </a:prstGeom>
          <a:effectLst>
            <a:outerShdw blurRad="50800" dist="38100" dir="5400000" algn="t" rotWithShape="0">
              <a:prstClr val="black">
                <a:alpha val="40000"/>
              </a:prstClr>
            </a:outerShdw>
          </a:effectLst>
        </p:spPr>
      </p:pic>
      <p:cxnSp>
        <p:nvCxnSpPr>
          <p:cNvPr id="7" name="Straight Arrow Connector 6">
            <a:extLst>
              <a:ext uri="{FF2B5EF4-FFF2-40B4-BE49-F238E27FC236}">
                <a16:creationId xmlns:a16="http://schemas.microsoft.com/office/drawing/2014/main" id="{5B871476-1EBA-EAD1-86A7-220E6D104FAF}"/>
              </a:ext>
            </a:extLst>
          </p:cNvPr>
          <p:cNvCxnSpPr>
            <a:cxnSpLocks/>
          </p:cNvCxnSpPr>
          <p:nvPr/>
        </p:nvCxnSpPr>
        <p:spPr>
          <a:xfrm flipH="1">
            <a:off x="5615274" y="853660"/>
            <a:ext cx="1080998" cy="58309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id="{2F6348C7-1C2F-FF5C-2C66-1E48C5C3BF6B}"/>
              </a:ext>
            </a:extLst>
          </p:cNvPr>
          <p:cNvSpPr txBox="1"/>
          <p:nvPr/>
        </p:nvSpPr>
        <p:spPr>
          <a:xfrm>
            <a:off x="5980654" y="543963"/>
            <a:ext cx="1640392" cy="369332"/>
          </a:xfrm>
          <a:prstGeom prst="rect">
            <a:avLst/>
          </a:prstGeom>
          <a:noFill/>
        </p:spPr>
        <p:txBody>
          <a:bodyPr wrap="square" rtlCol="0">
            <a:spAutoFit/>
          </a:bodyPr>
          <a:lstStyle/>
          <a:p>
            <a:pPr algn="ctr"/>
            <a:r>
              <a:rPr lang="en-US" dirty="0">
                <a:highlight>
                  <a:srgbClr val="FFFF00"/>
                </a:highlight>
              </a:rPr>
              <a:t>You are here</a:t>
            </a:r>
          </a:p>
        </p:txBody>
      </p:sp>
    </p:spTree>
    <p:extLst>
      <p:ext uri="{BB962C8B-B14F-4D97-AF65-F5344CB8AC3E}">
        <p14:creationId xmlns:p14="http://schemas.microsoft.com/office/powerpoint/2010/main" val="431723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812882-3B37-2E73-765C-93A278D4A54F}"/>
              </a:ext>
            </a:extLst>
          </p:cNvPr>
          <p:cNvSpPr txBox="1"/>
          <p:nvPr/>
        </p:nvSpPr>
        <p:spPr>
          <a:xfrm>
            <a:off x="6096000" y="6621646"/>
            <a:ext cx="4572000" cy="261610"/>
          </a:xfrm>
          <a:prstGeom prst="rect">
            <a:avLst/>
          </a:prstGeom>
          <a:noFill/>
        </p:spPr>
        <p:txBody>
          <a:bodyPr wrap="square">
            <a:spAutoFit/>
          </a:bodyPr>
          <a:lstStyle/>
          <a:p>
            <a:pPr algn="r"/>
            <a:r>
              <a:rPr lang="en-US" sz="1100" dirty="0">
                <a:solidFill>
                  <a:schemeClr val="bg1">
                    <a:lumMod val="50000"/>
                  </a:schemeClr>
                </a:solidFill>
                <a:latin typeface="Spectral"/>
              </a:rPr>
              <a:t>Source: </a:t>
            </a:r>
            <a:r>
              <a:rPr lang="en-US" sz="1100" u="sng" dirty="0">
                <a:solidFill>
                  <a:schemeClr val="bg1">
                    <a:lumMod val="50000"/>
                  </a:schemeClr>
                </a:solidFill>
                <a:latin typeface="Spectral"/>
                <a:hlinkClick r:id="rId3">
                  <a:extLst>
                    <a:ext uri="{A12FA001-AC4F-418D-AE19-62706E023703}">
                      <ahyp:hlinkClr xmlns:ahyp="http://schemas.microsoft.com/office/drawing/2018/hyperlinkcolor" val="tx"/>
                    </a:ext>
                  </a:extLst>
                </a:hlinkClick>
              </a:rPr>
              <a:t>https://www.arxiv.org/pdf/2510.26493</a:t>
            </a:r>
            <a:endParaRPr lang="en-US" sz="1100" dirty="0">
              <a:solidFill>
                <a:schemeClr val="bg1">
                  <a:lumMod val="50000"/>
                </a:schemeClr>
              </a:solidFill>
            </a:endParaRPr>
          </a:p>
        </p:txBody>
      </p:sp>
      <p:pic>
        <p:nvPicPr>
          <p:cNvPr id="4" name="Picture 3" descr="Diagram illustrating four representative designs for self-baking in Era 2.0, labeled (A) Raw Context + NL Summaries, (B) Direct Structured Storage, (C) Vector, and (D) Raw Context + Fixed Schema. Each design shows different data flow and storage methods using blue handwritten-style boxes and arrows, highlighting components like short-term and long-term memory, vectors, and fixed schema elements such as Alice, Bob, laptop, and office.">
            <a:extLst>
              <a:ext uri="{FF2B5EF4-FFF2-40B4-BE49-F238E27FC236}">
                <a16:creationId xmlns:a16="http://schemas.microsoft.com/office/drawing/2014/main" id="{3AED6DC4-8405-383E-417B-6B555AFA7989}"/>
              </a:ext>
            </a:extLst>
          </p:cNvPr>
          <p:cNvPicPr>
            <a:picLocks noChangeAspect="1"/>
          </p:cNvPicPr>
          <p:nvPr/>
        </p:nvPicPr>
        <p:blipFill>
          <a:blip r:embed="rId4"/>
          <a:stretch>
            <a:fillRect/>
          </a:stretch>
        </p:blipFill>
        <p:spPr>
          <a:xfrm>
            <a:off x="1524000" y="1946000"/>
            <a:ext cx="9144000" cy="2966001"/>
          </a:xfrm>
          <a:prstGeom prst="rect">
            <a:avLst/>
          </a:prstGeom>
          <a:effectLst>
            <a:outerShdw blurRad="50800" dist="38100" dir="5400000" algn="t" rotWithShape="0">
              <a:prstClr val="black">
                <a:alpha val="40000"/>
              </a:prstClr>
            </a:outerShdw>
          </a:effectLst>
        </p:spPr>
      </p:pic>
      <p:cxnSp>
        <p:nvCxnSpPr>
          <p:cNvPr id="5" name="Straight Arrow Connector 4">
            <a:extLst>
              <a:ext uri="{FF2B5EF4-FFF2-40B4-BE49-F238E27FC236}">
                <a16:creationId xmlns:a16="http://schemas.microsoft.com/office/drawing/2014/main" id="{1D1C6BD2-0D32-373C-7878-CF01526BE086}"/>
              </a:ext>
            </a:extLst>
          </p:cNvPr>
          <p:cNvCxnSpPr>
            <a:cxnSpLocks/>
          </p:cNvCxnSpPr>
          <p:nvPr/>
        </p:nvCxnSpPr>
        <p:spPr>
          <a:xfrm flipH="1">
            <a:off x="8726774" y="3031710"/>
            <a:ext cx="1080998" cy="58309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 name="TextBox 5">
            <a:extLst>
              <a:ext uri="{FF2B5EF4-FFF2-40B4-BE49-F238E27FC236}">
                <a16:creationId xmlns:a16="http://schemas.microsoft.com/office/drawing/2014/main" id="{70C86579-F486-1BA2-FEA8-1C7C9E6BF043}"/>
              </a:ext>
            </a:extLst>
          </p:cNvPr>
          <p:cNvSpPr txBox="1"/>
          <p:nvPr/>
        </p:nvSpPr>
        <p:spPr>
          <a:xfrm>
            <a:off x="9092154" y="2722013"/>
            <a:ext cx="1640392" cy="369332"/>
          </a:xfrm>
          <a:prstGeom prst="rect">
            <a:avLst/>
          </a:prstGeom>
          <a:noFill/>
        </p:spPr>
        <p:txBody>
          <a:bodyPr wrap="square" rtlCol="0">
            <a:spAutoFit/>
          </a:bodyPr>
          <a:lstStyle/>
          <a:p>
            <a:pPr algn="ctr"/>
            <a:r>
              <a:rPr lang="en-US" dirty="0">
                <a:highlight>
                  <a:srgbClr val="FFFF00"/>
                </a:highlight>
              </a:rPr>
              <a:t>Ontology</a:t>
            </a:r>
          </a:p>
        </p:txBody>
      </p:sp>
      <p:cxnSp>
        <p:nvCxnSpPr>
          <p:cNvPr id="7" name="Straight Arrow Connector 6">
            <a:extLst>
              <a:ext uri="{FF2B5EF4-FFF2-40B4-BE49-F238E27FC236}">
                <a16:creationId xmlns:a16="http://schemas.microsoft.com/office/drawing/2014/main" id="{3F88A3CE-2757-E6BC-C5A9-7969D79E779D}"/>
              </a:ext>
            </a:extLst>
          </p:cNvPr>
          <p:cNvCxnSpPr>
            <a:cxnSpLocks/>
          </p:cNvCxnSpPr>
          <p:nvPr/>
        </p:nvCxnSpPr>
        <p:spPr>
          <a:xfrm flipV="1">
            <a:off x="4676972" y="4184651"/>
            <a:ext cx="0" cy="126080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id="{03795122-B841-195D-36DB-C98D262240F6}"/>
              </a:ext>
            </a:extLst>
          </p:cNvPr>
          <p:cNvSpPr txBox="1"/>
          <p:nvPr/>
        </p:nvSpPr>
        <p:spPr>
          <a:xfrm>
            <a:off x="3961354" y="5135761"/>
            <a:ext cx="1640392" cy="646331"/>
          </a:xfrm>
          <a:prstGeom prst="rect">
            <a:avLst/>
          </a:prstGeom>
          <a:noFill/>
        </p:spPr>
        <p:txBody>
          <a:bodyPr wrap="square" rtlCol="0">
            <a:spAutoFit/>
          </a:bodyPr>
          <a:lstStyle/>
          <a:p>
            <a:pPr algn="ctr"/>
            <a:r>
              <a:rPr lang="en-US" dirty="0">
                <a:highlight>
                  <a:srgbClr val="FFFF00"/>
                </a:highlight>
              </a:rPr>
              <a:t>Importance of </a:t>
            </a:r>
            <a:r>
              <a:rPr lang="en-US" dirty="0" err="1">
                <a:highlight>
                  <a:srgbClr val="FFFF00"/>
                </a:highlight>
              </a:rPr>
              <a:t>Statefulness</a:t>
            </a:r>
            <a:endParaRPr lang="en-US" dirty="0">
              <a:highlight>
                <a:srgbClr val="FFFF00"/>
              </a:highlight>
            </a:endParaRPr>
          </a:p>
        </p:txBody>
      </p:sp>
    </p:spTree>
    <p:extLst>
      <p:ext uri="{BB962C8B-B14F-4D97-AF65-F5344CB8AC3E}">
        <p14:creationId xmlns:p14="http://schemas.microsoft.com/office/powerpoint/2010/main" val="508466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Diagram titled &quot;Context Engineering 2.0&quot; illustrating four eras of evolution in reducing information entropy between human intent and machine action, from Primitive Computation to Speculative Superhuman. It features a funnel graphic showing transition from high to low entropy, detailed nodes on data collection, management, organization, and selection, plus usage patterns like sharing, proactive inference, and emerging engineering practices, with color-coded sections and icons representing key concepts and technologies.">
            <a:extLst>
              <a:ext uri="{FF2B5EF4-FFF2-40B4-BE49-F238E27FC236}">
                <a16:creationId xmlns:a16="http://schemas.microsoft.com/office/drawing/2014/main" id="{6125DD92-882F-53FB-A285-0A18E7712C4D}"/>
              </a:ext>
            </a:extLst>
          </p:cNvPr>
          <p:cNvPicPr>
            <a:picLocks noChangeAspect="1"/>
          </p:cNvPicPr>
          <p:nvPr/>
        </p:nvPicPr>
        <p:blipFill>
          <a:blip r:embed="rId3"/>
          <a:stretch>
            <a:fillRect/>
          </a:stretch>
        </p:blipFill>
        <p:spPr>
          <a:xfrm>
            <a:off x="2762250" y="95250"/>
            <a:ext cx="6699250" cy="6699250"/>
          </a:xfrm>
          <a:prstGeom prst="rect">
            <a:avLst/>
          </a:prstGeom>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20DCDE7F-CB71-87AB-CF9E-D4B2E66A5074}"/>
              </a:ext>
            </a:extLst>
          </p:cNvPr>
          <p:cNvSpPr txBox="1"/>
          <p:nvPr/>
        </p:nvSpPr>
        <p:spPr>
          <a:xfrm rot="16200000">
            <a:off x="8591390" y="3228459"/>
            <a:ext cx="6762750" cy="369332"/>
          </a:xfrm>
          <a:prstGeom prst="rect">
            <a:avLst/>
          </a:prstGeom>
          <a:noFill/>
        </p:spPr>
        <p:txBody>
          <a:bodyPr wrap="square">
            <a:spAutoFit/>
          </a:bodyPr>
          <a:lstStyle/>
          <a:p>
            <a:r>
              <a:rPr lang="en-US" dirty="0">
                <a:solidFill>
                  <a:schemeClr val="bg1">
                    <a:lumMod val="50000"/>
                  </a:schemeClr>
                </a:solidFill>
                <a:latin typeface="Spectral"/>
              </a:rPr>
              <a:t>Source: </a:t>
            </a:r>
            <a:r>
              <a:rPr lang="en-US" u="sng" dirty="0">
                <a:solidFill>
                  <a:schemeClr val="bg1">
                    <a:lumMod val="50000"/>
                  </a:schemeClr>
                </a:solidFill>
                <a:latin typeface="Spectral"/>
                <a:hlinkClick r:id="rId4">
                  <a:extLst>
                    <a:ext uri="{A12FA001-AC4F-418D-AE19-62706E023703}">
                      <ahyp:hlinkClr xmlns:ahyp="http://schemas.microsoft.com/office/drawing/2018/hyperlinkcolor" val="tx"/>
                    </a:ext>
                  </a:extLst>
                </a:hlinkClick>
              </a:rPr>
              <a:t>https://www.arxiv.org/pdf/2510.26493</a:t>
            </a:r>
            <a:endParaRPr lang="en-US" dirty="0">
              <a:solidFill>
                <a:schemeClr val="bg1">
                  <a:lumMod val="50000"/>
                </a:schemeClr>
              </a:solidFill>
            </a:endParaRPr>
          </a:p>
        </p:txBody>
      </p:sp>
    </p:spTree>
    <p:extLst>
      <p:ext uri="{BB962C8B-B14F-4D97-AF65-F5344CB8AC3E}">
        <p14:creationId xmlns:p14="http://schemas.microsoft.com/office/powerpoint/2010/main" val="187122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E3A2DEC-CE3F-4B33-4EBC-27774DA52251}"/>
              </a:ext>
            </a:extLst>
          </p:cNvPr>
          <p:cNvPicPr>
            <a:picLocks noChangeAspect="1"/>
          </p:cNvPicPr>
          <p:nvPr/>
        </p:nvPicPr>
        <p:blipFill>
          <a:blip r:embed="rId3">
            <a:duotone>
              <a:schemeClr val="bg2">
                <a:shade val="45000"/>
                <a:satMod val="135000"/>
              </a:schemeClr>
              <a:prstClr val="white"/>
            </a:duotone>
          </a:blip>
          <a:srcRect t="2500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t>Lab Overview: Building "CourseBot"</a:t>
            </a:r>
          </a:p>
        </p:txBody>
      </p:sp>
      <p:graphicFrame>
        <p:nvGraphicFramePr>
          <p:cNvPr id="5" name="Content Placeholder 2">
            <a:extLst>
              <a:ext uri="{FF2B5EF4-FFF2-40B4-BE49-F238E27FC236}">
                <a16:creationId xmlns:a16="http://schemas.microsoft.com/office/drawing/2014/main" id="{DB34FDED-B969-6DA4-9E0D-E7D394F5198C}"/>
              </a:ext>
            </a:extLst>
          </p:cNvPr>
          <p:cNvGraphicFramePr>
            <a:graphicFrameLocks noGrp="1"/>
          </p:cNvGraphicFramePr>
          <p:nvPr>
            <p:ph idx="1"/>
            <p:extLst>
              <p:ext uri="{D42A27DB-BD31-4B8C-83A1-F6EECF244321}">
                <p14:modId xmlns:p14="http://schemas.microsoft.com/office/powerpoint/2010/main" val="233017337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30479" y="386930"/>
            <a:ext cx="6927525" cy="1188950"/>
          </a:xfrm>
        </p:spPr>
        <p:txBody>
          <a:bodyPr anchor="b">
            <a:normAutofit/>
          </a:bodyPr>
          <a:lstStyle/>
          <a:p>
            <a:r>
              <a:rPr lang="en-US" sz="4700"/>
              <a:t>Step 1: Loading &amp; Splitting</a:t>
            </a:r>
          </a:p>
        </p:txBody>
      </p:sp>
      <p:sp>
        <p:nvSpPr>
          <p:cNvPr id="7" name="TextBox 6">
            <a:extLst>
              <a:ext uri="{FF2B5EF4-FFF2-40B4-BE49-F238E27FC236}">
                <a16:creationId xmlns:a16="http://schemas.microsoft.com/office/drawing/2014/main" id="{E399B267-6572-E03D-4F94-846A105678D3}"/>
              </a:ext>
            </a:extLst>
          </p:cNvPr>
          <p:cNvSpPr txBox="1"/>
          <p:nvPr/>
        </p:nvSpPr>
        <p:spPr>
          <a:xfrm>
            <a:off x="845821" y="2322043"/>
            <a:ext cx="10458450" cy="3320011"/>
          </a:xfrm>
          <a:prstGeom prst="rect">
            <a:avLst/>
          </a:prstGeom>
          <a:noFill/>
        </p:spPr>
        <p:txBody>
          <a:bodyPr wrap="square">
            <a:spAutoFit/>
          </a:bodyPr>
          <a:lstStyle/>
          <a:p>
            <a:pPr>
              <a:lnSpc>
                <a:spcPts val="2250"/>
              </a:lnSpc>
            </a:pPr>
            <a:r>
              <a:rPr lang="en-US" dirty="0">
                <a:solidFill>
                  <a:srgbClr val="24292E"/>
                </a:solidFill>
                <a:latin typeface="Roboto Mono" panose="00000009000000000000" pitchFamily="49" charset="0"/>
              </a:rPr>
              <a:t>from </a:t>
            </a:r>
            <a:r>
              <a:rPr lang="en-US" dirty="0" err="1">
                <a:solidFill>
                  <a:srgbClr val="24292E"/>
                </a:solidFill>
                <a:latin typeface="Roboto Mono" panose="00000009000000000000" pitchFamily="49" charset="0"/>
              </a:rPr>
              <a:t>langchain.document_loaders</a:t>
            </a:r>
            <a:r>
              <a:rPr lang="en-US" dirty="0">
                <a:solidFill>
                  <a:srgbClr val="24292E"/>
                </a:solidFill>
                <a:latin typeface="Roboto Mono" panose="00000009000000000000" pitchFamily="49" charset="0"/>
              </a:rPr>
              <a:t> </a:t>
            </a:r>
            <a:r>
              <a:rPr lang="en-US" dirty="0">
                <a:solidFill>
                  <a:srgbClr val="D73A49"/>
                </a:solidFill>
                <a:latin typeface="Roboto Mono" panose="00000009000000000000" pitchFamily="49" charset="0"/>
              </a:rPr>
              <a:t>import</a:t>
            </a:r>
            <a:r>
              <a:rPr lang="en-US" dirty="0">
                <a:solidFill>
                  <a:srgbClr val="24292E"/>
                </a:solidFill>
                <a:latin typeface="Roboto Mono" panose="00000009000000000000" pitchFamily="49" charset="0"/>
              </a:rPr>
              <a:t> </a:t>
            </a:r>
            <a:r>
              <a:rPr lang="en-US" dirty="0" err="1">
                <a:solidFill>
                  <a:srgbClr val="24292E"/>
                </a:solidFill>
                <a:latin typeface="Roboto Mono" panose="00000009000000000000" pitchFamily="49" charset="0"/>
              </a:rPr>
              <a:t>TextLoader</a:t>
            </a:r>
            <a:endParaRPr lang="en-US" dirty="0">
              <a:solidFill>
                <a:srgbClr val="000000"/>
              </a:solidFill>
              <a:latin typeface="Roboto Mono" panose="00000009000000000000" pitchFamily="49" charset="0"/>
            </a:endParaRPr>
          </a:p>
          <a:p>
            <a:pPr>
              <a:lnSpc>
                <a:spcPts val="2250"/>
              </a:lnSpc>
            </a:pPr>
            <a:r>
              <a:rPr lang="en-US" dirty="0">
                <a:solidFill>
                  <a:srgbClr val="D73A49"/>
                </a:solidFill>
                <a:latin typeface="Roboto Mono" panose="00000009000000000000" pitchFamily="49" charset="0"/>
              </a:rPr>
              <a:t>from</a:t>
            </a:r>
            <a:r>
              <a:rPr lang="en-US" dirty="0">
                <a:solidFill>
                  <a:srgbClr val="24292E"/>
                </a:solidFill>
                <a:latin typeface="Roboto Mono" panose="00000009000000000000" pitchFamily="49" charset="0"/>
              </a:rPr>
              <a:t> </a:t>
            </a:r>
            <a:r>
              <a:rPr lang="en-US" dirty="0" err="1">
                <a:solidFill>
                  <a:srgbClr val="24292E"/>
                </a:solidFill>
                <a:latin typeface="Roboto Mono" panose="00000009000000000000" pitchFamily="49" charset="0"/>
              </a:rPr>
              <a:t>langchain.text_splitter</a:t>
            </a:r>
            <a:r>
              <a:rPr lang="en-US" dirty="0">
                <a:solidFill>
                  <a:srgbClr val="24292E"/>
                </a:solidFill>
                <a:latin typeface="Roboto Mono" panose="00000009000000000000" pitchFamily="49" charset="0"/>
              </a:rPr>
              <a:t> import </a:t>
            </a:r>
            <a:r>
              <a:rPr lang="en-US" dirty="0" err="1">
                <a:solidFill>
                  <a:srgbClr val="24292E"/>
                </a:solidFill>
                <a:latin typeface="Roboto Mono" panose="00000009000000000000" pitchFamily="49" charset="0"/>
              </a:rPr>
              <a:t>RecursiveCharacterTextSplitter</a:t>
            </a:r>
            <a:endParaRPr lang="en-US" dirty="0">
              <a:solidFill>
                <a:srgbClr val="000000"/>
              </a:solidFill>
              <a:latin typeface="Roboto Mono" panose="00000009000000000000" pitchFamily="49" charset="0"/>
            </a:endParaRPr>
          </a:p>
          <a:p>
            <a:pPr>
              <a:lnSpc>
                <a:spcPts val="2250"/>
              </a:lnSpc>
            </a:pPr>
            <a:endParaRPr lang="en-US" dirty="0">
              <a:solidFill>
                <a:srgbClr val="000000"/>
              </a:solidFill>
              <a:latin typeface="Roboto Mono" panose="00000009000000000000" pitchFamily="49" charset="0"/>
            </a:endParaRPr>
          </a:p>
          <a:p>
            <a:pPr>
              <a:lnSpc>
                <a:spcPts val="2250"/>
              </a:lnSpc>
            </a:pPr>
            <a:r>
              <a:rPr lang="en-US" dirty="0">
                <a:solidFill>
                  <a:srgbClr val="24292E"/>
                </a:solidFill>
                <a:latin typeface="Roboto Mono" panose="00000009000000000000" pitchFamily="49" charset="0"/>
              </a:rPr>
              <a:t># 1. Load Data</a:t>
            </a:r>
            <a:endParaRPr lang="en-US" dirty="0">
              <a:solidFill>
                <a:srgbClr val="000000"/>
              </a:solidFill>
              <a:latin typeface="Roboto Mono" panose="00000009000000000000" pitchFamily="49" charset="0"/>
            </a:endParaRPr>
          </a:p>
          <a:p>
            <a:pPr>
              <a:lnSpc>
                <a:spcPts val="2250"/>
              </a:lnSpc>
            </a:pPr>
            <a:r>
              <a:rPr lang="en-US" dirty="0">
                <a:solidFill>
                  <a:srgbClr val="24292E"/>
                </a:solidFill>
                <a:latin typeface="Roboto Mono" panose="00000009000000000000" pitchFamily="49" charset="0"/>
              </a:rPr>
              <a:t>loader = </a:t>
            </a:r>
            <a:r>
              <a:rPr lang="en-US" dirty="0" err="1">
                <a:solidFill>
                  <a:srgbClr val="24292E"/>
                </a:solidFill>
                <a:latin typeface="Roboto Mono" panose="00000009000000000000" pitchFamily="49" charset="0"/>
              </a:rPr>
              <a:t>TextLoader</a:t>
            </a:r>
            <a:r>
              <a:rPr lang="en-US" dirty="0">
                <a:solidFill>
                  <a:srgbClr val="24292E"/>
                </a:solidFill>
                <a:latin typeface="Roboto Mono" panose="00000009000000000000" pitchFamily="49" charset="0"/>
              </a:rPr>
              <a:t>(</a:t>
            </a:r>
            <a:r>
              <a:rPr lang="en-US" dirty="0">
                <a:solidFill>
                  <a:srgbClr val="032F62"/>
                </a:solidFill>
                <a:latin typeface="Roboto Mono" panose="00000009000000000000" pitchFamily="49" charset="0"/>
              </a:rPr>
              <a:t>"syllabus.txt"</a:t>
            </a:r>
            <a:r>
              <a:rPr lang="en-US" dirty="0">
                <a:solidFill>
                  <a:srgbClr val="24292E"/>
                </a:solidFill>
                <a:latin typeface="Roboto Mono" panose="00000009000000000000" pitchFamily="49" charset="0"/>
              </a:rPr>
              <a:t>)</a:t>
            </a:r>
            <a:endParaRPr lang="en-US" dirty="0">
              <a:solidFill>
                <a:srgbClr val="000000"/>
              </a:solidFill>
              <a:latin typeface="Roboto Mono" panose="00000009000000000000" pitchFamily="49" charset="0"/>
            </a:endParaRPr>
          </a:p>
          <a:p>
            <a:pPr>
              <a:lnSpc>
                <a:spcPts val="2250"/>
              </a:lnSpc>
            </a:pPr>
            <a:r>
              <a:rPr lang="en-US" dirty="0">
                <a:solidFill>
                  <a:srgbClr val="24292E"/>
                </a:solidFill>
                <a:latin typeface="Roboto Mono" panose="00000009000000000000" pitchFamily="49" charset="0"/>
              </a:rPr>
              <a:t>documents = </a:t>
            </a:r>
            <a:r>
              <a:rPr lang="en-US" dirty="0" err="1">
                <a:solidFill>
                  <a:srgbClr val="24292E"/>
                </a:solidFill>
                <a:latin typeface="Roboto Mono" panose="00000009000000000000" pitchFamily="49" charset="0"/>
              </a:rPr>
              <a:t>loader.load</a:t>
            </a:r>
            <a:r>
              <a:rPr lang="en-US" dirty="0">
                <a:solidFill>
                  <a:srgbClr val="24292E"/>
                </a:solidFill>
                <a:latin typeface="Roboto Mono" panose="00000009000000000000" pitchFamily="49" charset="0"/>
              </a:rPr>
              <a:t>()</a:t>
            </a:r>
            <a:endParaRPr lang="en-US" dirty="0">
              <a:solidFill>
                <a:srgbClr val="000000"/>
              </a:solidFill>
              <a:latin typeface="Roboto Mono" panose="00000009000000000000" pitchFamily="49" charset="0"/>
            </a:endParaRPr>
          </a:p>
          <a:p>
            <a:pPr>
              <a:lnSpc>
                <a:spcPts val="2250"/>
              </a:lnSpc>
            </a:pPr>
            <a:endParaRPr lang="en-US" dirty="0">
              <a:solidFill>
                <a:srgbClr val="000000"/>
              </a:solidFill>
              <a:latin typeface="Roboto Mono" panose="00000009000000000000" pitchFamily="49" charset="0"/>
            </a:endParaRPr>
          </a:p>
          <a:p>
            <a:pPr>
              <a:lnSpc>
                <a:spcPts val="2250"/>
              </a:lnSpc>
            </a:pPr>
            <a:r>
              <a:rPr lang="en-US" dirty="0">
                <a:solidFill>
                  <a:srgbClr val="24292E"/>
                </a:solidFill>
                <a:latin typeface="Roboto Mono" panose="00000009000000000000" pitchFamily="49" charset="0"/>
              </a:rPr>
              <a:t># 2. Split (Chunk size 500, overlap 50 to preserve context)</a:t>
            </a:r>
            <a:endParaRPr lang="en-US" dirty="0">
              <a:solidFill>
                <a:srgbClr val="000000"/>
              </a:solidFill>
              <a:latin typeface="Roboto Mono" panose="00000009000000000000" pitchFamily="49" charset="0"/>
            </a:endParaRPr>
          </a:p>
          <a:p>
            <a:pPr>
              <a:lnSpc>
                <a:spcPts val="2250"/>
              </a:lnSpc>
            </a:pPr>
            <a:r>
              <a:rPr lang="en-US" dirty="0" err="1">
                <a:solidFill>
                  <a:srgbClr val="24292E"/>
                </a:solidFill>
                <a:latin typeface="Roboto Mono" panose="00000009000000000000" pitchFamily="49" charset="0"/>
              </a:rPr>
              <a:t>text_splitter</a:t>
            </a:r>
            <a:r>
              <a:rPr lang="en-US" dirty="0">
                <a:solidFill>
                  <a:srgbClr val="24292E"/>
                </a:solidFill>
                <a:latin typeface="Roboto Mono" panose="00000009000000000000" pitchFamily="49" charset="0"/>
              </a:rPr>
              <a:t> = </a:t>
            </a:r>
            <a:r>
              <a:rPr lang="en-US" dirty="0" err="1">
                <a:solidFill>
                  <a:srgbClr val="24292E"/>
                </a:solidFill>
                <a:latin typeface="Roboto Mono" panose="00000009000000000000" pitchFamily="49" charset="0"/>
              </a:rPr>
              <a:t>RecursiveCharacterTextSplitter</a:t>
            </a:r>
            <a:r>
              <a:rPr lang="en-US" dirty="0">
                <a:solidFill>
                  <a:srgbClr val="24292E"/>
                </a:solidFill>
                <a:latin typeface="Roboto Mono" panose="00000009000000000000" pitchFamily="49" charset="0"/>
              </a:rPr>
              <a:t>(</a:t>
            </a:r>
            <a:r>
              <a:rPr lang="en-US" dirty="0" err="1">
                <a:solidFill>
                  <a:srgbClr val="24292E"/>
                </a:solidFill>
                <a:latin typeface="Roboto Mono" panose="00000009000000000000" pitchFamily="49" charset="0"/>
              </a:rPr>
              <a:t>chunk_size</a:t>
            </a:r>
            <a:r>
              <a:rPr lang="en-US" dirty="0">
                <a:solidFill>
                  <a:srgbClr val="24292E"/>
                </a:solidFill>
                <a:latin typeface="Roboto Mono" panose="00000009000000000000" pitchFamily="49" charset="0"/>
              </a:rPr>
              <a:t>=500, </a:t>
            </a:r>
            <a:r>
              <a:rPr lang="en-US" dirty="0" err="1">
                <a:solidFill>
                  <a:srgbClr val="24292E"/>
                </a:solidFill>
                <a:latin typeface="Roboto Mono" panose="00000009000000000000" pitchFamily="49" charset="0"/>
              </a:rPr>
              <a:t>chunk_overlap</a:t>
            </a:r>
            <a:r>
              <a:rPr lang="en-US" dirty="0">
                <a:solidFill>
                  <a:srgbClr val="24292E"/>
                </a:solidFill>
                <a:latin typeface="Roboto Mono" panose="00000009000000000000" pitchFamily="49" charset="0"/>
              </a:rPr>
              <a:t>=50)</a:t>
            </a:r>
            <a:endParaRPr lang="en-US" dirty="0">
              <a:solidFill>
                <a:srgbClr val="000000"/>
              </a:solidFill>
              <a:latin typeface="Roboto Mono" panose="00000009000000000000" pitchFamily="49" charset="0"/>
            </a:endParaRPr>
          </a:p>
          <a:p>
            <a:pPr>
              <a:lnSpc>
                <a:spcPts val="2250"/>
              </a:lnSpc>
            </a:pPr>
            <a:r>
              <a:rPr lang="en-US" dirty="0">
                <a:solidFill>
                  <a:srgbClr val="24292E"/>
                </a:solidFill>
                <a:latin typeface="Roboto Mono" panose="00000009000000000000" pitchFamily="49" charset="0"/>
              </a:rPr>
              <a:t>chunks = </a:t>
            </a:r>
            <a:r>
              <a:rPr lang="en-US" dirty="0" err="1">
                <a:solidFill>
                  <a:srgbClr val="24292E"/>
                </a:solidFill>
                <a:latin typeface="Roboto Mono" panose="00000009000000000000" pitchFamily="49" charset="0"/>
              </a:rPr>
              <a:t>text_splitter.split_documents</a:t>
            </a:r>
            <a:r>
              <a:rPr lang="en-US" dirty="0">
                <a:solidFill>
                  <a:srgbClr val="24292E"/>
                </a:solidFill>
                <a:latin typeface="Roboto Mono" panose="00000009000000000000" pitchFamily="49" charset="0"/>
              </a:rPr>
              <a:t>(documents)</a:t>
            </a:r>
            <a:endParaRPr lang="en-US" dirty="0">
              <a:solidFill>
                <a:srgbClr val="000000"/>
              </a:solidFill>
              <a:latin typeface="Roboto Mono" panose="00000009000000000000"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30479" y="386930"/>
            <a:ext cx="6927525" cy="1188950"/>
          </a:xfrm>
        </p:spPr>
        <p:txBody>
          <a:bodyPr anchor="b">
            <a:normAutofit/>
          </a:bodyPr>
          <a:lstStyle/>
          <a:p>
            <a:r>
              <a:rPr lang="en-US" sz="4300"/>
              <a:t>Step 2: Vector Store Creation</a:t>
            </a:r>
          </a:p>
        </p:txBody>
      </p:sp>
      <p:sp>
        <p:nvSpPr>
          <p:cNvPr id="7" name="TextBox 6">
            <a:extLst>
              <a:ext uri="{FF2B5EF4-FFF2-40B4-BE49-F238E27FC236}">
                <a16:creationId xmlns:a16="http://schemas.microsoft.com/office/drawing/2014/main" id="{FB467BF5-8B19-87EB-5D72-F5276FB48D69}"/>
              </a:ext>
            </a:extLst>
          </p:cNvPr>
          <p:cNvSpPr txBox="1"/>
          <p:nvPr/>
        </p:nvSpPr>
        <p:spPr>
          <a:xfrm>
            <a:off x="445770" y="2662762"/>
            <a:ext cx="11189969" cy="3025059"/>
          </a:xfrm>
          <a:prstGeom prst="rect">
            <a:avLst/>
          </a:prstGeom>
          <a:noFill/>
        </p:spPr>
        <p:txBody>
          <a:bodyPr wrap="square">
            <a:spAutoFit/>
          </a:bodyPr>
          <a:lstStyle/>
          <a:p>
            <a:pPr algn="l">
              <a:lnSpc>
                <a:spcPts val="2250"/>
              </a:lnSpc>
              <a:buNone/>
            </a:pPr>
            <a:r>
              <a:rPr lang="en-US" b="0" i="0" dirty="0">
                <a:solidFill>
                  <a:srgbClr val="24292E"/>
                </a:solidFill>
                <a:effectLst/>
                <a:latin typeface="Roboto Mono" panose="00000009000000000000" pitchFamily="49" charset="0"/>
              </a:rPr>
              <a:t>from </a:t>
            </a:r>
            <a:r>
              <a:rPr lang="en-US" b="0" i="0" dirty="0" err="1">
                <a:solidFill>
                  <a:srgbClr val="24292E"/>
                </a:solidFill>
                <a:effectLst/>
                <a:latin typeface="Roboto Mono" panose="00000009000000000000" pitchFamily="49" charset="0"/>
              </a:rPr>
              <a:t>langchain.vectorstores</a:t>
            </a:r>
            <a:r>
              <a:rPr lang="en-US" b="0" i="0" dirty="0">
                <a:solidFill>
                  <a:srgbClr val="24292E"/>
                </a:solidFill>
                <a:effectLst/>
                <a:latin typeface="Roboto Mono" panose="00000009000000000000" pitchFamily="49" charset="0"/>
              </a:rPr>
              <a:t> </a:t>
            </a:r>
            <a:r>
              <a:rPr lang="en-US" b="0" i="0" dirty="0">
                <a:solidFill>
                  <a:srgbClr val="D73A49"/>
                </a:solidFill>
                <a:effectLst/>
                <a:latin typeface="Roboto Mono" panose="00000009000000000000" pitchFamily="49" charset="0"/>
              </a:rPr>
              <a:t>import</a:t>
            </a:r>
            <a:r>
              <a:rPr lang="en-US" b="0" i="0" dirty="0">
                <a:solidFill>
                  <a:srgbClr val="24292E"/>
                </a:solidFill>
                <a:effectLst/>
                <a:latin typeface="Roboto Mono" panose="00000009000000000000" pitchFamily="49" charset="0"/>
              </a:rPr>
              <a:t> Chroma</a:t>
            </a: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D73A49"/>
                </a:solidFill>
                <a:effectLst/>
                <a:latin typeface="Roboto Mono" panose="00000009000000000000" pitchFamily="49" charset="0"/>
              </a:rPr>
              <a:t>from</a:t>
            </a:r>
            <a:r>
              <a:rPr lang="en-US" b="0" i="0" dirty="0">
                <a:solidFill>
                  <a:srgbClr val="24292E"/>
                </a:solidFill>
                <a:effectLst/>
                <a:latin typeface="Roboto Mono" panose="00000009000000000000" pitchFamily="49" charset="0"/>
              </a:rPr>
              <a:t> </a:t>
            </a:r>
            <a:r>
              <a:rPr lang="en-US" b="0" i="0" dirty="0" err="1">
                <a:solidFill>
                  <a:srgbClr val="24292E"/>
                </a:solidFill>
                <a:effectLst/>
                <a:latin typeface="Roboto Mono" panose="00000009000000000000" pitchFamily="49" charset="0"/>
              </a:rPr>
              <a:t>langchain.embeddings</a:t>
            </a:r>
            <a:r>
              <a:rPr lang="en-US" b="0" i="0" dirty="0">
                <a:solidFill>
                  <a:srgbClr val="24292E"/>
                </a:solidFill>
                <a:effectLst/>
                <a:latin typeface="Roboto Mono" panose="00000009000000000000" pitchFamily="49" charset="0"/>
              </a:rPr>
              <a:t> import </a:t>
            </a:r>
            <a:r>
              <a:rPr lang="en-US" b="0" i="0" dirty="0" err="1">
                <a:solidFill>
                  <a:srgbClr val="24292E"/>
                </a:solidFill>
                <a:effectLst/>
                <a:latin typeface="Roboto Mono" panose="00000009000000000000" pitchFamily="49" charset="0"/>
              </a:rPr>
              <a:t>HuggingFaceEmbeddings</a:t>
            </a:r>
            <a:endParaRPr lang="en-US" b="0" i="0" dirty="0">
              <a:solidFill>
                <a:srgbClr val="000000"/>
              </a:solidFill>
              <a:effectLst/>
              <a:latin typeface="Roboto Mono" panose="00000009000000000000" pitchFamily="49" charset="0"/>
            </a:endParaRPr>
          </a:p>
          <a:p>
            <a:pPr algn="l">
              <a:lnSpc>
                <a:spcPts val="2250"/>
              </a:lnSpc>
              <a:buNone/>
            </a:pP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 3. Create Embeddings &amp; Store</a:t>
            </a:r>
            <a:endParaRPr lang="en-US" b="0" i="0" dirty="0">
              <a:solidFill>
                <a:srgbClr val="000000"/>
              </a:solidFill>
              <a:effectLst/>
              <a:latin typeface="Roboto Mono" panose="00000009000000000000" pitchFamily="49" charset="0"/>
            </a:endParaRPr>
          </a:p>
          <a:p>
            <a:pPr algn="l">
              <a:lnSpc>
                <a:spcPts val="2250"/>
              </a:lnSpc>
              <a:buNone/>
            </a:pPr>
            <a:r>
              <a:rPr lang="en-US" b="0" i="0" dirty="0" err="1">
                <a:solidFill>
                  <a:srgbClr val="24292E"/>
                </a:solidFill>
                <a:effectLst/>
                <a:latin typeface="Roboto Mono" panose="00000009000000000000" pitchFamily="49" charset="0"/>
              </a:rPr>
              <a:t>embedding_model</a:t>
            </a:r>
            <a:r>
              <a:rPr lang="en-US" b="0" i="0" dirty="0">
                <a:solidFill>
                  <a:srgbClr val="24292E"/>
                </a:solidFill>
                <a:effectLst/>
                <a:latin typeface="Roboto Mono" panose="00000009000000000000" pitchFamily="49" charset="0"/>
              </a:rPr>
              <a:t> = </a:t>
            </a:r>
            <a:r>
              <a:rPr lang="en-US" b="0" i="0" dirty="0" err="1">
                <a:solidFill>
                  <a:srgbClr val="24292E"/>
                </a:solidFill>
                <a:effectLst/>
                <a:latin typeface="Roboto Mono" panose="00000009000000000000" pitchFamily="49" charset="0"/>
              </a:rPr>
              <a:t>HuggingFaceEmbeddings</a:t>
            </a:r>
            <a:r>
              <a:rPr lang="en-US" b="0" i="0" dirty="0">
                <a:solidFill>
                  <a:srgbClr val="24292E"/>
                </a:solidFill>
                <a:effectLst/>
                <a:latin typeface="Roboto Mono" panose="00000009000000000000" pitchFamily="49" charset="0"/>
              </a:rPr>
              <a:t>(</a:t>
            </a:r>
            <a:r>
              <a:rPr lang="en-US" b="0" i="0" dirty="0" err="1">
                <a:solidFill>
                  <a:srgbClr val="24292E"/>
                </a:solidFill>
                <a:effectLst/>
                <a:latin typeface="Roboto Mono" panose="00000009000000000000" pitchFamily="49" charset="0"/>
              </a:rPr>
              <a:t>model_name</a:t>
            </a:r>
            <a:r>
              <a:rPr lang="en-US" b="0" i="0" dirty="0">
                <a:solidFill>
                  <a:srgbClr val="24292E"/>
                </a:solidFill>
                <a:effectLst/>
                <a:latin typeface="Roboto Mono" panose="00000009000000000000" pitchFamily="49" charset="0"/>
              </a:rPr>
              <a:t>=</a:t>
            </a:r>
            <a:r>
              <a:rPr lang="en-US" b="0" i="0" dirty="0">
                <a:solidFill>
                  <a:srgbClr val="032F62"/>
                </a:solidFill>
                <a:effectLst/>
                <a:latin typeface="Roboto Mono" panose="00000009000000000000" pitchFamily="49" charset="0"/>
              </a:rPr>
              <a:t>"sentence-transformers/all-MiniLM-L6-v2"</a:t>
            </a:r>
            <a:r>
              <a:rPr lang="en-US" b="0" i="0" dirty="0">
                <a:solidFill>
                  <a:srgbClr val="24292E"/>
                </a:solidFill>
                <a:effectLst/>
                <a:latin typeface="Roboto Mono" panose="00000009000000000000" pitchFamily="49" charset="0"/>
              </a:rPr>
              <a:t>)</a:t>
            </a:r>
            <a:endParaRPr lang="en-US" b="0" i="0" dirty="0">
              <a:solidFill>
                <a:srgbClr val="000000"/>
              </a:solidFill>
              <a:effectLst/>
              <a:latin typeface="Roboto Mono" panose="00000009000000000000" pitchFamily="49" charset="0"/>
            </a:endParaRPr>
          </a:p>
          <a:p>
            <a:pPr algn="l">
              <a:lnSpc>
                <a:spcPts val="2250"/>
              </a:lnSpc>
              <a:buNone/>
            </a:pP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 This creates a local folder </a:t>
            </a:r>
            <a:r>
              <a:rPr lang="en-US" b="0" i="0" dirty="0">
                <a:solidFill>
                  <a:srgbClr val="032F62"/>
                </a:solidFill>
                <a:effectLst/>
                <a:latin typeface="Roboto Mono" panose="00000009000000000000" pitchFamily="49" charset="0"/>
              </a:rPr>
              <a:t>'</a:t>
            </a:r>
            <a:r>
              <a:rPr lang="en-US" b="0" i="0" dirty="0" err="1">
                <a:solidFill>
                  <a:srgbClr val="032F62"/>
                </a:solidFill>
                <a:effectLst/>
                <a:latin typeface="Roboto Mono" panose="00000009000000000000" pitchFamily="49" charset="0"/>
              </a:rPr>
              <a:t>db</a:t>
            </a:r>
            <a:r>
              <a:rPr lang="en-US" b="0" i="0" dirty="0">
                <a:solidFill>
                  <a:srgbClr val="032F62"/>
                </a:solidFill>
                <a:effectLst/>
                <a:latin typeface="Roboto Mono" panose="00000009000000000000" pitchFamily="49" charset="0"/>
              </a:rPr>
              <a:t>'</a:t>
            </a:r>
            <a:r>
              <a:rPr lang="en-US" b="0" i="0" dirty="0">
                <a:solidFill>
                  <a:srgbClr val="24292E"/>
                </a:solidFill>
                <a:effectLst/>
                <a:latin typeface="Roboto Mono" panose="00000009000000000000" pitchFamily="49" charset="0"/>
              </a:rPr>
              <a:t> with the vectors</a:t>
            </a:r>
            <a:endParaRPr lang="en-US" b="0" i="0" dirty="0">
              <a:solidFill>
                <a:srgbClr val="000000"/>
              </a:solidFill>
              <a:effectLst/>
              <a:latin typeface="Roboto Mono" panose="00000009000000000000" pitchFamily="49" charset="0"/>
            </a:endParaRPr>
          </a:p>
          <a:p>
            <a:pPr algn="l">
              <a:lnSpc>
                <a:spcPts val="2250"/>
              </a:lnSpc>
              <a:buNone/>
            </a:pPr>
            <a:r>
              <a:rPr lang="en-US" b="0" i="0" dirty="0" err="1">
                <a:solidFill>
                  <a:srgbClr val="24292E"/>
                </a:solidFill>
                <a:effectLst/>
                <a:latin typeface="Roboto Mono" panose="00000009000000000000" pitchFamily="49" charset="0"/>
              </a:rPr>
              <a:t>vector_db</a:t>
            </a:r>
            <a:r>
              <a:rPr lang="en-US" b="0" i="0" dirty="0">
                <a:solidFill>
                  <a:srgbClr val="24292E"/>
                </a:solidFill>
                <a:effectLst/>
                <a:latin typeface="Roboto Mono" panose="00000009000000000000" pitchFamily="49" charset="0"/>
              </a:rPr>
              <a:t> = </a:t>
            </a:r>
            <a:r>
              <a:rPr lang="en-US" b="0" i="0" dirty="0" err="1">
                <a:solidFill>
                  <a:srgbClr val="24292E"/>
                </a:solidFill>
                <a:effectLst/>
                <a:latin typeface="Roboto Mono" panose="00000009000000000000" pitchFamily="49" charset="0"/>
              </a:rPr>
              <a:t>Chroma.from_documents</a:t>
            </a:r>
            <a:r>
              <a:rPr lang="en-US" b="0" i="0" dirty="0">
                <a:solidFill>
                  <a:srgbClr val="24292E"/>
                </a:solidFill>
                <a:effectLst/>
                <a:latin typeface="Roboto Mono" panose="00000009000000000000" pitchFamily="49" charset="0"/>
              </a:rPr>
              <a:t>(chunks, </a:t>
            </a:r>
            <a:r>
              <a:rPr lang="en-US" b="0" i="0" dirty="0" err="1">
                <a:solidFill>
                  <a:srgbClr val="24292E"/>
                </a:solidFill>
                <a:effectLst/>
                <a:latin typeface="Roboto Mono" panose="00000009000000000000" pitchFamily="49" charset="0"/>
              </a:rPr>
              <a:t>embedding_model</a:t>
            </a:r>
            <a:r>
              <a:rPr lang="en-US" b="0" i="0" dirty="0">
                <a:solidFill>
                  <a:srgbClr val="24292E"/>
                </a:solidFill>
                <a:effectLst/>
                <a:latin typeface="Roboto Mono" panose="00000009000000000000" pitchFamily="49" charset="0"/>
              </a:rPr>
              <a:t>, </a:t>
            </a:r>
            <a:r>
              <a:rPr lang="en-US" b="0" i="0" dirty="0" err="1">
                <a:solidFill>
                  <a:srgbClr val="24292E"/>
                </a:solidFill>
                <a:effectLst/>
                <a:latin typeface="Roboto Mono" panose="00000009000000000000" pitchFamily="49" charset="0"/>
              </a:rPr>
              <a:t>persist_directory</a:t>
            </a:r>
            <a:r>
              <a:rPr lang="en-US" b="0" i="0" dirty="0">
                <a:solidFill>
                  <a:srgbClr val="24292E"/>
                </a:solidFill>
                <a:effectLst/>
                <a:latin typeface="Roboto Mono" panose="00000009000000000000" pitchFamily="49" charset="0"/>
              </a:rPr>
              <a:t>=</a:t>
            </a:r>
            <a:r>
              <a:rPr lang="en-US" b="0" i="0" dirty="0">
                <a:solidFill>
                  <a:srgbClr val="032F62"/>
                </a:solidFill>
                <a:effectLst/>
                <a:latin typeface="Roboto Mono" panose="00000009000000000000" pitchFamily="49" charset="0"/>
              </a:rPr>
              <a:t>"./</a:t>
            </a:r>
            <a:r>
              <a:rPr lang="en-US" b="0" i="0" dirty="0" err="1">
                <a:solidFill>
                  <a:srgbClr val="032F62"/>
                </a:solidFill>
                <a:effectLst/>
                <a:latin typeface="Roboto Mono" panose="00000009000000000000" pitchFamily="49" charset="0"/>
              </a:rPr>
              <a:t>db</a:t>
            </a:r>
            <a:r>
              <a:rPr lang="en-US" b="0" i="0" dirty="0">
                <a:solidFill>
                  <a:srgbClr val="032F62"/>
                </a:solidFill>
                <a:effectLst/>
                <a:latin typeface="Roboto Mono" panose="00000009000000000000" pitchFamily="49" charset="0"/>
              </a:rPr>
              <a:t>"</a:t>
            </a:r>
            <a:r>
              <a:rPr lang="en-US" b="0" i="0" dirty="0">
                <a:solidFill>
                  <a:srgbClr val="24292E"/>
                </a:solidFill>
                <a:effectLst/>
                <a:latin typeface="Roboto Mono" panose="00000009000000000000" pitchFamily="49" charset="0"/>
              </a:rPr>
              <a:t>)</a:t>
            </a:r>
            <a:endParaRPr lang="en-US" b="0" i="0" dirty="0">
              <a:solidFill>
                <a:srgbClr val="000000"/>
              </a:solidFill>
              <a:effectLst/>
              <a:latin typeface="Roboto Mono" panose="00000009000000000000"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32237" y="21170"/>
            <a:ext cx="6927525" cy="1188950"/>
          </a:xfrm>
        </p:spPr>
        <p:txBody>
          <a:bodyPr anchor="b">
            <a:normAutofit/>
          </a:bodyPr>
          <a:lstStyle/>
          <a:p>
            <a:r>
              <a:rPr lang="en-US" sz="4700" dirty="0"/>
              <a:t>Step 3: The RAG Chain</a:t>
            </a:r>
          </a:p>
        </p:txBody>
      </p:sp>
      <p:sp>
        <p:nvSpPr>
          <p:cNvPr id="7" name="TextBox 6">
            <a:extLst>
              <a:ext uri="{FF2B5EF4-FFF2-40B4-BE49-F238E27FC236}">
                <a16:creationId xmlns:a16="http://schemas.microsoft.com/office/drawing/2014/main" id="{8423F821-FC20-8C1E-DDEE-7044C110E49E}"/>
              </a:ext>
            </a:extLst>
          </p:cNvPr>
          <p:cNvSpPr txBox="1"/>
          <p:nvPr/>
        </p:nvSpPr>
        <p:spPr>
          <a:xfrm>
            <a:off x="422910" y="1356108"/>
            <a:ext cx="11532870" cy="4794774"/>
          </a:xfrm>
          <a:prstGeom prst="rect">
            <a:avLst/>
          </a:prstGeom>
          <a:noFill/>
        </p:spPr>
        <p:txBody>
          <a:bodyPr wrap="square">
            <a:spAutoFit/>
          </a:bodyPr>
          <a:lstStyle/>
          <a:p>
            <a:pPr algn="l">
              <a:lnSpc>
                <a:spcPts val="2250"/>
              </a:lnSpc>
              <a:buNone/>
            </a:pPr>
            <a:r>
              <a:rPr lang="en-US" b="0" i="0" dirty="0">
                <a:solidFill>
                  <a:srgbClr val="24292E"/>
                </a:solidFill>
                <a:effectLst/>
                <a:latin typeface="Roboto Mono" panose="00000009000000000000" pitchFamily="49" charset="0"/>
              </a:rPr>
              <a:t>from </a:t>
            </a:r>
            <a:r>
              <a:rPr lang="en-US" b="0" i="0" dirty="0" err="1">
                <a:solidFill>
                  <a:srgbClr val="24292E"/>
                </a:solidFill>
                <a:effectLst/>
                <a:latin typeface="Roboto Mono" panose="00000009000000000000" pitchFamily="49" charset="0"/>
              </a:rPr>
              <a:t>langchain.chains</a:t>
            </a:r>
            <a:r>
              <a:rPr lang="en-US" b="0" i="0" dirty="0">
                <a:solidFill>
                  <a:srgbClr val="24292E"/>
                </a:solidFill>
                <a:effectLst/>
                <a:latin typeface="Roboto Mono" panose="00000009000000000000" pitchFamily="49" charset="0"/>
              </a:rPr>
              <a:t> </a:t>
            </a:r>
            <a:r>
              <a:rPr lang="en-US" b="0" i="0" dirty="0">
                <a:solidFill>
                  <a:srgbClr val="D73A49"/>
                </a:solidFill>
                <a:effectLst/>
                <a:latin typeface="Roboto Mono" panose="00000009000000000000" pitchFamily="49" charset="0"/>
              </a:rPr>
              <a:t>import</a:t>
            </a:r>
            <a:r>
              <a:rPr lang="en-US" b="0" i="0" dirty="0">
                <a:solidFill>
                  <a:srgbClr val="24292E"/>
                </a:solidFill>
                <a:effectLst/>
                <a:latin typeface="Roboto Mono" panose="00000009000000000000" pitchFamily="49" charset="0"/>
              </a:rPr>
              <a:t> </a:t>
            </a:r>
            <a:r>
              <a:rPr lang="en-US" b="0" i="0" dirty="0" err="1">
                <a:solidFill>
                  <a:srgbClr val="24292E"/>
                </a:solidFill>
                <a:effectLst/>
                <a:latin typeface="Roboto Mono" panose="00000009000000000000" pitchFamily="49" charset="0"/>
              </a:rPr>
              <a:t>RetrievalQA</a:t>
            </a: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D73A49"/>
                </a:solidFill>
                <a:effectLst/>
                <a:latin typeface="Roboto Mono" panose="00000009000000000000" pitchFamily="49" charset="0"/>
              </a:rPr>
              <a:t>from</a:t>
            </a:r>
            <a:r>
              <a:rPr lang="en-US" b="0" i="0" dirty="0">
                <a:solidFill>
                  <a:srgbClr val="24292E"/>
                </a:solidFill>
                <a:effectLst/>
                <a:latin typeface="Roboto Mono" panose="00000009000000000000" pitchFamily="49" charset="0"/>
              </a:rPr>
              <a:t> </a:t>
            </a:r>
            <a:r>
              <a:rPr lang="en-US" b="0" i="0" dirty="0" err="1">
                <a:solidFill>
                  <a:srgbClr val="24292E"/>
                </a:solidFill>
                <a:effectLst/>
                <a:latin typeface="Roboto Mono" panose="00000009000000000000" pitchFamily="49" charset="0"/>
              </a:rPr>
              <a:t>langchain.llms</a:t>
            </a:r>
            <a:r>
              <a:rPr lang="en-US" b="0" i="0" dirty="0">
                <a:solidFill>
                  <a:srgbClr val="24292E"/>
                </a:solidFill>
                <a:effectLst/>
                <a:latin typeface="Roboto Mono" panose="00000009000000000000" pitchFamily="49" charset="0"/>
              </a:rPr>
              <a:t> import OpenAI</a:t>
            </a:r>
            <a:endParaRPr lang="en-US" b="0" i="0" dirty="0">
              <a:solidFill>
                <a:srgbClr val="000000"/>
              </a:solidFill>
              <a:effectLst/>
              <a:latin typeface="Roboto Mono" panose="00000009000000000000" pitchFamily="49" charset="0"/>
            </a:endParaRPr>
          </a:p>
          <a:p>
            <a:pPr algn="l">
              <a:lnSpc>
                <a:spcPts val="2250"/>
              </a:lnSpc>
              <a:buNone/>
            </a:pP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 4. Setup Retrieval</a:t>
            </a: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retriever = </a:t>
            </a:r>
            <a:r>
              <a:rPr lang="en-US" b="0" i="0" dirty="0" err="1">
                <a:solidFill>
                  <a:srgbClr val="24292E"/>
                </a:solidFill>
                <a:effectLst/>
                <a:latin typeface="Roboto Mono" panose="00000009000000000000" pitchFamily="49" charset="0"/>
              </a:rPr>
              <a:t>vector_db.as_retriever</a:t>
            </a:r>
            <a:r>
              <a:rPr lang="en-US" b="0" i="0" dirty="0">
                <a:solidFill>
                  <a:srgbClr val="24292E"/>
                </a:solidFill>
                <a:effectLst/>
                <a:latin typeface="Roboto Mono" panose="00000009000000000000" pitchFamily="49" charset="0"/>
              </a:rPr>
              <a:t>(</a:t>
            </a:r>
            <a:r>
              <a:rPr lang="en-US" b="0" i="0" dirty="0" err="1">
                <a:solidFill>
                  <a:srgbClr val="24292E"/>
                </a:solidFill>
                <a:effectLst/>
                <a:latin typeface="Roboto Mono" panose="00000009000000000000" pitchFamily="49" charset="0"/>
              </a:rPr>
              <a:t>search_kwargs</a:t>
            </a:r>
            <a:r>
              <a:rPr lang="en-US" b="0" i="0" dirty="0">
                <a:solidFill>
                  <a:srgbClr val="24292E"/>
                </a:solidFill>
                <a:effectLst/>
                <a:latin typeface="Roboto Mono" panose="00000009000000000000" pitchFamily="49" charset="0"/>
              </a:rPr>
              <a:t>={</a:t>
            </a:r>
            <a:r>
              <a:rPr lang="en-US" b="0" i="0" dirty="0">
                <a:solidFill>
                  <a:srgbClr val="032F62"/>
                </a:solidFill>
                <a:effectLst/>
                <a:latin typeface="Roboto Mono" panose="00000009000000000000" pitchFamily="49" charset="0"/>
              </a:rPr>
              <a:t>"k"</a:t>
            </a:r>
            <a:r>
              <a:rPr lang="en-US" b="0" i="0" dirty="0">
                <a:solidFill>
                  <a:srgbClr val="24292E"/>
                </a:solidFill>
                <a:effectLst/>
                <a:latin typeface="Roboto Mono" panose="00000009000000000000" pitchFamily="49" charset="0"/>
              </a:rPr>
              <a:t>: 3})</a:t>
            </a:r>
            <a:endParaRPr lang="en-US" b="0" i="0" dirty="0">
              <a:solidFill>
                <a:srgbClr val="000000"/>
              </a:solidFill>
              <a:effectLst/>
              <a:latin typeface="Roboto Mono" panose="00000009000000000000" pitchFamily="49" charset="0"/>
            </a:endParaRPr>
          </a:p>
          <a:p>
            <a:pPr algn="l">
              <a:lnSpc>
                <a:spcPts val="2250"/>
              </a:lnSpc>
              <a:buNone/>
            </a:pP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 5. Connect to LLM</a:t>
            </a:r>
            <a:endParaRPr lang="en-US" b="0" i="0" dirty="0">
              <a:solidFill>
                <a:srgbClr val="000000"/>
              </a:solidFill>
              <a:effectLst/>
              <a:latin typeface="Roboto Mono" panose="00000009000000000000" pitchFamily="49" charset="0"/>
            </a:endParaRPr>
          </a:p>
          <a:p>
            <a:pPr algn="l">
              <a:lnSpc>
                <a:spcPts val="2250"/>
              </a:lnSpc>
              <a:buNone/>
            </a:pPr>
            <a:r>
              <a:rPr lang="en-US" b="0" i="0" dirty="0" err="1">
                <a:solidFill>
                  <a:srgbClr val="24292E"/>
                </a:solidFill>
                <a:effectLst/>
                <a:latin typeface="Roboto Mono" panose="00000009000000000000" pitchFamily="49" charset="0"/>
              </a:rPr>
              <a:t>qa_chain</a:t>
            </a:r>
            <a:r>
              <a:rPr lang="en-US" b="0" i="0" dirty="0">
                <a:solidFill>
                  <a:srgbClr val="24292E"/>
                </a:solidFill>
                <a:effectLst/>
                <a:latin typeface="Roboto Mono" panose="00000009000000000000" pitchFamily="49" charset="0"/>
              </a:rPr>
              <a:t> = </a:t>
            </a:r>
            <a:r>
              <a:rPr lang="en-US" b="0" i="0" dirty="0" err="1">
                <a:solidFill>
                  <a:srgbClr val="24292E"/>
                </a:solidFill>
                <a:effectLst/>
                <a:latin typeface="Roboto Mono" panose="00000009000000000000" pitchFamily="49" charset="0"/>
              </a:rPr>
              <a:t>RetrievalQA.from_chain_type</a:t>
            </a:r>
            <a:r>
              <a:rPr lang="en-US" b="0" i="0" dirty="0">
                <a:solidFill>
                  <a:srgbClr val="24292E"/>
                </a:solidFill>
                <a:effectLst/>
                <a:latin typeface="Roboto Mono" panose="00000009000000000000" pitchFamily="49" charset="0"/>
              </a:rPr>
              <a:t>(</a:t>
            </a: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    </a:t>
            </a:r>
            <a:r>
              <a:rPr lang="en-US" b="0" i="0" dirty="0" err="1">
                <a:solidFill>
                  <a:srgbClr val="24292E"/>
                </a:solidFill>
                <a:effectLst/>
                <a:latin typeface="Roboto Mono" panose="00000009000000000000" pitchFamily="49" charset="0"/>
              </a:rPr>
              <a:t>llm</a:t>
            </a:r>
            <a:r>
              <a:rPr lang="en-US" b="0" i="0" dirty="0">
                <a:solidFill>
                  <a:srgbClr val="24292E"/>
                </a:solidFill>
                <a:effectLst/>
                <a:latin typeface="Roboto Mono" panose="00000009000000000000" pitchFamily="49" charset="0"/>
              </a:rPr>
              <a:t>=OpenAI(), </a:t>
            </a: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    </a:t>
            </a:r>
            <a:r>
              <a:rPr lang="en-US" b="0" i="0" dirty="0" err="1">
                <a:solidFill>
                  <a:srgbClr val="24292E"/>
                </a:solidFill>
                <a:effectLst/>
                <a:latin typeface="Roboto Mono" panose="00000009000000000000" pitchFamily="49" charset="0"/>
              </a:rPr>
              <a:t>chain_type</a:t>
            </a:r>
            <a:r>
              <a:rPr lang="en-US" b="0" i="0" dirty="0">
                <a:solidFill>
                  <a:srgbClr val="24292E"/>
                </a:solidFill>
                <a:effectLst/>
                <a:latin typeface="Roboto Mono" panose="00000009000000000000" pitchFamily="49" charset="0"/>
              </a:rPr>
              <a:t>=</a:t>
            </a:r>
            <a:r>
              <a:rPr lang="en-US" b="0" i="0" dirty="0">
                <a:solidFill>
                  <a:srgbClr val="032F62"/>
                </a:solidFill>
                <a:effectLst/>
                <a:latin typeface="Roboto Mono" panose="00000009000000000000" pitchFamily="49" charset="0"/>
              </a:rPr>
              <a:t>"stuff"</a:t>
            </a:r>
            <a:r>
              <a:rPr lang="en-US" b="0" i="0" dirty="0">
                <a:solidFill>
                  <a:srgbClr val="24292E"/>
                </a:solidFill>
                <a:effectLst/>
                <a:latin typeface="Roboto Mono" panose="00000009000000000000" pitchFamily="49" charset="0"/>
              </a:rPr>
              <a:t>, # </a:t>
            </a:r>
            <a:r>
              <a:rPr lang="en-US" b="0" i="0" dirty="0">
                <a:solidFill>
                  <a:srgbClr val="032F62"/>
                </a:solidFill>
                <a:effectLst/>
                <a:latin typeface="Roboto Mono" panose="00000009000000000000" pitchFamily="49" charset="0"/>
              </a:rPr>
              <a:t>"Stuff"</a:t>
            </a:r>
            <a:r>
              <a:rPr lang="en-US" b="0" i="0" dirty="0">
                <a:solidFill>
                  <a:srgbClr val="24292E"/>
                </a:solidFill>
                <a:effectLst/>
                <a:latin typeface="Roboto Mono" panose="00000009000000000000" pitchFamily="49" charset="0"/>
              </a:rPr>
              <a:t> means stuff all chunks into one prompt</a:t>
            </a: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    retriever=retriever</a:t>
            </a: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a:t>
            </a:r>
            <a:endParaRPr lang="en-US" b="0" i="0" dirty="0">
              <a:solidFill>
                <a:srgbClr val="000000"/>
              </a:solidFill>
              <a:effectLst/>
              <a:latin typeface="Roboto Mono" panose="00000009000000000000" pitchFamily="49" charset="0"/>
            </a:endParaRPr>
          </a:p>
          <a:p>
            <a:pPr algn="l">
              <a:lnSpc>
                <a:spcPts val="2250"/>
              </a:lnSpc>
              <a:buNone/>
            </a:pP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 6. Ask</a:t>
            </a: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response = </a:t>
            </a:r>
            <a:r>
              <a:rPr lang="en-US" b="0" i="0" dirty="0" err="1">
                <a:solidFill>
                  <a:srgbClr val="24292E"/>
                </a:solidFill>
                <a:effectLst/>
                <a:latin typeface="Roboto Mono" panose="00000009000000000000" pitchFamily="49" charset="0"/>
              </a:rPr>
              <a:t>qa_chain.run</a:t>
            </a:r>
            <a:r>
              <a:rPr lang="en-US" b="0" i="0" dirty="0">
                <a:solidFill>
                  <a:srgbClr val="24292E"/>
                </a:solidFill>
                <a:effectLst/>
                <a:latin typeface="Roboto Mono" panose="00000009000000000000" pitchFamily="49" charset="0"/>
              </a:rPr>
              <a:t>(</a:t>
            </a:r>
            <a:r>
              <a:rPr lang="en-US" b="0" i="0" dirty="0">
                <a:solidFill>
                  <a:srgbClr val="032F62"/>
                </a:solidFill>
                <a:effectLst/>
                <a:latin typeface="Roboto Mono" panose="00000009000000000000" pitchFamily="49" charset="0"/>
              </a:rPr>
              <a:t>"What is the grading policy?"</a:t>
            </a:r>
            <a:r>
              <a:rPr lang="en-US" b="0" i="0" dirty="0">
                <a:solidFill>
                  <a:srgbClr val="24292E"/>
                </a:solidFill>
                <a:effectLst/>
                <a:latin typeface="Roboto Mono" panose="00000009000000000000" pitchFamily="49" charset="0"/>
              </a:rPr>
              <a:t>)</a:t>
            </a:r>
            <a:endParaRPr lang="en-US" b="0" i="0" dirty="0">
              <a:solidFill>
                <a:srgbClr val="000000"/>
              </a:solidFill>
              <a:effectLst/>
              <a:latin typeface="Roboto Mono" panose="00000009000000000000" pitchFamily="49" charset="0"/>
            </a:endParaRPr>
          </a:p>
          <a:p>
            <a:pPr algn="l">
              <a:lnSpc>
                <a:spcPts val="2250"/>
              </a:lnSpc>
              <a:buNone/>
            </a:pPr>
            <a:r>
              <a:rPr lang="en-US" b="0" i="0" dirty="0">
                <a:solidFill>
                  <a:srgbClr val="24292E"/>
                </a:solidFill>
                <a:effectLst/>
                <a:latin typeface="Roboto Mono" panose="00000009000000000000" pitchFamily="49" charset="0"/>
              </a:rPr>
              <a:t>print(response)</a:t>
            </a:r>
            <a:endParaRPr lang="en-US" b="0" i="0" dirty="0">
              <a:solidFill>
                <a:srgbClr val="000000"/>
              </a:solidFill>
              <a:effectLst/>
              <a:latin typeface="Roboto Mono" panose="00000009000000000000"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BA91E55-13C6-5102-CC34-A49098CFA07D}"/>
              </a:ext>
            </a:extLst>
          </p:cNvPr>
          <p:cNvPicPr>
            <a:picLocks noChangeAspect="1"/>
          </p:cNvPicPr>
          <p:nvPr/>
        </p:nvPicPr>
        <p:blipFill>
          <a:blip r:embed="rId3">
            <a:duotone>
              <a:schemeClr val="bg2">
                <a:shade val="45000"/>
                <a:satMod val="135000"/>
              </a:schemeClr>
              <a:prstClr val="white"/>
            </a:duotone>
          </a:blip>
          <a:srcRect t="15413"/>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t>Summary &amp; References</a:t>
            </a:r>
          </a:p>
        </p:txBody>
      </p:sp>
      <p:graphicFrame>
        <p:nvGraphicFramePr>
          <p:cNvPr id="5" name="Content Placeholder 2">
            <a:extLst>
              <a:ext uri="{FF2B5EF4-FFF2-40B4-BE49-F238E27FC236}">
                <a16:creationId xmlns:a16="http://schemas.microsoft.com/office/drawing/2014/main" id="{A0B34D35-8D16-4835-5F47-18F87CC65AFB}"/>
              </a:ext>
            </a:extLst>
          </p:cNvPr>
          <p:cNvGraphicFramePr>
            <a:graphicFrameLocks noGrp="1"/>
          </p:cNvGraphicFramePr>
          <p:nvPr>
            <p:ph idx="1"/>
            <p:extLst>
              <p:ext uri="{D42A27DB-BD31-4B8C-83A1-F6EECF244321}">
                <p14:modId xmlns:p14="http://schemas.microsoft.com/office/powerpoint/2010/main" val="10458022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247</TotalTime>
  <Words>1754</Words>
  <Application>Microsoft Office PowerPoint</Application>
  <PresentationFormat>Widescreen</PresentationFormat>
  <Paragraphs>191</Paragraphs>
  <Slides>29</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Calibri</vt:lpstr>
      <vt:lpstr>Calibri Light</vt:lpstr>
      <vt:lpstr>Roboto Mono</vt:lpstr>
      <vt:lpstr>Spectral</vt:lpstr>
      <vt:lpstr>Office 2013 - 2022 Theme</vt:lpstr>
      <vt:lpstr>Retrieval-Augmented Generation (RAG)</vt:lpstr>
      <vt:lpstr>PowerPoint Presentation</vt:lpstr>
      <vt:lpstr>The Two Failures of Frozen Models</vt:lpstr>
      <vt:lpstr>PowerPoint Presentation</vt:lpstr>
      <vt:lpstr>PowerPoint Presentation</vt:lpstr>
      <vt:lpstr>The "Open Book Exam" Analogy</vt:lpstr>
      <vt:lpstr>The Architecture High-Level</vt:lpstr>
      <vt:lpstr>Step 1: Ingestion &amp; Chunking (The Art)</vt:lpstr>
      <vt:lpstr>Step 2: Embedding the Chunks</vt:lpstr>
      <vt:lpstr>Step 3: The Vector Database</vt:lpstr>
      <vt:lpstr>Indexing Visualization</vt:lpstr>
      <vt:lpstr>Retrieval: Finding the Needle</vt:lpstr>
      <vt:lpstr>PowerPoint Presentation</vt:lpstr>
      <vt:lpstr>The "Lost in the Middle" Phenomenon</vt:lpstr>
      <vt:lpstr>Augmentation: The Prompt Template</vt:lpstr>
      <vt:lpstr>Generation &amp; Citation</vt:lpstr>
      <vt:lpstr>PowerPoint Presentation</vt:lpstr>
      <vt:lpstr>Advanced RAG (The "World Class" Edge)</vt:lpstr>
      <vt:lpstr>PowerPoint Presentation</vt:lpstr>
      <vt:lpstr>PowerPoint Presentation</vt:lpstr>
      <vt:lpstr>PowerPoint Presentation</vt:lpstr>
      <vt:lpstr>PowerPoint Presentation</vt:lpstr>
      <vt:lpstr>PowerPoint Presentation</vt:lpstr>
      <vt:lpstr>PowerPoint Presentation</vt:lpstr>
      <vt:lpstr>Lab Overview: Building "CourseBot"</vt:lpstr>
      <vt:lpstr>Step 1: Loading &amp; Splitting</vt:lpstr>
      <vt:lpstr>Step 2: Vector Store Creation</vt:lpstr>
      <vt:lpstr>Step 3: The RAG Chain</vt:lpstr>
      <vt:lpstr>Summary &amp; 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Srikanth Bhakthan</cp:lastModifiedBy>
  <cp:revision>19</cp:revision>
  <dcterms:created xsi:type="dcterms:W3CDTF">2013-01-27T09:14:16Z</dcterms:created>
  <dcterms:modified xsi:type="dcterms:W3CDTF">2025-12-21T03:14:18Z</dcterms:modified>
  <cp:category/>
</cp:coreProperties>
</file>